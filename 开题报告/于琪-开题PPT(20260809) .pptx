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9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0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1.xml" ContentType="application/vnd.openxmlformats-officedocument.presentationml.tags+xml"/>
  <Override PartName="/ppt/notesSlides/notesSlide26.xml" ContentType="application/vnd.openxmlformats-officedocument.presentationml.notesSlide+xml"/>
  <Override PartName="/ppt/tags/tag12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7" r:id="rId2"/>
    <p:sldId id="281" r:id="rId3"/>
    <p:sldId id="259" r:id="rId4"/>
    <p:sldId id="384" r:id="rId5"/>
    <p:sldId id="340" r:id="rId6"/>
    <p:sldId id="341" r:id="rId7"/>
    <p:sldId id="316" r:id="rId8"/>
    <p:sldId id="270" r:id="rId9"/>
    <p:sldId id="271" r:id="rId10"/>
    <p:sldId id="272" r:id="rId11"/>
    <p:sldId id="343" r:id="rId12"/>
    <p:sldId id="274" r:id="rId13"/>
    <p:sldId id="280" r:id="rId14"/>
    <p:sldId id="365" r:id="rId15"/>
    <p:sldId id="308" r:id="rId16"/>
    <p:sldId id="371" r:id="rId17"/>
    <p:sldId id="282" r:id="rId18"/>
    <p:sldId id="454" r:id="rId19"/>
    <p:sldId id="455" r:id="rId20"/>
    <p:sldId id="456" r:id="rId21"/>
    <p:sldId id="453" r:id="rId22"/>
    <p:sldId id="457" r:id="rId23"/>
    <p:sldId id="458" r:id="rId24"/>
    <p:sldId id="459" r:id="rId25"/>
    <p:sldId id="275" r:id="rId26"/>
    <p:sldId id="276" r:id="rId27"/>
    <p:sldId id="278" r:id="rId28"/>
    <p:sldId id="279" r:id="rId29"/>
  </p:sldIdLst>
  <p:sldSz cx="9144000" cy="5143500" type="screen16x9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65" userDrawn="1">
          <p15:clr>
            <a:srgbClr val="A4A3A4"/>
          </p15:clr>
        </p15:guide>
        <p15:guide id="2" pos="29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344" initials="1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E6B9B8"/>
    <a:srgbClr val="95B3D7"/>
    <a:srgbClr val="43F5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293" autoAdjust="0"/>
  </p:normalViewPr>
  <p:slideViewPr>
    <p:cSldViewPr showGuides="1">
      <p:cViewPr>
        <p:scale>
          <a:sx n="87" d="100"/>
          <a:sy n="87" d="100"/>
        </p:scale>
        <p:origin x="-675" y="-36"/>
      </p:cViewPr>
      <p:guideLst>
        <p:guide orient="horz" pos="1665"/>
        <p:guide pos="2953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50AE-BE8D-4426-9D1B-FC5D65E9596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C1DC4-F08E-440F-8C26-6612988CA3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3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endParaRPr lang="zh-CN" altLang="en-US" sz="1200" b="1" dirty="0">
              <a:ln w="0"/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7200" algn="l"/>
            <a:endParaRPr lang="en-US" altLang="zh-CN" u="none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/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  <a:p>
            <a:endParaRPr lang="zh-CN" dirty="0"/>
          </a:p>
          <a:p>
            <a:endParaRPr lang="zh-CN" dirty="0"/>
          </a:p>
          <a:p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E56581-B324-1CDB-8DF4-9E261B6C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2D444830-BA78-1CD7-FDDB-D92BA4D29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7469A4A5-C9C1-83CE-52AB-0520D1894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  <a:p>
            <a:endParaRPr lang="zh-CN" dirty="0"/>
          </a:p>
          <a:p>
            <a:endParaRPr lang="zh-CN" dirty="0"/>
          </a:p>
          <a:p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338DF29-DD0C-CF2A-A9C5-8BFC4A015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650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313052-C8BF-76DC-39DF-6A1D7A4C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3BDBECFE-92E9-6936-D675-D8A0C5913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C445F9F4-1F11-A50A-E429-97A66FB73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32D18AEB-9D89-F929-837F-350907E70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0737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50A14B2-7840-26D5-ECC6-2C249463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611279E3-0234-D703-167D-57EBB530F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B7CDA78B-AAC0-027F-B983-B8E458B34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  <a:p>
            <a:endParaRPr lang="zh-CN" dirty="0"/>
          </a:p>
          <a:p>
            <a:endParaRPr lang="zh-CN" dirty="0"/>
          </a:p>
          <a:p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0EBAA1AC-6D2C-34B8-2A22-9E6C251B63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580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9E56C8-E57A-3BDC-BAAA-4D6E0B3A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D90D4530-AF9E-6C31-19EB-A19698040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BFE4FDD0-5FA1-780F-FBE6-A44A9B149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06991240-3D91-1AAD-4FFD-7C2BA53CA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4421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2B53E3-1F39-1549-E122-48DF2D3C4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0BA0B599-49F2-8CA4-D009-ACAE0E07A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FF3687F8-A292-CF71-DE05-C1CAAE11E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7D8FAA8-1649-0101-A37B-B5C6F7312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325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76DEFC-CEB7-857E-0424-3F332B26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xmlns="" id="{D3B91689-A2E5-0031-14CC-1E4142026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xmlns="" id="{3A1A81B0-C988-C9AB-128B-57102918C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82D57CA-49D3-C70F-2A74-7D7444A2C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6642B7-71B7-4C3E-9855-0D0DE388A05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3014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C1DC4-F08E-440F-8C26-6612988CA39B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416155" y="1676952"/>
            <a:ext cx="6330459" cy="899160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2700" b="1" spc="225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工业互联网环境下移动</a:t>
            </a:r>
            <a:r>
              <a:rPr lang="en-US" altLang="zh-CN" sz="2700" b="1" spc="225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700" b="1" spc="225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固定多智能体协同调度及抗扰性研究</a:t>
            </a:r>
          </a:p>
        </p:txBody>
      </p:sp>
      <p:sp>
        <p:nvSpPr>
          <p:cNvPr id="9" name="矩形 8"/>
          <p:cNvSpPr/>
          <p:nvPr/>
        </p:nvSpPr>
        <p:spPr>
          <a:xfrm>
            <a:off x="1189936" y="1233512"/>
            <a:ext cx="6717506" cy="1787129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7707418" y="2784897"/>
            <a:ext cx="832247" cy="847725"/>
            <a:chOff x="2666985" y="682103"/>
            <a:chExt cx="1109138" cy="1131217"/>
          </a:xfrm>
        </p:grpSpPr>
        <p:sp>
          <p:nvSpPr>
            <p:cNvPr id="40" name="矩形 39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 bwMode="auto">
          <a:xfrm>
            <a:off x="583908" y="637012"/>
            <a:ext cx="832247" cy="848915"/>
            <a:chOff x="2666985" y="682103"/>
            <a:chExt cx="1109138" cy="1131217"/>
          </a:xfrm>
        </p:grpSpPr>
        <p:sp>
          <p:nvSpPr>
            <p:cNvPr id="45" name="矩形 44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-9525"/>
            <a:ext cx="9144000" cy="27979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51738" y="992973"/>
            <a:ext cx="2640524" cy="346249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博士学位论文开题报告</a:t>
            </a:r>
          </a:p>
        </p:txBody>
      </p:sp>
      <p:sp>
        <p:nvSpPr>
          <p:cNvPr id="30" name="矩形 29"/>
          <p:cNvSpPr/>
          <p:nvPr/>
        </p:nvSpPr>
        <p:spPr>
          <a:xfrm>
            <a:off x="0" y="4863703"/>
            <a:ext cx="9144000" cy="27979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307339" y="3069893"/>
            <a:ext cx="4282676" cy="85132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kern="100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博士</a:t>
            </a:r>
            <a:r>
              <a:rPr lang="zh-CN" altLang="zh-CN" b="1" kern="100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研究生：</a:t>
            </a:r>
            <a:r>
              <a:rPr lang="zh-CN" altLang="en-US" b="1" kern="100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于琪</a:t>
            </a:r>
            <a:endParaRPr lang="zh-CN" altLang="zh-CN" kern="100" dirty="0">
              <a:solidFill>
                <a:srgbClr val="3B383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指导教师：</a:t>
            </a:r>
            <a:r>
              <a:rPr lang="zh-CN" altLang="en-US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杨明教授 李伟</a:t>
            </a:r>
            <a:r>
              <a:rPr lang="zh-CN" altLang="zh-CN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教授</a:t>
            </a:r>
            <a:endParaRPr lang="zh-CN" altLang="en-US" dirty="0">
              <a:solidFill>
                <a:srgbClr val="3B38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728499" y="4078597"/>
            <a:ext cx="1829668" cy="346249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en-US" altLang="zh-CN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2026</a:t>
            </a:r>
            <a:r>
              <a:rPr lang="zh-CN" altLang="en-US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29</a:t>
            </a:r>
            <a:r>
              <a:rPr lang="zh-CN" altLang="en-US" b="1" dirty="0">
                <a:solidFill>
                  <a:srgbClr val="3B38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</a:t>
            </a:r>
            <a:endParaRPr lang="zh-CN" altLang="en-US" b="1" dirty="0">
              <a:solidFill>
                <a:srgbClr val="3B38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514" y="3203052"/>
            <a:ext cx="614086" cy="61794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9525"/>
            <a:ext cx="9144000" cy="27979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08" name="直接连接符 107"/>
          <p:cNvCxnSpPr/>
          <p:nvPr/>
        </p:nvCxnSpPr>
        <p:spPr>
          <a:xfrm flipH="1">
            <a:off x="150055" y="884292"/>
            <a:ext cx="990230" cy="1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18129" y="363193"/>
            <a:ext cx="907941" cy="530915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3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853723" y="907827"/>
            <a:ext cx="5110329" cy="737730"/>
            <a:chOff x="2471630" y="1210436"/>
            <a:chExt cx="6813772" cy="983640"/>
          </a:xfrm>
        </p:grpSpPr>
        <p:sp>
          <p:nvSpPr>
            <p:cNvPr id="4156" name="文本框 20"/>
            <p:cNvSpPr txBox="1">
              <a:spLocks noChangeArrowheads="1"/>
            </p:cNvSpPr>
            <p:nvPr/>
          </p:nvSpPr>
          <p:spPr bwMode="auto">
            <a:xfrm>
              <a:off x="4815477" y="1449495"/>
              <a:ext cx="3734224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研究背景与研究现状</a:t>
              </a: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3354280" y="1331575"/>
              <a:ext cx="5931122" cy="712788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 bwMode="auto">
            <a:xfrm flipH="1">
              <a:off x="4219468" y="1331575"/>
              <a:ext cx="12700" cy="712788"/>
            </a:xfrm>
            <a:prstGeom prst="line">
              <a:avLst/>
            </a:prstGeom>
            <a:ln w="25400">
              <a:solidFill>
                <a:srgbClr val="04487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59" name="组合 68"/>
            <p:cNvGrpSpPr/>
            <p:nvPr/>
          </p:nvGrpSpPr>
          <p:grpSpPr bwMode="auto">
            <a:xfrm>
              <a:off x="2471630" y="1331575"/>
              <a:ext cx="919442" cy="712788"/>
              <a:chOff x="6191369" y="1397569"/>
              <a:chExt cx="919239" cy="712882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161" name="文本框 18"/>
              <p:cNvSpPr txBox="1">
                <a:spLocks noChangeArrowheads="1"/>
              </p:cNvSpPr>
              <p:nvPr/>
            </p:nvSpPr>
            <p:spPr bwMode="auto">
              <a:xfrm>
                <a:off x="6191369" y="1397569"/>
                <a:ext cx="919239" cy="677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700">
                    <a:solidFill>
                      <a:srgbClr val="044875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2700">
                  <a:solidFill>
                    <a:srgbClr val="044875"/>
                  </a:solidFill>
                  <a:latin typeface="Impact" panose="020B0806030902050204" pitchFamily="34" charset="0"/>
                </a:endParaRPr>
              </a:p>
            </p:txBody>
          </p:sp>
        </p:grpSp>
        <p:pic>
          <p:nvPicPr>
            <p:cNvPr id="69" name="图片 6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7256" y="1210436"/>
              <a:ext cx="983640" cy="983640"/>
            </a:xfrm>
            <a:prstGeom prst="rect">
              <a:avLst/>
            </a:prstGeom>
          </p:spPr>
        </p:pic>
      </p:grpSp>
      <p:grpSp>
        <p:nvGrpSpPr>
          <p:cNvPr id="94" name="组合 93"/>
          <p:cNvGrpSpPr/>
          <p:nvPr/>
        </p:nvGrpSpPr>
        <p:grpSpPr>
          <a:xfrm>
            <a:off x="1853725" y="2088686"/>
            <a:ext cx="5110329" cy="534591"/>
            <a:chOff x="2471630" y="1331575"/>
            <a:chExt cx="6813772" cy="712788"/>
          </a:xfrm>
        </p:grpSpPr>
        <p:sp>
          <p:nvSpPr>
            <p:cNvPr id="95" name="文本框 20"/>
            <p:cNvSpPr txBox="1">
              <a:spLocks noChangeArrowheads="1"/>
            </p:cNvSpPr>
            <p:nvPr/>
          </p:nvSpPr>
          <p:spPr bwMode="auto">
            <a:xfrm>
              <a:off x="4852773" y="1454602"/>
              <a:ext cx="3659632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研究目标与研究内容</a:t>
              </a:r>
            </a:p>
          </p:txBody>
        </p:sp>
        <p:sp>
          <p:nvSpPr>
            <p:cNvPr id="96" name="矩形 95"/>
            <p:cNvSpPr/>
            <p:nvPr/>
          </p:nvSpPr>
          <p:spPr bwMode="auto">
            <a:xfrm>
              <a:off x="3354280" y="1331575"/>
              <a:ext cx="5931122" cy="712788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97" name="直接连接符 96"/>
            <p:cNvCxnSpPr/>
            <p:nvPr/>
          </p:nvCxnSpPr>
          <p:spPr bwMode="auto">
            <a:xfrm flipH="1">
              <a:off x="4219468" y="1331575"/>
              <a:ext cx="12700" cy="712788"/>
            </a:xfrm>
            <a:prstGeom prst="line">
              <a:avLst/>
            </a:prstGeom>
            <a:ln w="25400">
              <a:solidFill>
                <a:srgbClr val="04487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68"/>
            <p:cNvGrpSpPr/>
            <p:nvPr/>
          </p:nvGrpSpPr>
          <p:grpSpPr bwMode="auto">
            <a:xfrm>
              <a:off x="2471630" y="1331575"/>
              <a:ext cx="919442" cy="712788"/>
              <a:chOff x="6191369" y="1397569"/>
              <a:chExt cx="919239" cy="712882"/>
            </a:xfrm>
          </p:grpSpPr>
          <p:sp>
            <p:nvSpPr>
              <p:cNvPr id="99" name="矩形 98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0" name="文本框 18"/>
              <p:cNvSpPr txBox="1">
                <a:spLocks noChangeArrowheads="1"/>
              </p:cNvSpPr>
              <p:nvPr/>
            </p:nvSpPr>
            <p:spPr bwMode="auto">
              <a:xfrm>
                <a:off x="6191369" y="1397569"/>
                <a:ext cx="919239" cy="677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700" dirty="0">
                    <a:solidFill>
                      <a:srgbClr val="044875"/>
                    </a:solidFill>
                    <a:latin typeface="Impact" panose="020B0806030902050204" pitchFamily="34" charset="0"/>
                  </a:rPr>
                  <a:t>02</a:t>
                </a:r>
                <a:endParaRPr lang="zh-CN" altLang="en-US" sz="2700" dirty="0">
                  <a:solidFill>
                    <a:srgbClr val="044875"/>
                  </a:solidFill>
                  <a:latin typeface="Impact" panose="020B0806030902050204" pitchFamily="34" charset="0"/>
                </a:endParaRPr>
              </a:p>
            </p:txBody>
          </p:sp>
        </p:grpSp>
      </p:grpSp>
      <p:sp>
        <p:nvSpPr>
          <p:cNvPr id="101" name="Freeform 306"/>
          <p:cNvSpPr>
            <a:spLocks noEditPoints="1"/>
          </p:cNvSpPr>
          <p:nvPr/>
        </p:nvSpPr>
        <p:spPr bwMode="auto">
          <a:xfrm>
            <a:off x="2639403" y="2140626"/>
            <a:ext cx="404813" cy="402431"/>
          </a:xfrm>
          <a:custGeom>
            <a:avLst/>
            <a:gdLst>
              <a:gd name="T0" fmla="*/ 60 w 99"/>
              <a:gd name="T1" fmla="*/ 9 h 99"/>
              <a:gd name="T2" fmla="*/ 81 w 99"/>
              <a:gd name="T3" fmla="*/ 10 h 99"/>
              <a:gd name="T4" fmla="*/ 79 w 99"/>
              <a:gd name="T5" fmla="*/ 20 h 99"/>
              <a:gd name="T6" fmla="*/ 96 w 99"/>
              <a:gd name="T7" fmla="*/ 31 h 99"/>
              <a:gd name="T8" fmla="*/ 90 w 99"/>
              <a:gd name="T9" fmla="*/ 38 h 99"/>
              <a:gd name="T10" fmla="*/ 99 w 99"/>
              <a:gd name="T11" fmla="*/ 57 h 99"/>
              <a:gd name="T12" fmla="*/ 90 w 99"/>
              <a:gd name="T13" fmla="*/ 60 h 99"/>
              <a:gd name="T14" fmla="*/ 89 w 99"/>
              <a:gd name="T15" fmla="*/ 81 h 99"/>
              <a:gd name="T16" fmla="*/ 80 w 99"/>
              <a:gd name="T17" fmla="*/ 79 h 99"/>
              <a:gd name="T18" fmla="*/ 68 w 99"/>
              <a:gd name="T19" fmla="*/ 97 h 99"/>
              <a:gd name="T20" fmla="*/ 61 w 99"/>
              <a:gd name="T21" fmla="*/ 90 h 99"/>
              <a:gd name="T22" fmla="*/ 42 w 99"/>
              <a:gd name="T23" fmla="*/ 99 h 99"/>
              <a:gd name="T24" fmla="*/ 39 w 99"/>
              <a:gd name="T25" fmla="*/ 91 h 99"/>
              <a:gd name="T26" fmla="*/ 18 w 99"/>
              <a:gd name="T27" fmla="*/ 89 h 99"/>
              <a:gd name="T28" fmla="*/ 20 w 99"/>
              <a:gd name="T29" fmla="*/ 80 h 99"/>
              <a:gd name="T30" fmla="*/ 3 w 99"/>
              <a:gd name="T31" fmla="*/ 68 h 99"/>
              <a:gd name="T32" fmla="*/ 9 w 99"/>
              <a:gd name="T33" fmla="*/ 61 h 99"/>
              <a:gd name="T34" fmla="*/ 0 w 99"/>
              <a:gd name="T35" fmla="*/ 42 h 99"/>
              <a:gd name="T36" fmla="*/ 9 w 99"/>
              <a:gd name="T37" fmla="*/ 39 h 99"/>
              <a:gd name="T38" fmla="*/ 10 w 99"/>
              <a:gd name="T39" fmla="*/ 18 h 99"/>
              <a:gd name="T40" fmla="*/ 19 w 99"/>
              <a:gd name="T41" fmla="*/ 20 h 99"/>
              <a:gd name="T42" fmla="*/ 31 w 99"/>
              <a:gd name="T43" fmla="*/ 3 h 99"/>
              <a:gd name="T44" fmla="*/ 38 w 99"/>
              <a:gd name="T45" fmla="*/ 9 h 99"/>
              <a:gd name="T46" fmla="*/ 57 w 99"/>
              <a:gd name="T47" fmla="*/ 0 h 99"/>
              <a:gd name="T48" fmla="*/ 36 w 99"/>
              <a:gd name="T49" fmla="*/ 58 h 99"/>
              <a:gd name="T50" fmla="*/ 45 w 99"/>
              <a:gd name="T51" fmla="*/ 47 h 99"/>
              <a:gd name="T52" fmla="*/ 58 w 99"/>
              <a:gd name="T53" fmla="*/ 55 h 99"/>
              <a:gd name="T54" fmla="*/ 64 w 99"/>
              <a:gd name="T55" fmla="*/ 56 h 99"/>
              <a:gd name="T56" fmla="*/ 54 w 99"/>
              <a:gd name="T57" fmla="*/ 54 h 99"/>
              <a:gd name="T58" fmla="*/ 58 w 99"/>
              <a:gd name="T59" fmla="*/ 69 h 99"/>
              <a:gd name="T60" fmla="*/ 71 w 99"/>
              <a:gd name="T61" fmla="*/ 71 h 99"/>
              <a:gd name="T62" fmla="*/ 71 w 99"/>
              <a:gd name="T63" fmla="*/ 28 h 99"/>
              <a:gd name="T64" fmla="*/ 28 w 99"/>
              <a:gd name="T65" fmla="*/ 28 h 99"/>
              <a:gd name="T66" fmla="*/ 28 w 99"/>
              <a:gd name="T67" fmla="*/ 71 h 99"/>
              <a:gd name="T68" fmla="*/ 55 w 99"/>
              <a:gd name="T69" fmla="*/ 79 h 99"/>
              <a:gd name="T70" fmla="*/ 48 w 99"/>
              <a:gd name="T71" fmla="*/ 66 h 99"/>
              <a:gd name="T72" fmla="*/ 35 w 99"/>
              <a:gd name="T73" fmla="*/ 75 h 99"/>
              <a:gd name="T74" fmla="*/ 42 w 99"/>
              <a:gd name="T75" fmla="*/ 71 h 99"/>
              <a:gd name="T76" fmla="*/ 45 w 99"/>
              <a:gd name="T77" fmla="*/ 52 h 99"/>
              <a:gd name="T78" fmla="*/ 38 w 99"/>
              <a:gd name="T79" fmla="*/ 59 h 99"/>
              <a:gd name="T80" fmla="*/ 51 w 99"/>
              <a:gd name="T81" fmla="*/ 37 h 99"/>
              <a:gd name="T82" fmla="*/ 51 w 99"/>
              <a:gd name="T83" fmla="*/ 46 h 99"/>
              <a:gd name="T84" fmla="*/ 51 w 99"/>
              <a:gd name="T85" fmla="*/ 37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9" h="99">
                <a:moveTo>
                  <a:pt x="59" y="8"/>
                </a:moveTo>
                <a:cubicBezTo>
                  <a:pt x="59" y="9"/>
                  <a:pt x="60" y="9"/>
                  <a:pt x="60" y="9"/>
                </a:cubicBezTo>
                <a:cubicBezTo>
                  <a:pt x="66" y="2"/>
                  <a:pt x="66" y="2"/>
                  <a:pt x="66" y="2"/>
                </a:cubicBezTo>
                <a:cubicBezTo>
                  <a:pt x="81" y="10"/>
                  <a:pt x="81" y="10"/>
                  <a:pt x="81" y="10"/>
                </a:cubicBezTo>
                <a:cubicBezTo>
                  <a:pt x="78" y="19"/>
                  <a:pt x="78" y="19"/>
                  <a:pt x="78" y="19"/>
                </a:cubicBezTo>
                <a:cubicBezTo>
                  <a:pt x="78" y="19"/>
                  <a:pt x="79" y="19"/>
                  <a:pt x="79" y="20"/>
                </a:cubicBezTo>
                <a:cubicBezTo>
                  <a:pt x="88" y="17"/>
                  <a:pt x="88" y="17"/>
                  <a:pt x="88" y="17"/>
                </a:cubicBezTo>
                <a:cubicBezTo>
                  <a:pt x="96" y="31"/>
                  <a:pt x="96" y="31"/>
                  <a:pt x="96" y="31"/>
                </a:cubicBezTo>
                <a:cubicBezTo>
                  <a:pt x="90" y="37"/>
                  <a:pt x="90" y="37"/>
                  <a:pt x="90" y="37"/>
                </a:cubicBezTo>
                <a:cubicBezTo>
                  <a:pt x="90" y="38"/>
                  <a:pt x="90" y="38"/>
                  <a:pt x="90" y="38"/>
                </a:cubicBezTo>
                <a:cubicBezTo>
                  <a:pt x="99" y="40"/>
                  <a:pt x="99" y="40"/>
                  <a:pt x="99" y="40"/>
                </a:cubicBezTo>
                <a:cubicBezTo>
                  <a:pt x="99" y="57"/>
                  <a:pt x="99" y="57"/>
                  <a:pt x="99" y="57"/>
                </a:cubicBezTo>
                <a:cubicBezTo>
                  <a:pt x="91" y="59"/>
                  <a:pt x="91" y="59"/>
                  <a:pt x="91" y="59"/>
                </a:cubicBezTo>
                <a:cubicBezTo>
                  <a:pt x="91" y="59"/>
                  <a:pt x="90" y="60"/>
                  <a:pt x="90" y="60"/>
                </a:cubicBezTo>
                <a:cubicBezTo>
                  <a:pt x="97" y="67"/>
                  <a:pt x="97" y="67"/>
                  <a:pt x="97" y="67"/>
                </a:cubicBezTo>
                <a:cubicBezTo>
                  <a:pt x="89" y="81"/>
                  <a:pt x="89" y="81"/>
                  <a:pt x="89" y="81"/>
                </a:cubicBezTo>
                <a:cubicBezTo>
                  <a:pt x="80" y="78"/>
                  <a:pt x="80" y="78"/>
                  <a:pt x="80" y="78"/>
                </a:cubicBezTo>
                <a:cubicBezTo>
                  <a:pt x="80" y="79"/>
                  <a:pt x="80" y="79"/>
                  <a:pt x="80" y="79"/>
                </a:cubicBezTo>
                <a:cubicBezTo>
                  <a:pt x="82" y="88"/>
                  <a:pt x="82" y="88"/>
                  <a:pt x="82" y="88"/>
                </a:cubicBezTo>
                <a:cubicBezTo>
                  <a:pt x="68" y="97"/>
                  <a:pt x="68" y="97"/>
                  <a:pt x="68" y="97"/>
                </a:cubicBezTo>
                <a:cubicBezTo>
                  <a:pt x="62" y="90"/>
                  <a:pt x="62" y="90"/>
                  <a:pt x="62" y="90"/>
                </a:cubicBezTo>
                <a:cubicBezTo>
                  <a:pt x="62" y="90"/>
                  <a:pt x="61" y="90"/>
                  <a:pt x="61" y="90"/>
                </a:cubicBezTo>
                <a:cubicBezTo>
                  <a:pt x="59" y="99"/>
                  <a:pt x="59" y="99"/>
                  <a:pt x="59" y="99"/>
                </a:cubicBezTo>
                <a:cubicBezTo>
                  <a:pt x="42" y="99"/>
                  <a:pt x="42" y="99"/>
                  <a:pt x="42" y="99"/>
                </a:cubicBezTo>
                <a:cubicBezTo>
                  <a:pt x="40" y="91"/>
                  <a:pt x="40" y="91"/>
                  <a:pt x="40" y="91"/>
                </a:cubicBezTo>
                <a:cubicBezTo>
                  <a:pt x="40" y="91"/>
                  <a:pt x="39" y="91"/>
                  <a:pt x="39" y="91"/>
                </a:cubicBezTo>
                <a:cubicBezTo>
                  <a:pt x="33" y="97"/>
                  <a:pt x="33" y="97"/>
                  <a:pt x="33" y="97"/>
                </a:cubicBezTo>
                <a:cubicBezTo>
                  <a:pt x="18" y="89"/>
                  <a:pt x="18" y="89"/>
                  <a:pt x="18" y="89"/>
                </a:cubicBezTo>
                <a:cubicBezTo>
                  <a:pt x="21" y="81"/>
                  <a:pt x="21" y="81"/>
                  <a:pt x="21" y="81"/>
                </a:cubicBezTo>
                <a:cubicBezTo>
                  <a:pt x="20" y="80"/>
                  <a:pt x="20" y="80"/>
                  <a:pt x="20" y="80"/>
                </a:cubicBezTo>
                <a:cubicBezTo>
                  <a:pt x="11" y="83"/>
                  <a:pt x="11" y="83"/>
                  <a:pt x="11" y="83"/>
                </a:cubicBezTo>
                <a:cubicBezTo>
                  <a:pt x="3" y="68"/>
                  <a:pt x="3" y="68"/>
                  <a:pt x="3" y="68"/>
                </a:cubicBezTo>
                <a:cubicBezTo>
                  <a:pt x="9" y="62"/>
                  <a:pt x="9" y="62"/>
                  <a:pt x="9" y="62"/>
                </a:cubicBezTo>
                <a:cubicBezTo>
                  <a:pt x="9" y="62"/>
                  <a:pt x="9" y="61"/>
                  <a:pt x="9" y="61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42"/>
                  <a:pt x="0" y="42"/>
                  <a:pt x="0" y="42"/>
                </a:cubicBezTo>
                <a:cubicBezTo>
                  <a:pt x="8" y="40"/>
                  <a:pt x="8" y="40"/>
                  <a:pt x="8" y="40"/>
                </a:cubicBezTo>
                <a:cubicBezTo>
                  <a:pt x="8" y="40"/>
                  <a:pt x="8" y="39"/>
                  <a:pt x="9" y="39"/>
                </a:cubicBezTo>
                <a:cubicBezTo>
                  <a:pt x="2" y="33"/>
                  <a:pt x="2" y="33"/>
                  <a:pt x="2" y="33"/>
                </a:cubicBezTo>
                <a:cubicBezTo>
                  <a:pt x="10" y="18"/>
                  <a:pt x="10" y="18"/>
                  <a:pt x="10" y="18"/>
                </a:cubicBezTo>
                <a:cubicBezTo>
                  <a:pt x="18" y="21"/>
                  <a:pt x="18" y="21"/>
                  <a:pt x="18" y="21"/>
                </a:cubicBezTo>
                <a:cubicBezTo>
                  <a:pt x="19" y="21"/>
                  <a:pt x="19" y="20"/>
                  <a:pt x="19" y="20"/>
                </a:cubicBezTo>
                <a:cubicBezTo>
                  <a:pt x="17" y="11"/>
                  <a:pt x="17" y="11"/>
                  <a:pt x="17" y="11"/>
                </a:cubicBezTo>
                <a:cubicBezTo>
                  <a:pt x="31" y="3"/>
                  <a:pt x="31" y="3"/>
                  <a:pt x="31" y="3"/>
                </a:cubicBezTo>
                <a:cubicBezTo>
                  <a:pt x="37" y="9"/>
                  <a:pt x="37" y="9"/>
                  <a:pt x="37" y="9"/>
                </a:cubicBezTo>
                <a:cubicBezTo>
                  <a:pt x="37" y="9"/>
                  <a:pt x="38" y="9"/>
                  <a:pt x="38" y="9"/>
                </a:cubicBezTo>
                <a:cubicBezTo>
                  <a:pt x="40" y="0"/>
                  <a:pt x="40" y="0"/>
                  <a:pt x="40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9" y="8"/>
                  <a:pt x="59" y="8"/>
                  <a:pt x="59" y="8"/>
                </a:cubicBezTo>
                <a:close/>
                <a:moveTo>
                  <a:pt x="36" y="58"/>
                </a:moveTo>
                <a:cubicBezTo>
                  <a:pt x="37" y="52"/>
                  <a:pt x="37" y="52"/>
                  <a:pt x="37" y="52"/>
                </a:cubicBezTo>
                <a:cubicBezTo>
                  <a:pt x="45" y="47"/>
                  <a:pt x="45" y="47"/>
                  <a:pt x="45" y="47"/>
                </a:cubicBezTo>
                <a:cubicBezTo>
                  <a:pt x="56" y="47"/>
                  <a:pt x="56" y="47"/>
                  <a:pt x="56" y="47"/>
                </a:cubicBezTo>
                <a:cubicBezTo>
                  <a:pt x="58" y="55"/>
                  <a:pt x="58" y="55"/>
                  <a:pt x="58" y="55"/>
                </a:cubicBezTo>
                <a:cubicBezTo>
                  <a:pt x="64" y="55"/>
                  <a:pt x="64" y="55"/>
                  <a:pt x="64" y="55"/>
                </a:cubicBezTo>
                <a:cubicBezTo>
                  <a:pt x="64" y="56"/>
                  <a:pt x="64" y="56"/>
                  <a:pt x="64" y="56"/>
                </a:cubicBezTo>
                <a:cubicBezTo>
                  <a:pt x="56" y="58"/>
                  <a:pt x="56" y="58"/>
                  <a:pt x="56" y="58"/>
                </a:cubicBezTo>
                <a:cubicBezTo>
                  <a:pt x="54" y="54"/>
                  <a:pt x="54" y="54"/>
                  <a:pt x="54" y="54"/>
                </a:cubicBezTo>
                <a:cubicBezTo>
                  <a:pt x="52" y="62"/>
                  <a:pt x="52" y="62"/>
                  <a:pt x="52" y="62"/>
                </a:cubicBezTo>
                <a:cubicBezTo>
                  <a:pt x="58" y="69"/>
                  <a:pt x="58" y="69"/>
                  <a:pt x="58" y="69"/>
                </a:cubicBezTo>
                <a:cubicBezTo>
                  <a:pt x="58" y="79"/>
                  <a:pt x="58" y="79"/>
                  <a:pt x="58" y="79"/>
                </a:cubicBezTo>
                <a:cubicBezTo>
                  <a:pt x="63" y="77"/>
                  <a:pt x="67" y="74"/>
                  <a:pt x="71" y="71"/>
                </a:cubicBezTo>
                <a:cubicBezTo>
                  <a:pt x="76" y="66"/>
                  <a:pt x="80" y="58"/>
                  <a:pt x="80" y="50"/>
                </a:cubicBezTo>
                <a:cubicBezTo>
                  <a:pt x="80" y="41"/>
                  <a:pt x="76" y="34"/>
                  <a:pt x="71" y="28"/>
                </a:cubicBezTo>
                <a:cubicBezTo>
                  <a:pt x="65" y="23"/>
                  <a:pt x="58" y="19"/>
                  <a:pt x="49" y="19"/>
                </a:cubicBezTo>
                <a:cubicBezTo>
                  <a:pt x="41" y="19"/>
                  <a:pt x="34" y="23"/>
                  <a:pt x="28" y="28"/>
                </a:cubicBezTo>
                <a:cubicBezTo>
                  <a:pt x="23" y="34"/>
                  <a:pt x="19" y="41"/>
                  <a:pt x="19" y="50"/>
                </a:cubicBezTo>
                <a:cubicBezTo>
                  <a:pt x="19" y="58"/>
                  <a:pt x="23" y="66"/>
                  <a:pt x="28" y="71"/>
                </a:cubicBezTo>
                <a:cubicBezTo>
                  <a:pt x="34" y="76"/>
                  <a:pt x="41" y="80"/>
                  <a:pt x="49" y="80"/>
                </a:cubicBezTo>
                <a:cubicBezTo>
                  <a:pt x="52" y="80"/>
                  <a:pt x="54" y="80"/>
                  <a:pt x="55" y="79"/>
                </a:cubicBezTo>
                <a:cubicBezTo>
                  <a:pt x="53" y="70"/>
                  <a:pt x="53" y="70"/>
                  <a:pt x="53" y="70"/>
                </a:cubicBezTo>
                <a:cubicBezTo>
                  <a:pt x="48" y="66"/>
                  <a:pt x="48" y="66"/>
                  <a:pt x="48" y="66"/>
                </a:cubicBezTo>
                <a:cubicBezTo>
                  <a:pt x="47" y="69"/>
                  <a:pt x="45" y="73"/>
                  <a:pt x="45" y="73"/>
                </a:cubicBezTo>
                <a:cubicBezTo>
                  <a:pt x="35" y="75"/>
                  <a:pt x="35" y="75"/>
                  <a:pt x="35" y="75"/>
                </a:cubicBezTo>
                <a:cubicBezTo>
                  <a:pt x="35" y="73"/>
                  <a:pt x="35" y="73"/>
                  <a:pt x="35" y="73"/>
                </a:cubicBezTo>
                <a:cubicBezTo>
                  <a:pt x="42" y="71"/>
                  <a:pt x="42" y="71"/>
                  <a:pt x="42" y="71"/>
                </a:cubicBezTo>
                <a:cubicBezTo>
                  <a:pt x="44" y="61"/>
                  <a:pt x="44" y="61"/>
                  <a:pt x="44" y="61"/>
                </a:cubicBezTo>
                <a:cubicBezTo>
                  <a:pt x="45" y="52"/>
                  <a:pt x="45" y="52"/>
                  <a:pt x="45" y="52"/>
                </a:cubicBezTo>
                <a:cubicBezTo>
                  <a:pt x="41" y="54"/>
                  <a:pt x="41" y="54"/>
                  <a:pt x="41" y="54"/>
                </a:cubicBezTo>
                <a:cubicBezTo>
                  <a:pt x="38" y="59"/>
                  <a:pt x="38" y="59"/>
                  <a:pt x="38" y="59"/>
                </a:cubicBezTo>
                <a:cubicBezTo>
                  <a:pt x="36" y="58"/>
                  <a:pt x="36" y="58"/>
                  <a:pt x="36" y="58"/>
                </a:cubicBezTo>
                <a:close/>
                <a:moveTo>
                  <a:pt x="51" y="37"/>
                </a:moveTo>
                <a:cubicBezTo>
                  <a:pt x="48" y="37"/>
                  <a:pt x="46" y="39"/>
                  <a:pt x="46" y="41"/>
                </a:cubicBezTo>
                <a:cubicBezTo>
                  <a:pt x="46" y="44"/>
                  <a:pt x="48" y="46"/>
                  <a:pt x="51" y="46"/>
                </a:cubicBezTo>
                <a:cubicBezTo>
                  <a:pt x="53" y="46"/>
                  <a:pt x="55" y="44"/>
                  <a:pt x="55" y="41"/>
                </a:cubicBezTo>
                <a:cubicBezTo>
                  <a:pt x="55" y="39"/>
                  <a:pt x="53" y="37"/>
                  <a:pt x="51" y="37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1853723" y="3139110"/>
            <a:ext cx="5110329" cy="534591"/>
            <a:chOff x="2471630" y="1331575"/>
            <a:chExt cx="6813772" cy="712788"/>
          </a:xfrm>
        </p:grpSpPr>
        <p:sp>
          <p:nvSpPr>
            <p:cNvPr id="103" name="文本框 20"/>
            <p:cNvSpPr txBox="1">
              <a:spLocks noChangeArrowheads="1"/>
            </p:cNvSpPr>
            <p:nvPr/>
          </p:nvSpPr>
          <p:spPr bwMode="auto">
            <a:xfrm>
              <a:off x="4852773" y="1454602"/>
              <a:ext cx="3659632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技术路线与实验验证</a:t>
              </a:r>
            </a:p>
          </p:txBody>
        </p:sp>
        <p:sp>
          <p:nvSpPr>
            <p:cNvPr id="104" name="矩形 103"/>
            <p:cNvSpPr/>
            <p:nvPr/>
          </p:nvSpPr>
          <p:spPr bwMode="auto">
            <a:xfrm>
              <a:off x="3354280" y="1331575"/>
              <a:ext cx="5931122" cy="712788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05" name="直接连接符 104"/>
            <p:cNvCxnSpPr/>
            <p:nvPr/>
          </p:nvCxnSpPr>
          <p:spPr bwMode="auto">
            <a:xfrm flipH="1">
              <a:off x="4219468" y="1331575"/>
              <a:ext cx="12700" cy="712788"/>
            </a:xfrm>
            <a:prstGeom prst="line">
              <a:avLst/>
            </a:prstGeom>
            <a:ln w="25400">
              <a:solidFill>
                <a:srgbClr val="04487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68"/>
            <p:cNvGrpSpPr/>
            <p:nvPr/>
          </p:nvGrpSpPr>
          <p:grpSpPr bwMode="auto">
            <a:xfrm>
              <a:off x="2471630" y="1331575"/>
              <a:ext cx="919442" cy="712788"/>
              <a:chOff x="6191369" y="1397569"/>
              <a:chExt cx="919239" cy="712882"/>
            </a:xfrm>
          </p:grpSpPr>
          <p:sp>
            <p:nvSpPr>
              <p:cNvPr id="107" name="矩形 106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09" name="文本框 18"/>
              <p:cNvSpPr txBox="1">
                <a:spLocks noChangeArrowheads="1"/>
              </p:cNvSpPr>
              <p:nvPr/>
            </p:nvSpPr>
            <p:spPr bwMode="auto">
              <a:xfrm>
                <a:off x="6191369" y="1397569"/>
                <a:ext cx="919239" cy="677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700" dirty="0">
                    <a:solidFill>
                      <a:srgbClr val="044875"/>
                    </a:solidFill>
                    <a:latin typeface="Impact" panose="020B0806030902050204" pitchFamily="34" charset="0"/>
                  </a:rPr>
                  <a:t>03</a:t>
                </a:r>
                <a:endParaRPr lang="zh-CN" altLang="en-US" sz="2700" dirty="0">
                  <a:solidFill>
                    <a:srgbClr val="044875"/>
                  </a:solidFill>
                  <a:latin typeface="Impact" panose="020B0806030902050204" pitchFamily="34" charset="0"/>
                </a:endParaRPr>
              </a:p>
            </p:txBody>
          </p:sp>
        </p:grpSp>
      </p:grpSp>
      <p:sp>
        <p:nvSpPr>
          <p:cNvPr id="110" name="Freeform 59"/>
          <p:cNvSpPr>
            <a:spLocks noEditPoints="1"/>
          </p:cNvSpPr>
          <p:nvPr/>
        </p:nvSpPr>
        <p:spPr bwMode="auto">
          <a:xfrm>
            <a:off x="2612747" y="3215044"/>
            <a:ext cx="454819" cy="342900"/>
          </a:xfrm>
          <a:custGeom>
            <a:avLst/>
            <a:gdLst>
              <a:gd name="T0" fmla="*/ 17 w 111"/>
              <a:gd name="T1" fmla="*/ 2 h 84"/>
              <a:gd name="T2" fmla="*/ 29 w 111"/>
              <a:gd name="T3" fmla="*/ 4 h 84"/>
              <a:gd name="T4" fmla="*/ 20 w 111"/>
              <a:gd name="T5" fmla="*/ 51 h 84"/>
              <a:gd name="T6" fmla="*/ 5 w 111"/>
              <a:gd name="T7" fmla="*/ 48 h 84"/>
              <a:gd name="T8" fmla="*/ 17 w 111"/>
              <a:gd name="T9" fmla="*/ 2 h 84"/>
              <a:gd name="T10" fmla="*/ 20 w 111"/>
              <a:gd name="T11" fmla="*/ 68 h 84"/>
              <a:gd name="T12" fmla="*/ 17 w 111"/>
              <a:gd name="T13" fmla="*/ 76 h 84"/>
              <a:gd name="T14" fmla="*/ 107 w 111"/>
              <a:gd name="T15" fmla="*/ 76 h 84"/>
              <a:gd name="T16" fmla="*/ 111 w 111"/>
              <a:gd name="T17" fmla="*/ 76 h 84"/>
              <a:gd name="T18" fmla="*/ 111 w 111"/>
              <a:gd name="T19" fmla="*/ 72 h 84"/>
              <a:gd name="T20" fmla="*/ 111 w 111"/>
              <a:gd name="T21" fmla="*/ 27 h 84"/>
              <a:gd name="T22" fmla="*/ 111 w 111"/>
              <a:gd name="T23" fmla="*/ 26 h 84"/>
              <a:gd name="T24" fmla="*/ 110 w 111"/>
              <a:gd name="T25" fmla="*/ 24 h 84"/>
              <a:gd name="T26" fmla="*/ 96 w 111"/>
              <a:gd name="T27" fmla="*/ 11 h 84"/>
              <a:gd name="T28" fmla="*/ 95 w 111"/>
              <a:gd name="T29" fmla="*/ 10 h 84"/>
              <a:gd name="T30" fmla="*/ 93 w 111"/>
              <a:gd name="T31" fmla="*/ 10 h 84"/>
              <a:gd name="T32" fmla="*/ 33 w 111"/>
              <a:gd name="T33" fmla="*/ 10 h 84"/>
              <a:gd name="T34" fmla="*/ 33 w 111"/>
              <a:gd name="T35" fmla="*/ 17 h 84"/>
              <a:gd name="T36" fmla="*/ 89 w 111"/>
              <a:gd name="T37" fmla="*/ 17 h 84"/>
              <a:gd name="T38" fmla="*/ 88 w 111"/>
              <a:gd name="T39" fmla="*/ 29 h 84"/>
              <a:gd name="T40" fmla="*/ 88 w 111"/>
              <a:gd name="T41" fmla="*/ 31 h 84"/>
              <a:gd name="T42" fmla="*/ 90 w 111"/>
              <a:gd name="T43" fmla="*/ 31 h 84"/>
              <a:gd name="T44" fmla="*/ 104 w 111"/>
              <a:gd name="T45" fmla="*/ 31 h 84"/>
              <a:gd name="T46" fmla="*/ 104 w 111"/>
              <a:gd name="T47" fmla="*/ 68 h 84"/>
              <a:gd name="T48" fmla="*/ 20 w 111"/>
              <a:gd name="T49" fmla="*/ 68 h 84"/>
              <a:gd name="T50" fmla="*/ 102 w 111"/>
              <a:gd name="T51" fmla="*/ 27 h 84"/>
              <a:gd name="T52" fmla="*/ 92 w 111"/>
              <a:gd name="T53" fmla="*/ 27 h 84"/>
              <a:gd name="T54" fmla="*/ 93 w 111"/>
              <a:gd name="T55" fmla="*/ 19 h 84"/>
              <a:gd name="T56" fmla="*/ 102 w 111"/>
              <a:gd name="T57" fmla="*/ 27 h 84"/>
              <a:gd name="T58" fmla="*/ 34 w 111"/>
              <a:gd name="T59" fmla="*/ 45 h 84"/>
              <a:gd name="T60" fmla="*/ 79 w 111"/>
              <a:gd name="T61" fmla="*/ 45 h 84"/>
              <a:gd name="T62" fmla="*/ 79 w 111"/>
              <a:gd name="T63" fmla="*/ 48 h 84"/>
              <a:gd name="T64" fmla="*/ 34 w 111"/>
              <a:gd name="T65" fmla="*/ 48 h 84"/>
              <a:gd name="T66" fmla="*/ 34 w 111"/>
              <a:gd name="T67" fmla="*/ 45 h 84"/>
              <a:gd name="T68" fmla="*/ 34 w 111"/>
              <a:gd name="T69" fmla="*/ 34 h 84"/>
              <a:gd name="T70" fmla="*/ 75 w 111"/>
              <a:gd name="T71" fmla="*/ 34 h 84"/>
              <a:gd name="T72" fmla="*/ 75 w 111"/>
              <a:gd name="T73" fmla="*/ 37 h 84"/>
              <a:gd name="T74" fmla="*/ 34 w 111"/>
              <a:gd name="T75" fmla="*/ 37 h 84"/>
              <a:gd name="T76" fmla="*/ 34 w 111"/>
              <a:gd name="T77" fmla="*/ 34 h 84"/>
              <a:gd name="T78" fmla="*/ 34 w 111"/>
              <a:gd name="T79" fmla="*/ 23 h 84"/>
              <a:gd name="T80" fmla="*/ 75 w 111"/>
              <a:gd name="T81" fmla="*/ 23 h 84"/>
              <a:gd name="T82" fmla="*/ 75 w 111"/>
              <a:gd name="T83" fmla="*/ 26 h 84"/>
              <a:gd name="T84" fmla="*/ 34 w 111"/>
              <a:gd name="T85" fmla="*/ 26 h 84"/>
              <a:gd name="T86" fmla="*/ 34 w 111"/>
              <a:gd name="T87" fmla="*/ 23 h 84"/>
              <a:gd name="T88" fmla="*/ 4 w 111"/>
              <a:gd name="T89" fmla="*/ 70 h 84"/>
              <a:gd name="T90" fmla="*/ 10 w 111"/>
              <a:gd name="T91" fmla="*/ 72 h 84"/>
              <a:gd name="T92" fmla="*/ 10 w 111"/>
              <a:gd name="T93" fmla="*/ 79 h 84"/>
              <a:gd name="T94" fmla="*/ 5 w 111"/>
              <a:gd name="T95" fmla="*/ 84 h 84"/>
              <a:gd name="T96" fmla="*/ 2 w 111"/>
              <a:gd name="T97" fmla="*/ 83 h 84"/>
              <a:gd name="T98" fmla="*/ 0 w 111"/>
              <a:gd name="T99" fmla="*/ 76 h 84"/>
              <a:gd name="T100" fmla="*/ 4 w 111"/>
              <a:gd name="T101" fmla="*/ 70 h 84"/>
              <a:gd name="T102" fmla="*/ 4 w 111"/>
              <a:gd name="T103" fmla="*/ 51 h 84"/>
              <a:gd name="T104" fmla="*/ 2 w 111"/>
              <a:gd name="T105" fmla="*/ 68 h 84"/>
              <a:gd name="T106" fmla="*/ 13 w 111"/>
              <a:gd name="T107" fmla="*/ 71 h 84"/>
              <a:gd name="T108" fmla="*/ 18 w 111"/>
              <a:gd name="T109" fmla="*/ 54 h 84"/>
              <a:gd name="T110" fmla="*/ 4 w 111"/>
              <a:gd name="T111" fmla="*/ 51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11" h="84">
                <a:moveTo>
                  <a:pt x="17" y="2"/>
                </a:moveTo>
                <a:cubicBezTo>
                  <a:pt x="22" y="0"/>
                  <a:pt x="26" y="1"/>
                  <a:pt x="29" y="4"/>
                </a:cubicBezTo>
                <a:cubicBezTo>
                  <a:pt x="27" y="21"/>
                  <a:pt x="24" y="37"/>
                  <a:pt x="20" y="51"/>
                </a:cubicBezTo>
                <a:cubicBezTo>
                  <a:pt x="15" y="50"/>
                  <a:pt x="10" y="49"/>
                  <a:pt x="5" y="48"/>
                </a:cubicBezTo>
                <a:cubicBezTo>
                  <a:pt x="6" y="31"/>
                  <a:pt x="11" y="15"/>
                  <a:pt x="17" y="2"/>
                </a:cubicBezTo>
                <a:close/>
                <a:moveTo>
                  <a:pt x="20" y="68"/>
                </a:moveTo>
                <a:cubicBezTo>
                  <a:pt x="17" y="76"/>
                  <a:pt x="17" y="76"/>
                  <a:pt x="17" y="76"/>
                </a:cubicBezTo>
                <a:cubicBezTo>
                  <a:pt x="74" y="76"/>
                  <a:pt x="80" y="76"/>
                  <a:pt x="107" y="76"/>
                </a:cubicBezTo>
                <a:cubicBezTo>
                  <a:pt x="111" y="76"/>
                  <a:pt x="111" y="76"/>
                  <a:pt x="111" y="76"/>
                </a:cubicBezTo>
                <a:cubicBezTo>
                  <a:pt x="111" y="72"/>
                  <a:pt x="111" y="72"/>
                  <a:pt x="111" y="72"/>
                </a:cubicBezTo>
                <a:cubicBezTo>
                  <a:pt x="111" y="27"/>
                  <a:pt x="111" y="27"/>
                  <a:pt x="111" y="27"/>
                </a:cubicBezTo>
                <a:cubicBezTo>
                  <a:pt x="111" y="26"/>
                  <a:pt x="111" y="26"/>
                  <a:pt x="111" y="26"/>
                </a:cubicBezTo>
                <a:cubicBezTo>
                  <a:pt x="110" y="24"/>
                  <a:pt x="110" y="24"/>
                  <a:pt x="110" y="24"/>
                </a:cubicBezTo>
                <a:cubicBezTo>
                  <a:pt x="96" y="11"/>
                  <a:pt x="96" y="11"/>
                  <a:pt x="96" y="11"/>
                </a:cubicBezTo>
                <a:cubicBezTo>
                  <a:pt x="95" y="10"/>
                  <a:pt x="95" y="10"/>
                  <a:pt x="95" y="10"/>
                </a:cubicBezTo>
                <a:cubicBezTo>
                  <a:pt x="93" y="10"/>
                  <a:pt x="93" y="10"/>
                  <a:pt x="93" y="10"/>
                </a:cubicBezTo>
                <a:cubicBezTo>
                  <a:pt x="33" y="10"/>
                  <a:pt x="33" y="10"/>
                  <a:pt x="33" y="10"/>
                </a:cubicBezTo>
                <a:cubicBezTo>
                  <a:pt x="33" y="12"/>
                  <a:pt x="33" y="15"/>
                  <a:pt x="33" y="17"/>
                </a:cubicBezTo>
                <a:cubicBezTo>
                  <a:pt x="89" y="17"/>
                  <a:pt x="89" y="17"/>
                  <a:pt x="89" y="17"/>
                </a:cubicBezTo>
                <a:cubicBezTo>
                  <a:pt x="88" y="29"/>
                  <a:pt x="88" y="29"/>
                  <a:pt x="88" y="29"/>
                </a:cubicBezTo>
                <a:cubicBezTo>
                  <a:pt x="88" y="31"/>
                  <a:pt x="88" y="31"/>
                  <a:pt x="88" y="31"/>
                </a:cubicBezTo>
                <a:cubicBezTo>
                  <a:pt x="90" y="31"/>
                  <a:pt x="90" y="31"/>
                  <a:pt x="90" y="31"/>
                </a:cubicBezTo>
                <a:cubicBezTo>
                  <a:pt x="104" y="31"/>
                  <a:pt x="104" y="31"/>
                  <a:pt x="104" y="31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84" y="68"/>
                  <a:pt x="61" y="68"/>
                  <a:pt x="20" y="68"/>
                </a:cubicBezTo>
                <a:close/>
                <a:moveTo>
                  <a:pt x="102" y="27"/>
                </a:moveTo>
                <a:cubicBezTo>
                  <a:pt x="92" y="27"/>
                  <a:pt x="92" y="27"/>
                  <a:pt x="92" y="27"/>
                </a:cubicBezTo>
                <a:cubicBezTo>
                  <a:pt x="93" y="19"/>
                  <a:pt x="93" y="19"/>
                  <a:pt x="93" y="19"/>
                </a:cubicBezTo>
                <a:cubicBezTo>
                  <a:pt x="102" y="27"/>
                  <a:pt x="102" y="27"/>
                  <a:pt x="102" y="27"/>
                </a:cubicBezTo>
                <a:close/>
                <a:moveTo>
                  <a:pt x="34" y="45"/>
                </a:moveTo>
                <a:cubicBezTo>
                  <a:pt x="79" y="45"/>
                  <a:pt x="79" y="45"/>
                  <a:pt x="79" y="45"/>
                </a:cubicBezTo>
                <a:cubicBezTo>
                  <a:pt x="79" y="48"/>
                  <a:pt x="79" y="48"/>
                  <a:pt x="79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4" y="45"/>
                  <a:pt x="34" y="45"/>
                  <a:pt x="34" y="45"/>
                </a:cubicBezTo>
                <a:close/>
                <a:moveTo>
                  <a:pt x="34" y="34"/>
                </a:moveTo>
                <a:cubicBezTo>
                  <a:pt x="75" y="34"/>
                  <a:pt x="75" y="34"/>
                  <a:pt x="75" y="34"/>
                </a:cubicBezTo>
                <a:cubicBezTo>
                  <a:pt x="75" y="37"/>
                  <a:pt x="75" y="37"/>
                  <a:pt x="75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4" y="34"/>
                  <a:pt x="34" y="34"/>
                  <a:pt x="34" y="34"/>
                </a:cubicBezTo>
                <a:close/>
                <a:moveTo>
                  <a:pt x="34" y="23"/>
                </a:moveTo>
                <a:cubicBezTo>
                  <a:pt x="75" y="23"/>
                  <a:pt x="75" y="23"/>
                  <a:pt x="75" y="23"/>
                </a:cubicBezTo>
                <a:cubicBezTo>
                  <a:pt x="75" y="26"/>
                  <a:pt x="75" y="26"/>
                  <a:pt x="75" y="26"/>
                </a:cubicBezTo>
                <a:cubicBezTo>
                  <a:pt x="34" y="26"/>
                  <a:pt x="34" y="26"/>
                  <a:pt x="34" y="26"/>
                </a:cubicBezTo>
                <a:cubicBezTo>
                  <a:pt x="34" y="23"/>
                  <a:pt x="34" y="23"/>
                  <a:pt x="34" y="23"/>
                </a:cubicBezTo>
                <a:close/>
                <a:moveTo>
                  <a:pt x="4" y="70"/>
                </a:moveTo>
                <a:cubicBezTo>
                  <a:pt x="10" y="72"/>
                  <a:pt x="10" y="72"/>
                  <a:pt x="10" y="72"/>
                </a:cubicBezTo>
                <a:cubicBezTo>
                  <a:pt x="10" y="79"/>
                  <a:pt x="10" y="79"/>
                  <a:pt x="10" y="79"/>
                </a:cubicBezTo>
                <a:cubicBezTo>
                  <a:pt x="5" y="84"/>
                  <a:pt x="5" y="84"/>
                  <a:pt x="5" y="84"/>
                </a:cubicBezTo>
                <a:cubicBezTo>
                  <a:pt x="4" y="84"/>
                  <a:pt x="3" y="83"/>
                  <a:pt x="2" y="83"/>
                </a:cubicBezTo>
                <a:cubicBezTo>
                  <a:pt x="0" y="76"/>
                  <a:pt x="0" y="76"/>
                  <a:pt x="0" y="76"/>
                </a:cubicBezTo>
                <a:cubicBezTo>
                  <a:pt x="4" y="70"/>
                  <a:pt x="4" y="70"/>
                  <a:pt x="4" y="70"/>
                </a:cubicBezTo>
                <a:close/>
                <a:moveTo>
                  <a:pt x="4" y="51"/>
                </a:moveTo>
                <a:cubicBezTo>
                  <a:pt x="4" y="57"/>
                  <a:pt x="3" y="63"/>
                  <a:pt x="2" y="68"/>
                </a:cubicBezTo>
                <a:cubicBezTo>
                  <a:pt x="6" y="69"/>
                  <a:pt x="9" y="70"/>
                  <a:pt x="13" y="71"/>
                </a:cubicBezTo>
                <a:cubicBezTo>
                  <a:pt x="14" y="65"/>
                  <a:pt x="16" y="60"/>
                  <a:pt x="18" y="54"/>
                </a:cubicBezTo>
                <a:cubicBezTo>
                  <a:pt x="14" y="53"/>
                  <a:pt x="9" y="52"/>
                  <a:pt x="4" y="51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853723" y="4137082"/>
            <a:ext cx="5110329" cy="534591"/>
            <a:chOff x="2471630" y="1331575"/>
            <a:chExt cx="6813772" cy="712788"/>
          </a:xfrm>
        </p:grpSpPr>
        <p:sp>
          <p:nvSpPr>
            <p:cNvPr id="112" name="文本框 20"/>
            <p:cNvSpPr txBox="1">
              <a:spLocks noChangeArrowheads="1"/>
            </p:cNvSpPr>
            <p:nvPr/>
          </p:nvSpPr>
          <p:spPr bwMode="auto">
            <a:xfrm>
              <a:off x="4852773" y="1454602"/>
              <a:ext cx="3659632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预期成果与进度安排</a:t>
              </a:r>
            </a:p>
          </p:txBody>
        </p:sp>
        <p:sp>
          <p:nvSpPr>
            <p:cNvPr id="113" name="矩形 112"/>
            <p:cNvSpPr/>
            <p:nvPr/>
          </p:nvSpPr>
          <p:spPr bwMode="auto">
            <a:xfrm>
              <a:off x="3354280" y="1331575"/>
              <a:ext cx="5931122" cy="712788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14" name="直接连接符 113"/>
            <p:cNvCxnSpPr/>
            <p:nvPr/>
          </p:nvCxnSpPr>
          <p:spPr bwMode="auto">
            <a:xfrm flipH="1">
              <a:off x="4219468" y="1331575"/>
              <a:ext cx="12700" cy="712788"/>
            </a:xfrm>
            <a:prstGeom prst="line">
              <a:avLst/>
            </a:prstGeom>
            <a:ln w="25400">
              <a:solidFill>
                <a:srgbClr val="04487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68"/>
            <p:cNvGrpSpPr/>
            <p:nvPr/>
          </p:nvGrpSpPr>
          <p:grpSpPr bwMode="auto">
            <a:xfrm>
              <a:off x="2471630" y="1331575"/>
              <a:ext cx="919442" cy="712788"/>
              <a:chOff x="6191369" y="1397569"/>
              <a:chExt cx="919239" cy="712882"/>
            </a:xfrm>
          </p:grpSpPr>
          <p:sp>
            <p:nvSpPr>
              <p:cNvPr id="116" name="矩形 115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17" name="文本框 18"/>
              <p:cNvSpPr txBox="1">
                <a:spLocks noChangeArrowheads="1"/>
              </p:cNvSpPr>
              <p:nvPr/>
            </p:nvSpPr>
            <p:spPr bwMode="auto">
              <a:xfrm>
                <a:off x="6191369" y="1397569"/>
                <a:ext cx="919239" cy="677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700" dirty="0">
                    <a:solidFill>
                      <a:srgbClr val="044875"/>
                    </a:solidFill>
                    <a:latin typeface="Impact" panose="020B0806030902050204" pitchFamily="34" charset="0"/>
                  </a:rPr>
                  <a:t>04</a:t>
                </a:r>
                <a:endParaRPr lang="zh-CN" altLang="en-US" sz="2700" dirty="0">
                  <a:solidFill>
                    <a:srgbClr val="044875"/>
                  </a:solidFill>
                  <a:latin typeface="Impact" panose="020B0806030902050204" pitchFamily="34" charset="0"/>
                </a:endParaRPr>
              </a:p>
            </p:txBody>
          </p:sp>
        </p:grpSp>
      </p:grpSp>
      <p:sp>
        <p:nvSpPr>
          <p:cNvPr id="118" name="Freeform 71"/>
          <p:cNvSpPr>
            <a:spLocks noEditPoints="1"/>
          </p:cNvSpPr>
          <p:nvPr/>
        </p:nvSpPr>
        <p:spPr bwMode="auto">
          <a:xfrm>
            <a:off x="2639401" y="4201375"/>
            <a:ext cx="383381" cy="406004"/>
          </a:xfrm>
          <a:custGeom>
            <a:avLst/>
            <a:gdLst>
              <a:gd name="T0" fmla="*/ 170 w 222"/>
              <a:gd name="T1" fmla="*/ 29 h 235"/>
              <a:gd name="T2" fmla="*/ 182 w 222"/>
              <a:gd name="T3" fmla="*/ 7 h 235"/>
              <a:gd name="T4" fmla="*/ 151 w 222"/>
              <a:gd name="T5" fmla="*/ 19 h 235"/>
              <a:gd name="T6" fmla="*/ 7 w 222"/>
              <a:gd name="T7" fmla="*/ 159 h 235"/>
              <a:gd name="T8" fmla="*/ 31 w 222"/>
              <a:gd name="T9" fmla="*/ 223 h 235"/>
              <a:gd name="T10" fmla="*/ 31 w 222"/>
              <a:gd name="T11" fmla="*/ 171 h 235"/>
              <a:gd name="T12" fmla="*/ 109 w 222"/>
              <a:gd name="T13" fmla="*/ 114 h 235"/>
              <a:gd name="T14" fmla="*/ 116 w 222"/>
              <a:gd name="T15" fmla="*/ 93 h 235"/>
              <a:gd name="T16" fmla="*/ 87 w 222"/>
              <a:gd name="T17" fmla="*/ 104 h 235"/>
              <a:gd name="T18" fmla="*/ 76 w 222"/>
              <a:gd name="T19" fmla="*/ 100 h 235"/>
              <a:gd name="T20" fmla="*/ 116 w 222"/>
              <a:gd name="T21" fmla="*/ 83 h 235"/>
              <a:gd name="T22" fmla="*/ 132 w 222"/>
              <a:gd name="T23" fmla="*/ 90 h 235"/>
              <a:gd name="T24" fmla="*/ 132 w 222"/>
              <a:gd name="T25" fmla="*/ 19 h 235"/>
              <a:gd name="T26" fmla="*/ 180 w 222"/>
              <a:gd name="T27" fmla="*/ 0 h 235"/>
              <a:gd name="T28" fmla="*/ 182 w 222"/>
              <a:gd name="T29" fmla="*/ 0 h 235"/>
              <a:gd name="T30" fmla="*/ 222 w 222"/>
              <a:gd name="T31" fmla="*/ 19 h 235"/>
              <a:gd name="T32" fmla="*/ 173 w 222"/>
              <a:gd name="T33" fmla="*/ 187 h 235"/>
              <a:gd name="T34" fmla="*/ 158 w 222"/>
              <a:gd name="T35" fmla="*/ 180 h 235"/>
              <a:gd name="T36" fmla="*/ 106 w 222"/>
              <a:gd name="T37" fmla="*/ 211 h 235"/>
              <a:gd name="T38" fmla="*/ 90 w 222"/>
              <a:gd name="T39" fmla="*/ 201 h 235"/>
              <a:gd name="T40" fmla="*/ 38 w 222"/>
              <a:gd name="T41" fmla="*/ 235 h 235"/>
              <a:gd name="T42" fmla="*/ 2 w 222"/>
              <a:gd name="T43" fmla="*/ 218 h 235"/>
              <a:gd name="T44" fmla="*/ 0 w 222"/>
              <a:gd name="T45" fmla="*/ 213 h 235"/>
              <a:gd name="T46" fmla="*/ 0 w 222"/>
              <a:gd name="T47" fmla="*/ 147 h 235"/>
              <a:gd name="T48" fmla="*/ 47 w 222"/>
              <a:gd name="T49" fmla="*/ 128 h 235"/>
              <a:gd name="T50" fmla="*/ 50 w 222"/>
              <a:gd name="T51" fmla="*/ 128 h 235"/>
              <a:gd name="T52" fmla="*/ 90 w 222"/>
              <a:gd name="T53" fmla="*/ 147 h 235"/>
              <a:gd name="T54" fmla="*/ 99 w 222"/>
              <a:gd name="T55" fmla="*/ 199 h 235"/>
              <a:gd name="T56" fmla="*/ 76 w 222"/>
              <a:gd name="T57" fmla="*/ 114 h 235"/>
              <a:gd name="T58" fmla="*/ 68 w 222"/>
              <a:gd name="T59" fmla="*/ 138 h 235"/>
              <a:gd name="T60" fmla="*/ 68 w 222"/>
              <a:gd name="T61" fmla="*/ 102 h 235"/>
              <a:gd name="T62" fmla="*/ 139 w 222"/>
              <a:gd name="T63" fmla="*/ 95 h 235"/>
              <a:gd name="T64" fmla="*/ 158 w 222"/>
              <a:gd name="T65" fmla="*/ 102 h 235"/>
              <a:gd name="T66" fmla="*/ 165 w 222"/>
              <a:gd name="T67" fmla="*/ 175 h 235"/>
              <a:gd name="T68" fmla="*/ 139 w 222"/>
              <a:gd name="T69" fmla="*/ 31 h 235"/>
              <a:gd name="T70" fmla="*/ 139 w 222"/>
              <a:gd name="T71" fmla="*/ 95 h 235"/>
              <a:gd name="T72" fmla="*/ 38 w 222"/>
              <a:gd name="T73" fmla="*/ 159 h 235"/>
              <a:gd name="T74" fmla="*/ 47 w 222"/>
              <a:gd name="T75" fmla="*/ 138 h 235"/>
              <a:gd name="T76" fmla="*/ 19 w 222"/>
              <a:gd name="T77" fmla="*/ 149 h 235"/>
              <a:gd name="T78" fmla="*/ 173 w 222"/>
              <a:gd name="T79" fmla="*/ 36 h 235"/>
              <a:gd name="T80" fmla="*/ 173 w 222"/>
              <a:gd name="T81" fmla="*/ 38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22" h="235">
                <a:moveTo>
                  <a:pt x="151" y="19"/>
                </a:moveTo>
                <a:lnTo>
                  <a:pt x="170" y="29"/>
                </a:lnTo>
                <a:lnTo>
                  <a:pt x="203" y="19"/>
                </a:lnTo>
                <a:lnTo>
                  <a:pt x="182" y="7"/>
                </a:lnTo>
                <a:lnTo>
                  <a:pt x="151" y="19"/>
                </a:lnTo>
                <a:lnTo>
                  <a:pt x="151" y="19"/>
                </a:lnTo>
                <a:close/>
                <a:moveTo>
                  <a:pt x="31" y="171"/>
                </a:moveTo>
                <a:lnTo>
                  <a:pt x="7" y="159"/>
                </a:lnTo>
                <a:lnTo>
                  <a:pt x="7" y="211"/>
                </a:lnTo>
                <a:lnTo>
                  <a:pt x="31" y="223"/>
                </a:lnTo>
                <a:lnTo>
                  <a:pt x="31" y="171"/>
                </a:lnTo>
                <a:lnTo>
                  <a:pt x="31" y="171"/>
                </a:lnTo>
                <a:close/>
                <a:moveTo>
                  <a:pt x="87" y="104"/>
                </a:moveTo>
                <a:lnTo>
                  <a:pt x="109" y="114"/>
                </a:lnTo>
                <a:lnTo>
                  <a:pt x="137" y="102"/>
                </a:lnTo>
                <a:lnTo>
                  <a:pt x="116" y="93"/>
                </a:lnTo>
                <a:lnTo>
                  <a:pt x="87" y="104"/>
                </a:lnTo>
                <a:lnTo>
                  <a:pt x="87" y="104"/>
                </a:lnTo>
                <a:close/>
                <a:moveTo>
                  <a:pt x="68" y="102"/>
                </a:moveTo>
                <a:lnTo>
                  <a:pt x="76" y="100"/>
                </a:lnTo>
                <a:lnTo>
                  <a:pt x="116" y="83"/>
                </a:lnTo>
                <a:lnTo>
                  <a:pt x="116" y="83"/>
                </a:lnTo>
                <a:lnTo>
                  <a:pt x="118" y="83"/>
                </a:lnTo>
                <a:lnTo>
                  <a:pt x="132" y="90"/>
                </a:lnTo>
                <a:lnTo>
                  <a:pt x="132" y="24"/>
                </a:lnTo>
                <a:lnTo>
                  <a:pt x="132" y="19"/>
                </a:lnTo>
                <a:lnTo>
                  <a:pt x="139" y="14"/>
                </a:lnTo>
                <a:lnTo>
                  <a:pt x="180" y="0"/>
                </a:lnTo>
                <a:lnTo>
                  <a:pt x="182" y="0"/>
                </a:lnTo>
                <a:lnTo>
                  <a:pt x="182" y="0"/>
                </a:lnTo>
                <a:lnTo>
                  <a:pt x="215" y="14"/>
                </a:lnTo>
                <a:lnTo>
                  <a:pt x="222" y="19"/>
                </a:lnTo>
                <a:lnTo>
                  <a:pt x="222" y="168"/>
                </a:lnTo>
                <a:lnTo>
                  <a:pt x="173" y="187"/>
                </a:lnTo>
                <a:lnTo>
                  <a:pt x="168" y="185"/>
                </a:lnTo>
                <a:lnTo>
                  <a:pt x="158" y="180"/>
                </a:lnTo>
                <a:lnTo>
                  <a:pt x="158" y="192"/>
                </a:lnTo>
                <a:lnTo>
                  <a:pt x="106" y="211"/>
                </a:lnTo>
                <a:lnTo>
                  <a:pt x="102" y="209"/>
                </a:lnTo>
                <a:lnTo>
                  <a:pt x="90" y="201"/>
                </a:lnTo>
                <a:lnTo>
                  <a:pt x="90" y="216"/>
                </a:lnTo>
                <a:lnTo>
                  <a:pt x="38" y="235"/>
                </a:lnTo>
                <a:lnTo>
                  <a:pt x="33" y="232"/>
                </a:lnTo>
                <a:lnTo>
                  <a:pt x="2" y="218"/>
                </a:lnTo>
                <a:lnTo>
                  <a:pt x="0" y="216"/>
                </a:lnTo>
                <a:lnTo>
                  <a:pt x="0" y="213"/>
                </a:lnTo>
                <a:lnTo>
                  <a:pt x="0" y="154"/>
                </a:lnTo>
                <a:lnTo>
                  <a:pt x="0" y="147"/>
                </a:lnTo>
                <a:lnTo>
                  <a:pt x="7" y="145"/>
                </a:lnTo>
                <a:lnTo>
                  <a:pt x="47" y="128"/>
                </a:lnTo>
                <a:lnTo>
                  <a:pt x="47" y="128"/>
                </a:lnTo>
                <a:lnTo>
                  <a:pt x="50" y="128"/>
                </a:lnTo>
                <a:lnTo>
                  <a:pt x="80" y="145"/>
                </a:lnTo>
                <a:lnTo>
                  <a:pt x="90" y="147"/>
                </a:lnTo>
                <a:lnTo>
                  <a:pt x="90" y="194"/>
                </a:lnTo>
                <a:lnTo>
                  <a:pt x="99" y="199"/>
                </a:lnTo>
                <a:lnTo>
                  <a:pt x="99" y="126"/>
                </a:lnTo>
                <a:lnTo>
                  <a:pt x="76" y="114"/>
                </a:lnTo>
                <a:lnTo>
                  <a:pt x="76" y="142"/>
                </a:lnTo>
                <a:lnTo>
                  <a:pt x="68" y="138"/>
                </a:lnTo>
                <a:lnTo>
                  <a:pt x="68" y="109"/>
                </a:lnTo>
                <a:lnTo>
                  <a:pt x="68" y="102"/>
                </a:lnTo>
                <a:lnTo>
                  <a:pt x="68" y="102"/>
                </a:lnTo>
                <a:close/>
                <a:moveTo>
                  <a:pt x="139" y="95"/>
                </a:moveTo>
                <a:lnTo>
                  <a:pt x="149" y="100"/>
                </a:lnTo>
                <a:lnTo>
                  <a:pt x="158" y="102"/>
                </a:lnTo>
                <a:lnTo>
                  <a:pt x="158" y="171"/>
                </a:lnTo>
                <a:lnTo>
                  <a:pt x="165" y="175"/>
                </a:lnTo>
                <a:lnTo>
                  <a:pt x="165" y="43"/>
                </a:lnTo>
                <a:lnTo>
                  <a:pt x="139" y="31"/>
                </a:lnTo>
                <a:lnTo>
                  <a:pt x="139" y="95"/>
                </a:lnTo>
                <a:lnTo>
                  <a:pt x="139" y="95"/>
                </a:lnTo>
                <a:close/>
                <a:moveTo>
                  <a:pt x="19" y="149"/>
                </a:moveTo>
                <a:lnTo>
                  <a:pt x="38" y="159"/>
                </a:lnTo>
                <a:lnTo>
                  <a:pt x="71" y="147"/>
                </a:lnTo>
                <a:lnTo>
                  <a:pt x="47" y="138"/>
                </a:lnTo>
                <a:lnTo>
                  <a:pt x="19" y="149"/>
                </a:lnTo>
                <a:lnTo>
                  <a:pt x="19" y="149"/>
                </a:lnTo>
                <a:close/>
                <a:moveTo>
                  <a:pt x="173" y="38"/>
                </a:moveTo>
                <a:lnTo>
                  <a:pt x="173" y="36"/>
                </a:lnTo>
                <a:lnTo>
                  <a:pt x="173" y="38"/>
                </a:lnTo>
                <a:lnTo>
                  <a:pt x="173" y="38"/>
                </a:lnTo>
                <a:lnTo>
                  <a:pt x="173" y="38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 lIns="68580" tIns="34290" rIns="68580" bIns="34290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510903"/>
            <a:ext cx="9144000" cy="213717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" y="1997869"/>
            <a:ext cx="822722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709614" y="1500187"/>
            <a:ext cx="1154906" cy="1396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860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zh-CN" altLang="en-US" sz="86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314326" y="1978819"/>
            <a:ext cx="428625" cy="43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</a:p>
        </p:txBody>
      </p:sp>
      <p:sp>
        <p:nvSpPr>
          <p:cNvPr id="10" name="矩形 9"/>
          <p:cNvSpPr/>
          <p:nvPr/>
        </p:nvSpPr>
        <p:spPr>
          <a:xfrm>
            <a:off x="1874044" y="1997869"/>
            <a:ext cx="7269956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1894286" y="1978819"/>
            <a:ext cx="1325165" cy="43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4716016" y="2724499"/>
            <a:ext cx="4295775" cy="62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研究背景与研究现状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9344" y="191906"/>
            <a:ext cx="5904656" cy="17719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20"/>
          <p:cNvSpPr txBox="1">
            <a:spLocks noChangeArrowheads="1"/>
          </p:cNvSpPr>
          <p:nvPr/>
        </p:nvSpPr>
        <p:spPr bwMode="auto">
          <a:xfrm>
            <a:off x="457200" y="67826"/>
            <a:ext cx="325070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与研究现状</a:t>
            </a:r>
          </a:p>
        </p:txBody>
      </p:sp>
      <p:sp>
        <p:nvSpPr>
          <p:cNvPr id="8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淘宝-想搞设计PPT(倒卖必究)-3">
            <a:extLst>
              <a:ext uri="{FF2B5EF4-FFF2-40B4-BE49-F238E27FC236}">
                <a16:creationId xmlns:a16="http://schemas.microsoft.com/office/drawing/2014/main" xmlns="" id="{90ECB1AC-F476-8EDF-F839-33E155C70E82}"/>
              </a:ext>
            </a:extLst>
          </p:cNvPr>
          <p:cNvSpPr/>
          <p:nvPr/>
        </p:nvSpPr>
        <p:spPr>
          <a:xfrm>
            <a:off x="179512" y="625368"/>
            <a:ext cx="538071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工业背景</a:t>
            </a:r>
            <a:endParaRPr lang="en-US" altLang="zh-CN" b="1" dirty="0">
              <a:ln w="0"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淘宝-想搞设计PPT(倒卖必究)-3">
            <a:extLst>
              <a:ext uri="{FF2B5EF4-FFF2-40B4-BE49-F238E27FC236}">
                <a16:creationId xmlns:a16="http://schemas.microsoft.com/office/drawing/2014/main" xmlns="" id="{20779FF0-93DC-089F-FC58-F01448FA6CB4}"/>
              </a:ext>
            </a:extLst>
          </p:cNvPr>
          <p:cNvSpPr/>
          <p:nvPr/>
        </p:nvSpPr>
        <p:spPr>
          <a:xfrm>
            <a:off x="179513" y="989158"/>
            <a:ext cx="8784975" cy="98488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中国制造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、智能制造 等战略推进，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（移动智能体）与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Robot Arm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（固定智能体）大规模部署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二者分工协作：移动智能体负责物料动态搬运，固定智能体负责固定工位精密操作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淘宝-想搞设计PPT(倒卖必究)-3">
            <a:extLst>
              <a:ext uri="{FF2B5EF4-FFF2-40B4-BE49-F238E27FC236}">
                <a16:creationId xmlns:a16="http://schemas.microsoft.com/office/drawing/2014/main" xmlns="" id="{9B1B81C8-7C21-5760-32A9-1359543A6B44}"/>
              </a:ext>
            </a:extLst>
          </p:cNvPr>
          <p:cNvSpPr/>
          <p:nvPr/>
        </p:nvSpPr>
        <p:spPr>
          <a:xfrm>
            <a:off x="179512" y="2096830"/>
            <a:ext cx="538071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系统架构（混合式）</a:t>
            </a:r>
            <a:endParaRPr lang="en-US" altLang="zh-CN" b="1" dirty="0">
              <a:ln w="0"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BC8D8633-87CE-F2CC-A1F2-D46F5429B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160567"/>
              </p:ext>
            </p:extLst>
          </p:nvPr>
        </p:nvGraphicFramePr>
        <p:xfrm>
          <a:off x="179511" y="2588949"/>
          <a:ext cx="4608513" cy="169240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37636">
                  <a:extLst>
                    <a:ext uri="{9D8B030D-6E8A-4147-A177-3AD203B41FA5}">
                      <a16:colId xmlns:a16="http://schemas.microsoft.com/office/drawing/2014/main" xmlns="" val="1142861759"/>
                    </a:ext>
                  </a:extLst>
                </a:gridCol>
                <a:gridCol w="2870877">
                  <a:extLst>
                    <a:ext uri="{9D8B030D-6E8A-4147-A177-3AD203B41FA5}">
                      <a16:colId xmlns:a16="http://schemas.microsoft.com/office/drawing/2014/main" xmlns="" val="4731109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层级</a:t>
                      </a:r>
                      <a:endParaRPr lang="en-US" sz="160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功能</a:t>
                      </a:r>
                      <a:endParaRPr lang="en-US" sz="1600" kern="12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426365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集中式任务分配层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全局最优任务规划、指令下发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0904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分布式自主执行层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智能体自主路径规划与动作执行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756568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双向强耦合交互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任务分配决策依赖于智能体状态；智能体状态也约束下一轮决策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88629346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4850EF1-9048-6213-D39F-871439A8FD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217741"/>
            <a:ext cx="4293259" cy="2413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419873" y="191906"/>
            <a:ext cx="5904656" cy="17719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文本框 20"/>
          <p:cNvSpPr txBox="1">
            <a:spLocks noChangeArrowheads="1"/>
          </p:cNvSpPr>
          <p:nvPr/>
        </p:nvSpPr>
        <p:spPr bwMode="auto">
          <a:xfrm>
            <a:off x="457200" y="83591"/>
            <a:ext cx="325070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与研究现状</a:t>
            </a:r>
          </a:p>
        </p:txBody>
      </p:sp>
      <p:sp>
        <p:nvSpPr>
          <p:cNvPr id="8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01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3" name="淘宝-想搞设计PPT(倒卖必究)-3">
            <a:extLst>
              <a:ext uri="{FF2B5EF4-FFF2-40B4-BE49-F238E27FC236}">
                <a16:creationId xmlns:a16="http://schemas.microsoft.com/office/drawing/2014/main" xmlns="" id="{7D1CD056-93FF-51CB-8E05-FB8BF32FB3AD}"/>
              </a:ext>
            </a:extLst>
          </p:cNvPr>
          <p:cNvSpPr/>
          <p:nvPr/>
        </p:nvSpPr>
        <p:spPr>
          <a:xfrm>
            <a:off x="378533" y="515888"/>
            <a:ext cx="711045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工业现场主流应用方法（</a:t>
            </a:r>
            <a:r>
              <a:rPr lang="en-US" altLang="zh-CN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FCFS</a:t>
            </a:r>
            <a:r>
              <a:rPr lang="zh-CN" altLang="en-US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，先来先服务）的局限</a:t>
            </a:r>
            <a:endParaRPr lang="en-US" altLang="zh-CN" b="1" dirty="0">
              <a:ln w="0"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淘宝-想搞设计PPT(倒卖必究)-3">
            <a:extLst>
              <a:ext uri="{FF2B5EF4-FFF2-40B4-BE49-F238E27FC236}">
                <a16:creationId xmlns:a16="http://schemas.microsoft.com/office/drawing/2014/main" xmlns="" id="{90BB3829-D5F4-1122-6E91-DD9AB86E3E3A}"/>
              </a:ext>
            </a:extLst>
          </p:cNvPr>
          <p:cNvSpPr/>
          <p:nvPr/>
        </p:nvSpPr>
        <p:spPr>
          <a:xfrm>
            <a:off x="517161" y="879678"/>
            <a:ext cx="8303311" cy="73866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：逻辑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、响应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：仅按照任务到达顺序进行分配，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调度效率很低</a:t>
            </a:r>
            <a:endParaRPr 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淘宝-想搞设计PPT(倒卖必究)-3">
            <a:extLst>
              <a:ext uri="{FF2B5EF4-FFF2-40B4-BE49-F238E27FC236}">
                <a16:creationId xmlns:a16="http://schemas.microsoft.com/office/drawing/2014/main" xmlns="" id="{B2D0C359-00F3-DA56-8405-84481FC580EC}"/>
              </a:ext>
            </a:extLst>
          </p:cNvPr>
          <p:cNvSpPr/>
          <p:nvPr/>
        </p:nvSpPr>
        <p:spPr>
          <a:xfrm>
            <a:off x="376157" y="1603323"/>
            <a:ext cx="538071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其它学界方法的局限</a:t>
            </a:r>
            <a:endParaRPr lang="en-US" altLang="zh-CN" b="1" dirty="0">
              <a:ln w="0"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淘宝-想搞设计PPT(倒卖必究)-3">
            <a:extLst>
              <a:ext uri="{FF2B5EF4-FFF2-40B4-BE49-F238E27FC236}">
                <a16:creationId xmlns:a16="http://schemas.microsoft.com/office/drawing/2014/main" xmlns="" id="{46777E22-7D61-EB33-5B7B-3791FE5F4180}"/>
              </a:ext>
            </a:extLst>
          </p:cNvPr>
          <p:cNvSpPr/>
          <p:nvPr/>
        </p:nvSpPr>
        <p:spPr>
          <a:xfrm>
            <a:off x="517161" y="1993558"/>
            <a:ext cx="8626839" cy="33855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现有优化算法（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、强化学习等）均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以系统理想运行为前提，抗扰性严重不足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淘宝-想搞设计PPT(倒卖必究)-3">
            <a:extLst>
              <a:ext uri="{FF2B5EF4-FFF2-40B4-BE49-F238E27FC236}">
                <a16:creationId xmlns:a16="http://schemas.microsoft.com/office/drawing/2014/main" xmlns="" id="{5883D2BE-3027-3EC4-E701-BDFEA86B7C1B}"/>
              </a:ext>
            </a:extLst>
          </p:cNvPr>
          <p:cNvSpPr/>
          <p:nvPr/>
        </p:nvSpPr>
        <p:spPr>
          <a:xfrm>
            <a:off x="413147" y="2358909"/>
            <a:ext cx="538071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工业扰动的两大来源</a:t>
            </a:r>
            <a:endParaRPr lang="en-US" altLang="zh-CN" b="1" dirty="0">
              <a:ln w="0"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淘宝-想搞设计PPT(倒卖必究)-3">
            <a:extLst>
              <a:ext uri="{FF2B5EF4-FFF2-40B4-BE49-F238E27FC236}">
                <a16:creationId xmlns:a16="http://schemas.microsoft.com/office/drawing/2014/main" xmlns="" id="{27462B26-93BF-CC67-E89E-019A77F80C25}"/>
              </a:ext>
            </a:extLst>
          </p:cNvPr>
          <p:cNvSpPr/>
          <p:nvPr/>
        </p:nvSpPr>
        <p:spPr>
          <a:xfrm>
            <a:off x="517161" y="2759019"/>
            <a:ext cx="6432279" cy="203132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🔧 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内部扰动（设备工况异常等）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硬件异常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软件异常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通信中断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🛡️ </a:t>
            </a:r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</a:rPr>
              <a:t>外部扰动（网络安全威胁）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数据注入攻击</a:t>
            </a:r>
            <a:endParaRPr lang="en-US" altLang="zh-C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恶意软件劫持</a:t>
            </a:r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xmlns="" id="{40163572-9C23-997C-294C-C07E0BB6756B}"/>
              </a:ext>
            </a:extLst>
          </p:cNvPr>
          <p:cNvSpPr/>
          <p:nvPr/>
        </p:nvSpPr>
        <p:spPr>
          <a:xfrm>
            <a:off x="3879579" y="2735521"/>
            <a:ext cx="502920" cy="3733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淘宝-想搞设计PPT(倒卖必究)-3">
            <a:extLst>
              <a:ext uri="{FF2B5EF4-FFF2-40B4-BE49-F238E27FC236}">
                <a16:creationId xmlns:a16="http://schemas.microsoft.com/office/drawing/2014/main" xmlns="" id="{19456DA4-6F78-5D13-C689-E4B6C1F2CF06}"/>
              </a:ext>
            </a:extLst>
          </p:cNvPr>
          <p:cNvSpPr/>
          <p:nvPr/>
        </p:nvSpPr>
        <p:spPr>
          <a:xfrm>
            <a:off x="4572000" y="2741180"/>
            <a:ext cx="3521439" cy="33855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sz="1600" spc="100" dirty="0">
                <a:solidFill>
                  <a:schemeClr val="bg1">
                    <a:lumMod val="50000"/>
                  </a:schemeClr>
                </a:solidFill>
              </a:rPr>
              <a:t>存在物理实体，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状态数据具有真实性</a:t>
            </a:r>
            <a:endParaRPr lang="en-US" altLang="zh-CN" sz="1600" spc="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xmlns="" id="{631BF064-C578-5B5D-6888-07343E124AC3}"/>
              </a:ext>
            </a:extLst>
          </p:cNvPr>
          <p:cNvSpPr/>
          <p:nvPr/>
        </p:nvSpPr>
        <p:spPr>
          <a:xfrm>
            <a:off x="2308512" y="4227934"/>
            <a:ext cx="2047464" cy="15146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淘宝-想搞设计PPT(倒卖必究)-3">
            <a:extLst>
              <a:ext uri="{FF2B5EF4-FFF2-40B4-BE49-F238E27FC236}">
                <a16:creationId xmlns:a16="http://schemas.microsoft.com/office/drawing/2014/main" xmlns="" id="{08549643-C0C5-3826-2697-384C0C5690FB}"/>
              </a:ext>
            </a:extLst>
          </p:cNvPr>
          <p:cNvSpPr/>
          <p:nvPr/>
        </p:nvSpPr>
        <p:spPr>
          <a:xfrm>
            <a:off x="4382499" y="3811631"/>
            <a:ext cx="4640928" cy="5847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sz="1600" spc="100" dirty="0">
                <a:solidFill>
                  <a:schemeClr val="bg1">
                    <a:lumMod val="50000"/>
                  </a:schemeClr>
                </a:solidFill>
              </a:rPr>
              <a:t>不依赖物理实体，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仅需</a:t>
            </a:r>
            <a:r>
              <a:rPr lang="zh-CN" altLang="en-US" sz="1600" spc="100" dirty="0">
                <a:solidFill>
                  <a:schemeClr val="bg1">
                    <a:lumMod val="50000"/>
                  </a:schemeClr>
                </a:solidFill>
              </a:rPr>
              <a:t>注入报文，</a:t>
            </a:r>
            <a:r>
              <a:rPr lang="en-US" sz="1600" spc="100" dirty="0">
                <a:solidFill>
                  <a:schemeClr val="bg1">
                    <a:lumMod val="50000"/>
                  </a:schemeClr>
                </a:solidFill>
              </a:rPr>
              <a:t>"</a:t>
            </a:r>
            <a:r>
              <a:rPr lang="zh-CN" altLang="en-US" sz="1600" spc="100" dirty="0">
                <a:solidFill>
                  <a:schemeClr val="bg1">
                    <a:lumMod val="50000"/>
                  </a:schemeClr>
                </a:solidFill>
              </a:rPr>
              <a:t>伪造</a:t>
            </a:r>
            <a:r>
              <a:rPr lang="en-US" sz="1600" spc="100" dirty="0">
                <a:solidFill>
                  <a:schemeClr val="bg1">
                    <a:lumMod val="50000"/>
                  </a:schemeClr>
                </a:solidFill>
              </a:rPr>
              <a:t>"</a:t>
            </a:r>
            <a:r>
              <a:rPr lang="zh-CN" altLang="en-US" sz="1600" spc="100" dirty="0">
                <a:solidFill>
                  <a:schemeClr val="bg1">
                    <a:lumMod val="50000"/>
                  </a:schemeClr>
                </a:solidFill>
              </a:rPr>
              <a:t>出一个或多个虚假智能体的身份与状态</a:t>
            </a:r>
            <a:endParaRPr lang="en-US" altLang="zh-CN" sz="1600" spc="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淘宝-想搞设计PPT(倒卖必究)-3">
            <a:extLst>
              <a:ext uri="{FF2B5EF4-FFF2-40B4-BE49-F238E27FC236}">
                <a16:creationId xmlns:a16="http://schemas.microsoft.com/office/drawing/2014/main" xmlns="" id="{4BF9E72F-8193-EF1F-E828-F441CD1A0109}"/>
              </a:ext>
            </a:extLst>
          </p:cNvPr>
          <p:cNvSpPr/>
          <p:nvPr/>
        </p:nvSpPr>
        <p:spPr>
          <a:xfrm>
            <a:off x="4382498" y="4379397"/>
            <a:ext cx="4872907" cy="830997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sz="1600" spc="100" dirty="0">
                <a:solidFill>
                  <a:schemeClr val="bg1">
                    <a:lumMod val="50000"/>
                  </a:schemeClr>
                </a:solidFill>
              </a:rPr>
              <a:t>存在（劫持了）物理实体，位置等智能体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状态数据往往具有真实性，但是智能体的可用信息、任务状态等信息可能进行了“造假”</a:t>
            </a:r>
            <a:endParaRPr lang="en-US" altLang="zh-CN" sz="1600" spc="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xmlns="" id="{F36F1E49-4C34-A3C9-0896-7C7F4D569C5A}"/>
              </a:ext>
            </a:extLst>
          </p:cNvPr>
          <p:cNvSpPr/>
          <p:nvPr/>
        </p:nvSpPr>
        <p:spPr>
          <a:xfrm>
            <a:off x="2308512" y="4537329"/>
            <a:ext cx="2047464" cy="15146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419873" y="191906"/>
            <a:ext cx="5904656" cy="17719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文本框 20"/>
          <p:cNvSpPr txBox="1">
            <a:spLocks noChangeArrowheads="1"/>
          </p:cNvSpPr>
          <p:nvPr/>
        </p:nvSpPr>
        <p:spPr bwMode="auto">
          <a:xfrm>
            <a:off x="457200" y="83591"/>
            <a:ext cx="325070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与研究现状</a:t>
            </a:r>
          </a:p>
        </p:txBody>
      </p:sp>
      <p:sp>
        <p:nvSpPr>
          <p:cNvPr id="8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01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1" name="淘宝-想搞设计PPT(倒卖必究)-3">
            <a:extLst>
              <a:ext uri="{FF2B5EF4-FFF2-40B4-BE49-F238E27FC236}">
                <a16:creationId xmlns:a16="http://schemas.microsoft.com/office/drawing/2014/main" xmlns="" id="{202259F8-7A74-60B6-88F1-AD3990BCA53F}"/>
              </a:ext>
            </a:extLst>
          </p:cNvPr>
          <p:cNvSpPr/>
          <p:nvPr/>
        </p:nvSpPr>
        <p:spPr>
          <a:xfrm>
            <a:off x="251521" y="578797"/>
            <a:ext cx="538071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zh-CN" altLang="en-US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四大核心问题</a:t>
            </a:r>
            <a:endParaRPr lang="en-US" altLang="zh-CN" b="1" dirty="0">
              <a:ln w="0"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xmlns="" id="{1108729A-F6B7-DA36-904F-65B9D30ED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480318"/>
              </p:ext>
            </p:extLst>
          </p:nvPr>
        </p:nvGraphicFramePr>
        <p:xfrm>
          <a:off x="251520" y="1059685"/>
          <a:ext cx="8784976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xmlns="" val="1142861759"/>
                    </a:ext>
                  </a:extLst>
                </a:gridCol>
                <a:gridCol w="6624736">
                  <a:extLst>
                    <a:ext uri="{9D8B030D-6E8A-4147-A177-3AD203B41FA5}">
                      <a16:colId xmlns:a16="http://schemas.microsoft.com/office/drawing/2014/main" xmlns="" val="4731109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600" b="1" kern="10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问题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600" b="1" kern="100" dirty="0"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核心难点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426365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①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高效协同调度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AGV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连续运动与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Robot Arm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各操作任务的起止时间的联合建模与时序优化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0904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② </a:t>
                      </a:r>
                      <a:r>
                        <a:rPr lang="zh-CN" altLang="en-US" sz="160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数据注入攻击识别</a:t>
                      </a:r>
                      <a:endParaRPr lang="en-US" sz="160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计算资源受限下，对无实体虚假报文的轻量级实时检测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756568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③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智能体故障甄别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过滤高度逼真的虚假信息，甄别工况异常与恶意劫持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886293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④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扰动后动态重调度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有界时间内自动生成近优重调度方案，避免人工干预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696131995"/>
                  </a:ext>
                </a:extLst>
              </a:tr>
            </a:tbl>
          </a:graphicData>
        </a:graphic>
      </p:graphicFrame>
      <p:sp>
        <p:nvSpPr>
          <p:cNvPr id="26" name="淘宝-想搞设计PPT(倒卖必究)-3">
            <a:extLst>
              <a:ext uri="{FF2B5EF4-FFF2-40B4-BE49-F238E27FC236}">
                <a16:creationId xmlns:a16="http://schemas.microsoft.com/office/drawing/2014/main" xmlns="" id="{B9D23FF6-EC74-B30F-E7E9-229D0EF877CE}"/>
              </a:ext>
            </a:extLst>
          </p:cNvPr>
          <p:cNvSpPr/>
          <p:nvPr/>
        </p:nvSpPr>
        <p:spPr>
          <a:xfrm>
            <a:off x="56711" y="3198339"/>
            <a:ext cx="8784976" cy="98488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调度效率的提升与系统抗扰性的保障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并非两个相互独立的问题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若要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实现高效的调度算法，必须同步建立相应的抗扰机制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，否则复杂算法在扰动面前的脆弱性将使其优势荡然无存。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3419873" y="191906"/>
            <a:ext cx="5904656" cy="17719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2" name="文本框 20"/>
          <p:cNvSpPr txBox="1">
            <a:spLocks noChangeArrowheads="1"/>
          </p:cNvSpPr>
          <p:nvPr/>
        </p:nvSpPr>
        <p:spPr bwMode="auto">
          <a:xfrm>
            <a:off x="457200" y="83591"/>
            <a:ext cx="325070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</a:p>
        </p:txBody>
      </p:sp>
      <p:sp>
        <p:nvSpPr>
          <p:cNvPr id="83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01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6553199" y="4236139"/>
            <a:ext cx="2133600" cy="27384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CA2288CC-9E95-D30F-B374-21B6E55FF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53868"/>
              </p:ext>
            </p:extLst>
          </p:nvPr>
        </p:nvGraphicFramePr>
        <p:xfrm>
          <a:off x="251521" y="443932"/>
          <a:ext cx="8640957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xmlns="" val="3133072510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xmlns="" val="1687284556"/>
                    </a:ext>
                  </a:extLst>
                </a:gridCol>
                <a:gridCol w="2736302">
                  <a:extLst>
                    <a:ext uri="{9D8B030D-6E8A-4147-A177-3AD203B41FA5}">
                      <a16:colId xmlns:a16="http://schemas.microsoft.com/office/drawing/2014/main" xmlns="" val="3434043508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ln w="0"/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研究现状总览（</a:t>
                      </a:r>
                      <a:r>
                        <a:rPr lang="en-US" altLang="zh-CN" sz="1800" b="1" kern="1200" dirty="0">
                          <a:ln w="0"/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2.1 ~ 2.4</a:t>
                      </a:r>
                      <a:r>
                        <a:rPr lang="zh-CN" altLang="en-US" sz="1800" b="1" kern="1200" dirty="0">
                          <a:ln w="0"/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en-US" sz="1800" b="1" kern="1200" dirty="0">
                        <a:ln w="0"/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6415979"/>
                  </a:ext>
                </a:extLst>
              </a:tr>
              <a:tr h="13559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研究聚焦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代表性方法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不足</a:t>
                      </a:r>
                      <a:endParaRPr lang="en-US" sz="16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79225488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2.1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多智能体协同调度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形式化方法（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STL / LTL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数学规划（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MIP / CP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 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分布式协调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多机器人任务分配框架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时空约束调度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智能优化（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DRL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主要针对同构智能体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缺乏移动</a:t>
                      </a:r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固定异构时空耦合统一建模框架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16225758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2.2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工业系统安全检测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状态估计检测（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FDI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检测） 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网络流量分析 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阈值检测（固定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自适应）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机器学习检测（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DL/RL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概率模型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实时性与准确性难以兼顾 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缺乏对动态多智能体时序演化特性的建模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63751039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抗拜占庭异常智能体甄别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经典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BFT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PBFT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  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轻量化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BFT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Reli /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CheapBFT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改进型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PBFT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（自适应）         </a:t>
                      </a: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区块链共识（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PoW /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PoS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/ 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PoA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自适应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BFT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机制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通信开销大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，扩展性差  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缺乏任务耦合局部性的信任度量与</a:t>
                      </a: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甄别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框架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97000097"/>
                  </a:ext>
                </a:extLst>
              </a:tr>
              <a:tr h="552061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2.4  </a:t>
                      </a:r>
                      <a:r>
                        <a:rPr lang="zh-CN" altLang="en-US" sz="16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动态重调度</a:t>
                      </a: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endParaRPr lang="en-US" sz="16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滚动时域重调度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事件驱动重调度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启发式算法（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GA / PSO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深度强化学习（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DRL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  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时空约束重调度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•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分布式协同重调度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被动触发，缺乏主动感知  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缺乏有界次优性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理论保证 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43045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 bwMode="auto">
          <a:xfrm>
            <a:off x="164601" y="648510"/>
            <a:ext cx="52515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研究现状总结</a:t>
            </a:r>
          </a:p>
        </p:txBody>
      </p:sp>
      <p:sp>
        <p:nvSpPr>
          <p:cNvPr id="11" name="矩形 10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419873" y="191906"/>
            <a:ext cx="5904656" cy="177190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文本框 20"/>
          <p:cNvSpPr txBox="1">
            <a:spLocks noChangeArrowheads="1"/>
          </p:cNvSpPr>
          <p:nvPr/>
        </p:nvSpPr>
        <p:spPr bwMode="auto">
          <a:xfrm>
            <a:off x="457200" y="83591"/>
            <a:ext cx="325070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</a:p>
        </p:txBody>
      </p:sp>
      <p:sp>
        <p:nvSpPr>
          <p:cNvPr id="14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01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" name="箭头: 右 1"/>
          <p:cNvSpPr/>
          <p:nvPr/>
        </p:nvSpPr>
        <p:spPr>
          <a:xfrm>
            <a:off x="5300562" y="2389600"/>
            <a:ext cx="943448" cy="105600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72201" y="1807775"/>
            <a:ext cx="2664296" cy="20162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现有研究在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固定智能体时空耦合建模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轻量级实时注入攻击检测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抗拜占庭异常智能体甄别机制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有界次优重调度理论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等方面存在不足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08610" y="1081302"/>
            <a:ext cx="4695190" cy="812799"/>
            <a:chOff x="164860" y="3219822"/>
            <a:chExt cx="4695171" cy="1803940"/>
          </a:xfrm>
        </p:grpSpPr>
        <p:sp>
          <p:nvSpPr>
            <p:cNvPr id="10" name="矩形 9"/>
            <p:cNvSpPr/>
            <p:nvPr/>
          </p:nvSpPr>
          <p:spPr>
            <a:xfrm>
              <a:off x="164860" y="3219822"/>
              <a:ext cx="4695171" cy="1803940"/>
            </a:xfrm>
            <a:prstGeom prst="rect">
              <a:avLst/>
            </a:prstGeom>
            <a:solidFill>
              <a:srgbClr val="FDDC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81369" y="3358296"/>
              <a:ext cx="4572000" cy="143447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en-US" b="1" dirty="0"/>
                <a:t>移动</a:t>
              </a:r>
              <a:r>
                <a:rPr lang="en-US" b="1" dirty="0"/>
                <a:t>-</a:t>
              </a:r>
              <a:r>
                <a:rPr lang="zh-CN" altLang="en-US" b="1" dirty="0"/>
                <a:t>固定异构多智能体的时空耦合建模与协同调度框架缺失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5120" y="2104803"/>
            <a:ext cx="4662170" cy="812799"/>
            <a:chOff x="181589" y="1250749"/>
            <a:chExt cx="4662243" cy="1291851"/>
          </a:xfrm>
        </p:grpSpPr>
        <p:sp>
          <p:nvSpPr>
            <p:cNvPr id="8" name="矩形 7"/>
            <p:cNvSpPr/>
            <p:nvPr/>
          </p:nvSpPr>
          <p:spPr>
            <a:xfrm>
              <a:off x="181589" y="1250749"/>
              <a:ext cx="4662243" cy="12918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241280" y="1383038"/>
              <a:ext cx="4512399" cy="10272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工业多智能体系统的安全检测在实时性与准确性之间难以兼顾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6553200" y="4674170"/>
            <a:ext cx="2133600" cy="27384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/>
          </a:p>
        </p:txBody>
      </p:sp>
      <p:grpSp>
        <p:nvGrpSpPr>
          <p:cNvPr id="17" name="组合 8">
            <a:extLst>
              <a:ext uri="{FF2B5EF4-FFF2-40B4-BE49-F238E27FC236}">
                <a16:creationId xmlns:a16="http://schemas.microsoft.com/office/drawing/2014/main" xmlns="" id="{8E58FFA6-3C6A-027A-3F74-3C1AC84575F7}"/>
              </a:ext>
            </a:extLst>
          </p:cNvPr>
          <p:cNvGrpSpPr/>
          <p:nvPr/>
        </p:nvGrpSpPr>
        <p:grpSpPr>
          <a:xfrm>
            <a:off x="308610" y="3073013"/>
            <a:ext cx="4695190" cy="812799"/>
            <a:chOff x="164860" y="3219822"/>
            <a:chExt cx="4695171" cy="1803940"/>
          </a:xfrm>
        </p:grpSpPr>
        <p:sp>
          <p:nvSpPr>
            <p:cNvPr id="18" name="矩形 9">
              <a:extLst>
                <a:ext uri="{FF2B5EF4-FFF2-40B4-BE49-F238E27FC236}">
                  <a16:creationId xmlns:a16="http://schemas.microsoft.com/office/drawing/2014/main" xmlns="" id="{04EB26EE-7B39-322E-1F7C-537257322EC7}"/>
                </a:ext>
              </a:extLst>
            </p:cNvPr>
            <p:cNvSpPr/>
            <p:nvPr/>
          </p:nvSpPr>
          <p:spPr>
            <a:xfrm>
              <a:off x="164860" y="3219822"/>
              <a:ext cx="4695171" cy="1803940"/>
            </a:xfrm>
            <a:prstGeom prst="rect">
              <a:avLst/>
            </a:prstGeom>
            <a:solidFill>
              <a:srgbClr val="FDDC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5">
              <a:extLst>
                <a:ext uri="{FF2B5EF4-FFF2-40B4-BE49-F238E27FC236}">
                  <a16:creationId xmlns:a16="http://schemas.microsoft.com/office/drawing/2014/main" xmlns="" id="{F3B04437-2406-9B1E-C580-D208843959F6}"/>
                </a:ext>
              </a:extLst>
            </p:cNvPr>
            <p:cNvSpPr/>
            <p:nvPr/>
          </p:nvSpPr>
          <p:spPr>
            <a:xfrm>
              <a:off x="181369" y="3358296"/>
              <a:ext cx="4572000" cy="143447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en-US" b="1" dirty="0"/>
                <a:t>现有协调机制对工业领域的拜占庭式异常智能体的甄别能力不足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3">
            <a:extLst>
              <a:ext uri="{FF2B5EF4-FFF2-40B4-BE49-F238E27FC236}">
                <a16:creationId xmlns:a16="http://schemas.microsoft.com/office/drawing/2014/main" xmlns="" id="{61348E64-F66F-312C-049C-60E52BA53622}"/>
              </a:ext>
            </a:extLst>
          </p:cNvPr>
          <p:cNvGrpSpPr/>
          <p:nvPr/>
        </p:nvGrpSpPr>
        <p:grpSpPr>
          <a:xfrm>
            <a:off x="325120" y="4091838"/>
            <a:ext cx="4662170" cy="812799"/>
            <a:chOff x="181589" y="1250749"/>
            <a:chExt cx="4662243" cy="1291851"/>
          </a:xfrm>
        </p:grpSpPr>
        <p:sp>
          <p:nvSpPr>
            <p:cNvPr id="22" name="矩形 7">
              <a:extLst>
                <a:ext uri="{FF2B5EF4-FFF2-40B4-BE49-F238E27FC236}">
                  <a16:creationId xmlns:a16="http://schemas.microsoft.com/office/drawing/2014/main" xmlns="" id="{454BADA0-BFD9-D75F-45D0-DB304366E87B}"/>
                </a:ext>
              </a:extLst>
            </p:cNvPr>
            <p:cNvSpPr/>
            <p:nvPr/>
          </p:nvSpPr>
          <p:spPr>
            <a:xfrm>
              <a:off x="181589" y="1250749"/>
              <a:ext cx="4662243" cy="12918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">
              <a:extLst>
                <a:ext uri="{FF2B5EF4-FFF2-40B4-BE49-F238E27FC236}">
                  <a16:creationId xmlns:a16="http://schemas.microsoft.com/office/drawing/2014/main" xmlns="" id="{FE246C74-0DCF-AAA4-9D7C-A13DD95EA0AB}"/>
                </a:ext>
              </a:extLst>
            </p:cNvPr>
            <p:cNvSpPr/>
            <p:nvPr/>
          </p:nvSpPr>
          <p:spPr>
            <a:xfrm>
              <a:off x="241280" y="1383038"/>
              <a:ext cx="4512399" cy="10272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现有动态重调度方法缺乏主动感知能力与有界次优性理论保证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510903"/>
            <a:ext cx="9144000" cy="213717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" y="1997869"/>
            <a:ext cx="822722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709614" y="1500187"/>
            <a:ext cx="1154906" cy="1396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8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zh-CN" altLang="en-US" sz="8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14326" y="1978819"/>
            <a:ext cx="428625" cy="43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</a:p>
        </p:txBody>
      </p:sp>
      <p:sp>
        <p:nvSpPr>
          <p:cNvPr id="6" name="矩形 5"/>
          <p:cNvSpPr/>
          <p:nvPr/>
        </p:nvSpPr>
        <p:spPr>
          <a:xfrm>
            <a:off x="1874044" y="1997869"/>
            <a:ext cx="7269956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894286" y="1978819"/>
            <a:ext cx="1325165" cy="43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762697" y="2719387"/>
            <a:ext cx="4295775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研究目标与研究内容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94614" y="196468"/>
            <a:ext cx="5842427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/>
          <p:cNvSpPr txBox="1">
            <a:spLocks noChangeArrowheads="1"/>
          </p:cNvSpPr>
          <p:nvPr/>
        </p:nvSpPr>
        <p:spPr bwMode="auto">
          <a:xfrm>
            <a:off x="473224" y="94269"/>
            <a:ext cx="311228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与研究内容</a:t>
            </a:r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02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 bwMode="auto">
          <a:xfrm>
            <a:off x="27891" y="656001"/>
            <a:ext cx="131343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r">
              <a:buFont typeface="Wingdings" panose="05000000000000000000" pitchFamily="2" charset="2"/>
              <a:buNone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研究目标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B463265E-52CA-8331-C429-A514361321C9}"/>
              </a:ext>
            </a:extLst>
          </p:cNvPr>
          <p:cNvSpPr txBox="1"/>
          <p:nvPr/>
        </p:nvSpPr>
        <p:spPr>
          <a:xfrm>
            <a:off x="274245" y="1341686"/>
            <a:ext cx="8407325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针对现有移动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固定多智能体协同调度及抗扰性存在的：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固定多智能体调度系统联合优化难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数据注入攻击检测的准确性和实时性兼顾难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甄别智能体异常属于劫持还是工况原因难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重调度方案兼顾有界时间和近优性难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，建立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面向工业互联网移动</a:t>
            </a:r>
            <a:r>
              <a:rPr 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固定多智能体系统的协同调度与抗扰性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综合方法，从而实现调度优化、注入攻击检测、异常智能体甄别与动态重调度的综合优化。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94614" y="196468"/>
            <a:ext cx="5842427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/>
          <p:cNvSpPr txBox="1">
            <a:spLocks noChangeArrowheads="1"/>
          </p:cNvSpPr>
          <p:nvPr/>
        </p:nvSpPr>
        <p:spPr bwMode="auto">
          <a:xfrm>
            <a:off x="473224" y="94269"/>
            <a:ext cx="311228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研究目标与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02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1682C3C-243E-DD02-5AB1-80EF1E7BDF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7712" y="711924"/>
            <a:ext cx="8728575" cy="41575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510903"/>
            <a:ext cx="9144000" cy="213717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-56554" y="2022872"/>
            <a:ext cx="822722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709614" y="1500187"/>
            <a:ext cx="1154906" cy="1396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8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8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14326" y="1978819"/>
            <a:ext cx="428625" cy="43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</a:p>
        </p:txBody>
      </p:sp>
      <p:sp>
        <p:nvSpPr>
          <p:cNvPr id="6" name="矩形 5"/>
          <p:cNvSpPr/>
          <p:nvPr/>
        </p:nvSpPr>
        <p:spPr>
          <a:xfrm>
            <a:off x="1874044" y="1997869"/>
            <a:ext cx="7269956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894286" y="1978819"/>
            <a:ext cx="1325165" cy="43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665878" y="2719387"/>
            <a:ext cx="4295775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技术路线与实验验证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94615" y="196468"/>
            <a:ext cx="5349386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/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与实验验证</a:t>
            </a:r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661670"/>
            <a:ext cx="89644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 基于时空约束和混合动态规划的移动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固定多智能体协同调度</a:t>
            </a:r>
          </a:p>
        </p:txBody>
      </p:sp>
      <p:sp>
        <p:nvSpPr>
          <p:cNvPr id="11" name="矩形 10"/>
          <p:cNvSpPr/>
          <p:nvPr/>
        </p:nvSpPr>
        <p:spPr>
          <a:xfrm>
            <a:off x="146127" y="1185077"/>
            <a:ext cx="17889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6127" y="2569964"/>
            <a:ext cx="15568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研究思路：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7"/>
          <p:cNvSpPr txBox="1"/>
          <p:nvPr/>
        </p:nvSpPr>
        <p:spPr>
          <a:xfrm>
            <a:off x="457200" y="1556651"/>
            <a:ext cx="7797165" cy="5022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如何对工业互联网环境下移动智能体（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）与固定智能体（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）的协同调度进行统一建模，以最小化系统完工时间为目标，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联合优化移动智能体运行轨迹、固定智能体任务分配方案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" y="3077629"/>
            <a:ext cx="2264410" cy="16884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CSS智能体（AGV</a:t>
            </a:r>
            <a:r>
              <a:rPr 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）+ </a:t>
            </a:r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DES智能体（机械臂</a:t>
            </a:r>
            <a:r>
              <a:rPr 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</a:p>
          <a:p>
            <a:pPr algn="ctr"/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目标：最小化系统完工时间</a:t>
            </a:r>
            <a:r>
              <a:rPr lang="en-US" sz="1600" i="1" dirty="0">
                <a:solidFill>
                  <a:schemeClr val="tx1"/>
                </a:solidFill>
              </a:rPr>
              <a:t>T</a:t>
            </a:r>
            <a:r>
              <a:rPr lang="en-US" sz="1600" i="1" baseline="-25000" dirty="0">
                <a:solidFill>
                  <a:schemeClr val="tx1"/>
                </a:solidFill>
              </a:rPr>
              <a:t>m</a:t>
            </a:r>
            <a:r>
              <a:rPr lang="en-US" sz="1600" baseline="-25000" dirty="0">
                <a:solidFill>
                  <a:schemeClr val="tx1"/>
                </a:solidFill>
              </a:rPr>
              <a:t>​</a:t>
            </a:r>
            <a:r>
              <a:rPr lang="en-US" sz="1600" i="1" baseline="-25000" dirty="0" err="1">
                <a:solidFill>
                  <a:schemeClr val="tx1"/>
                </a:solidFill>
              </a:rPr>
              <a:t>akespan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593585" y="3076995"/>
            <a:ext cx="4109569" cy="16902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HDP(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混合动态规划 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分解</a:t>
            </a:r>
            <a:r>
              <a:rPr lang="en-US" altLang="zh-CN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协调</a:t>
            </a:r>
            <a:r>
              <a:rPr lang="en-US" altLang="zh-CN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收敛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框架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07500" y="3076995"/>
            <a:ext cx="2133600" cy="16902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输出结果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 </a:t>
            </a: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最优轨迹 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u* +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最优时序 </a:t>
            </a:r>
            <a:r>
              <a:rPr lang="el-GR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τ* +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最优分配 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z*</a:t>
            </a:r>
          </a:p>
        </p:txBody>
      </p:sp>
      <p:sp>
        <p:nvSpPr>
          <p:cNvPr id="22" name="右箭头 21"/>
          <p:cNvSpPr/>
          <p:nvPr/>
        </p:nvSpPr>
        <p:spPr>
          <a:xfrm>
            <a:off x="2291900" y="3699469"/>
            <a:ext cx="245110" cy="222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/>
        </p:nvSpPr>
        <p:spPr>
          <a:xfrm>
            <a:off x="6703154" y="3699468"/>
            <a:ext cx="245110" cy="222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F983F25-BE03-BC64-7B5D-2A3B7512ECB6}"/>
              </a:ext>
            </a:extLst>
          </p:cNvPr>
          <p:cNvSpPr txBox="1"/>
          <p:nvPr/>
        </p:nvSpPr>
        <p:spPr>
          <a:xfrm>
            <a:off x="2628213" y="3599187"/>
            <a:ext cx="1735571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 CSS-DP    </a:t>
            </a:r>
          </a:p>
          <a:p>
            <a:pPr algn="ctr"/>
            <a:r>
              <a:rPr lang="en-US" dirty="0" err="1"/>
              <a:t>求解最优轨迹</a:t>
            </a:r>
            <a:r>
              <a:rPr lang="en-US" dirty="0"/>
              <a:t> 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12E34B3-BE35-4868-6735-25D134DEF5C8}"/>
              </a:ext>
            </a:extLst>
          </p:cNvPr>
          <p:cNvSpPr txBox="1"/>
          <p:nvPr/>
        </p:nvSpPr>
        <p:spPr>
          <a:xfrm>
            <a:off x="4542914" y="3599187"/>
            <a:ext cx="2133600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  DES-DP     </a:t>
            </a:r>
          </a:p>
          <a:p>
            <a:pPr algn="ctr"/>
            <a:r>
              <a:rPr lang="zh-CN" altLang="en-US" dirty="0"/>
              <a:t>求解最优调度 </a:t>
            </a:r>
            <a:r>
              <a:rPr lang="en-US" altLang="zh-CN" dirty="0"/>
              <a:t>(</a:t>
            </a:r>
            <a:r>
              <a:rPr lang="el-GR" dirty="0"/>
              <a:t>τ,</a:t>
            </a:r>
            <a:r>
              <a:rPr lang="en-US" dirty="0"/>
              <a:t>z)</a:t>
            </a: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xmlns="" id="{311C2079-B052-92BB-66F3-2CD95A065427}"/>
              </a:ext>
            </a:extLst>
          </p:cNvPr>
          <p:cNvSpPr/>
          <p:nvPr/>
        </p:nvSpPr>
        <p:spPr>
          <a:xfrm rot="5400000">
            <a:off x="4201527" y="3269786"/>
            <a:ext cx="324513" cy="77189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xmlns="" id="{FF88AC0A-C5A2-CAB1-A427-5A9658C9F8C2}"/>
              </a:ext>
            </a:extLst>
          </p:cNvPr>
          <p:cNvSpPr/>
          <p:nvPr/>
        </p:nvSpPr>
        <p:spPr>
          <a:xfrm rot="15939067">
            <a:off x="4234241" y="3934208"/>
            <a:ext cx="324513" cy="77189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70B67195-43C4-4C5D-F3B4-0C34C602A93D}"/>
              </a:ext>
            </a:extLst>
          </p:cNvPr>
          <p:cNvSpPr txBox="1"/>
          <p:nvPr/>
        </p:nvSpPr>
        <p:spPr>
          <a:xfrm>
            <a:off x="2652953" y="4428709"/>
            <a:ext cx="38711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1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迭代协调</a:t>
            </a:r>
            <a:r>
              <a:rPr lang="en-US" sz="16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，完工时间单调不增，直至收敛</a:t>
            </a:r>
            <a:endParaRPr 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740352" y="190123"/>
            <a:ext cx="1403648" cy="19405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/>
          <p:cNvSpPr txBox="1">
            <a:spLocks noChangeArrowheads="1"/>
          </p:cNvSpPr>
          <p:nvPr/>
        </p:nvSpPr>
        <p:spPr bwMode="auto">
          <a:xfrm>
            <a:off x="842010" y="103505"/>
            <a:ext cx="7037011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基于时空约束和混合动态规划的移动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固定多智能体协同调度</a:t>
            </a:r>
            <a:endParaRPr lang="zh-CN" altLang="en-US" sz="2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160488D-D0FD-2A08-7CC1-253060BBC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0" y="2820250"/>
            <a:ext cx="7785261" cy="22197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42C3910C-B661-038F-2EDE-55EBECD4D7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506" y="836622"/>
            <a:ext cx="5776733" cy="1974926"/>
          </a:xfrm>
          <a:prstGeom prst="rect">
            <a:avLst/>
          </a:prstGeom>
        </p:spPr>
      </p:pic>
      <p:sp>
        <p:nvSpPr>
          <p:cNvPr id="17" name="Arrow: Bent-Up 16">
            <a:extLst>
              <a:ext uri="{FF2B5EF4-FFF2-40B4-BE49-F238E27FC236}">
                <a16:creationId xmlns:a16="http://schemas.microsoft.com/office/drawing/2014/main" xmlns="" id="{0D113175-3B95-E60E-9840-0865AAD5775F}"/>
              </a:ext>
            </a:extLst>
          </p:cNvPr>
          <p:cNvSpPr/>
          <p:nvPr/>
        </p:nvSpPr>
        <p:spPr>
          <a:xfrm rot="16200000" flipH="1">
            <a:off x="7861494" y="2811646"/>
            <a:ext cx="742404" cy="742207"/>
          </a:xfrm>
          <a:prstGeom prst="bentUp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0">
            <a:extLst>
              <a:ext uri="{FF2B5EF4-FFF2-40B4-BE49-F238E27FC236}">
                <a16:creationId xmlns:a16="http://schemas.microsoft.com/office/drawing/2014/main" xmlns="" id="{698E5D4B-7CAC-2DCD-E074-AC1A369ED0A4}"/>
              </a:ext>
            </a:extLst>
          </p:cNvPr>
          <p:cNvSpPr/>
          <p:nvPr/>
        </p:nvSpPr>
        <p:spPr>
          <a:xfrm>
            <a:off x="146127" y="795425"/>
            <a:ext cx="17889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传统方法：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1">
            <a:extLst>
              <a:ext uri="{FF2B5EF4-FFF2-40B4-BE49-F238E27FC236}">
                <a16:creationId xmlns:a16="http://schemas.microsoft.com/office/drawing/2014/main" xmlns="" id="{4B83D5F3-D8C6-A650-836A-E3274EDD7B90}"/>
              </a:ext>
            </a:extLst>
          </p:cNvPr>
          <p:cNvSpPr/>
          <p:nvPr/>
        </p:nvSpPr>
        <p:spPr>
          <a:xfrm>
            <a:off x="146127" y="2292017"/>
            <a:ext cx="13516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新方法：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200EEA4-3B4D-8DA6-FAF7-1DD72D7FBF63}"/>
              </a:ext>
            </a:extLst>
          </p:cNvPr>
          <p:cNvSpPr txBox="1"/>
          <p:nvPr/>
        </p:nvSpPr>
        <p:spPr>
          <a:xfrm>
            <a:off x="323528" y="775037"/>
            <a:ext cx="36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将双向耦合关系单向截断，导致子问题的局部最优解在系统层面产生显著次优性。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895E8596-0FCF-8A83-373F-8E6314542606}"/>
              </a:ext>
            </a:extLst>
          </p:cNvPr>
          <p:cNvSpPr txBox="1"/>
          <p:nvPr/>
        </p:nvSpPr>
        <p:spPr>
          <a:xfrm>
            <a:off x="1239791" y="2290905"/>
            <a:ext cx="16760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分解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（双向）协调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收敛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94615" y="196468"/>
            <a:ext cx="5349386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/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与实验验证</a:t>
            </a:r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661670"/>
            <a:ext cx="8820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研究内容二： 基于状态预测和动态阈值的工业多智能体系统数据注入检测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6553200" y="4839018"/>
            <a:ext cx="2133600" cy="273844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xmlns="" id="{CD0B42CA-8CB7-804D-5241-1F1E2778AE41}"/>
              </a:ext>
            </a:extLst>
          </p:cNvPr>
          <p:cNvSpPr/>
          <p:nvPr/>
        </p:nvSpPr>
        <p:spPr>
          <a:xfrm>
            <a:off x="146127" y="1185077"/>
            <a:ext cx="17889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1">
            <a:extLst>
              <a:ext uri="{FF2B5EF4-FFF2-40B4-BE49-F238E27FC236}">
                <a16:creationId xmlns:a16="http://schemas.microsoft.com/office/drawing/2014/main" xmlns="" id="{4A703DAD-7FEB-879B-47FE-F61D2140B2A6}"/>
              </a:ext>
            </a:extLst>
          </p:cNvPr>
          <p:cNvSpPr/>
          <p:nvPr/>
        </p:nvSpPr>
        <p:spPr>
          <a:xfrm>
            <a:off x="146127" y="2569964"/>
            <a:ext cx="15568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研究思路：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xmlns="" id="{31154B70-F08D-5359-62A2-63A5F4902493}"/>
              </a:ext>
            </a:extLst>
          </p:cNvPr>
          <p:cNvSpPr txBox="1"/>
          <p:nvPr/>
        </p:nvSpPr>
        <p:spPr>
          <a:xfrm>
            <a:off x="457200" y="1556651"/>
            <a:ext cx="7797165" cy="5022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如何在移动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固定多智能体系统中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采用满足实时性的检测算法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，并使该算法能够保证对数据注入攻击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及时和有效发现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15">
            <a:extLst>
              <a:ext uri="{FF2B5EF4-FFF2-40B4-BE49-F238E27FC236}">
                <a16:creationId xmlns:a16="http://schemas.microsoft.com/office/drawing/2014/main" xmlns="" id="{F719B801-ED16-F8F9-B3FA-9BCD302179FA}"/>
              </a:ext>
            </a:extLst>
          </p:cNvPr>
          <p:cNvSpPr/>
          <p:nvPr/>
        </p:nvSpPr>
        <p:spPr>
          <a:xfrm>
            <a:off x="1" y="3077629"/>
            <a:ext cx="2264410" cy="16884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关键洞察</a:t>
            </a:r>
            <a:r>
              <a:rPr lang="zh-CN" altLang="en-US" sz="1600" dirty="0">
                <a:solidFill>
                  <a:schemeClr val="tx1"/>
                </a:solidFill>
              </a:rPr>
              <a:t>：移动</a:t>
            </a:r>
            <a:r>
              <a:rPr lang="en-US" altLang="zh-CN" sz="1600" dirty="0">
                <a:solidFill>
                  <a:schemeClr val="tx1"/>
                </a:solidFill>
              </a:rPr>
              <a:t>-</a:t>
            </a:r>
            <a:r>
              <a:rPr lang="zh-CN" altLang="en-US" sz="1600" dirty="0">
                <a:solidFill>
                  <a:schemeClr val="tx1"/>
                </a:solidFill>
              </a:rPr>
              <a:t>固定多智能体中执行层</a:t>
            </a:r>
            <a:r>
              <a:rPr lang="zh-CN" altLang="en-US" sz="1600" b="1" dirty="0">
                <a:solidFill>
                  <a:schemeClr val="tx1"/>
                </a:solidFill>
              </a:rPr>
              <a:t>智能体的状态空间具有有限性与可枚举性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矩形 16">
            <a:extLst>
              <a:ext uri="{FF2B5EF4-FFF2-40B4-BE49-F238E27FC236}">
                <a16:creationId xmlns:a16="http://schemas.microsoft.com/office/drawing/2014/main" xmlns="" id="{A766754D-A161-FC7B-0309-BD33A23321F9}"/>
              </a:ext>
            </a:extLst>
          </p:cNvPr>
          <p:cNvSpPr/>
          <p:nvPr/>
        </p:nvSpPr>
        <p:spPr>
          <a:xfrm>
            <a:off x="2593585" y="3076995"/>
            <a:ext cx="3778615" cy="16902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通过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历史运行数据训练状态转移矩阵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，建立智能体的正常行为模型。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结合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动态调整的异常检测阈值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矩形 17">
            <a:extLst>
              <a:ext uri="{FF2B5EF4-FFF2-40B4-BE49-F238E27FC236}">
                <a16:creationId xmlns:a16="http://schemas.microsoft.com/office/drawing/2014/main" xmlns="" id="{D2110BA3-CA83-937F-E77C-2F8AED1CFA58}"/>
              </a:ext>
            </a:extLst>
          </p:cNvPr>
          <p:cNvSpPr/>
          <p:nvPr/>
        </p:nvSpPr>
        <p:spPr>
          <a:xfrm>
            <a:off x="6730460" y="3076995"/>
            <a:ext cx="2410640" cy="16902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通过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比较实际状态和预测状态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之间的“欧氏距离”，实现数据注入攻击的实时检测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右箭头 21">
            <a:extLst>
              <a:ext uri="{FF2B5EF4-FFF2-40B4-BE49-F238E27FC236}">
                <a16:creationId xmlns:a16="http://schemas.microsoft.com/office/drawing/2014/main" xmlns="" id="{D8B8B683-A4B6-BA44-DFAA-C2FC006E9FDF}"/>
              </a:ext>
            </a:extLst>
          </p:cNvPr>
          <p:cNvSpPr/>
          <p:nvPr/>
        </p:nvSpPr>
        <p:spPr>
          <a:xfrm>
            <a:off x="2291900" y="3699469"/>
            <a:ext cx="245110" cy="222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右箭头 22">
            <a:extLst>
              <a:ext uri="{FF2B5EF4-FFF2-40B4-BE49-F238E27FC236}">
                <a16:creationId xmlns:a16="http://schemas.microsoft.com/office/drawing/2014/main" xmlns="" id="{09D718F2-0D21-4490-89D8-71E437948539}"/>
              </a:ext>
            </a:extLst>
          </p:cNvPr>
          <p:cNvSpPr/>
          <p:nvPr/>
        </p:nvSpPr>
        <p:spPr>
          <a:xfrm>
            <a:off x="6428775" y="3699468"/>
            <a:ext cx="245110" cy="222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596336" y="190500"/>
            <a:ext cx="1547664" cy="17843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/>
          <p:cNvSpPr txBox="1">
            <a:spLocks noChangeArrowheads="1"/>
          </p:cNvSpPr>
          <p:nvPr/>
        </p:nvSpPr>
        <p:spPr bwMode="auto">
          <a:xfrm>
            <a:off x="843280" y="103505"/>
            <a:ext cx="682506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基于状态预测和动态阈值的工业多智能体系统数据注入检测</a:t>
            </a:r>
            <a:endParaRPr lang="zh-CN" altLang="en-US" sz="2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F612170-EF4C-B2EC-93F0-25975D263C2E}"/>
              </a:ext>
            </a:extLst>
          </p:cNvPr>
          <p:cNvSpPr txBox="1"/>
          <p:nvPr/>
        </p:nvSpPr>
        <p:spPr>
          <a:xfrm>
            <a:off x="488657" y="747849"/>
            <a:ext cx="22831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状态转移概率矩阵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414D82EE-10CA-D554-10D0-69B7E7460DCC}"/>
                  </a:ext>
                </a:extLst>
              </p:cNvPr>
              <p:cNvSpPr txBox="1"/>
              <p:nvPr/>
            </p:nvSpPr>
            <p:spPr>
              <a:xfrm>
                <a:off x="207016" y="1149274"/>
                <a:ext cx="2813990" cy="11458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4D82EE-10CA-D554-10D0-69B7E7460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16" y="1149274"/>
                <a:ext cx="2813990" cy="11458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A699D05-5C41-2252-9EA6-0BF50906B0B2}"/>
              </a:ext>
            </a:extLst>
          </p:cNvPr>
          <p:cNvSpPr txBox="1"/>
          <p:nvPr/>
        </p:nvSpPr>
        <p:spPr>
          <a:xfrm>
            <a:off x="413147" y="2301414"/>
            <a:ext cx="14740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的一个例子：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A3477455-725F-6D68-9CE3-D63B52CF6A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175" y="973972"/>
            <a:ext cx="5950115" cy="156280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C5AA790-ABBE-851D-73D7-D4FF92E89363}"/>
              </a:ext>
            </a:extLst>
          </p:cNvPr>
          <p:cNvCxnSpPr>
            <a:cxnSpLocks/>
          </p:cNvCxnSpPr>
          <p:nvPr/>
        </p:nvCxnSpPr>
        <p:spPr>
          <a:xfrm>
            <a:off x="3227136" y="1659578"/>
            <a:ext cx="57705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A3AA1F4-8204-1E70-CF03-67D86EE1A625}"/>
              </a:ext>
            </a:extLst>
          </p:cNvPr>
          <p:cNvSpPr txBox="1"/>
          <p:nvPr/>
        </p:nvSpPr>
        <p:spPr>
          <a:xfrm>
            <a:off x="457200" y="2890677"/>
            <a:ext cx="6240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AGV_idle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的下一个预测状态向量：</a:t>
            </a:r>
            <a:r>
              <a:rPr lang="en-US" sz="1400" dirty="0"/>
              <a:t>[0.222, 0, 0.222, 0, 0, 0.556, 0]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4C1EC216-4895-835E-BF67-ABD9F0D54D3C}"/>
                  </a:ext>
                </a:extLst>
              </p:cNvPr>
              <p:cNvSpPr txBox="1"/>
              <p:nvPr/>
            </p:nvSpPr>
            <p:spPr>
              <a:xfrm>
                <a:off x="3837050" y="3751753"/>
                <a:ext cx="2012563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sepChr m:val="−"/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limUpp>
                              <m:limUppPr>
                                <m:ctrlPr>
                                  <a:rPr lang="en-US" i="1">
                                    <a:latin typeface="Cambria Math"/>
                                  </a:rPr>
                                </m:ctrlPr>
                              </m:limUp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li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^</m:t>
                                </m:r>
                              </m:lim>
                            </m:limUpp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=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1EC216-4895-835E-BF67-ABD9F0D54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050" y="3751753"/>
                <a:ext cx="2012563" cy="504818"/>
              </a:xfrm>
              <a:prstGeom prst="rect">
                <a:avLst/>
              </a:prstGeom>
              <a:blipFill>
                <a:blip r:embed="rId5"/>
                <a:stretch>
                  <a:fillRect b="-19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11707134-B3BB-A2E7-C019-C40C95F0098B}"/>
              </a:ext>
            </a:extLst>
          </p:cNvPr>
          <p:cNvSpPr txBox="1"/>
          <p:nvPr/>
        </p:nvSpPr>
        <p:spPr>
          <a:xfrm>
            <a:off x="457200" y="3748676"/>
            <a:ext cx="6240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预测状态与实际状态之间的差值：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6D42A51-C137-1803-CDF3-22309595DC81}"/>
              </a:ext>
            </a:extLst>
          </p:cNvPr>
          <p:cNvSpPr txBox="1"/>
          <p:nvPr/>
        </p:nvSpPr>
        <p:spPr>
          <a:xfrm>
            <a:off x="4966075" y="3394291"/>
            <a:ext cx="2702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ighlight>
                  <a:srgbClr val="C0C0C0"/>
                </a:highlight>
              </a:rPr>
              <a:t>（</a:t>
            </a:r>
            <a:r>
              <a:rPr lang="en-US" altLang="zh-CN" sz="1400" dirty="0">
                <a:highlight>
                  <a:srgbClr val="C0C0C0"/>
                </a:highlight>
              </a:rPr>
              <a:t>*</a:t>
            </a:r>
            <a:r>
              <a:rPr lang="zh-CN" altLang="en-US" sz="1400" dirty="0">
                <a:highlight>
                  <a:srgbClr val="C0C0C0"/>
                </a:highlight>
              </a:rPr>
              <a:t>状态向量用</a:t>
            </a:r>
            <a:r>
              <a:rPr lang="en-US" altLang="zh-CN" sz="1400" dirty="0">
                <a:highlight>
                  <a:srgbClr val="C0C0C0"/>
                </a:highlight>
              </a:rPr>
              <a:t>one-bot</a:t>
            </a:r>
            <a:r>
              <a:rPr lang="zh-CN" altLang="en-US" sz="1400" dirty="0">
                <a:highlight>
                  <a:srgbClr val="C0C0C0"/>
                </a:highlight>
              </a:rPr>
              <a:t>编码表示）</a:t>
            </a:r>
            <a:endParaRPr lang="en-US" sz="1400" dirty="0"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B0C1A31-E180-CF82-E59F-F18063BA80EB}"/>
              </a:ext>
            </a:extLst>
          </p:cNvPr>
          <p:cNvSpPr txBox="1"/>
          <p:nvPr/>
        </p:nvSpPr>
        <p:spPr>
          <a:xfrm>
            <a:off x="1344809" y="4038332"/>
            <a:ext cx="2327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highlight>
                  <a:srgbClr val="C0C0C0"/>
                </a:highlight>
              </a:rPr>
              <a:t>（</a:t>
            </a:r>
            <a:r>
              <a:rPr lang="en-US" altLang="zh-CN" sz="1400" dirty="0">
                <a:highlight>
                  <a:srgbClr val="C0C0C0"/>
                </a:highlight>
              </a:rPr>
              <a:t>*</a:t>
            </a:r>
            <a:r>
              <a:rPr lang="zh-CN" altLang="en-US" sz="1400" dirty="0">
                <a:highlight>
                  <a:srgbClr val="C0C0C0"/>
                </a:highlight>
              </a:rPr>
              <a:t>差值用欧式距离表示）</a:t>
            </a:r>
            <a:endParaRPr lang="en-US" sz="1400" dirty="0">
              <a:highlight>
                <a:srgbClr val="C0C0C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562484C7-AA35-93F3-29F0-95E7620EAC82}"/>
              </a:ext>
            </a:extLst>
          </p:cNvPr>
          <p:cNvSpPr txBox="1"/>
          <p:nvPr/>
        </p:nvSpPr>
        <p:spPr>
          <a:xfrm>
            <a:off x="5324800" y="3876605"/>
            <a:ext cx="689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1.19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626A332-97A0-594D-91BF-B51439CACD83}"/>
              </a:ext>
            </a:extLst>
          </p:cNvPr>
          <p:cNvSpPr txBox="1"/>
          <p:nvPr/>
        </p:nvSpPr>
        <p:spPr>
          <a:xfrm>
            <a:off x="5775952" y="3876605"/>
            <a:ext cx="213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sz="1800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阈值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ε 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（</a:t>
            </a:r>
            <a:r>
              <a:rPr lang="zh-CN" altLang="en-US" sz="1400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例：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1.08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）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1ECFCE6-B538-2795-05C8-940921135F1A}"/>
              </a:ext>
            </a:extLst>
          </p:cNvPr>
          <p:cNvSpPr txBox="1"/>
          <p:nvPr/>
        </p:nvSpPr>
        <p:spPr>
          <a:xfrm>
            <a:off x="457200" y="4443958"/>
            <a:ext cx="6240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判定为：异常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可能有数据注入攻击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5C6D2D94-D765-55B6-163F-95248684F6F0}"/>
              </a:ext>
            </a:extLst>
          </p:cNvPr>
          <p:cNvSpPr txBox="1"/>
          <p:nvPr/>
        </p:nvSpPr>
        <p:spPr>
          <a:xfrm>
            <a:off x="423099" y="3292101"/>
            <a:ext cx="72451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实际观测到的状态向量：</a:t>
            </a:r>
            <a:r>
              <a:rPr lang="en-US" sz="1600" dirty="0"/>
              <a:t>[0, 0, 0, 0, 1, 0, 0]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94760" y="196215"/>
            <a:ext cx="5349875" cy="14668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-1" y="636030"/>
            <a:ext cx="77734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研究内容三：基于轻量化抗拜占庭协调协议的异常智能体甄别</a:t>
            </a:r>
          </a:p>
        </p:txBody>
      </p:sp>
      <p:sp>
        <p:nvSpPr>
          <p:cNvPr id="17" name="文本框 20"/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与实验验证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8" name="矩形 10">
            <a:extLst>
              <a:ext uri="{FF2B5EF4-FFF2-40B4-BE49-F238E27FC236}">
                <a16:creationId xmlns:a16="http://schemas.microsoft.com/office/drawing/2014/main" xmlns="" id="{CD14F516-DC24-121F-5776-1EA2FEF8DC43}"/>
              </a:ext>
            </a:extLst>
          </p:cNvPr>
          <p:cNvSpPr/>
          <p:nvPr/>
        </p:nvSpPr>
        <p:spPr>
          <a:xfrm>
            <a:off x="146127" y="1185077"/>
            <a:ext cx="17889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xmlns="" id="{54060D8E-BD7F-3E18-1393-B258AD65F8A2}"/>
              </a:ext>
            </a:extLst>
          </p:cNvPr>
          <p:cNvSpPr/>
          <p:nvPr/>
        </p:nvSpPr>
        <p:spPr>
          <a:xfrm>
            <a:off x="146127" y="2569964"/>
            <a:ext cx="15568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研究思路：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xmlns="" id="{61728BF3-B1DE-D21B-571C-36875A4EFCE1}"/>
              </a:ext>
            </a:extLst>
          </p:cNvPr>
          <p:cNvSpPr txBox="1"/>
          <p:nvPr/>
        </p:nvSpPr>
        <p:spPr>
          <a:xfrm>
            <a:off x="457200" y="1491630"/>
            <a:ext cx="7797165" cy="10133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25000"/>
              </a:lnSpc>
            </a:pP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如何在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研究内容一的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调度架构下，对被劫持执行层智能体发起的内部拜占庭攻击进行高效甄别与隔离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而且</a:t>
            </a:r>
            <a:r>
              <a:rPr lang="en-US" sz="16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甄别协调开销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从全局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O(N</a:t>
            </a:r>
            <a:r>
              <a:rPr lang="en-US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 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收缩至任务耦合局部域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O(k</a:t>
            </a:r>
            <a:r>
              <a:rPr lang="en-US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)（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k≪N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同时</a:t>
            </a:r>
            <a:r>
              <a:rPr lang="en-US" sz="16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保证甄别的准确性与实时性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5">
            <a:extLst>
              <a:ext uri="{FF2B5EF4-FFF2-40B4-BE49-F238E27FC236}">
                <a16:creationId xmlns:a16="http://schemas.microsoft.com/office/drawing/2014/main" xmlns="" id="{9AF2CB60-FDC3-57BB-3D8E-10290464949C}"/>
              </a:ext>
            </a:extLst>
          </p:cNvPr>
          <p:cNvSpPr/>
          <p:nvPr/>
        </p:nvSpPr>
        <p:spPr>
          <a:xfrm>
            <a:off x="1" y="3077629"/>
            <a:ext cx="3262202" cy="18682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利用任务执行的时空局部性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时空局部性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执行同一任务</a:t>
            </a:r>
            <a:r>
              <a:rPr 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的智能体之间</a:t>
            </a:r>
            <a:endParaRPr 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空间局部性：协作智能体在物理上相邻</a:t>
            </a:r>
            <a:endParaRPr 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时间局部性：协作关系只在任务时间窗口内有效</a:t>
            </a:r>
            <a:endParaRPr lang="en-US" dirty="0"/>
          </a:p>
        </p:txBody>
      </p:sp>
      <p:sp>
        <p:nvSpPr>
          <p:cNvPr id="12" name="矩形 16">
            <a:extLst>
              <a:ext uri="{FF2B5EF4-FFF2-40B4-BE49-F238E27FC236}">
                <a16:creationId xmlns:a16="http://schemas.microsoft.com/office/drawing/2014/main" xmlns="" id="{7D8E61C7-E070-4F5F-0C16-6C40F2F84CF6}"/>
              </a:ext>
            </a:extLst>
          </p:cNvPr>
          <p:cNvSpPr/>
          <p:nvPr/>
        </p:nvSpPr>
        <p:spPr>
          <a:xfrm>
            <a:off x="3521149" y="3076995"/>
            <a:ext cx="3528392" cy="18702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tx1"/>
                </a:solidFill>
              </a:rPr>
              <a:t>轻量化抗拜占庭协调协议</a:t>
            </a:r>
            <a:r>
              <a:rPr lang="en-US" sz="1600" dirty="0">
                <a:solidFill>
                  <a:schemeClr val="tx1"/>
                </a:solidFill>
              </a:rPr>
              <a:t>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时空验证层→ 过滤大部分假消息：重放攻击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位置欺骗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跨任务注入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任务耦合协调层→ 解决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谁参与协调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"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，大幅压缩通信规模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自适应信任管理层→ 动态维护节点可信度，支撑上一层的加权仲裁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7">
            <a:extLst>
              <a:ext uri="{FF2B5EF4-FFF2-40B4-BE49-F238E27FC236}">
                <a16:creationId xmlns:a16="http://schemas.microsoft.com/office/drawing/2014/main" xmlns="" id="{92D6EEFB-B2C3-DDCB-5F6D-063104343636}"/>
              </a:ext>
            </a:extLst>
          </p:cNvPr>
          <p:cNvSpPr/>
          <p:nvPr/>
        </p:nvSpPr>
        <p:spPr>
          <a:xfrm>
            <a:off x="7308304" y="3076995"/>
            <a:ext cx="1832796" cy="18702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甄别输出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异常智能体识别 → 隔离被劫持节点 → 通知调度层剔除虚假状态信息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右箭头 21">
            <a:extLst>
              <a:ext uri="{FF2B5EF4-FFF2-40B4-BE49-F238E27FC236}">
                <a16:creationId xmlns:a16="http://schemas.microsoft.com/office/drawing/2014/main" xmlns="" id="{10A827CB-3698-A257-1B82-80FD005247E9}"/>
              </a:ext>
            </a:extLst>
          </p:cNvPr>
          <p:cNvSpPr/>
          <p:nvPr/>
        </p:nvSpPr>
        <p:spPr>
          <a:xfrm>
            <a:off x="3275856" y="3936441"/>
            <a:ext cx="245110" cy="222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22">
            <a:extLst>
              <a:ext uri="{FF2B5EF4-FFF2-40B4-BE49-F238E27FC236}">
                <a16:creationId xmlns:a16="http://schemas.microsoft.com/office/drawing/2014/main" xmlns="" id="{0E67C2BA-A576-BCE3-371C-054013CCA330}"/>
              </a:ext>
            </a:extLst>
          </p:cNvPr>
          <p:cNvSpPr/>
          <p:nvPr/>
        </p:nvSpPr>
        <p:spPr>
          <a:xfrm>
            <a:off x="7041423" y="3936440"/>
            <a:ext cx="245110" cy="222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A52C77-070A-6F17-4145-2DC74BDF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E8AB4FE0-738B-D0C6-2A46-D60C00AB311E}"/>
              </a:ext>
            </a:extLst>
          </p:cNvPr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48067F7B-C960-1418-198E-476340416501}"/>
              </a:ext>
            </a:extLst>
          </p:cNvPr>
          <p:cNvSpPr/>
          <p:nvPr/>
        </p:nvSpPr>
        <p:spPr>
          <a:xfrm>
            <a:off x="6372200" y="190500"/>
            <a:ext cx="2771800" cy="17843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>
            <a:extLst>
              <a:ext uri="{FF2B5EF4-FFF2-40B4-BE49-F238E27FC236}">
                <a16:creationId xmlns:a16="http://schemas.microsoft.com/office/drawing/2014/main" xmlns="" id="{95E7BEA2-B9A5-24B5-65AA-886AA9451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80" y="103505"/>
            <a:ext cx="682506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基于轻量化抗拜占庭协调协议的异常智能体甄别</a:t>
            </a:r>
            <a:endParaRPr lang="zh-CN" altLang="en-US" sz="2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D3B45E24-3760-A457-05A0-BF3AF491B84D}"/>
              </a:ext>
            </a:extLst>
          </p:cNvPr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4839A68B-1A2D-500F-F7C0-5A7E9CCDE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CBDA5503-DA0B-047A-3659-181BCE6D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033AFE8A-EC6D-3513-2091-740278E73B06}"/>
              </a:ext>
            </a:extLst>
          </p:cNvPr>
          <p:cNvSpPr txBox="1"/>
          <p:nvPr/>
        </p:nvSpPr>
        <p:spPr>
          <a:xfrm>
            <a:off x="0" y="612224"/>
            <a:ext cx="63011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304800" algn="just"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Layer 1: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时空验证层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(Spatiotemporal Validation)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：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6F6C2CC7-D1C5-ACB7-5E30-34079042377C}"/>
              </a:ext>
            </a:extLst>
          </p:cNvPr>
          <p:cNvSpPr txBox="1"/>
          <p:nvPr/>
        </p:nvSpPr>
        <p:spPr>
          <a:xfrm>
            <a:off x="30758" y="1122015"/>
            <a:ext cx="554935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Layer 2: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任务耦合协调层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(Task-Coupled </a:t>
            </a:r>
            <a:r>
              <a:rPr lang="en-US" dirty="0"/>
              <a:t>Coordination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indent="304800" algn="just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核心思想是：只有与任务直接相关的智能体才需要参与协调。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B0DD2F3F-8E39-AD12-76B7-5082EE988AEF}"/>
              </a:ext>
            </a:extLst>
          </p:cNvPr>
          <p:cNvSpPr txBox="1"/>
          <p:nvPr/>
        </p:nvSpPr>
        <p:spPr>
          <a:xfrm>
            <a:off x="71100" y="2060733"/>
            <a:ext cx="52209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Layer 3: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自适应信任管理层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(Adaptive Trust Management)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7EB60099-FCAC-7F1C-AF33-ED9E7E9227B6}"/>
                  </a:ext>
                </a:extLst>
              </p:cNvPr>
              <p:cNvSpPr txBox="1"/>
              <p:nvPr/>
            </p:nvSpPr>
            <p:spPr>
              <a:xfrm>
                <a:off x="173650" y="2589428"/>
                <a:ext cx="5118430" cy="2460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304800" algn="just">
                  <a:buNone/>
                </a:pPr>
                <a:r>
                  <a:rPr lang="zh-CN" sz="1400" kern="1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每个多智能体节点都有一个自适应权重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100">
                            <a:effectLst/>
                            <a:latin typeface="Cambria Math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sz="1400" kern="1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，初始化为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100">
                            <a:effectLst/>
                            <a:latin typeface="Cambria Math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=1</m:t>
                    </m:r>
                  </m:oMath>
                </a14:m>
                <a:r>
                  <a:rPr lang="zh-CN" sz="1400" kern="1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（完全信任）。</a:t>
                </a:r>
                <a:endParaRPr lang="en-US" sz="1400" kern="1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0" marR="0" indent="304800" algn="just">
                  <a:buNone/>
                </a:pPr>
                <a:r>
                  <a:rPr lang="zh-CN" sz="1400" kern="1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惩罚机制</a:t>
                </a:r>
                <a:r>
                  <a:rPr lang="en-US" sz="1400" kern="1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(Penalty)</a:t>
                </a:r>
                <a:r>
                  <a:rPr lang="zh-CN" sz="1400" kern="1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：检测到可疑行为（时空违规、冲突消息）时，权重降低。</a:t>
                </a:r>
                <a:endParaRPr lang="en-US" sz="1400" kern="1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0" marR="0" indent="3048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kern="100">
                              <a:effectLst/>
                              <a:latin typeface="Cambria Math"/>
                              <a:ea typeface="SimSun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</m:e>
                        <m:sub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sepChr m:val="+"/>
                              <m:ctrlPr>
                                <a:rPr lang="en-US" sz="1400" i="1" kern="100">
                                  <a:effectLst/>
                                  <a:latin typeface="Cambria Math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sz="1400" i="1" kern="1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sz="1400" i="1" kern="1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max</m:t>
                      </m:r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⁡(</m:t>
                      </m:r>
                      <m:sSub>
                        <m:sSubPr>
                          <m:ctrlPr>
                            <a:rPr lang="en-US" sz="1400" i="1" kern="100">
                              <a:effectLst/>
                              <a:latin typeface="Cambria Math"/>
                              <a:ea typeface="SimSu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min</m:t>
                          </m:r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⁡</m:t>
                          </m:r>
                        </m:sub>
                      </m:sSub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,</m:t>
                      </m:r>
                      <m:sSubSup>
                        <m:sSubSupPr>
                          <m:ctrlPr>
                            <a:rPr lang="en-US" sz="1400" i="1" kern="100">
                              <a:effectLst/>
                              <a:latin typeface="Cambria Math"/>
                              <a:ea typeface="SimSun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</m:e>
                        <m:sub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 kern="100">
                                  <a:effectLst/>
                                  <a:latin typeface="Cambria Math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sz="1400" i="1" kern="1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400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Δ</m:t>
                      </m:r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𝑤</m:t>
                      </m:r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en-US" sz="1400" kern="1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marR="0" lvl="0" indent="-342900" algn="l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Δ</m:t>
                    </m:r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𝑤</m:t>
                    </m:r>
                    <m:r>
                      <a:rPr lang="en-US" sz="1400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=0.1</m:t>
                    </m:r>
                  </m:oMath>
                </a14:m>
                <a:r>
                  <a:rPr lang="en-US" sz="1400" kern="100" dirty="0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 </a:t>
                </a:r>
                <a:r>
                  <a:rPr lang="zh-CN" sz="1400" kern="100" dirty="0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每次违规的惩罚</a:t>
                </a:r>
                <a:endParaRPr lang="en-US" sz="1400" kern="1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marR="0" lvl="0" indent="-342900" algn="l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100">
                            <a:effectLst/>
                            <a:latin typeface="Cambria Math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1400" i="1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min</m:t>
                        </m:r>
                        <m:r>
                          <a:rPr lang="en-US" sz="1400" kern="100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⁡</m:t>
                        </m:r>
                      </m:sub>
                    </m:sSub>
                    <m:r>
                      <a:rPr lang="en-US" sz="1400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=0.1</m:t>
                    </m:r>
                  </m:oMath>
                </a14:m>
                <a:r>
                  <a:rPr lang="en-US" sz="1400" kern="100" dirty="0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 </a:t>
                </a:r>
                <a:r>
                  <a:rPr lang="zh-CN" sz="1400" kern="100" dirty="0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最小权重（初始信任的</a:t>
                </a:r>
                <a:r>
                  <a:rPr lang="en-US" sz="1400" kern="100" dirty="0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10%</a:t>
                </a:r>
                <a:r>
                  <a:rPr lang="zh-CN" sz="1400" kern="100" dirty="0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）</a:t>
                </a:r>
                <a:endParaRPr lang="en-US" sz="1400" kern="1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0" marR="0" indent="304800" algn="just">
                  <a:buNone/>
                </a:pPr>
                <a:r>
                  <a:rPr lang="zh-CN" sz="1400" kern="1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恢复机制</a:t>
                </a:r>
                <a:r>
                  <a:rPr lang="en-US" sz="1400" kern="1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 (Recovery)</a:t>
                </a:r>
                <a:r>
                  <a:rPr lang="zh-CN" sz="1400" kern="100" dirty="0">
                    <a:effectLst/>
                    <a:latin typeface="Times New Roman" panose="02020603050405020304" pitchFamily="18" charset="0"/>
                    <a:ea typeface="SimSun" panose="02010600030101010101" pitchFamily="2" charset="-122"/>
                  </a:rPr>
                  <a:t>：连续诚实轮次后，节点恢复权重。</a:t>
                </a:r>
                <a:endParaRPr lang="en-US" sz="1400" kern="1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0" marR="0" indent="3048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kern="100">
                              <a:effectLst/>
                              <a:latin typeface="Cambria Math"/>
                              <a:ea typeface="SimSun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</m:e>
                        <m:sub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sepChr m:val="+"/>
                              <m:ctrlPr>
                                <a:rPr lang="en-US" sz="1400" i="1" kern="100">
                                  <a:effectLst/>
                                  <a:latin typeface="Cambria Math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sz="1400" i="1" kern="1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sz="1400" i="1" kern="1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min</m:t>
                      </m:r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⁡(</m:t>
                      </m:r>
                      <m:sSubSup>
                        <m:sSubSupPr>
                          <m:ctrlPr>
                            <a:rPr lang="en-US" sz="1400" i="1" kern="100">
                              <a:effectLst/>
                              <a:latin typeface="Cambria Math"/>
                              <a:ea typeface="SimSun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</m:e>
                        <m:sub>
                          <m:r>
                            <a:rPr lang="en-US" sz="1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400" i="1" kern="100">
                                  <a:effectLst/>
                                  <a:latin typeface="Cambria Math"/>
                                  <a:ea typeface="SimSun" panose="0201060003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sz="1400" i="1" kern="100">
                                  <a:effectLst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+</m:t>
                      </m:r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𝛾</m:t>
                      </m:r>
                      <m:r>
                        <a:rPr lang="en-US" sz="1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,1)</m:t>
                      </m:r>
                    </m:oMath>
                  </m:oMathPara>
                </a14:m>
                <a:endParaRPr lang="en-US" sz="1400" kern="1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marL="342900" marR="0" lvl="0" indent="-342900" algn="l"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400" i="1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𝛾</m:t>
                    </m:r>
                    <m:r>
                      <a:rPr lang="en-US" sz="1400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=0.01</m:t>
                    </m:r>
                  </m:oMath>
                </a14:m>
                <a:r>
                  <a:rPr lang="en-US" sz="1400" kern="100" dirty="0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 </a:t>
                </a:r>
                <a:r>
                  <a:rPr lang="zh-CN" sz="1400" kern="100" dirty="0">
                    <a:effectLst/>
                    <a:latin typeface="Cambria Math" panose="02040503050406030204" pitchFamily="18" charset="0"/>
                    <a:ea typeface="SimSun" panose="02010600030101010101" pitchFamily="2" charset="-122"/>
                  </a:rPr>
                  <a:t>恢复率</a:t>
                </a:r>
                <a:endParaRPr lang="en-US" sz="1400" kern="1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B60099-FCAC-7F1C-AF33-ED9E7E922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50" y="2589428"/>
                <a:ext cx="5118430" cy="2460161"/>
              </a:xfrm>
              <a:prstGeom prst="rect">
                <a:avLst/>
              </a:prstGeom>
              <a:blipFill>
                <a:blip r:embed="rId3"/>
                <a:stretch>
                  <a:fillRect l="-357" t="-744" r="-3929" b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xmlns="" id="{57FBAECA-D7C7-B471-2BCF-CE9B8F568F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259" y="500494"/>
            <a:ext cx="3807741" cy="307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47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753A03-5B61-DD0C-F6BB-35DFE26F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3D1A601A-D164-A050-065B-886F974B28FA}"/>
              </a:ext>
            </a:extLst>
          </p:cNvPr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3DE846CB-C1C8-5771-C09E-1254FE92D85C}"/>
              </a:ext>
            </a:extLst>
          </p:cNvPr>
          <p:cNvSpPr/>
          <p:nvPr/>
        </p:nvSpPr>
        <p:spPr>
          <a:xfrm>
            <a:off x="3794760" y="196215"/>
            <a:ext cx="5349875" cy="14668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6989706C-F9FD-AD70-BE99-324CB36B0F20}"/>
              </a:ext>
            </a:extLst>
          </p:cNvPr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8495ACAA-E9B4-039B-F795-DC2AF795D36D}"/>
              </a:ext>
            </a:extLst>
          </p:cNvPr>
          <p:cNvSpPr/>
          <p:nvPr/>
        </p:nvSpPr>
        <p:spPr>
          <a:xfrm>
            <a:off x="-1" y="636030"/>
            <a:ext cx="77734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研究内容四：基于状态感知分解的近优重调度算法</a:t>
            </a:r>
          </a:p>
        </p:txBody>
      </p:sp>
      <p:sp>
        <p:nvSpPr>
          <p:cNvPr id="17" name="文本框 20">
            <a:extLst>
              <a:ext uri="{FF2B5EF4-FFF2-40B4-BE49-F238E27FC236}">
                <a16:creationId xmlns:a16="http://schemas.microsoft.com/office/drawing/2014/main" xmlns="" id="{8EAE8765-5746-F981-AA4E-2B53CC35B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与实验验证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56438B9E-84E6-19B9-4B46-C12A7B00796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8" name="矩形 10">
            <a:extLst>
              <a:ext uri="{FF2B5EF4-FFF2-40B4-BE49-F238E27FC236}">
                <a16:creationId xmlns:a16="http://schemas.microsoft.com/office/drawing/2014/main" xmlns="" id="{010E3DD2-4A6C-8AC4-6BFE-D024434A65C7}"/>
              </a:ext>
            </a:extLst>
          </p:cNvPr>
          <p:cNvSpPr/>
          <p:nvPr/>
        </p:nvSpPr>
        <p:spPr>
          <a:xfrm>
            <a:off x="146127" y="1185077"/>
            <a:ext cx="178895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xmlns="" id="{4843DD3A-AF5F-D92C-E6C6-B88EED513AD0}"/>
              </a:ext>
            </a:extLst>
          </p:cNvPr>
          <p:cNvSpPr/>
          <p:nvPr/>
        </p:nvSpPr>
        <p:spPr>
          <a:xfrm>
            <a:off x="146127" y="2569964"/>
            <a:ext cx="15568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研究思路：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xmlns="" id="{79ADF53A-5530-F0C8-9A9A-B4F532F0B3CF}"/>
              </a:ext>
            </a:extLst>
          </p:cNvPr>
          <p:cNvSpPr txBox="1"/>
          <p:nvPr/>
        </p:nvSpPr>
        <p:spPr>
          <a:xfrm>
            <a:off x="457200" y="1491630"/>
            <a:ext cx="7797165" cy="10133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25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如何在移动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固定多智能体系统运行时扰动发生后，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精确界定影响范围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，并将全局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NP-hard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重调度问题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转化为多个规模可控的局部子问题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，在秒级时间内生成具有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有界次优性保证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的近优重调度方案？</a:t>
            </a:r>
          </a:p>
        </p:txBody>
      </p:sp>
      <p:sp>
        <p:nvSpPr>
          <p:cNvPr id="11" name="矩形 15">
            <a:extLst>
              <a:ext uri="{FF2B5EF4-FFF2-40B4-BE49-F238E27FC236}">
                <a16:creationId xmlns:a16="http://schemas.microsoft.com/office/drawing/2014/main" xmlns="" id="{D1DA1CBD-3A3E-B1D2-2E8E-D2E778448E63}"/>
              </a:ext>
            </a:extLst>
          </p:cNvPr>
          <p:cNvSpPr/>
          <p:nvPr/>
        </p:nvSpPr>
        <p:spPr>
          <a:xfrm>
            <a:off x="1" y="3077629"/>
            <a:ext cx="3262202" cy="18682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 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精确界定影响范围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，如何做？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把大的重调度任务集，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如何</a:t>
            </a:r>
            <a:r>
              <a:rPr lang="en-US" sz="1600" b="1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转化为多个规模可控的局部子问题</a:t>
            </a:r>
            <a:r>
              <a:rPr 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？</a:t>
            </a:r>
            <a:endParaRPr 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对于拆解出来的子问题，使用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统一算法还是不同算法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来进行重调度规划？</a:t>
            </a:r>
            <a:endParaRPr lang="en-US" dirty="0"/>
          </a:p>
        </p:txBody>
      </p:sp>
      <p:sp>
        <p:nvSpPr>
          <p:cNvPr id="12" name="矩形 16">
            <a:extLst>
              <a:ext uri="{FF2B5EF4-FFF2-40B4-BE49-F238E27FC236}">
                <a16:creationId xmlns:a16="http://schemas.microsoft.com/office/drawing/2014/main" xmlns="" id="{2490D3E7-79A8-2F32-DC0E-D87FE9C24420}"/>
              </a:ext>
            </a:extLst>
          </p:cNvPr>
          <p:cNvSpPr/>
          <p:nvPr/>
        </p:nvSpPr>
        <p:spPr>
          <a:xfrm>
            <a:off x="3521149" y="2544440"/>
            <a:ext cx="3528392" cy="25915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 </a:t>
            </a:r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利用</a:t>
            </a:r>
            <a:r>
              <a:rPr lang="en-US" sz="1600" b="1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任务依赖图</a:t>
            </a:r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的结构信息精确界定影响范围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2.1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状态感知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过滤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（对任务进行状态划分，已完成任务、执行中但不受影响、未执行但不受影响的几类无需重调度）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2.2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根据任务的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依赖密度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进行分解，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“区别对待”</a:t>
            </a:r>
            <a:r>
              <a:rPr lang="en-US" sz="1600" dirty="0" err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依赖密度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不同的任务集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sz="1600" b="1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多尺度求解器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作为求解算法</a:t>
            </a:r>
            <a:endParaRPr 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矩形 17">
            <a:extLst>
              <a:ext uri="{FF2B5EF4-FFF2-40B4-BE49-F238E27FC236}">
                <a16:creationId xmlns:a16="http://schemas.microsoft.com/office/drawing/2014/main" xmlns="" id="{23EE7914-9968-82EC-24D1-DAA2EBD966DA}"/>
              </a:ext>
            </a:extLst>
          </p:cNvPr>
          <p:cNvSpPr/>
          <p:nvPr/>
        </p:nvSpPr>
        <p:spPr>
          <a:xfrm>
            <a:off x="7308304" y="3076995"/>
            <a:ext cx="1832796" cy="18702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tx1"/>
                </a:solidFill>
              </a:rPr>
              <a:t>合并各子段局部解 → 全局重调度方案 </a:t>
            </a:r>
            <a:r>
              <a:rPr lang="en-US" altLang="zh-CN" sz="1600" dirty="0">
                <a:solidFill>
                  <a:schemeClr val="tx1"/>
                </a:solidFill>
              </a:rPr>
              <a:t>s’</a:t>
            </a:r>
          </a:p>
          <a:p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并进行验证：时序一致性，资源一致性，任务集完整性</a:t>
            </a:r>
            <a:endParaRPr lang="en-US" altLang="zh-CN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右箭头 21">
            <a:extLst>
              <a:ext uri="{FF2B5EF4-FFF2-40B4-BE49-F238E27FC236}">
                <a16:creationId xmlns:a16="http://schemas.microsoft.com/office/drawing/2014/main" xmlns="" id="{4A2D5ED0-34AC-3EA7-8B9C-9392002423B8}"/>
              </a:ext>
            </a:extLst>
          </p:cNvPr>
          <p:cNvSpPr/>
          <p:nvPr/>
        </p:nvSpPr>
        <p:spPr>
          <a:xfrm>
            <a:off x="3275856" y="3936441"/>
            <a:ext cx="245110" cy="222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22">
            <a:extLst>
              <a:ext uri="{FF2B5EF4-FFF2-40B4-BE49-F238E27FC236}">
                <a16:creationId xmlns:a16="http://schemas.microsoft.com/office/drawing/2014/main" xmlns="" id="{74B83F07-EF9C-749E-29C6-1C7EBBB9D2CD}"/>
              </a:ext>
            </a:extLst>
          </p:cNvPr>
          <p:cNvSpPr/>
          <p:nvPr/>
        </p:nvSpPr>
        <p:spPr>
          <a:xfrm>
            <a:off x="7041423" y="3936440"/>
            <a:ext cx="245110" cy="222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945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A379AC-F599-34BC-3C72-BF330E2D6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3F28AF05-A1F3-6DDE-D4C8-C4B4A8C45128}"/>
              </a:ext>
            </a:extLst>
          </p:cNvPr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C2245C81-B45F-80FD-5182-911E52BC650C}"/>
              </a:ext>
            </a:extLst>
          </p:cNvPr>
          <p:cNvSpPr/>
          <p:nvPr/>
        </p:nvSpPr>
        <p:spPr>
          <a:xfrm>
            <a:off x="5148064" y="190500"/>
            <a:ext cx="3995936" cy="17843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>
            <a:extLst>
              <a:ext uri="{FF2B5EF4-FFF2-40B4-BE49-F238E27FC236}">
                <a16:creationId xmlns:a16="http://schemas.microsoft.com/office/drawing/2014/main" xmlns="" id="{349E7F22-287E-F1FF-DB0E-D31077A38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80" y="103505"/>
            <a:ext cx="6825064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基于状态感知分解的近优重调度算法</a:t>
            </a:r>
            <a:endParaRPr lang="zh-CN" altLang="en-US" sz="2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B83CA43-7DC4-1580-8BA1-9D6DB68EB1F8}"/>
              </a:ext>
            </a:extLst>
          </p:cNvPr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8333C154-0ABF-DFE6-C39E-D95F0A677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5283F55D-848A-9224-B129-E73B6370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5A38E24-A960-C9D0-8914-09D8E7B06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034"/>
            <a:ext cx="3752722" cy="41832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7852AFE-4393-0171-C5E7-373AAFC273F0}"/>
              </a:ext>
            </a:extLst>
          </p:cNvPr>
          <p:cNvSpPr txBox="1"/>
          <p:nvPr/>
        </p:nvSpPr>
        <p:spPr>
          <a:xfrm>
            <a:off x="614680" y="4779380"/>
            <a:ext cx="213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304800" algn="ctr"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图：算法框架图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4F33E76-3EFF-3446-7976-C1764F5F62F8}"/>
              </a:ext>
            </a:extLst>
          </p:cNvPr>
          <p:cNvSpPr txBox="1"/>
          <p:nvPr/>
        </p:nvSpPr>
        <p:spPr>
          <a:xfrm>
            <a:off x="3348806" y="421236"/>
            <a:ext cx="53640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304800" algn="just"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：计算影响边界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43A507A-9C0D-1208-C6EE-6647372A6406}"/>
              </a:ext>
            </a:extLst>
          </p:cNvPr>
          <p:cNvSpPr txBox="1"/>
          <p:nvPr/>
        </p:nvSpPr>
        <p:spPr>
          <a:xfrm>
            <a:off x="3348806" y="1316785"/>
            <a:ext cx="34006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304800" algn="just"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：基于任务状态过滤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48EBDA7-8D0D-4A95-9DA6-C615EBD5949F}"/>
              </a:ext>
            </a:extLst>
          </p:cNvPr>
          <p:cNvSpPr txBox="1"/>
          <p:nvPr/>
        </p:nvSpPr>
        <p:spPr>
          <a:xfrm>
            <a:off x="3377334" y="2850845"/>
            <a:ext cx="35817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：自适应分解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5BD9C48-06F9-AFCA-CB7F-B6B901CFA6FF}"/>
              </a:ext>
            </a:extLst>
          </p:cNvPr>
          <p:cNvSpPr txBox="1"/>
          <p:nvPr/>
        </p:nvSpPr>
        <p:spPr>
          <a:xfrm>
            <a:off x="3348806" y="3553566"/>
            <a:ext cx="34006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304800" algn="just"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 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：多尺度求解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5628D532-8699-52FE-6B7E-21299837961C}"/>
                  </a:ext>
                </a:extLst>
              </p:cNvPr>
              <p:cNvSpPr txBox="1"/>
              <p:nvPr/>
            </p:nvSpPr>
            <p:spPr>
              <a:xfrm>
                <a:off x="3531319" y="792087"/>
                <a:ext cx="3668486" cy="457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2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impact</m:t>
                              </m:r>
                            </m:sub>
                          </m:sSub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200" b="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direct</m:t>
                              </m:r>
                            </m:sub>
                          </m:sSub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b="0" i="1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b="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200" b="0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limUpp>
                                <m:limUppPr>
                                  <m:ctrlPr>
                                    <a:rPr lang="en-US" sz="1200" b="0" i="1">
                                      <a:latin typeface="Cambria Math"/>
                                    </a:rPr>
                                  </m:ctrlPr>
                                </m:limUpp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lim>
                                  <m:r>
                                    <a:rPr lang="en-US" sz="1200" b="0" i="0">
                                      <a:latin typeface="Cambria Math" panose="02040503050406030204" pitchFamily="18" charset="0"/>
                                    </a:rPr>
                                    <m:t>‾</m:t>
                                  </m:r>
                                </m:lim>
                              </m:limUpp>
                              <m:r>
                                <m:rPr>
                                  <m:nor/>
                                </m:rP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out</m:t>
                              </m:r>
                            </m:e>
                          </m:d>
                        </m:e>
                        <m:sup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1200" b="0" i="0">
                              <a:latin typeface="Cambria Math" panose="02040503050406030204" pitchFamily="18" charset="0"/>
                            </a:rPr>
                            <m:t>max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628D532-8699-52FE-6B7E-212998379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319" y="792087"/>
                <a:ext cx="3668486" cy="457498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xmlns="" id="{EB0C4404-6955-5061-5D7A-6A626AE7A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768732"/>
              </p:ext>
            </p:extLst>
          </p:nvPr>
        </p:nvGraphicFramePr>
        <p:xfrm>
          <a:off x="6782519" y="612691"/>
          <a:ext cx="23622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700">
                  <a:extLst>
                    <a:ext uri="{9D8B030D-6E8A-4147-A177-3AD203B41FA5}">
                      <a16:colId xmlns:a16="http://schemas.microsoft.com/office/drawing/2014/main" xmlns="" val="1149794813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xmlns="" val="187877095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符号</a:t>
                      </a:r>
                      <a:endParaRPr lang="en-US" sz="11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含义</a:t>
                      </a:r>
                      <a:endParaRPr lang="en-US" sz="11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31866522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影响沿每条线传下去的概率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9638173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dˉout​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每个任务平均有几个下游任务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28072675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dmax​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最多追踪几层传播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359009053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02BF0563-0D47-5C2F-106F-D733E3B31009}"/>
              </a:ext>
            </a:extLst>
          </p:cNvPr>
          <p:cNvSpPr txBox="1"/>
          <p:nvPr/>
        </p:nvSpPr>
        <p:spPr>
          <a:xfrm>
            <a:off x="3635896" y="1600220"/>
            <a:ext cx="547143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en-US" sz="1200" dirty="0"/>
              <a:t>• 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（已完成）</a:t>
            </a:r>
            <a:r>
              <a:rPr lang="en-US" sz="1200" dirty="0"/>
              <a:t>• 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Exec-U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（执行中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无影响）</a:t>
            </a:r>
            <a:r>
              <a:rPr lang="en-US" sz="1200" dirty="0"/>
              <a:t>• 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Exec-A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（执行中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受影响）</a:t>
            </a:r>
            <a:r>
              <a:rPr lang="en-US" sz="1200" dirty="0"/>
              <a:t>• 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Pend-U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（待执行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无影响）</a:t>
            </a:r>
            <a:r>
              <a:rPr lang="en-US" sz="1200" dirty="0"/>
              <a:t>• 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Pend-D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（待执行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直接影响）</a:t>
            </a:r>
            <a:r>
              <a:rPr lang="en-US" sz="1200" dirty="0"/>
              <a:t>• 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Pend-I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（待执行</a:t>
            </a: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间接影响）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需重调度任务集合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{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 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∈ { Exec-A, Pend-D, Pend-I }}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保持不变任务集合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{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 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∈ {Comp, Exec-U, Pend-U }}</a:t>
            </a:r>
          </a:p>
          <a:p>
            <a:pPr lvl="0">
              <a:buSzPts val="1000"/>
              <a:tabLst>
                <a:tab pos="457200" algn="l"/>
              </a:tabLst>
            </a:pP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C23E53BD-883F-87CA-82CA-B7BE113BF242}"/>
                  </a:ext>
                </a:extLst>
              </p:cNvPr>
              <p:cNvSpPr txBox="1"/>
              <p:nvPr/>
            </p:nvSpPr>
            <p:spPr>
              <a:xfrm>
                <a:off x="5652120" y="2648354"/>
                <a:ext cx="347426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• </a:t>
                </a:r>
                <a:r>
                  <a:rPr lang="en-US" sz="1400" dirty="0" err="1"/>
                  <a:t>若ρ</a:t>
                </a:r>
                <a:r>
                  <a:rPr lang="en-US" sz="1400" dirty="0"/>
                  <a:t>&lt;0.3（稀疏依赖）</a:t>
                </a:r>
                <a:r>
                  <a:rPr lang="zh-CN" altLang="en-US" sz="1400" dirty="0"/>
                  <a:t>：断裂成多组小任务（任务之间没太有关联）分别调度规划</a:t>
                </a:r>
                <a:endParaRPr lang="en-US" altLang="zh-CN" sz="1400" dirty="0"/>
              </a:p>
              <a:p>
                <a:r>
                  <a:rPr lang="en-US" sz="1400" dirty="0"/>
                  <a:t>• 若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400" dirty="0"/>
                  <a:t> 0.3（</a:t>
                </a:r>
                <a:r>
                  <a:rPr lang="zh-CN" altLang="en-US" sz="1400" dirty="0"/>
                  <a:t>稠密</a:t>
                </a:r>
                <a:r>
                  <a:rPr lang="en-US" sz="1400" dirty="0" err="1"/>
                  <a:t>依赖</a:t>
                </a:r>
                <a:r>
                  <a:rPr lang="en-US" sz="1400" dirty="0"/>
                  <a:t>）</a:t>
                </a:r>
                <a:r>
                  <a:rPr lang="zh-CN" altLang="en-US" sz="1400" dirty="0"/>
                  <a:t>：</a:t>
                </a:r>
                <a:r>
                  <a:rPr lang="en-US" sz="1400" dirty="0"/>
                  <a:t> </a:t>
                </a:r>
                <a:r>
                  <a:rPr lang="en-US" sz="1400" dirty="0" err="1"/>
                  <a:t>按时间</a:t>
                </a:r>
                <a:r>
                  <a:rPr lang="zh-CN" altLang="en-US" sz="1400" dirty="0"/>
                  <a:t>轴上的</a:t>
                </a:r>
                <a:r>
                  <a:rPr lang="en-US" sz="1400" dirty="0" err="1"/>
                  <a:t>顺序切</a:t>
                </a:r>
                <a:r>
                  <a:rPr lang="zh-CN" altLang="en-US" sz="1400" dirty="0"/>
                  <a:t>开任务集</a:t>
                </a:r>
                <a:endParaRPr lang="en-US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3E53BD-883F-87CA-82CA-B7BE113BF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2648354"/>
                <a:ext cx="3474260" cy="954107"/>
              </a:xfrm>
              <a:prstGeom prst="rect">
                <a:avLst/>
              </a:prstGeom>
              <a:blipFill>
                <a:blip r:embed="rId5"/>
                <a:stretch>
                  <a:fillRect l="-526" t="-1911" b="-5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152E66B6-29FA-D6FA-198E-F548332073D2}"/>
                  </a:ext>
                </a:extLst>
              </p:cNvPr>
              <p:cNvSpPr txBox="1"/>
              <p:nvPr/>
            </p:nvSpPr>
            <p:spPr>
              <a:xfrm>
                <a:off x="3617565" y="3900114"/>
                <a:ext cx="4581524" cy="956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200" b="0" smtClean="0"/>
                        <m:t>Solver</m:t>
                      </m:r>
                      <m:d>
                        <m:dPr>
                          <m:ctrlPr>
                            <a:rPr lang="en-US" sz="1200" b="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200" b="0"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MIP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（混合整数规划）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1200" b="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200" b="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"/>
                                    <m:ctrlPr>
                                      <a:rPr lang="en-US" sz="1200" b="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>
                                        <a:latin typeface="Cambria Math" panose="02040503050406030204" pitchFamily="18" charset="0"/>
                                      </a:rPr>
                                      <m:t>≤15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b="0" i="1">
                                        <a:latin typeface="Cambria Math" panose="02040503050406030204" pitchFamily="18" charset="0"/>
                                      </a:rPr>
                                      <m:t>（小规模，精确求解）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GA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（遗传算法）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15&lt;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200" b="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b="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200" b="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≤50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（中等规模，启发式）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Greedy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LS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（贪心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1">
                                    <a:latin typeface="Cambria Math" panose="02040503050406030204" pitchFamily="18" charset="0"/>
                                  </a:rPr>
                                  <m:t>局部搜索）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1200" b="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200" b="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"/>
                                    <m:ctrlPr>
                                      <a:rPr lang="en-US" sz="1200" b="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>
                                        <a:latin typeface="Cambria Math" panose="02040503050406030204" pitchFamily="18" charset="0"/>
                                      </a:rPr>
                                      <m:t>&gt;50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200" b="0" i="1">
                                        <a:latin typeface="Cambria Math" panose="02040503050406030204" pitchFamily="18" charset="0"/>
                                      </a:rPr>
                                      <m:t>（大规模，近似求解）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52E66B6-29FA-D6FA-198E-F54833207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565" y="3900114"/>
                <a:ext cx="4581524" cy="956609"/>
              </a:xfrm>
              <a:prstGeom prst="rect">
                <a:avLst/>
              </a:prstGeom>
              <a:blipFill>
                <a:blip r:embed="rId6"/>
                <a:stretch>
                  <a:fillRect r="-12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242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94615" y="196468"/>
            <a:ext cx="5349386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/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技术路线与</a:t>
            </a:r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7504" y="675430"/>
            <a:ext cx="43140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实验一：移动</a:t>
            </a: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固定多智能体协同调度验证</a:t>
            </a: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xmlns="" id="{8FCC5F10-880F-82B8-5F59-9B5B229C8447}"/>
              </a:ext>
            </a:extLst>
          </p:cNvPr>
          <p:cNvSpPr/>
          <p:nvPr/>
        </p:nvSpPr>
        <p:spPr>
          <a:xfrm>
            <a:off x="384242" y="1011813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对比基线</a:t>
            </a:r>
            <a:endParaRPr 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296A28BD-0DAB-93F0-2FFC-74BB10849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681371"/>
              </p:ext>
            </p:extLst>
          </p:nvPr>
        </p:nvGraphicFramePr>
        <p:xfrm>
          <a:off x="539552" y="1311011"/>
          <a:ext cx="8229600" cy="11468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xmlns="" val="394760774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361566102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5030396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基线方法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简称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特点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97543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混合整数线性规划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MILP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全局最优，但指数级复杂度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548892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贪心调度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Greedy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速度快，局部次优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711493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滚动时域控制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RHC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平衡优化与效率，窗口敏感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876154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多智能体深度</a:t>
                      </a:r>
                      <a:r>
                        <a:rPr lang="en-US" sz="1200" kern="100">
                          <a:effectLst/>
                        </a:rPr>
                        <a:t>Q</a:t>
                      </a:r>
                      <a:r>
                        <a:rPr lang="zh-CN" sz="1200" kern="100">
                          <a:effectLst/>
                        </a:rPr>
                        <a:t>网络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DRL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数据驱动，泛化受限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41126226"/>
                  </a:ext>
                </a:extLst>
              </a:tr>
            </a:tbl>
          </a:graphicData>
        </a:graphic>
      </p:graphicFrame>
      <p:sp>
        <p:nvSpPr>
          <p:cNvPr id="13" name="矩形 5">
            <a:extLst>
              <a:ext uri="{FF2B5EF4-FFF2-40B4-BE49-F238E27FC236}">
                <a16:creationId xmlns:a16="http://schemas.microsoft.com/office/drawing/2014/main" xmlns="" id="{B50BA6DF-AEFF-A4FE-FD00-1B7AC15E1593}"/>
              </a:ext>
            </a:extLst>
          </p:cNvPr>
          <p:cNvSpPr/>
          <p:nvPr/>
        </p:nvSpPr>
        <p:spPr>
          <a:xfrm>
            <a:off x="384242" y="2423338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数据集</a:t>
            </a:r>
            <a:endParaRPr 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8">
            <a:extLst>
              <a:ext uri="{FF2B5EF4-FFF2-40B4-BE49-F238E27FC236}">
                <a16:creationId xmlns:a16="http://schemas.microsoft.com/office/drawing/2014/main" xmlns="" id="{61210C41-6F9F-A3F8-8C0D-484B82E0B73D}"/>
              </a:ext>
            </a:extLst>
          </p:cNvPr>
          <p:cNvSpPr/>
          <p:nvPr/>
        </p:nvSpPr>
        <p:spPr>
          <a:xfrm>
            <a:off x="369570" y="2684932"/>
            <a:ext cx="83178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fontAlgn="auto"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仿真生成数据集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：自定义工业场景（任务数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可变）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Taillard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Benchmark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（公开参考数据集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)</a:t>
            </a:r>
            <a:endParaRPr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xmlns="" id="{F8C068C4-AF09-55A0-5274-2433C79985AB}"/>
              </a:ext>
            </a:extLst>
          </p:cNvPr>
          <p:cNvSpPr/>
          <p:nvPr/>
        </p:nvSpPr>
        <p:spPr>
          <a:xfrm>
            <a:off x="384242" y="3146597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评价指标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xmlns="" id="{FA8218A1-C82C-8BAF-AFA3-C759C5EE0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042839"/>
              </p:ext>
            </p:extLst>
          </p:nvPr>
        </p:nvGraphicFramePr>
        <p:xfrm>
          <a:off x="457200" y="3494123"/>
          <a:ext cx="8229600" cy="11468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6728">
                  <a:extLst>
                    <a:ext uri="{9D8B030D-6E8A-4147-A177-3AD203B41FA5}">
                      <a16:colId xmlns:a16="http://schemas.microsoft.com/office/drawing/2014/main" xmlns="" val="3589910080"/>
                    </a:ext>
                  </a:extLst>
                </a:gridCol>
                <a:gridCol w="4762872">
                  <a:extLst>
                    <a:ext uri="{9D8B030D-6E8A-4147-A177-3AD203B41FA5}">
                      <a16:colId xmlns:a16="http://schemas.microsoft.com/office/drawing/2014/main" xmlns="" val="3599827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维度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指标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794717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调度质量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总完工时间</a:t>
                      </a:r>
                      <a:r>
                        <a:rPr lang="en-US" sz="1200" kern="100">
                          <a:effectLst/>
                        </a:rPr>
                        <a:t> Makespan</a:t>
                      </a:r>
                      <a:r>
                        <a:rPr lang="zh-CN" sz="1200" kern="100">
                          <a:effectLst/>
                        </a:rPr>
                        <a:t>、固定智能体利用率</a:t>
                      </a:r>
                      <a:r>
                        <a:rPr lang="en-US" sz="1200" kern="100">
                          <a:effectLst/>
                        </a:rPr>
                        <a:t> Utilization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540079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计算效率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算法求解时间、时间复杂度增长趋势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929275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鲁棒性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±40%</a:t>
                      </a:r>
                      <a:r>
                        <a:rPr lang="zh-CN" sz="1200" kern="100">
                          <a:effectLst/>
                        </a:rPr>
                        <a:t>任务时长扰动下的</a:t>
                      </a:r>
                      <a:r>
                        <a:rPr lang="en-US" sz="1200" kern="100">
                          <a:effectLst/>
                        </a:rPr>
                        <a:t>Makespan</a:t>
                      </a:r>
                      <a:r>
                        <a:rPr lang="zh-CN" sz="1200" kern="100">
                          <a:effectLst/>
                        </a:rPr>
                        <a:t>增幅与成功率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9806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可扩展性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任务数量扩展性、移动智能体数量扩展性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5112907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5521E8-A442-3D61-8EF5-176441E2A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B8778255-4A43-845B-4B2F-5F2761E56C4D}"/>
              </a:ext>
            </a:extLst>
          </p:cNvPr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30D6071-3B0E-9FD8-3B64-92D7A7EC25DE}"/>
              </a:ext>
            </a:extLst>
          </p:cNvPr>
          <p:cNvSpPr/>
          <p:nvPr/>
        </p:nvSpPr>
        <p:spPr>
          <a:xfrm>
            <a:off x="3794615" y="196468"/>
            <a:ext cx="5349386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>
            <a:extLst>
              <a:ext uri="{FF2B5EF4-FFF2-40B4-BE49-F238E27FC236}">
                <a16:creationId xmlns:a16="http://schemas.microsoft.com/office/drawing/2014/main" xmlns="" id="{4A09A54B-FE9B-FEC8-7E9A-5D6019A4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技术路线与</a:t>
            </a:r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6FAC473E-EE9C-C4F0-A841-BB3FF00BF7F2}"/>
              </a:ext>
            </a:extLst>
          </p:cNvPr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C7053283-EDC8-AEF8-1695-C2DCDC121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xmlns="" id="{9F208F86-D03D-68C6-D39A-0142D8205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69443ECD-3C64-126C-BD15-0AE94000C8CB}"/>
              </a:ext>
            </a:extLst>
          </p:cNvPr>
          <p:cNvSpPr/>
          <p:nvPr/>
        </p:nvSpPr>
        <p:spPr>
          <a:xfrm>
            <a:off x="107504" y="675430"/>
            <a:ext cx="46346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实验二：工业多智能体数据注入攻击检测验证</a:t>
            </a: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xmlns="" id="{8734D1F7-38BE-FB37-9E5A-D33A4E0F841F}"/>
              </a:ext>
            </a:extLst>
          </p:cNvPr>
          <p:cNvSpPr/>
          <p:nvPr/>
        </p:nvSpPr>
        <p:spPr>
          <a:xfrm>
            <a:off x="384242" y="1011813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对比基线</a:t>
            </a:r>
            <a:endParaRPr 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5">
            <a:extLst>
              <a:ext uri="{FF2B5EF4-FFF2-40B4-BE49-F238E27FC236}">
                <a16:creationId xmlns:a16="http://schemas.microsoft.com/office/drawing/2014/main" xmlns="" id="{768B8860-C5D2-9C04-5F3B-ACC9AC6EEBCC}"/>
              </a:ext>
            </a:extLst>
          </p:cNvPr>
          <p:cNvSpPr/>
          <p:nvPr/>
        </p:nvSpPr>
        <p:spPr>
          <a:xfrm>
            <a:off x="384242" y="2423338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数据集</a:t>
            </a:r>
            <a:endParaRPr 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8">
            <a:extLst>
              <a:ext uri="{FF2B5EF4-FFF2-40B4-BE49-F238E27FC236}">
                <a16:creationId xmlns:a16="http://schemas.microsoft.com/office/drawing/2014/main" xmlns="" id="{93FFD7C5-4990-91E3-7049-3A91DD638DE6}"/>
              </a:ext>
            </a:extLst>
          </p:cNvPr>
          <p:cNvSpPr/>
          <p:nvPr/>
        </p:nvSpPr>
        <p:spPr>
          <a:xfrm>
            <a:off x="369570" y="2684932"/>
            <a:ext cx="831786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仿真生成数据集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，自定义攻击注入场景</a:t>
            </a:r>
            <a:endParaRPr lang="en-US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 fontAlgn="auto"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HAI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（工业控制系统安全数据集）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171450" indent="-171450" fontAlgn="auto">
              <a:buFont typeface="Arial" panose="020B0604020202020204" pitchFamily="34" charset="0"/>
              <a:buChar char="•"/>
            </a:pPr>
            <a:r>
              <a:rPr lang="en-US" sz="1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SWaT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（新加坡水处理系统攻击数据集）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BATADAL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（水网络攻击检测竞赛数据集）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171450" indent="-171450" fontAlgn="auto">
              <a:buFont typeface="Arial" panose="020B0604020202020204" pitchFamily="34" charset="0"/>
              <a:buChar char="•"/>
            </a:pPr>
            <a:endParaRPr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xmlns="" id="{F6AAEFBE-B2AD-C2DE-2393-B9F3B37ABFF1}"/>
              </a:ext>
            </a:extLst>
          </p:cNvPr>
          <p:cNvSpPr/>
          <p:nvPr/>
        </p:nvSpPr>
        <p:spPr>
          <a:xfrm>
            <a:off x="384242" y="3510740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评价指标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6E801FA0-CA10-A5C9-D00C-63EAE2E43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517519"/>
              </p:ext>
            </p:extLst>
          </p:nvPr>
        </p:nvGraphicFramePr>
        <p:xfrm>
          <a:off x="457200" y="1334566"/>
          <a:ext cx="8229600" cy="9174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xmlns="" val="92046847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8343995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8805125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基线方法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简称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特点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604969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网络流量测量方法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Flow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计算简单，高频攻击下阈值难设定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418658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统计阈值检测方法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Threshold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固定阈值，误报与漏报难平衡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215563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监督式机器学习分类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ML-Cls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精度高，需大量标注数据，实时性差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95429503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4C648A8E-84A2-6C4B-DD3E-3C155E167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782621"/>
              </p:ext>
            </p:extLst>
          </p:nvPr>
        </p:nvGraphicFramePr>
        <p:xfrm>
          <a:off x="457200" y="3863841"/>
          <a:ext cx="8229600" cy="11468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6688">
                  <a:extLst>
                    <a:ext uri="{9D8B030D-6E8A-4147-A177-3AD203B41FA5}">
                      <a16:colId xmlns:a16="http://schemas.microsoft.com/office/drawing/2014/main" xmlns="" val="585911591"/>
                    </a:ext>
                  </a:extLst>
                </a:gridCol>
                <a:gridCol w="5122912">
                  <a:extLst>
                    <a:ext uri="{9D8B030D-6E8A-4147-A177-3AD203B41FA5}">
                      <a16:colId xmlns:a16="http://schemas.microsoft.com/office/drawing/2014/main" xmlns="" val="1511630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维度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指标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13543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检测准确性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检测率</a:t>
                      </a:r>
                      <a:r>
                        <a:rPr lang="en-US" sz="1200" kern="100">
                          <a:effectLst/>
                        </a:rPr>
                        <a:t> DR</a:t>
                      </a:r>
                      <a:r>
                        <a:rPr lang="zh-CN" sz="1200" kern="100">
                          <a:effectLst/>
                        </a:rPr>
                        <a:t>、误报率</a:t>
                      </a:r>
                      <a:r>
                        <a:rPr lang="en-US" sz="1200" kern="100">
                          <a:effectLst/>
                        </a:rPr>
                        <a:t> FPR</a:t>
                      </a:r>
                      <a:r>
                        <a:rPr lang="zh-CN" sz="1200" kern="100">
                          <a:effectLst/>
                        </a:rPr>
                        <a:t>、</a:t>
                      </a:r>
                      <a:r>
                        <a:rPr lang="en-US" sz="1200" kern="100">
                          <a:effectLst/>
                        </a:rPr>
                        <a:t>F1</a:t>
                      </a:r>
                      <a:r>
                        <a:rPr lang="zh-CN" sz="1200" kern="100">
                          <a:effectLst/>
                        </a:rPr>
                        <a:t>分数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727246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实时性能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检测延迟（</a:t>
                      </a:r>
                      <a:r>
                        <a:rPr lang="en-US" sz="1200" kern="100">
                          <a:effectLst/>
                        </a:rPr>
                        <a:t>ms</a:t>
                      </a:r>
                      <a:r>
                        <a:rPr lang="zh-CN" sz="1200" kern="100">
                          <a:effectLst/>
                        </a:rPr>
                        <a:t>）、不同攻击频率下检测时间趋势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215830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鲁棒性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不同攻击流量比例下检测率曲线、不同攻击类型下检测性能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555022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系统稳定性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动态阈值自适应能力、智能体数量扩展性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805579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20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84A215-C9FC-D0CE-C533-303CC1F5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2A3D686A-BE8F-1487-718D-3A183E723561}"/>
              </a:ext>
            </a:extLst>
          </p:cNvPr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FB2929A9-BC34-CD5B-B09E-2872E50E948B}"/>
              </a:ext>
            </a:extLst>
          </p:cNvPr>
          <p:cNvSpPr/>
          <p:nvPr/>
        </p:nvSpPr>
        <p:spPr>
          <a:xfrm>
            <a:off x="3794615" y="196468"/>
            <a:ext cx="5349386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>
            <a:extLst>
              <a:ext uri="{FF2B5EF4-FFF2-40B4-BE49-F238E27FC236}">
                <a16:creationId xmlns:a16="http://schemas.microsoft.com/office/drawing/2014/main" xmlns="" id="{FD0AB72D-D4DB-5CDC-B33A-C0BB16475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技术路线与</a:t>
            </a:r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B77BD6A-738E-3F06-464D-9174A76500D1}"/>
              </a:ext>
            </a:extLst>
          </p:cNvPr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D69056FF-E19F-9FA1-CC84-DBB3471AE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xmlns="" id="{7F0745DA-9E9A-3D3E-A972-D27CCADF4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D5476CDB-A051-74B4-A9CA-B1DE681468AB}"/>
              </a:ext>
            </a:extLst>
          </p:cNvPr>
          <p:cNvSpPr/>
          <p:nvPr/>
        </p:nvSpPr>
        <p:spPr>
          <a:xfrm>
            <a:off x="107504" y="675430"/>
            <a:ext cx="46346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实验三：轻量化抗拜占庭异常智能体甄别验证</a:t>
            </a: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xmlns="" id="{34C38CC7-8C7C-56CC-B8CF-996A6504353B}"/>
              </a:ext>
            </a:extLst>
          </p:cNvPr>
          <p:cNvSpPr/>
          <p:nvPr/>
        </p:nvSpPr>
        <p:spPr>
          <a:xfrm>
            <a:off x="384242" y="1011813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对比基线</a:t>
            </a:r>
            <a:endParaRPr 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5">
            <a:extLst>
              <a:ext uri="{FF2B5EF4-FFF2-40B4-BE49-F238E27FC236}">
                <a16:creationId xmlns:a16="http://schemas.microsoft.com/office/drawing/2014/main" xmlns="" id="{4DF2ADA6-499F-9DF5-9631-26C6AA51AA04}"/>
              </a:ext>
            </a:extLst>
          </p:cNvPr>
          <p:cNvSpPr/>
          <p:nvPr/>
        </p:nvSpPr>
        <p:spPr>
          <a:xfrm>
            <a:off x="384242" y="2423338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数据集</a:t>
            </a:r>
            <a:endParaRPr 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8">
            <a:extLst>
              <a:ext uri="{FF2B5EF4-FFF2-40B4-BE49-F238E27FC236}">
                <a16:creationId xmlns:a16="http://schemas.microsoft.com/office/drawing/2014/main" xmlns="" id="{369DB825-FED6-7940-73F2-A5424497391C}"/>
              </a:ext>
            </a:extLst>
          </p:cNvPr>
          <p:cNvSpPr/>
          <p:nvPr/>
        </p:nvSpPr>
        <p:spPr>
          <a:xfrm>
            <a:off x="369570" y="2684932"/>
            <a:ext cx="83178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仿真生成数据集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，自定义拜占庭攻击场景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BFT-Bench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（分布式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BFT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协议）</a:t>
            </a:r>
            <a:endParaRPr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xmlns="" id="{8F6EC15B-85D1-9A8C-DDC5-5AB07FD5EE88}"/>
              </a:ext>
            </a:extLst>
          </p:cNvPr>
          <p:cNvSpPr/>
          <p:nvPr/>
        </p:nvSpPr>
        <p:spPr>
          <a:xfrm>
            <a:off x="384242" y="3225828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评价指标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A39BB993-FE40-2E09-8B93-1AA3CB371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907717"/>
              </p:ext>
            </p:extLst>
          </p:nvPr>
        </p:nvGraphicFramePr>
        <p:xfrm>
          <a:off x="457200" y="1462714"/>
          <a:ext cx="8229600" cy="9174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xmlns="" val="84958993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76694026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166129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基线方法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简称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特点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91900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实用拜占庭容错协议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PBFT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全局一致性强，</a:t>
                      </a:r>
                      <a:r>
                        <a:rPr lang="en-US" sz="1200" kern="100" dirty="0">
                          <a:effectLst/>
                        </a:rPr>
                        <a:t>O(N</a:t>
                      </a:r>
                      <a:r>
                        <a:rPr lang="en-US" sz="1200" kern="100" baseline="30000" dirty="0">
                          <a:effectLst/>
                        </a:rPr>
                        <a:t>2</a:t>
                      </a:r>
                      <a:r>
                        <a:rPr lang="en-US" sz="1200" kern="100" dirty="0">
                          <a:effectLst/>
                        </a:rPr>
                        <a:t>)</a:t>
                      </a:r>
                      <a:r>
                        <a:rPr lang="zh-CN" sz="1200" kern="100" dirty="0">
                          <a:effectLst/>
                        </a:rPr>
                        <a:t>通信开销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120636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基于领导者选举协议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Raft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O(N)</a:t>
                      </a:r>
                      <a:r>
                        <a:rPr lang="zh-CN" sz="1200" kern="100" dirty="0">
                          <a:effectLst/>
                        </a:rPr>
                        <a:t>效率高，不抵御拜占庭攻击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715815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链式高效</a:t>
                      </a:r>
                      <a:r>
                        <a:rPr lang="en-US" sz="1200" kern="100">
                          <a:effectLst/>
                        </a:rPr>
                        <a:t>BFT</a:t>
                      </a:r>
                      <a:r>
                        <a:rPr lang="zh-CN" sz="1200" kern="100">
                          <a:effectLst/>
                        </a:rPr>
                        <a:t>协议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HotStuff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现代高效</a:t>
                      </a:r>
                      <a:r>
                        <a:rPr lang="en-US" sz="1200" kern="100" dirty="0">
                          <a:effectLst/>
                        </a:rPr>
                        <a:t>BFT</a:t>
                      </a:r>
                      <a:r>
                        <a:rPr lang="zh-CN" sz="1200" kern="100" dirty="0">
                          <a:effectLst/>
                        </a:rPr>
                        <a:t>，无时空验证机制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02961091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7994B48E-91D4-6AD1-ACBC-169D5DC00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842775"/>
              </p:ext>
            </p:extLst>
          </p:nvPr>
        </p:nvGraphicFramePr>
        <p:xfrm>
          <a:off x="457200" y="3572238"/>
          <a:ext cx="8229600" cy="11468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6728">
                  <a:extLst>
                    <a:ext uri="{9D8B030D-6E8A-4147-A177-3AD203B41FA5}">
                      <a16:colId xmlns:a16="http://schemas.microsoft.com/office/drawing/2014/main" xmlns="" val="3086872855"/>
                    </a:ext>
                  </a:extLst>
                </a:gridCol>
                <a:gridCol w="4762872">
                  <a:extLst>
                    <a:ext uri="{9D8B030D-6E8A-4147-A177-3AD203B41FA5}">
                      <a16:colId xmlns:a16="http://schemas.microsoft.com/office/drawing/2014/main" xmlns="" val="4253305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维度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指标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906177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安全性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拜占庭检测率</a:t>
                      </a:r>
                      <a:r>
                        <a:rPr lang="en-US" sz="1200" kern="100">
                          <a:effectLst/>
                        </a:rPr>
                        <a:t> BDR</a:t>
                      </a:r>
                      <a:r>
                        <a:rPr lang="zh-CN" sz="1200" kern="100">
                          <a:effectLst/>
                        </a:rPr>
                        <a:t>、协调成功率</a:t>
                      </a:r>
                      <a:r>
                        <a:rPr lang="en-US" sz="1200" kern="100">
                          <a:effectLst/>
                        </a:rPr>
                        <a:t> CSR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580816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通信效率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消息复杂度（条）、协调延迟（</a:t>
                      </a:r>
                      <a:r>
                        <a:rPr lang="en-US" sz="1200" kern="100">
                          <a:effectLst/>
                        </a:rPr>
                        <a:t>ms</a:t>
                      </a:r>
                      <a:r>
                        <a:rPr lang="zh-CN" sz="1200" kern="100">
                          <a:effectLst/>
                        </a:rPr>
                        <a:t>）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605183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可扩展性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节点规模</a:t>
                      </a:r>
                      <a:r>
                        <a:rPr lang="en-US" sz="1200" kern="100">
                          <a:effectLst/>
                        </a:rPr>
                        <a:t> N </a:t>
                      </a:r>
                      <a:r>
                        <a:rPr lang="zh-CN" sz="1200" kern="100">
                          <a:effectLst/>
                        </a:rPr>
                        <a:t>增长时消息复杂度与延迟增长趋势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284815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资源开销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CPU</a:t>
                      </a:r>
                      <a:r>
                        <a:rPr lang="zh-CN" sz="1200" kern="100" dirty="0">
                          <a:effectLst/>
                        </a:rPr>
                        <a:t>占用率、内存占用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9195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196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6235B8-8EA8-C977-A193-852C5B09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729F11D1-DF8E-2478-7640-19D5681E120E}"/>
              </a:ext>
            </a:extLst>
          </p:cNvPr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39E1912A-7359-17DD-B799-42CE9C3214FF}"/>
              </a:ext>
            </a:extLst>
          </p:cNvPr>
          <p:cNvSpPr/>
          <p:nvPr/>
        </p:nvSpPr>
        <p:spPr>
          <a:xfrm>
            <a:off x="3794615" y="196468"/>
            <a:ext cx="5349386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>
            <a:extLst>
              <a:ext uri="{FF2B5EF4-FFF2-40B4-BE49-F238E27FC236}">
                <a16:creationId xmlns:a16="http://schemas.microsoft.com/office/drawing/2014/main" xmlns="" id="{59F3B6AC-673C-6F35-4D30-10C13AFDD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技术路线与</a:t>
            </a:r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实验验证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B4FD4497-F24B-5A05-8435-D9A415EE5D08}"/>
              </a:ext>
            </a:extLst>
          </p:cNvPr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03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A59359BE-1CD9-55E3-546F-71C86F483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xmlns="" id="{1D1F6740-9873-4EE2-CEB0-C90FBAB4E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CBCA88C8-DABE-DA7E-BAED-37CFBF3DD582}"/>
              </a:ext>
            </a:extLst>
          </p:cNvPr>
          <p:cNvSpPr/>
          <p:nvPr/>
        </p:nvSpPr>
        <p:spPr>
          <a:xfrm>
            <a:off x="107504" y="675430"/>
            <a:ext cx="36086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实验四：近优分段重调度算法验证</a:t>
            </a: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xmlns="" id="{5FA5DA11-5B46-CEB1-CE17-661A969CB88B}"/>
              </a:ext>
            </a:extLst>
          </p:cNvPr>
          <p:cNvSpPr/>
          <p:nvPr/>
        </p:nvSpPr>
        <p:spPr>
          <a:xfrm>
            <a:off x="384242" y="1011813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对比基线</a:t>
            </a:r>
            <a:endParaRPr 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5">
            <a:extLst>
              <a:ext uri="{FF2B5EF4-FFF2-40B4-BE49-F238E27FC236}">
                <a16:creationId xmlns:a16="http://schemas.microsoft.com/office/drawing/2014/main" xmlns="" id="{C48066F6-A6F3-AF05-26ED-709EB86EB8C2}"/>
              </a:ext>
            </a:extLst>
          </p:cNvPr>
          <p:cNvSpPr/>
          <p:nvPr/>
        </p:nvSpPr>
        <p:spPr>
          <a:xfrm>
            <a:off x="384242" y="2423338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数据集</a:t>
            </a:r>
            <a:endParaRPr lang="zh-CN" sz="14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8">
            <a:extLst>
              <a:ext uri="{FF2B5EF4-FFF2-40B4-BE49-F238E27FC236}">
                <a16:creationId xmlns:a16="http://schemas.microsoft.com/office/drawing/2014/main" xmlns="" id="{1E4391C8-DBB5-9418-A4E3-ECC1933AAB84}"/>
              </a:ext>
            </a:extLst>
          </p:cNvPr>
          <p:cNvSpPr/>
          <p:nvPr/>
        </p:nvSpPr>
        <p:spPr>
          <a:xfrm>
            <a:off x="369570" y="2684932"/>
            <a:ext cx="83178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仿真生成数据集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，自定义动态扰动场景</a:t>
            </a:r>
            <a:endParaRPr lang="en-US" altLang="zh-CN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Taillard</a:t>
            </a:r>
            <a:r>
              <a:rPr 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Benchmark</a:t>
            </a:r>
            <a:r>
              <a:rPr lang="zh-CN" altLang="en-US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（公开参考数据集 </a:t>
            </a:r>
            <a:r>
              <a:rPr lang="en-US" altLang="zh-CN" sz="1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1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5">
            <a:extLst>
              <a:ext uri="{FF2B5EF4-FFF2-40B4-BE49-F238E27FC236}">
                <a16:creationId xmlns:a16="http://schemas.microsoft.com/office/drawing/2014/main" xmlns="" id="{81ED8ABA-418F-6F9D-5E2C-76F2DD60B1A5}"/>
              </a:ext>
            </a:extLst>
          </p:cNvPr>
          <p:cNvSpPr/>
          <p:nvPr/>
        </p:nvSpPr>
        <p:spPr>
          <a:xfrm>
            <a:off x="384242" y="3225828"/>
            <a:ext cx="82922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85445" fontAlgn="auto"/>
            <a:r>
              <a:rPr lang="zh-CN" altLang="en-US" sz="1600" b="1" dirty="0"/>
              <a:t>评价指标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9C95CE2A-0DE8-086C-9F25-5D6E49008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96900"/>
              </p:ext>
            </p:extLst>
          </p:nvPr>
        </p:nvGraphicFramePr>
        <p:xfrm>
          <a:off x="457200" y="1419308"/>
          <a:ext cx="8229600" cy="9174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xmlns="" val="222457261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9455818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653819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基线方法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简称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特点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563878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全局</a:t>
                      </a:r>
                      <a:r>
                        <a:rPr lang="en-US" sz="1200" kern="100">
                          <a:effectLst/>
                        </a:rPr>
                        <a:t>MIP</a:t>
                      </a:r>
                      <a:r>
                        <a:rPr lang="zh-CN" sz="1200" kern="100">
                          <a:effectLst/>
                        </a:rPr>
                        <a:t>重调度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Global-MIP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全局最优上界，大规模超时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4057094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滚动时域重调度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RH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效率较高，存在边界效应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927381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最短处理时间优先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SPT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响应快，</a:t>
                      </a:r>
                      <a:r>
                        <a:rPr lang="en-US" sz="1200" kern="100" dirty="0">
                          <a:effectLst/>
                        </a:rPr>
                        <a:t>10~20%</a:t>
                      </a:r>
                      <a:r>
                        <a:rPr lang="zh-CN" sz="1200" kern="100" dirty="0">
                          <a:effectLst/>
                        </a:rPr>
                        <a:t>次优解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20698864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DE28F4BB-9466-87B1-0B69-3FACE35BF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209283"/>
              </p:ext>
            </p:extLst>
          </p:nvPr>
        </p:nvGraphicFramePr>
        <p:xfrm>
          <a:off x="457200" y="3624841"/>
          <a:ext cx="8229600" cy="11818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6688">
                  <a:extLst>
                    <a:ext uri="{9D8B030D-6E8A-4147-A177-3AD203B41FA5}">
                      <a16:colId xmlns:a16="http://schemas.microsoft.com/office/drawing/2014/main" xmlns="" val="365646870"/>
                    </a:ext>
                  </a:extLst>
                </a:gridCol>
                <a:gridCol w="5122912">
                  <a:extLst>
                    <a:ext uri="{9D8B030D-6E8A-4147-A177-3AD203B41FA5}">
                      <a16:colId xmlns:a16="http://schemas.microsoft.com/office/drawing/2014/main" xmlns="" val="38578862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维度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指标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19285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调度质量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sz="1200" kern="100" dirty="0">
                          <a:effectLst/>
                        </a:rPr>
                        <a:t>总加权完工时间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sz="1200" kern="1200" baseline="-250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  <a:r>
                        <a:rPr lang="zh-CN" sz="1200" kern="100" dirty="0">
                          <a:effectLst/>
                        </a:rPr>
                        <a:t>、与最优解差距</a:t>
                      </a:r>
                      <a:r>
                        <a:rPr lang="en-US" sz="1200" kern="100" dirty="0">
                          <a:effectLst/>
                        </a:rPr>
                        <a:t> Gap</a:t>
                      </a:r>
                      <a:r>
                        <a:rPr lang="zh-CN" sz="1200" kern="100" dirty="0">
                          <a:effectLst/>
                        </a:rPr>
                        <a:t>、准时完成率</a:t>
                      </a:r>
                      <a:r>
                        <a:rPr lang="en-US" sz="1200" kern="100" dirty="0">
                          <a:effectLst/>
                        </a:rPr>
                        <a:t> OTR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37276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计算效率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算法求解时间（</a:t>
                      </a:r>
                      <a:r>
                        <a:rPr lang="en-US" sz="1200" kern="100" dirty="0">
                          <a:effectLst/>
                        </a:rPr>
                        <a:t>s</a:t>
                      </a:r>
                      <a:r>
                        <a:rPr lang="zh-CN" sz="1200" kern="100" dirty="0">
                          <a:effectLst/>
                        </a:rPr>
                        <a:t>）、时限内成功率、时间复杂度增长趋势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60992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可扩展性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任务规模扩展性、智能体数量扩展性、依赖密度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zh-CN" sz="1200" kern="100" dirty="0">
                          <a:effectLst/>
                        </a:rPr>
                        <a:t>敏感性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440922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>
                          <a:effectLst/>
                        </a:rPr>
                        <a:t>鲁棒性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1200" kern="100" dirty="0">
                          <a:effectLst/>
                        </a:rPr>
                        <a:t>扰动强度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r>
                        <a:rPr lang="en-US" sz="1050" kern="100" dirty="0">
                          <a:effectLst/>
                        </a:rPr>
                        <a:t> </a:t>
                      </a:r>
                      <a:r>
                        <a:rPr lang="zh-CN" sz="1200" kern="100" dirty="0">
                          <a:effectLst/>
                        </a:rPr>
                        <a:t>敏感性、临时</a:t>
                      </a:r>
                      <a:r>
                        <a:rPr lang="en-US" sz="1200" kern="100" dirty="0">
                          <a:effectLst/>
                        </a:rPr>
                        <a:t>/</a:t>
                      </a:r>
                      <a:r>
                        <a:rPr lang="zh-CN" sz="1200" kern="100" dirty="0">
                          <a:effectLst/>
                        </a:rPr>
                        <a:t>永久扰动场景性能对比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269900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977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510903"/>
            <a:ext cx="9144000" cy="213717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" y="1997869"/>
            <a:ext cx="822722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709614" y="1500187"/>
            <a:ext cx="1154906" cy="1396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8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zh-CN" altLang="en-US" sz="8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14326" y="1978819"/>
            <a:ext cx="428625" cy="43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</a:p>
        </p:txBody>
      </p:sp>
      <p:sp>
        <p:nvSpPr>
          <p:cNvPr id="6" name="矩形 5"/>
          <p:cNvSpPr/>
          <p:nvPr/>
        </p:nvSpPr>
        <p:spPr>
          <a:xfrm>
            <a:off x="1874044" y="1997869"/>
            <a:ext cx="7269956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894286" y="1978819"/>
            <a:ext cx="1325165" cy="439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690083" y="2720348"/>
            <a:ext cx="4295775" cy="623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预期成果与进度安排</a:t>
            </a:r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94615" y="196468"/>
            <a:ext cx="5349386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/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</a:t>
            </a:r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与进度安排</a:t>
            </a:r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04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1520" y="430077"/>
            <a:ext cx="7248525" cy="99129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800100" lvl="1" indent="-342900" algn="just">
              <a:lnSpc>
                <a:spcPct val="173000"/>
              </a:lnSpc>
              <a:spcBef>
                <a:spcPts val="975"/>
              </a:spcBef>
              <a:spcAft>
                <a:spcPts val="975"/>
              </a:spcAft>
              <a:buFont typeface="Wingdings" panose="05000000000000000000" pitchFamily="2" charset="2"/>
              <a:buChar char="l"/>
            </a:pPr>
            <a:r>
              <a:rPr lang="zh-CN" altLang="zh-CN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理论成果</a:t>
            </a:r>
          </a:p>
          <a:p>
            <a:pPr lvl="1" algn="just">
              <a:lnSpc>
                <a:spcPct val="173000"/>
              </a:lnSpc>
              <a:spcBef>
                <a:spcPts val="975"/>
              </a:spcBef>
              <a:spcAft>
                <a:spcPts val="975"/>
              </a:spcAft>
            </a:pPr>
            <a:endParaRPr lang="zh-CN" altLang="zh-CN" sz="11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7203" y="771550"/>
            <a:ext cx="84487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基于时空约束和混合动态规划的移动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固定多智能体协同调度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1773" y="3502207"/>
            <a:ext cx="7248525" cy="39151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800100" lvl="1" indent="-342900" algn="just">
              <a:lnSpc>
                <a:spcPct val="173000"/>
              </a:lnSpc>
              <a:spcBef>
                <a:spcPts val="975"/>
              </a:spcBef>
              <a:spcAft>
                <a:spcPts val="975"/>
              </a:spcAft>
              <a:buFont typeface="Wingdings" panose="05000000000000000000" pitchFamily="2" charset="2"/>
              <a:buChar char="l"/>
            </a:pP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系统成果</a:t>
            </a:r>
            <a:endParaRPr lang="zh-CN" altLang="zh-CN" sz="11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7309" y="3848149"/>
            <a:ext cx="75973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基于上述方法创新，开发：“工业互联网环境下移动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固定多智能体协同调度系统”。</a:t>
            </a:r>
          </a:p>
        </p:txBody>
      </p:sp>
      <p:sp>
        <p:nvSpPr>
          <p:cNvPr id="13" name="矩形 12"/>
          <p:cNvSpPr/>
          <p:nvPr/>
        </p:nvSpPr>
        <p:spPr>
          <a:xfrm>
            <a:off x="251773" y="4075379"/>
            <a:ext cx="7248525" cy="39151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800100" lvl="1" indent="-342900" algn="just">
              <a:lnSpc>
                <a:spcPct val="173000"/>
              </a:lnSpc>
              <a:spcBef>
                <a:spcPts val="975"/>
              </a:spcBef>
              <a:spcAft>
                <a:spcPts val="975"/>
              </a:spcAft>
              <a:buFont typeface="Wingdings" panose="05000000000000000000" pitchFamily="2" charset="2"/>
              <a:buChar char="l"/>
            </a:pPr>
            <a:r>
              <a:rPr lang="zh-CN" altLang="en-US" sz="14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成果形式</a:t>
            </a:r>
            <a:endParaRPr lang="zh-CN" altLang="zh-CN" sz="11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3540" y="4404836"/>
            <a:ext cx="78123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发表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SCI/EI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论文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2~4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篇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indent="457200"/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开发完成“工业互联网环境下移动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固定多智能体协同调度系统”原型系统；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）申请发明专利</a:t>
            </a: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项；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2DF8BFE-5A66-764F-C93E-41CC7FA6C09E}"/>
              </a:ext>
            </a:extLst>
          </p:cNvPr>
          <p:cNvSpPr txBox="1"/>
          <p:nvPr/>
        </p:nvSpPr>
        <p:spPr>
          <a:xfrm>
            <a:off x="1115616" y="1029149"/>
            <a:ext cx="802799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•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"Optimizing Task Allocation in Heterogeneous Agent Manufacturing Systems." </a:t>
            </a:r>
            <a:r>
              <a:rPr lang="en-US" sz="11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[PDCAT 2024, Published]</a:t>
            </a:r>
            <a:endParaRPr lang="en-US" sz="11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R="0"/>
            <a:r>
              <a:rPr lang="en-US" sz="1100" dirty="0"/>
              <a:t>•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“Coordinated Scheduling of Continuous–Discrete Hybrid Agent Systems via Spatiotemporal Logic and Hybrid Dynamic Programming. ” </a:t>
            </a:r>
            <a:r>
              <a:rPr lang="en-US" sz="1100" i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ACM –</a:t>
            </a:r>
            <a:r>
              <a:rPr lang="en-US" altLang="zh-CN" sz="1100" i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TIST 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11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大修二审中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8" name="矩形 9">
            <a:extLst>
              <a:ext uri="{FF2B5EF4-FFF2-40B4-BE49-F238E27FC236}">
                <a16:creationId xmlns:a16="http://schemas.microsoft.com/office/drawing/2014/main" xmlns="" id="{31739824-4A63-C3A9-200D-86C57182EFCB}"/>
              </a:ext>
            </a:extLst>
          </p:cNvPr>
          <p:cNvSpPr/>
          <p:nvPr/>
        </p:nvSpPr>
        <p:spPr>
          <a:xfrm>
            <a:off x="917201" y="1524329"/>
            <a:ext cx="84487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基于状态预测和动态阈值的工业多智能体系统数据注入检测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9">
            <a:extLst>
              <a:ext uri="{FF2B5EF4-FFF2-40B4-BE49-F238E27FC236}">
                <a16:creationId xmlns:a16="http://schemas.microsoft.com/office/drawing/2014/main" xmlns="" id="{3D15BA58-FA51-34FD-B479-966AD73D4B36}"/>
              </a:ext>
            </a:extLst>
          </p:cNvPr>
          <p:cNvSpPr/>
          <p:nvPr/>
        </p:nvSpPr>
        <p:spPr>
          <a:xfrm>
            <a:off x="917202" y="2211710"/>
            <a:ext cx="84487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）基于轻量化抗拜占庭协调协议的异常智能体甄别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9">
            <a:extLst>
              <a:ext uri="{FF2B5EF4-FFF2-40B4-BE49-F238E27FC236}">
                <a16:creationId xmlns:a16="http://schemas.microsoft.com/office/drawing/2014/main" xmlns="" id="{A562FB36-5900-0319-5592-7F5BF47337A0}"/>
              </a:ext>
            </a:extLst>
          </p:cNvPr>
          <p:cNvSpPr/>
          <p:nvPr/>
        </p:nvSpPr>
        <p:spPr>
          <a:xfrm>
            <a:off x="917202" y="2787774"/>
            <a:ext cx="84487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）基于状态感知分解的近优重调度算法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CBFF678-1812-FD1A-2E18-67230977CA93}"/>
              </a:ext>
            </a:extLst>
          </p:cNvPr>
          <p:cNvSpPr txBox="1"/>
          <p:nvPr/>
        </p:nvSpPr>
        <p:spPr>
          <a:xfrm>
            <a:off x="1115616" y="1814753"/>
            <a:ext cx="80283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en-US" sz="1100" dirty="0"/>
              <a:t>•</a:t>
            </a:r>
            <a:r>
              <a:rPr lang="en-US" sz="11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"Optimizing Task Allocation in Heterogeneous Agent Manufacturing Systems." 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[PDCAT 2025, </a:t>
            </a:r>
            <a:r>
              <a:rPr lang="en-US" sz="1100" b="1" kern="100" dirty="0" err="1" smtClean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Pubished</a:t>
            </a:r>
            <a:r>
              <a:rPr lang="en-US" sz="1100" b="1" kern="100" dirty="0" smtClean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]</a:t>
            </a:r>
            <a:endParaRPr lang="en-US" sz="1100" b="1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100" dirty="0"/>
              <a:t>•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一种基于状态预测与自适应阈值的工业系统数据注入攻击检测方法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”  </a:t>
            </a:r>
            <a:r>
              <a:rPr lang="en-US" sz="11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11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专利代理事务所已受理</a:t>
            </a:r>
            <a:r>
              <a:rPr lang="en-US" sz="11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7F2D41AF-9AA8-9607-44CE-ED53A78570DE}"/>
              </a:ext>
            </a:extLst>
          </p:cNvPr>
          <p:cNvSpPr txBox="1"/>
          <p:nvPr/>
        </p:nvSpPr>
        <p:spPr>
          <a:xfrm>
            <a:off x="1115223" y="2429666"/>
            <a:ext cx="8028385" cy="47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100" dirty="0"/>
              <a:t>•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“STLC: Spatiotemporal Localized Consensus with Adaptive Trust for Scalable Byzantine Fault Tolerance in Industrial Cyber-Physical Systems.”  T-ASE.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11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已投稿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E290288-5077-0D95-82E6-BAC2D0A4F743}"/>
              </a:ext>
            </a:extLst>
          </p:cNvPr>
          <p:cNvSpPr txBox="1"/>
          <p:nvPr/>
        </p:nvSpPr>
        <p:spPr>
          <a:xfrm>
            <a:off x="1115270" y="3058914"/>
            <a:ext cx="80287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•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“Near-Optimal Segmented Rescheduling for Dynamic Multi-Agent Systems: A State-Aware Decomposition Framework with Bounded Suboptimality” 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1100" b="1" kern="100" dirty="0" smtClean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初稿</a:t>
            </a:r>
            <a:r>
              <a:rPr lang="zh-CN" altLang="en-US" sz="11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已</a:t>
            </a:r>
            <a:r>
              <a:rPr lang="zh-CN" altLang="en-US" sz="1100" b="1" kern="100" dirty="0" smtClean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完成</a:t>
            </a:r>
            <a:r>
              <a:rPr lang="en-US" sz="1100" b="1" kern="100" dirty="0" smtClean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]</a:t>
            </a:r>
            <a:endParaRPr lang="en-US" sz="1100" b="1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1100" dirty="0"/>
              <a:t>•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一种基于影响边界的多智能体任务动态重调度方法及系统</a:t>
            </a:r>
            <a:r>
              <a:rPr lang="en-US" sz="11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”  </a:t>
            </a:r>
            <a:r>
              <a:rPr lang="en-US" sz="11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11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专利代理事务所已受理</a:t>
            </a:r>
            <a:r>
              <a:rPr lang="en-US" sz="11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0502"/>
            <a:ext cx="457200" cy="178594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94615" y="196468"/>
            <a:ext cx="5349386" cy="172628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文本框 20"/>
          <p:cNvSpPr txBox="1">
            <a:spLocks noChangeArrowheads="1"/>
          </p:cNvSpPr>
          <p:nvPr/>
        </p:nvSpPr>
        <p:spPr bwMode="auto">
          <a:xfrm>
            <a:off x="418825" y="75522"/>
            <a:ext cx="3649532" cy="37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预期成果与</a:t>
            </a:r>
            <a:r>
              <a:rPr lang="zh-CN" altLang="en-US" sz="2000" b="1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进度安排</a:t>
            </a:r>
          </a:p>
        </p:txBody>
      </p:sp>
      <p:sp>
        <p:nvSpPr>
          <p:cNvPr id="5" name="文本框 4"/>
          <p:cNvSpPr txBox="1"/>
          <p:nvPr/>
        </p:nvSpPr>
        <p:spPr bwMode="auto">
          <a:xfrm>
            <a:off x="413147" y="61913"/>
            <a:ext cx="542925" cy="4385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04</a:t>
            </a:r>
            <a:endParaRPr lang="zh-CN" altLang="en-US" sz="24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8600" y="812515"/>
            <a:ext cx="1164422" cy="377026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进度安排</a:t>
            </a:r>
          </a:p>
        </p:txBody>
      </p:sp>
      <p:sp>
        <p:nvSpPr>
          <p:cNvPr id="7" name="矩形 6"/>
          <p:cNvSpPr/>
          <p:nvPr/>
        </p:nvSpPr>
        <p:spPr>
          <a:xfrm>
            <a:off x="503548" y="1447944"/>
            <a:ext cx="8136904" cy="1993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2025.07~2025.12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完成文献调研，综述已有的学术方法，做好理论基础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2026.01~2026.06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研究基于时空约束和混合动态规划的移动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固定多智能体协同调度 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2026.07~2026.12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研究基于状态预测和动态阈值的工业多智能体系统数据注入检测 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2027.01~2027.06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研究基于轻量化抗拜占庭协调协议的异常智能体甄别 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2027.07~2027.12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研究基于状态感知分解的近优重调度算法 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2028.01~2028.06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系统验证、部署应用，博士论文撰写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494830" y="2286562"/>
            <a:ext cx="6128147" cy="577081"/>
          </a:xfrm>
          <a:prstGeom prst="rect">
            <a:avLst/>
          </a:prstGeom>
          <a:noFill/>
        </p:spPr>
        <p:txBody>
          <a:bodyPr lIns="68580" tIns="34290" rIns="68580" bIns="34290">
            <a:spAutoFit/>
          </a:bodyPr>
          <a:lstStyle/>
          <a:p>
            <a:pPr algn="ctr"/>
            <a:r>
              <a:rPr lang="zh-CN" altLang="en-US" sz="3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感谢各位老师指导！</a:t>
            </a:r>
            <a:endParaRPr lang="en-US" altLang="zh-CN" sz="33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200151" y="1693069"/>
            <a:ext cx="6717506" cy="1787129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 bwMode="auto">
          <a:xfrm>
            <a:off x="7717633" y="3244454"/>
            <a:ext cx="832247" cy="847725"/>
            <a:chOff x="2666985" y="682103"/>
            <a:chExt cx="1109138" cy="1131217"/>
          </a:xfrm>
        </p:grpSpPr>
        <p:sp>
          <p:nvSpPr>
            <p:cNvPr id="35" name="矩形 34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 bwMode="auto">
          <a:xfrm>
            <a:off x="594123" y="1096568"/>
            <a:ext cx="832247" cy="848915"/>
            <a:chOff x="2666985" y="682103"/>
            <a:chExt cx="1109138" cy="1131217"/>
          </a:xfrm>
        </p:grpSpPr>
        <p:sp>
          <p:nvSpPr>
            <p:cNvPr id="39" name="矩形 38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42" name="矩形 41"/>
          <p:cNvSpPr/>
          <p:nvPr/>
        </p:nvSpPr>
        <p:spPr>
          <a:xfrm>
            <a:off x="0" y="-9525"/>
            <a:ext cx="9144000" cy="27979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8674894" y="4892278"/>
            <a:ext cx="469106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0" y="4892278"/>
            <a:ext cx="8737899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507734" y="1543670"/>
            <a:ext cx="6304626" cy="315471"/>
          </a:xfrm>
          <a:prstGeom prst="rect">
            <a:avLst/>
          </a:prstGeom>
          <a:blipFill dpi="0" rotWithShape="1">
            <a:blip r:embed="rId3" cstate="screen"/>
            <a:srcRect/>
            <a:stretch>
              <a:fillRect/>
            </a:stretch>
          </a:blipFill>
        </p:spPr>
        <p:txBody>
          <a:bodyPr wrap="square" lIns="68580" tIns="34290" rIns="68580" bIns="34290">
            <a:spAutoFit/>
          </a:bodyPr>
          <a:lstStyle/>
          <a:p>
            <a:pPr algn="ctr">
              <a:defRPr/>
            </a:pPr>
            <a:r>
              <a:rPr lang="zh-CN" altLang="en-US" sz="1600" b="1" spc="225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工业互联网环境下移动</a:t>
            </a:r>
            <a:r>
              <a:rPr lang="en-US" altLang="zh-CN" sz="1600" b="1" spc="225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spc="225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固定多智能体协同调度及抗扰性研究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3" grpId="0" animBg="1"/>
      <p:bldP spid="42" grpId="0" animBg="1"/>
      <p:bldP spid="43" grpId="0" animBg="1"/>
      <p:bldP spid="44" grpId="0" animBg="1"/>
      <p:bldP spid="46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c0f68f1-9cd8-47f2-8cdd-930112b61297"/>
  <p:tag name="COMMONDATA" val="eyJoZGlkIjoiYTNiNTIyM2NiNGI4ZWQ1OWYxNGUyMTVkODkzYmViMm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3245</Words>
  <Application>Microsoft Office PowerPoint</Application>
  <PresentationFormat>全屏显示(16:9)</PresentationFormat>
  <Paragraphs>445</Paragraphs>
  <Slides>28</Slides>
  <Notes>28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29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朱业胜</dc:creator>
  <cp:lastModifiedBy>xchlw</cp:lastModifiedBy>
  <cp:revision>2216</cp:revision>
  <dcterms:created xsi:type="dcterms:W3CDTF">2019-01-14T01:48:00Z</dcterms:created>
  <dcterms:modified xsi:type="dcterms:W3CDTF">2026-06-29T05:19:48Z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8</vt:lpwstr>
  </property>
  <property fmtid="{D5CDD505-2E9C-101B-9397-08002B2CF9AE}" pid="3" name="KSOProductBuildVer">
    <vt:lpwstr>2052-11.1.0.14309</vt:lpwstr>
  </property>
  <property fmtid="{D5CDD505-2E9C-101B-9397-08002B2CF9AE}" pid="4" name="ICV">
    <vt:lpwstr>94CD94A97A7840249ED07DBF3937F014</vt:lpwstr>
  </property>
</Properties>
</file>