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3.xml" ContentType="application/vnd.openxmlformats-officedocument.presentationml.tags+xml"/>
  <Override PartName="/ppt/notesSlides/notesSlide7.xml" ContentType="application/vnd.openxmlformats-officedocument.presentationml.notesSlide+xml"/>
  <Override PartName="/ppt/tags/tag4.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5.xml" ContentType="application/vnd.openxmlformats-officedocument.presentationml.tags+xml"/>
  <Override PartName="/ppt/notesSlides/notesSlide10.xml" ContentType="application/vnd.openxmlformats-officedocument.presentationml.notesSlide+xml"/>
  <Override PartName="/ppt/tags/tag6.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7.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8.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9.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10.xml" ContentType="application/vnd.openxmlformats-officedocument.presentationml.tags+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11.xml" ContentType="application/vnd.openxmlformats-officedocument.presentationml.tags+xml"/>
  <Override PartName="/ppt/notesSlides/notesSlide26.xml" ContentType="application/vnd.openxmlformats-officedocument.presentationml.notesSlide+xml"/>
  <Override PartName="/ppt/tags/tag12.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257" r:id="rId2"/>
    <p:sldId id="281" r:id="rId3"/>
    <p:sldId id="259" r:id="rId4"/>
    <p:sldId id="384" r:id="rId5"/>
    <p:sldId id="340" r:id="rId6"/>
    <p:sldId id="341" r:id="rId7"/>
    <p:sldId id="316" r:id="rId8"/>
    <p:sldId id="270" r:id="rId9"/>
    <p:sldId id="271" r:id="rId10"/>
    <p:sldId id="272" r:id="rId11"/>
    <p:sldId id="343" r:id="rId12"/>
    <p:sldId id="274" r:id="rId13"/>
    <p:sldId id="280" r:id="rId14"/>
    <p:sldId id="365" r:id="rId15"/>
    <p:sldId id="308" r:id="rId16"/>
    <p:sldId id="371" r:id="rId17"/>
    <p:sldId id="282" r:id="rId18"/>
    <p:sldId id="454" r:id="rId19"/>
    <p:sldId id="455" r:id="rId20"/>
    <p:sldId id="456" r:id="rId21"/>
    <p:sldId id="453" r:id="rId22"/>
    <p:sldId id="457" r:id="rId23"/>
    <p:sldId id="458" r:id="rId24"/>
    <p:sldId id="459" r:id="rId25"/>
    <p:sldId id="275" r:id="rId26"/>
    <p:sldId id="276" r:id="rId27"/>
    <p:sldId id="278" r:id="rId28"/>
    <p:sldId id="279" r:id="rId29"/>
  </p:sldIdLst>
  <p:sldSz cx="9144000" cy="5143500" type="screen16x9"/>
  <p:notesSz cx="6858000" cy="9144000"/>
  <p:custDataLst>
    <p:tags r:id="rId3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65" userDrawn="1">
          <p15:clr>
            <a:srgbClr val="A4A3A4"/>
          </p15:clr>
        </p15:guide>
        <p15:guide id="2" pos="295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10344" initials="1"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F81BD"/>
    <a:srgbClr val="E6B9B8"/>
    <a:srgbClr val="95B3D7"/>
    <a:srgbClr val="43F5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293" autoAdjust="0"/>
  </p:normalViewPr>
  <p:slideViewPr>
    <p:cSldViewPr showGuides="1">
      <p:cViewPr varScale="1">
        <p:scale>
          <a:sx n="128" d="100"/>
          <a:sy n="128" d="100"/>
        </p:scale>
        <p:origin x="1968" y="102"/>
      </p:cViewPr>
      <p:guideLst>
        <p:guide orient="horz" pos="1665"/>
        <p:guide pos="2953"/>
      </p:guideLst>
    </p:cSldViewPr>
  </p:slideViewPr>
  <p:notesTextViewPr>
    <p:cViewPr>
      <p:scale>
        <a:sx n="66" d="100"/>
        <a:sy n="66"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gs" Target="tags/tag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B8150AE-BE8D-4426-9D1B-FC5D65E95960}" type="datetimeFigureOut">
              <a:rPr lang="zh-CN" altLang="en-US" smtClean="0"/>
              <a:t>2026/8/10</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2FC1DC4-F08E-440F-8C26-6612988CA39B}" type="slidenum">
              <a:rPr lang="zh-CN" altLang="en-US" smtClean="0"/>
              <a:t>‹#›</a:t>
            </a:fld>
            <a:endParaRPr lang="zh-CN" altLang="en-US"/>
          </a:p>
        </p:txBody>
      </p:sp>
    </p:spTree>
    <p:extLst>
      <p:ext uri="{BB962C8B-B14F-4D97-AF65-F5344CB8AC3E}">
        <p14:creationId xmlns:p14="http://schemas.microsoft.com/office/powerpoint/2010/main" val="1230323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a:t>
            </a:fld>
            <a:endParaRPr lang="zh-CN" altLang="en-US"/>
          </a:p>
        </p:txBody>
      </p:sp>
    </p:spTree>
    <p:extLst>
      <p:ext uri="{BB962C8B-B14F-4D97-AF65-F5344CB8AC3E}">
        <p14:creationId xmlns:p14="http://schemas.microsoft.com/office/powerpoint/2010/main" val="1625937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a:t>
            </a:fld>
            <a:endParaRPr lang="zh-CN" altLang="en-US"/>
          </a:p>
        </p:txBody>
      </p:sp>
    </p:spTree>
    <p:extLst>
      <p:ext uri="{BB962C8B-B14F-4D97-AF65-F5344CB8AC3E}">
        <p14:creationId xmlns:p14="http://schemas.microsoft.com/office/powerpoint/2010/main" val="853056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3</a:t>
            </a:fld>
            <a:endParaRPr lang="zh-CN" altLang="en-US"/>
          </a:p>
        </p:txBody>
      </p:sp>
    </p:spTree>
    <p:extLst>
      <p:ext uri="{BB962C8B-B14F-4D97-AF65-F5344CB8AC3E}">
        <p14:creationId xmlns:p14="http://schemas.microsoft.com/office/powerpoint/2010/main" val="41486062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lnSpc>
                <a:spcPct val="150000"/>
              </a:lnSpc>
            </a:pPr>
            <a:endParaRPr lang="zh-CN" altLang="en-US" sz="1200" b="1" dirty="0">
              <a:ln w="0"/>
              <a:solidFill>
                <a:srgbClr val="FF0000"/>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92FC1DC4-F08E-440F-8C26-6612988CA39B}" type="slidenum">
              <a:rPr lang="zh-CN" altLang="en-US" smtClean="0"/>
              <a:t>4</a:t>
            </a:fld>
            <a:endParaRPr lang="zh-CN" altLang="en-US"/>
          </a:p>
        </p:txBody>
      </p:sp>
    </p:spTree>
    <p:extLst>
      <p:ext uri="{BB962C8B-B14F-4D97-AF65-F5344CB8AC3E}">
        <p14:creationId xmlns:p14="http://schemas.microsoft.com/office/powerpoint/2010/main" val="1711899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5</a:t>
            </a:fld>
            <a:endParaRPr lang="zh-CN" altLang="en-US"/>
          </a:p>
        </p:txBody>
      </p:sp>
    </p:spTree>
    <p:extLst>
      <p:ext uri="{BB962C8B-B14F-4D97-AF65-F5344CB8AC3E}">
        <p14:creationId xmlns:p14="http://schemas.microsoft.com/office/powerpoint/2010/main" val="40794536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a:p>
            <a:endParaRPr lang="en-US" altLang="zh-CN" dirty="0"/>
          </a:p>
          <a:p>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6</a:t>
            </a:fld>
            <a:endParaRPr lang="zh-CN" altLang="en-US"/>
          </a:p>
        </p:txBody>
      </p:sp>
    </p:spTree>
    <p:extLst>
      <p:ext uri="{BB962C8B-B14F-4D97-AF65-F5344CB8AC3E}">
        <p14:creationId xmlns:p14="http://schemas.microsoft.com/office/powerpoint/2010/main" val="974955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7</a:t>
            </a:fld>
            <a:endParaRPr lang="zh-CN" altLang="en-US"/>
          </a:p>
        </p:txBody>
      </p:sp>
    </p:spTree>
    <p:extLst>
      <p:ext uri="{BB962C8B-B14F-4D97-AF65-F5344CB8AC3E}">
        <p14:creationId xmlns:p14="http://schemas.microsoft.com/office/powerpoint/2010/main" val="32064223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8</a:t>
            </a:fld>
            <a:endParaRPr lang="zh-CN" altLang="en-US"/>
          </a:p>
        </p:txBody>
      </p:sp>
    </p:spTree>
    <p:extLst>
      <p:ext uri="{BB962C8B-B14F-4D97-AF65-F5344CB8AC3E}">
        <p14:creationId xmlns:p14="http://schemas.microsoft.com/office/powerpoint/2010/main" val="337022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9</a:t>
            </a:fld>
            <a:endParaRPr lang="zh-CN" altLang="en-US"/>
          </a:p>
        </p:txBody>
      </p:sp>
    </p:spTree>
    <p:extLst>
      <p:ext uri="{BB962C8B-B14F-4D97-AF65-F5344CB8AC3E}">
        <p14:creationId xmlns:p14="http://schemas.microsoft.com/office/powerpoint/2010/main" val="11664986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457200" algn="l"/>
            <a:endParaRPr lang="en-US" altLang="zh-CN" u="none" dirty="0">
              <a:latin typeface="微软雅黑" panose="020B0503020204020204" pitchFamily="34" charset="-122"/>
              <a:ea typeface="微软雅黑" panose="020B0503020204020204" pitchFamily="34" charset="-122"/>
              <a:sym typeface="+mn-ea"/>
            </a:endParaRPr>
          </a:p>
        </p:txBody>
      </p:sp>
      <p:sp>
        <p:nvSpPr>
          <p:cNvPr id="4" name="灯片编号占位符 3"/>
          <p:cNvSpPr>
            <a:spLocks noGrp="1"/>
          </p:cNvSpPr>
          <p:nvPr>
            <p:ph type="sldNum" sz="quarter" idx="10"/>
          </p:nvPr>
        </p:nvSpPr>
        <p:spPr/>
        <p:txBody>
          <a:bodyPr/>
          <a:lstStyle/>
          <a:p>
            <a:fld id="{92FC1DC4-F08E-440F-8C26-6612988CA39B}" type="slidenum">
              <a:rPr lang="zh-CN" altLang="en-US" smtClean="0"/>
              <a:t>10</a:t>
            </a:fld>
            <a:endParaRPr lang="zh-CN" altLang="en-US"/>
          </a:p>
        </p:txBody>
      </p:sp>
    </p:spTree>
    <p:extLst>
      <p:ext uri="{BB962C8B-B14F-4D97-AF65-F5344CB8AC3E}">
        <p14:creationId xmlns:p14="http://schemas.microsoft.com/office/powerpoint/2010/main" val="39303538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endParaRPr lang="zh-CN" altLang="zh-CN" dirty="0">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92FC1DC4-F08E-440F-8C26-6612988CA39B}" type="slidenum">
              <a:rPr lang="zh-CN" altLang="en-US" smtClean="0"/>
              <a:t>11</a:t>
            </a:fld>
            <a:endParaRPr lang="zh-CN" altLang="en-US"/>
          </a:p>
        </p:txBody>
      </p:sp>
    </p:spTree>
    <p:extLst>
      <p:ext uri="{BB962C8B-B14F-4D97-AF65-F5344CB8AC3E}">
        <p14:creationId xmlns:p14="http://schemas.microsoft.com/office/powerpoint/2010/main" val="41218391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12</a:t>
            </a:fld>
            <a:endParaRPr lang="zh-CN" altLang="en-US"/>
          </a:p>
        </p:txBody>
      </p:sp>
    </p:spTree>
    <p:extLst>
      <p:ext uri="{BB962C8B-B14F-4D97-AF65-F5344CB8AC3E}">
        <p14:creationId xmlns:p14="http://schemas.microsoft.com/office/powerpoint/2010/main" val="2007009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13</a:t>
            </a:fld>
            <a:endParaRPr lang="zh-CN" altLang="en-US"/>
          </a:p>
        </p:txBody>
      </p:sp>
    </p:spTree>
    <p:extLst>
      <p:ext uri="{BB962C8B-B14F-4D97-AF65-F5344CB8AC3E}">
        <p14:creationId xmlns:p14="http://schemas.microsoft.com/office/powerpoint/2010/main" val="33353833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14</a:t>
            </a:fld>
            <a:endParaRPr lang="zh-CN" altLang="en-US"/>
          </a:p>
        </p:txBody>
      </p:sp>
    </p:spTree>
    <p:extLst>
      <p:ext uri="{BB962C8B-B14F-4D97-AF65-F5344CB8AC3E}">
        <p14:creationId xmlns:p14="http://schemas.microsoft.com/office/powerpoint/2010/main" val="17789241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latin typeface="微软雅黑" panose="020B0503020204020204" pitchFamily="34" charset="-122"/>
              <a:ea typeface="微软雅黑" panose="020B0503020204020204" pitchFamily="34" charset="-122"/>
              <a:sym typeface="+mn-ea"/>
            </a:endParaRPr>
          </a:p>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latin typeface="微软雅黑" panose="020B0503020204020204" pitchFamily="34" charset="-122"/>
              <a:ea typeface="微软雅黑" panose="020B0503020204020204" pitchFamily="34" charset="-122"/>
            </a:endParaRPr>
          </a:p>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p>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15</a:t>
            </a:fld>
            <a:endParaRPr lang="zh-CN" altLang="en-US"/>
          </a:p>
        </p:txBody>
      </p:sp>
    </p:spTree>
    <p:extLst>
      <p:ext uri="{BB962C8B-B14F-4D97-AF65-F5344CB8AC3E}">
        <p14:creationId xmlns:p14="http://schemas.microsoft.com/office/powerpoint/2010/main" val="1014376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dirty="0"/>
          </a:p>
          <a:p>
            <a:endParaRPr lang="zh-CN" dirty="0"/>
          </a:p>
          <a:p>
            <a:endParaRPr lang="zh-CN" dirty="0"/>
          </a:p>
          <a:p>
            <a:endParaRPr lang="zh-CN"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16</a:t>
            </a:fld>
            <a:endParaRPr lang="zh-CN" altLang="en-US"/>
          </a:p>
        </p:txBody>
      </p:sp>
    </p:spTree>
    <p:extLst>
      <p:ext uri="{BB962C8B-B14F-4D97-AF65-F5344CB8AC3E}">
        <p14:creationId xmlns:p14="http://schemas.microsoft.com/office/powerpoint/2010/main" val="2401722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sz="1200" dirty="0">
              <a:latin typeface="华文楷体" panose="02010600040101010101" pitchFamily="2" charset="-122"/>
              <a:ea typeface="华文楷体" panose="02010600040101010101" pitchFamily="2" charset="-122"/>
            </a:endParaRPr>
          </a:p>
        </p:txBody>
      </p:sp>
      <p:sp>
        <p:nvSpPr>
          <p:cNvPr id="4" name="灯片编号占位符 3"/>
          <p:cNvSpPr>
            <a:spLocks noGrp="1"/>
          </p:cNvSpPr>
          <p:nvPr>
            <p:ph type="sldNum" sz="quarter" idx="10"/>
          </p:nvPr>
        </p:nvSpPr>
        <p:spPr/>
        <p:txBody>
          <a:bodyPr/>
          <a:lstStyle/>
          <a:p>
            <a:fld id="{D96642B7-71B7-4C3E-9855-0D0DE388A056}" type="slidenum">
              <a:rPr lang="zh-CN" altLang="en-US" smtClean="0"/>
              <a:t>17</a:t>
            </a:fld>
            <a:endParaRPr lang="zh-CN" altLang="en-US"/>
          </a:p>
        </p:txBody>
      </p:sp>
    </p:spTree>
    <p:extLst>
      <p:ext uri="{BB962C8B-B14F-4D97-AF65-F5344CB8AC3E}">
        <p14:creationId xmlns:p14="http://schemas.microsoft.com/office/powerpoint/2010/main" val="7258703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BE56581-B324-1CDB-8DF4-9E261B6C57FF}"/>
            </a:ext>
          </a:extLst>
        </p:cNvPr>
        <p:cNvGrpSpPr/>
        <p:nvPr/>
      </p:nvGrpSpPr>
      <p:grpSpPr>
        <a:xfrm>
          <a:off x="0" y="0"/>
          <a:ext cx="0" cy="0"/>
          <a:chOff x="0" y="0"/>
          <a:chExt cx="0" cy="0"/>
        </a:xfrm>
      </p:grpSpPr>
      <p:sp>
        <p:nvSpPr>
          <p:cNvPr id="2" name="幻灯片图像占位符 1">
            <a:extLst>
              <a:ext uri="{FF2B5EF4-FFF2-40B4-BE49-F238E27FC236}">
                <a16:creationId xmlns="" xmlns:a16="http://schemas.microsoft.com/office/drawing/2014/main" id="{2D444830-BA78-1CD7-FDDB-D92BA4D2995B}"/>
              </a:ext>
            </a:extLst>
          </p:cNvPr>
          <p:cNvSpPr>
            <a:spLocks noGrp="1" noRot="1" noChangeAspect="1"/>
          </p:cNvSpPr>
          <p:nvPr>
            <p:ph type="sldImg"/>
          </p:nvPr>
        </p:nvSpPr>
        <p:spPr/>
      </p:sp>
      <p:sp>
        <p:nvSpPr>
          <p:cNvPr id="3" name="备注占位符 2">
            <a:extLst>
              <a:ext uri="{FF2B5EF4-FFF2-40B4-BE49-F238E27FC236}">
                <a16:creationId xmlns="" xmlns:a16="http://schemas.microsoft.com/office/drawing/2014/main" id="{7469A4A5-C9C1-83CE-52AB-0520D18945D8}"/>
              </a:ext>
            </a:extLst>
          </p:cNvPr>
          <p:cNvSpPr>
            <a:spLocks noGrp="1"/>
          </p:cNvSpPr>
          <p:nvPr>
            <p:ph type="body" idx="1"/>
          </p:nvPr>
        </p:nvSpPr>
        <p:spPr/>
        <p:txBody>
          <a:bodyPr/>
          <a:lstStyle/>
          <a:p>
            <a:endParaRPr lang="zh-CN" dirty="0"/>
          </a:p>
          <a:p>
            <a:endParaRPr lang="zh-CN" dirty="0"/>
          </a:p>
          <a:p>
            <a:endParaRPr lang="zh-CN" dirty="0"/>
          </a:p>
          <a:p>
            <a:endParaRPr lang="zh-CN" dirty="0"/>
          </a:p>
        </p:txBody>
      </p:sp>
      <p:sp>
        <p:nvSpPr>
          <p:cNvPr id="4" name="灯片编号占位符 3">
            <a:extLst>
              <a:ext uri="{FF2B5EF4-FFF2-40B4-BE49-F238E27FC236}">
                <a16:creationId xmlns="" xmlns:a16="http://schemas.microsoft.com/office/drawing/2014/main" id="{F338DF29-DD0C-CF2A-A9C5-8BFC4A015344}"/>
              </a:ext>
            </a:extLst>
          </p:cNvPr>
          <p:cNvSpPr>
            <a:spLocks noGrp="1"/>
          </p:cNvSpPr>
          <p:nvPr>
            <p:ph type="sldNum" sz="quarter" idx="10"/>
          </p:nvPr>
        </p:nvSpPr>
        <p:spPr/>
        <p:txBody>
          <a:bodyPr/>
          <a:lstStyle/>
          <a:p>
            <a:fld id="{D96642B7-71B7-4C3E-9855-0D0DE388A056}" type="slidenum">
              <a:rPr lang="zh-CN" altLang="en-US" smtClean="0"/>
              <a:t>18</a:t>
            </a:fld>
            <a:endParaRPr lang="zh-CN" altLang="en-US"/>
          </a:p>
        </p:txBody>
      </p:sp>
    </p:spTree>
    <p:extLst>
      <p:ext uri="{BB962C8B-B14F-4D97-AF65-F5344CB8AC3E}">
        <p14:creationId xmlns:p14="http://schemas.microsoft.com/office/powerpoint/2010/main" val="28046502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C313052-C8BF-76DC-39DF-6A1D7A4CE559}"/>
            </a:ext>
          </a:extLst>
        </p:cNvPr>
        <p:cNvGrpSpPr/>
        <p:nvPr/>
      </p:nvGrpSpPr>
      <p:grpSpPr>
        <a:xfrm>
          <a:off x="0" y="0"/>
          <a:ext cx="0" cy="0"/>
          <a:chOff x="0" y="0"/>
          <a:chExt cx="0" cy="0"/>
        </a:xfrm>
      </p:grpSpPr>
      <p:sp>
        <p:nvSpPr>
          <p:cNvPr id="2" name="幻灯片图像占位符 1">
            <a:extLst>
              <a:ext uri="{FF2B5EF4-FFF2-40B4-BE49-F238E27FC236}">
                <a16:creationId xmlns="" xmlns:a16="http://schemas.microsoft.com/office/drawing/2014/main" id="{3BDBECFE-92E9-6936-D675-D8A0C5913CFA}"/>
              </a:ext>
            </a:extLst>
          </p:cNvPr>
          <p:cNvSpPr>
            <a:spLocks noGrp="1" noRot="1" noChangeAspect="1"/>
          </p:cNvSpPr>
          <p:nvPr>
            <p:ph type="sldImg"/>
          </p:nvPr>
        </p:nvSpPr>
        <p:spPr/>
      </p:sp>
      <p:sp>
        <p:nvSpPr>
          <p:cNvPr id="3" name="备注占位符 2">
            <a:extLst>
              <a:ext uri="{FF2B5EF4-FFF2-40B4-BE49-F238E27FC236}">
                <a16:creationId xmlns="" xmlns:a16="http://schemas.microsoft.com/office/drawing/2014/main" id="{C445F9F4-1F11-A50A-E429-97A66FB73225}"/>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sz="1200" dirty="0">
              <a:latin typeface="华文楷体" panose="02010600040101010101" pitchFamily="2" charset="-122"/>
              <a:ea typeface="华文楷体" panose="02010600040101010101" pitchFamily="2" charset="-122"/>
            </a:endParaRPr>
          </a:p>
        </p:txBody>
      </p:sp>
      <p:sp>
        <p:nvSpPr>
          <p:cNvPr id="4" name="灯片编号占位符 3">
            <a:extLst>
              <a:ext uri="{FF2B5EF4-FFF2-40B4-BE49-F238E27FC236}">
                <a16:creationId xmlns="" xmlns:a16="http://schemas.microsoft.com/office/drawing/2014/main" id="{32D18AEB-9D89-F929-837F-350907E70D8C}"/>
              </a:ext>
            </a:extLst>
          </p:cNvPr>
          <p:cNvSpPr>
            <a:spLocks noGrp="1"/>
          </p:cNvSpPr>
          <p:nvPr>
            <p:ph type="sldNum" sz="quarter" idx="10"/>
          </p:nvPr>
        </p:nvSpPr>
        <p:spPr/>
        <p:txBody>
          <a:bodyPr/>
          <a:lstStyle/>
          <a:p>
            <a:fld id="{D96642B7-71B7-4C3E-9855-0D0DE388A056}" type="slidenum">
              <a:rPr lang="zh-CN" altLang="en-US" smtClean="0"/>
              <a:t>19</a:t>
            </a:fld>
            <a:endParaRPr lang="zh-CN" altLang="en-US"/>
          </a:p>
        </p:txBody>
      </p:sp>
    </p:spTree>
    <p:extLst>
      <p:ext uri="{BB962C8B-B14F-4D97-AF65-F5344CB8AC3E}">
        <p14:creationId xmlns:p14="http://schemas.microsoft.com/office/powerpoint/2010/main" val="25290737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50A14B2-7840-26D5-ECC6-2C2494639757}"/>
            </a:ext>
          </a:extLst>
        </p:cNvPr>
        <p:cNvGrpSpPr/>
        <p:nvPr/>
      </p:nvGrpSpPr>
      <p:grpSpPr>
        <a:xfrm>
          <a:off x="0" y="0"/>
          <a:ext cx="0" cy="0"/>
          <a:chOff x="0" y="0"/>
          <a:chExt cx="0" cy="0"/>
        </a:xfrm>
      </p:grpSpPr>
      <p:sp>
        <p:nvSpPr>
          <p:cNvPr id="2" name="幻灯片图像占位符 1">
            <a:extLst>
              <a:ext uri="{FF2B5EF4-FFF2-40B4-BE49-F238E27FC236}">
                <a16:creationId xmlns="" xmlns:a16="http://schemas.microsoft.com/office/drawing/2014/main" id="{611279E3-0234-D703-167D-57EBB530F270}"/>
              </a:ext>
            </a:extLst>
          </p:cNvPr>
          <p:cNvSpPr>
            <a:spLocks noGrp="1" noRot="1" noChangeAspect="1"/>
          </p:cNvSpPr>
          <p:nvPr>
            <p:ph type="sldImg"/>
          </p:nvPr>
        </p:nvSpPr>
        <p:spPr/>
      </p:sp>
      <p:sp>
        <p:nvSpPr>
          <p:cNvPr id="3" name="备注占位符 2">
            <a:extLst>
              <a:ext uri="{FF2B5EF4-FFF2-40B4-BE49-F238E27FC236}">
                <a16:creationId xmlns="" xmlns:a16="http://schemas.microsoft.com/office/drawing/2014/main" id="{B7CDA78B-AAC0-027F-B983-B8E458B34763}"/>
              </a:ext>
            </a:extLst>
          </p:cNvPr>
          <p:cNvSpPr>
            <a:spLocks noGrp="1"/>
          </p:cNvSpPr>
          <p:nvPr>
            <p:ph type="body" idx="1"/>
          </p:nvPr>
        </p:nvSpPr>
        <p:spPr/>
        <p:txBody>
          <a:bodyPr/>
          <a:lstStyle/>
          <a:p>
            <a:endParaRPr lang="zh-CN" dirty="0"/>
          </a:p>
          <a:p>
            <a:endParaRPr lang="zh-CN" dirty="0"/>
          </a:p>
          <a:p>
            <a:endParaRPr lang="zh-CN" dirty="0"/>
          </a:p>
          <a:p>
            <a:endParaRPr lang="zh-CN" dirty="0"/>
          </a:p>
        </p:txBody>
      </p:sp>
      <p:sp>
        <p:nvSpPr>
          <p:cNvPr id="4" name="灯片编号占位符 3">
            <a:extLst>
              <a:ext uri="{FF2B5EF4-FFF2-40B4-BE49-F238E27FC236}">
                <a16:creationId xmlns="" xmlns:a16="http://schemas.microsoft.com/office/drawing/2014/main" id="{0EBAA1AC-6D2C-34B8-2A22-9E6C251B63C0}"/>
              </a:ext>
            </a:extLst>
          </p:cNvPr>
          <p:cNvSpPr>
            <a:spLocks noGrp="1"/>
          </p:cNvSpPr>
          <p:nvPr>
            <p:ph type="sldNum" sz="quarter" idx="10"/>
          </p:nvPr>
        </p:nvSpPr>
        <p:spPr/>
        <p:txBody>
          <a:bodyPr/>
          <a:lstStyle/>
          <a:p>
            <a:fld id="{D96642B7-71B7-4C3E-9855-0D0DE388A056}" type="slidenum">
              <a:rPr lang="zh-CN" altLang="en-US" smtClean="0"/>
              <a:t>20</a:t>
            </a:fld>
            <a:endParaRPr lang="zh-CN" altLang="en-US"/>
          </a:p>
        </p:txBody>
      </p:sp>
    </p:spTree>
    <p:extLst>
      <p:ext uri="{BB962C8B-B14F-4D97-AF65-F5344CB8AC3E}">
        <p14:creationId xmlns:p14="http://schemas.microsoft.com/office/powerpoint/2010/main" val="1886580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21</a:t>
            </a:fld>
            <a:endParaRPr lang="zh-CN" altLang="en-US"/>
          </a:p>
        </p:txBody>
      </p:sp>
    </p:spTree>
    <p:extLst>
      <p:ext uri="{BB962C8B-B14F-4D97-AF65-F5344CB8AC3E}">
        <p14:creationId xmlns:p14="http://schemas.microsoft.com/office/powerpoint/2010/main" val="113154120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69E56C8-E57A-3BDC-BAAA-4D6E0B3AC836}"/>
            </a:ext>
          </a:extLst>
        </p:cNvPr>
        <p:cNvGrpSpPr/>
        <p:nvPr/>
      </p:nvGrpSpPr>
      <p:grpSpPr>
        <a:xfrm>
          <a:off x="0" y="0"/>
          <a:ext cx="0" cy="0"/>
          <a:chOff x="0" y="0"/>
          <a:chExt cx="0" cy="0"/>
        </a:xfrm>
      </p:grpSpPr>
      <p:sp>
        <p:nvSpPr>
          <p:cNvPr id="2" name="幻灯片图像占位符 1">
            <a:extLst>
              <a:ext uri="{FF2B5EF4-FFF2-40B4-BE49-F238E27FC236}">
                <a16:creationId xmlns="" xmlns:a16="http://schemas.microsoft.com/office/drawing/2014/main" id="{D90D4530-AF9E-6C31-19EB-A19698040BB5}"/>
              </a:ext>
            </a:extLst>
          </p:cNvPr>
          <p:cNvSpPr>
            <a:spLocks noGrp="1" noRot="1" noChangeAspect="1"/>
          </p:cNvSpPr>
          <p:nvPr>
            <p:ph type="sldImg"/>
          </p:nvPr>
        </p:nvSpPr>
        <p:spPr/>
      </p:sp>
      <p:sp>
        <p:nvSpPr>
          <p:cNvPr id="3" name="备注占位符 2">
            <a:extLst>
              <a:ext uri="{FF2B5EF4-FFF2-40B4-BE49-F238E27FC236}">
                <a16:creationId xmlns="" xmlns:a16="http://schemas.microsoft.com/office/drawing/2014/main" id="{BFE4FDD0-5FA1-780F-FBE6-A44A9B149616}"/>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a:extLst>
              <a:ext uri="{FF2B5EF4-FFF2-40B4-BE49-F238E27FC236}">
                <a16:creationId xmlns="" xmlns:a16="http://schemas.microsoft.com/office/drawing/2014/main" id="{06991240-3D91-1AAD-4FFD-7C2BA53CA6FA}"/>
              </a:ext>
            </a:extLst>
          </p:cNvPr>
          <p:cNvSpPr>
            <a:spLocks noGrp="1"/>
          </p:cNvSpPr>
          <p:nvPr>
            <p:ph type="sldNum" sz="quarter" idx="10"/>
          </p:nvPr>
        </p:nvSpPr>
        <p:spPr/>
        <p:txBody>
          <a:bodyPr/>
          <a:lstStyle/>
          <a:p>
            <a:fld id="{D96642B7-71B7-4C3E-9855-0D0DE388A056}" type="slidenum">
              <a:rPr lang="zh-CN" altLang="en-US" smtClean="0"/>
              <a:t>22</a:t>
            </a:fld>
            <a:endParaRPr lang="zh-CN" altLang="en-US"/>
          </a:p>
        </p:txBody>
      </p:sp>
    </p:spTree>
    <p:extLst>
      <p:ext uri="{BB962C8B-B14F-4D97-AF65-F5344CB8AC3E}">
        <p14:creationId xmlns:p14="http://schemas.microsoft.com/office/powerpoint/2010/main" val="24224421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D2B53E3-1F39-1549-E122-48DF2D3C44ED}"/>
            </a:ext>
          </a:extLst>
        </p:cNvPr>
        <p:cNvGrpSpPr/>
        <p:nvPr/>
      </p:nvGrpSpPr>
      <p:grpSpPr>
        <a:xfrm>
          <a:off x="0" y="0"/>
          <a:ext cx="0" cy="0"/>
          <a:chOff x="0" y="0"/>
          <a:chExt cx="0" cy="0"/>
        </a:xfrm>
      </p:grpSpPr>
      <p:sp>
        <p:nvSpPr>
          <p:cNvPr id="2" name="幻灯片图像占位符 1">
            <a:extLst>
              <a:ext uri="{FF2B5EF4-FFF2-40B4-BE49-F238E27FC236}">
                <a16:creationId xmlns="" xmlns:a16="http://schemas.microsoft.com/office/drawing/2014/main" id="{0BA0B599-49F2-8CA4-D009-ACAE0E07AC32}"/>
              </a:ext>
            </a:extLst>
          </p:cNvPr>
          <p:cNvSpPr>
            <a:spLocks noGrp="1" noRot="1" noChangeAspect="1"/>
          </p:cNvSpPr>
          <p:nvPr>
            <p:ph type="sldImg"/>
          </p:nvPr>
        </p:nvSpPr>
        <p:spPr/>
      </p:sp>
      <p:sp>
        <p:nvSpPr>
          <p:cNvPr id="3" name="备注占位符 2">
            <a:extLst>
              <a:ext uri="{FF2B5EF4-FFF2-40B4-BE49-F238E27FC236}">
                <a16:creationId xmlns="" xmlns:a16="http://schemas.microsoft.com/office/drawing/2014/main" id="{FF3687F8-A292-CF71-DE05-C1CAAE11E445}"/>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a:extLst>
              <a:ext uri="{FF2B5EF4-FFF2-40B4-BE49-F238E27FC236}">
                <a16:creationId xmlns="" xmlns:a16="http://schemas.microsoft.com/office/drawing/2014/main" id="{57D8FAA8-1649-0101-A37B-B5C6F7312860}"/>
              </a:ext>
            </a:extLst>
          </p:cNvPr>
          <p:cNvSpPr>
            <a:spLocks noGrp="1"/>
          </p:cNvSpPr>
          <p:nvPr>
            <p:ph type="sldNum" sz="quarter" idx="10"/>
          </p:nvPr>
        </p:nvSpPr>
        <p:spPr/>
        <p:txBody>
          <a:bodyPr/>
          <a:lstStyle/>
          <a:p>
            <a:fld id="{D96642B7-71B7-4C3E-9855-0D0DE388A056}" type="slidenum">
              <a:rPr lang="zh-CN" altLang="en-US" smtClean="0"/>
              <a:t>23</a:t>
            </a:fld>
            <a:endParaRPr lang="zh-CN" altLang="en-US"/>
          </a:p>
        </p:txBody>
      </p:sp>
    </p:spTree>
    <p:extLst>
      <p:ext uri="{BB962C8B-B14F-4D97-AF65-F5344CB8AC3E}">
        <p14:creationId xmlns:p14="http://schemas.microsoft.com/office/powerpoint/2010/main" val="42433255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B76DEFC-CEB7-857E-0424-3F332B266548}"/>
            </a:ext>
          </a:extLst>
        </p:cNvPr>
        <p:cNvGrpSpPr/>
        <p:nvPr/>
      </p:nvGrpSpPr>
      <p:grpSpPr>
        <a:xfrm>
          <a:off x="0" y="0"/>
          <a:ext cx="0" cy="0"/>
          <a:chOff x="0" y="0"/>
          <a:chExt cx="0" cy="0"/>
        </a:xfrm>
      </p:grpSpPr>
      <p:sp>
        <p:nvSpPr>
          <p:cNvPr id="2" name="幻灯片图像占位符 1">
            <a:extLst>
              <a:ext uri="{FF2B5EF4-FFF2-40B4-BE49-F238E27FC236}">
                <a16:creationId xmlns="" xmlns:a16="http://schemas.microsoft.com/office/drawing/2014/main" id="{D3B91689-A2E5-0031-14CC-1E4142026081}"/>
              </a:ext>
            </a:extLst>
          </p:cNvPr>
          <p:cNvSpPr>
            <a:spLocks noGrp="1" noRot="1" noChangeAspect="1"/>
          </p:cNvSpPr>
          <p:nvPr>
            <p:ph type="sldImg"/>
          </p:nvPr>
        </p:nvSpPr>
        <p:spPr/>
      </p:sp>
      <p:sp>
        <p:nvSpPr>
          <p:cNvPr id="3" name="备注占位符 2">
            <a:extLst>
              <a:ext uri="{FF2B5EF4-FFF2-40B4-BE49-F238E27FC236}">
                <a16:creationId xmlns="" xmlns:a16="http://schemas.microsoft.com/office/drawing/2014/main" id="{3A1A81B0-C988-C9AB-128B-57102918C8A5}"/>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a:extLst>
              <a:ext uri="{FF2B5EF4-FFF2-40B4-BE49-F238E27FC236}">
                <a16:creationId xmlns="" xmlns:a16="http://schemas.microsoft.com/office/drawing/2014/main" id="{D82D57CA-49D3-C70F-2A74-7D7444A2C217}"/>
              </a:ext>
            </a:extLst>
          </p:cNvPr>
          <p:cNvSpPr>
            <a:spLocks noGrp="1"/>
          </p:cNvSpPr>
          <p:nvPr>
            <p:ph type="sldNum" sz="quarter" idx="10"/>
          </p:nvPr>
        </p:nvSpPr>
        <p:spPr/>
        <p:txBody>
          <a:bodyPr/>
          <a:lstStyle/>
          <a:p>
            <a:fld id="{D96642B7-71B7-4C3E-9855-0D0DE388A056}" type="slidenum">
              <a:rPr lang="zh-CN" altLang="en-US" smtClean="0"/>
              <a:t>24</a:t>
            </a:fld>
            <a:endParaRPr lang="zh-CN" altLang="en-US"/>
          </a:p>
        </p:txBody>
      </p:sp>
    </p:spTree>
    <p:extLst>
      <p:ext uri="{BB962C8B-B14F-4D97-AF65-F5344CB8AC3E}">
        <p14:creationId xmlns:p14="http://schemas.microsoft.com/office/powerpoint/2010/main" val="39763014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25</a:t>
            </a:fld>
            <a:endParaRPr lang="zh-CN" altLang="en-US"/>
          </a:p>
        </p:txBody>
      </p:sp>
    </p:spTree>
    <p:extLst>
      <p:ext uri="{BB962C8B-B14F-4D97-AF65-F5344CB8AC3E}">
        <p14:creationId xmlns:p14="http://schemas.microsoft.com/office/powerpoint/2010/main" val="35087793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26</a:t>
            </a:fld>
            <a:endParaRPr lang="zh-CN" altLang="en-US"/>
          </a:p>
        </p:txBody>
      </p:sp>
    </p:spTree>
    <p:extLst>
      <p:ext uri="{BB962C8B-B14F-4D97-AF65-F5344CB8AC3E}">
        <p14:creationId xmlns:p14="http://schemas.microsoft.com/office/powerpoint/2010/main" val="24004422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27</a:t>
            </a:fld>
            <a:endParaRPr lang="zh-CN" altLang="en-US"/>
          </a:p>
        </p:txBody>
      </p:sp>
    </p:spTree>
    <p:extLst>
      <p:ext uri="{BB962C8B-B14F-4D97-AF65-F5344CB8AC3E}">
        <p14:creationId xmlns:p14="http://schemas.microsoft.com/office/powerpoint/2010/main" val="13285523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28</a:t>
            </a:fld>
            <a:endParaRPr lang="zh-CN" altLang="en-US"/>
          </a:p>
        </p:txBody>
      </p:sp>
    </p:spTree>
    <p:extLst>
      <p:ext uri="{BB962C8B-B14F-4D97-AF65-F5344CB8AC3E}">
        <p14:creationId xmlns:p14="http://schemas.microsoft.com/office/powerpoint/2010/main" val="26326653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1597819"/>
            <a:ext cx="7772400" cy="1102519"/>
          </a:xfrm>
        </p:spPr>
        <p:txBody>
          <a:bodyPr/>
          <a:lstStyle/>
          <a:p>
            <a:r>
              <a:rPr lang="zh-CN" altLang="en-US"/>
              <a:t>单击此处编辑母版标题样式</a:t>
            </a:r>
          </a:p>
        </p:txBody>
      </p:sp>
      <p:sp>
        <p:nvSpPr>
          <p:cNvPr id="3" name="副标题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3305176"/>
            <a:ext cx="7772400" cy="1021556"/>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04787"/>
            <a:ext cx="3008313" cy="871538"/>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3600450"/>
            <a:ext cx="5486400" cy="425054"/>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05979"/>
            <a:ext cx="2057400" cy="4388644"/>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05979"/>
            <a:ext cx="6019800" cy="4388644"/>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2026/8/10</a:t>
            </a:fld>
            <a:endParaRPr lang="zh-CN" altLang="en-US"/>
          </a:p>
        </p:txBody>
      </p:sp>
      <p:sp>
        <p:nvSpPr>
          <p:cNvPr id="5" name="页脚占位符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ags" Target="../tags/tag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tags" Target="../tags/tag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ags" Target="../tags/tag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ags" Target="../tags/tag5.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tags" Target="../tags/tag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tags" Target="../tags/tag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tags" Target="../tags/tag8.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7.xml"/><Relationship Id="rId1" Type="http://schemas.openxmlformats.org/officeDocument/2006/relationships/tags" Target="../tags/tag9.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7.xml"/><Relationship Id="rId1" Type="http://schemas.openxmlformats.org/officeDocument/2006/relationships/tags" Target="../tags/tag10.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7.xml"/><Relationship Id="rId1" Type="http://schemas.openxmlformats.org/officeDocument/2006/relationships/tags" Target="../tags/tag11.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7.xml"/><Relationship Id="rId1" Type="http://schemas.openxmlformats.org/officeDocument/2006/relationships/tags" Target="../tags/tag12.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框 18"/>
          <p:cNvSpPr txBox="1"/>
          <p:nvPr/>
        </p:nvSpPr>
        <p:spPr>
          <a:xfrm>
            <a:off x="1416155" y="1676952"/>
            <a:ext cx="6330459" cy="899160"/>
          </a:xfrm>
          <a:prstGeom prst="rect">
            <a:avLst/>
          </a:prstGeom>
          <a:noFill/>
        </p:spPr>
        <p:txBody>
          <a:bodyPr wrap="square" lIns="68580" tIns="34290" rIns="68580" bIns="34290">
            <a:spAutoFit/>
          </a:bodyPr>
          <a:lstStyle/>
          <a:p>
            <a:pPr algn="ctr">
              <a:defRPr/>
            </a:pPr>
            <a:r>
              <a:rPr lang="zh-CN" altLang="en-US" sz="2700" b="1" spc="225" dirty="0">
                <a:solidFill>
                  <a:srgbClr val="044875"/>
                </a:solidFill>
                <a:latin typeface="微软雅黑" panose="020B0503020204020204" pitchFamily="34" charset="-122"/>
                <a:ea typeface="微软雅黑" panose="020B0503020204020204" pitchFamily="34" charset="-122"/>
              </a:rPr>
              <a:t>工业互联网环境下异构柔性作业车间无冲突调度的协同优化及抗扰性研究</a:t>
            </a:r>
            <a:endParaRPr lang="zh-CN" altLang="en-US" sz="2700" b="1" spc="225" dirty="0">
              <a:solidFill>
                <a:srgbClr val="044875"/>
              </a:solidFill>
              <a:latin typeface="微软雅黑" panose="020B0503020204020204" pitchFamily="34" charset="-122"/>
              <a:ea typeface="微软雅黑" panose="020B0503020204020204" pitchFamily="34" charset="-122"/>
            </a:endParaRPr>
          </a:p>
        </p:txBody>
      </p:sp>
      <p:sp>
        <p:nvSpPr>
          <p:cNvPr id="9" name="矩形 8"/>
          <p:cNvSpPr/>
          <p:nvPr/>
        </p:nvSpPr>
        <p:spPr>
          <a:xfrm>
            <a:off x="1189936" y="1233512"/>
            <a:ext cx="6717506" cy="1787129"/>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grpSp>
        <p:nvGrpSpPr>
          <p:cNvPr id="43" name="组合 42"/>
          <p:cNvGrpSpPr/>
          <p:nvPr/>
        </p:nvGrpSpPr>
        <p:grpSpPr bwMode="auto">
          <a:xfrm>
            <a:off x="7707418" y="2784897"/>
            <a:ext cx="832247" cy="847725"/>
            <a:chOff x="2666985" y="682103"/>
            <a:chExt cx="1109138" cy="1131217"/>
          </a:xfrm>
        </p:grpSpPr>
        <p:sp>
          <p:nvSpPr>
            <p:cNvPr id="40" name="矩形 39"/>
            <p:cNvSpPr/>
            <p:nvPr/>
          </p:nvSpPr>
          <p:spPr>
            <a:xfrm>
              <a:off x="2841527" y="858458"/>
              <a:ext cx="769574" cy="768973"/>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1" name="矩形 40"/>
            <p:cNvSpPr/>
            <p:nvPr/>
          </p:nvSpPr>
          <p:spPr>
            <a:xfrm>
              <a:off x="2666985" y="682103"/>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2" name="矩形 41"/>
            <p:cNvSpPr/>
            <p:nvPr/>
          </p:nvSpPr>
          <p:spPr>
            <a:xfrm>
              <a:off x="3217587" y="1254067"/>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grpSp>
        <p:nvGrpSpPr>
          <p:cNvPr id="44" name="组合 43"/>
          <p:cNvGrpSpPr/>
          <p:nvPr/>
        </p:nvGrpSpPr>
        <p:grpSpPr bwMode="auto">
          <a:xfrm>
            <a:off x="583908" y="637012"/>
            <a:ext cx="832247" cy="848915"/>
            <a:chOff x="2666985" y="682103"/>
            <a:chExt cx="1109138" cy="1131217"/>
          </a:xfrm>
        </p:grpSpPr>
        <p:sp>
          <p:nvSpPr>
            <p:cNvPr id="45" name="矩形 44"/>
            <p:cNvSpPr/>
            <p:nvPr/>
          </p:nvSpPr>
          <p:spPr>
            <a:xfrm>
              <a:off x="2841528" y="858211"/>
              <a:ext cx="769573" cy="76948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6" name="矩形 45"/>
            <p:cNvSpPr/>
            <p:nvPr/>
          </p:nvSpPr>
          <p:spPr>
            <a:xfrm>
              <a:off x="2666985" y="682103"/>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7" name="矩形 46"/>
            <p:cNvSpPr/>
            <p:nvPr/>
          </p:nvSpPr>
          <p:spPr>
            <a:xfrm>
              <a:off x="3217587" y="1254851"/>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sp>
        <p:nvSpPr>
          <p:cNvPr id="49" name="矩形 48"/>
          <p:cNvSpPr/>
          <p:nvPr/>
        </p:nvSpPr>
        <p:spPr>
          <a:xfrm>
            <a:off x="0" y="-9525"/>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0" name="文本框 9"/>
          <p:cNvSpPr txBox="1"/>
          <p:nvPr/>
        </p:nvSpPr>
        <p:spPr>
          <a:xfrm>
            <a:off x="3251738" y="992973"/>
            <a:ext cx="2640524" cy="346249"/>
          </a:xfrm>
          <a:prstGeom prst="rect">
            <a:avLst/>
          </a:prstGeom>
          <a:blipFill dpi="0" rotWithShape="1">
            <a:blip r:embed="rId3" cstate="screen"/>
            <a:srcRect/>
            <a:stretch>
              <a:fillRect/>
            </a:stretch>
          </a:blipFill>
        </p:spPr>
        <p:txBody>
          <a:bodyPr wrap="square" lIns="68580" tIns="34290" rIns="68580" bIns="34290">
            <a:spAutoFit/>
          </a:bodyPr>
          <a:lstStyle/>
          <a:p>
            <a:r>
              <a:rPr lang="zh-CN" altLang="en-US" b="1" dirty="0">
                <a:solidFill>
                  <a:srgbClr val="3B3838"/>
                </a:solidFill>
                <a:latin typeface="微软雅黑" panose="020B0503020204020204" pitchFamily="34" charset="-122"/>
                <a:ea typeface="微软雅黑" panose="020B0503020204020204" pitchFamily="34" charset="-122"/>
              </a:rPr>
              <a:t>博士学位论文开题报告</a:t>
            </a:r>
          </a:p>
        </p:txBody>
      </p:sp>
      <p:sp>
        <p:nvSpPr>
          <p:cNvPr id="30" name="矩形 29"/>
          <p:cNvSpPr/>
          <p:nvPr/>
        </p:nvSpPr>
        <p:spPr>
          <a:xfrm>
            <a:off x="0" y="4863703"/>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1" name="矩形 30"/>
          <p:cNvSpPr/>
          <p:nvPr/>
        </p:nvSpPr>
        <p:spPr>
          <a:xfrm>
            <a:off x="2307339" y="3069893"/>
            <a:ext cx="4282676" cy="851323"/>
          </a:xfrm>
          <a:prstGeom prst="rect">
            <a:avLst/>
          </a:prstGeom>
        </p:spPr>
        <p:txBody>
          <a:bodyPr wrap="square" lIns="68580" tIns="34290" rIns="68580" bIns="34290">
            <a:spAutoFit/>
          </a:bodyPr>
          <a:lstStyle/>
          <a:p>
            <a:pPr algn="ctr">
              <a:lnSpc>
                <a:spcPct val="150000"/>
              </a:lnSpc>
            </a:pPr>
            <a:r>
              <a:rPr lang="zh-CN" altLang="en-US" b="1"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博士</a:t>
            </a:r>
            <a:r>
              <a:rPr lang="zh-CN" altLang="zh-CN" b="1"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研究生：</a:t>
            </a:r>
            <a:r>
              <a:rPr lang="zh-CN" altLang="en-US" b="1"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于琪</a:t>
            </a:r>
            <a:endParaRPr lang="zh-CN" altLang="zh-CN"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endParaRPr>
          </a:p>
          <a:p>
            <a:pPr algn="ctr">
              <a:lnSpc>
                <a:spcPct val="150000"/>
              </a:lnSpc>
            </a:pPr>
            <a:r>
              <a:rPr lang="zh-CN"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指导教师：</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杨明教授 李伟</a:t>
            </a:r>
            <a:r>
              <a:rPr lang="zh-CN"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教授</a:t>
            </a:r>
            <a:endParaRPr lang="zh-CN" altLang="en-US" dirty="0">
              <a:solidFill>
                <a:srgbClr val="3B3838"/>
              </a:solidFill>
              <a:latin typeface="微软雅黑" panose="020B0503020204020204" pitchFamily="34" charset="-122"/>
              <a:ea typeface="微软雅黑" panose="020B0503020204020204" pitchFamily="34" charset="-122"/>
            </a:endParaRPr>
          </a:p>
        </p:txBody>
      </p:sp>
      <p:sp>
        <p:nvSpPr>
          <p:cNvPr id="32" name="矩形 31"/>
          <p:cNvSpPr/>
          <p:nvPr/>
        </p:nvSpPr>
        <p:spPr>
          <a:xfrm>
            <a:off x="3728499" y="4078597"/>
            <a:ext cx="1829668" cy="346249"/>
          </a:xfrm>
          <a:prstGeom prst="rect">
            <a:avLst/>
          </a:prstGeom>
        </p:spPr>
        <p:txBody>
          <a:bodyPr wrap="none" lIns="68580" tIns="34290" rIns="68580" bIns="34290">
            <a:spAutoFit/>
          </a:bodyPr>
          <a:lstStyle/>
          <a:p>
            <a:r>
              <a:rPr lang="en-US"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2026</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年</a:t>
            </a:r>
            <a:r>
              <a:rPr lang="en-US"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6</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月</a:t>
            </a:r>
            <a:r>
              <a:rPr lang="en-US"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29</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日</a:t>
            </a:r>
            <a:endParaRPr lang="zh-CN" altLang="en-US" b="1" dirty="0">
              <a:solidFill>
                <a:srgbClr val="3B3838"/>
              </a:solidFill>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83514" y="3203052"/>
            <a:ext cx="614086" cy="617940"/>
          </a:xfrm>
          <a:prstGeom prst="rect">
            <a:avLst/>
          </a:prstGeom>
        </p:spPr>
      </p:pic>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9525"/>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cxnSp>
        <p:nvCxnSpPr>
          <p:cNvPr id="108" name="直接连接符 107"/>
          <p:cNvCxnSpPr/>
          <p:nvPr/>
        </p:nvCxnSpPr>
        <p:spPr>
          <a:xfrm flipH="1">
            <a:off x="150055" y="884292"/>
            <a:ext cx="990230" cy="1"/>
          </a:xfrm>
          <a:prstGeom prst="line">
            <a:avLst/>
          </a:prstGeom>
          <a:ln w="19050">
            <a:solidFill>
              <a:schemeClr val="bg2">
                <a:lumMod val="25000"/>
              </a:schemeClr>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sp>
        <p:nvSpPr>
          <p:cNvPr id="6" name="矩形 5"/>
          <p:cNvSpPr/>
          <p:nvPr/>
        </p:nvSpPr>
        <p:spPr>
          <a:xfrm>
            <a:off x="118129" y="363193"/>
            <a:ext cx="907941" cy="530915"/>
          </a:xfrm>
          <a:prstGeom prst="rect">
            <a:avLst/>
          </a:prstGeom>
        </p:spPr>
        <p:txBody>
          <a:bodyPr wrap="none" lIns="68580" tIns="34290" rIns="68580" bIns="34290">
            <a:spAutoFit/>
          </a:bodyPr>
          <a:lstStyle/>
          <a:p>
            <a:r>
              <a:rPr lang="zh-CN" altLang="en-US" sz="3000" b="1" dirty="0">
                <a:solidFill>
                  <a:srgbClr val="044875"/>
                </a:solidFill>
                <a:latin typeface="微软雅黑" panose="020B0503020204020204" pitchFamily="34" charset="-122"/>
                <a:ea typeface="微软雅黑" panose="020B0503020204020204" pitchFamily="34" charset="-122"/>
              </a:rPr>
              <a:t>目录</a:t>
            </a:r>
          </a:p>
        </p:txBody>
      </p:sp>
      <p:grpSp>
        <p:nvGrpSpPr>
          <p:cNvPr id="10" name="组合 9"/>
          <p:cNvGrpSpPr/>
          <p:nvPr/>
        </p:nvGrpSpPr>
        <p:grpSpPr>
          <a:xfrm>
            <a:off x="1853723" y="907827"/>
            <a:ext cx="5110329" cy="737730"/>
            <a:chOff x="2471630" y="1210436"/>
            <a:chExt cx="6813772" cy="983640"/>
          </a:xfrm>
        </p:grpSpPr>
        <p:sp>
          <p:nvSpPr>
            <p:cNvPr id="4156" name="文本框 20"/>
            <p:cNvSpPr txBox="1">
              <a:spLocks noChangeArrowheads="1"/>
            </p:cNvSpPr>
            <p:nvPr/>
          </p:nvSpPr>
          <p:spPr bwMode="auto">
            <a:xfrm>
              <a:off x="4815477" y="1449495"/>
              <a:ext cx="3734224"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研究背景与研究现状</a:t>
              </a:r>
            </a:p>
          </p:txBody>
        </p:sp>
        <p:sp>
          <p:nvSpPr>
            <p:cNvPr id="18" name="矩形 17"/>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23" name="直接连接符 22"/>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4159" name="组合 68"/>
            <p:cNvGrpSpPr/>
            <p:nvPr/>
          </p:nvGrpSpPr>
          <p:grpSpPr bwMode="auto">
            <a:xfrm>
              <a:off x="2471630" y="1331575"/>
              <a:ext cx="919442" cy="712788"/>
              <a:chOff x="6191369" y="1397569"/>
              <a:chExt cx="919239" cy="712882"/>
            </a:xfrm>
          </p:grpSpPr>
          <p:sp>
            <p:nvSpPr>
              <p:cNvPr id="68" name="矩形 67"/>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161"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a:solidFill>
                      <a:srgbClr val="044875"/>
                    </a:solidFill>
                    <a:latin typeface="Impact" panose="020B0806030902050204" pitchFamily="34" charset="0"/>
                  </a:rPr>
                  <a:t>01</a:t>
                </a:r>
                <a:endParaRPr lang="zh-CN" altLang="en-US" sz="2700">
                  <a:solidFill>
                    <a:srgbClr val="044875"/>
                  </a:solidFill>
                  <a:latin typeface="Impact" panose="020B0806030902050204" pitchFamily="34" charset="0"/>
                </a:endParaRPr>
              </a:p>
            </p:txBody>
          </p:sp>
        </p:grpSp>
        <p:pic>
          <p:nvPicPr>
            <p:cNvPr id="69" name="图片 6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97256" y="1210436"/>
              <a:ext cx="983640" cy="983640"/>
            </a:xfrm>
            <a:prstGeom prst="rect">
              <a:avLst/>
            </a:prstGeom>
          </p:spPr>
        </p:pic>
      </p:grpSp>
      <p:grpSp>
        <p:nvGrpSpPr>
          <p:cNvPr id="94" name="组合 93"/>
          <p:cNvGrpSpPr/>
          <p:nvPr/>
        </p:nvGrpSpPr>
        <p:grpSpPr>
          <a:xfrm>
            <a:off x="1853725" y="2088686"/>
            <a:ext cx="5110329" cy="534591"/>
            <a:chOff x="2471630" y="1331575"/>
            <a:chExt cx="6813772" cy="712788"/>
          </a:xfrm>
        </p:grpSpPr>
        <p:sp>
          <p:nvSpPr>
            <p:cNvPr id="95" name="文本框 20"/>
            <p:cNvSpPr txBox="1">
              <a:spLocks noChangeArrowheads="1"/>
            </p:cNvSpPr>
            <p:nvPr/>
          </p:nvSpPr>
          <p:spPr bwMode="auto">
            <a:xfrm>
              <a:off x="4852773" y="1454602"/>
              <a:ext cx="3659632"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研究目标与研究内容</a:t>
              </a:r>
            </a:p>
          </p:txBody>
        </p:sp>
        <p:sp>
          <p:nvSpPr>
            <p:cNvPr id="96" name="矩形 95"/>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97" name="直接连接符 96"/>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98" name="组合 68"/>
            <p:cNvGrpSpPr/>
            <p:nvPr/>
          </p:nvGrpSpPr>
          <p:grpSpPr bwMode="auto">
            <a:xfrm>
              <a:off x="2471630" y="1331575"/>
              <a:ext cx="919442" cy="712788"/>
              <a:chOff x="6191369" y="1397569"/>
              <a:chExt cx="919239" cy="712882"/>
            </a:xfrm>
          </p:grpSpPr>
          <p:sp>
            <p:nvSpPr>
              <p:cNvPr id="99" name="矩形 98"/>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00"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dirty="0">
                    <a:solidFill>
                      <a:srgbClr val="044875"/>
                    </a:solidFill>
                    <a:latin typeface="Impact" panose="020B0806030902050204" pitchFamily="34" charset="0"/>
                  </a:rPr>
                  <a:t>02</a:t>
                </a:r>
                <a:endParaRPr lang="zh-CN" altLang="en-US" sz="2700" dirty="0">
                  <a:solidFill>
                    <a:srgbClr val="044875"/>
                  </a:solidFill>
                  <a:latin typeface="Impact" panose="020B0806030902050204" pitchFamily="34" charset="0"/>
                </a:endParaRPr>
              </a:p>
            </p:txBody>
          </p:sp>
        </p:grpSp>
      </p:grpSp>
      <p:sp>
        <p:nvSpPr>
          <p:cNvPr id="101" name="Freeform 306"/>
          <p:cNvSpPr>
            <a:spLocks noEditPoints="1"/>
          </p:cNvSpPr>
          <p:nvPr/>
        </p:nvSpPr>
        <p:spPr bwMode="auto">
          <a:xfrm>
            <a:off x="2639403" y="2140626"/>
            <a:ext cx="404813" cy="402431"/>
          </a:xfrm>
          <a:custGeom>
            <a:avLst/>
            <a:gdLst>
              <a:gd name="T0" fmla="*/ 60 w 99"/>
              <a:gd name="T1" fmla="*/ 9 h 99"/>
              <a:gd name="T2" fmla="*/ 81 w 99"/>
              <a:gd name="T3" fmla="*/ 10 h 99"/>
              <a:gd name="T4" fmla="*/ 79 w 99"/>
              <a:gd name="T5" fmla="*/ 20 h 99"/>
              <a:gd name="T6" fmla="*/ 96 w 99"/>
              <a:gd name="T7" fmla="*/ 31 h 99"/>
              <a:gd name="T8" fmla="*/ 90 w 99"/>
              <a:gd name="T9" fmla="*/ 38 h 99"/>
              <a:gd name="T10" fmla="*/ 99 w 99"/>
              <a:gd name="T11" fmla="*/ 57 h 99"/>
              <a:gd name="T12" fmla="*/ 90 w 99"/>
              <a:gd name="T13" fmla="*/ 60 h 99"/>
              <a:gd name="T14" fmla="*/ 89 w 99"/>
              <a:gd name="T15" fmla="*/ 81 h 99"/>
              <a:gd name="T16" fmla="*/ 80 w 99"/>
              <a:gd name="T17" fmla="*/ 79 h 99"/>
              <a:gd name="T18" fmla="*/ 68 w 99"/>
              <a:gd name="T19" fmla="*/ 97 h 99"/>
              <a:gd name="T20" fmla="*/ 61 w 99"/>
              <a:gd name="T21" fmla="*/ 90 h 99"/>
              <a:gd name="T22" fmla="*/ 42 w 99"/>
              <a:gd name="T23" fmla="*/ 99 h 99"/>
              <a:gd name="T24" fmla="*/ 39 w 99"/>
              <a:gd name="T25" fmla="*/ 91 h 99"/>
              <a:gd name="T26" fmla="*/ 18 w 99"/>
              <a:gd name="T27" fmla="*/ 89 h 99"/>
              <a:gd name="T28" fmla="*/ 20 w 99"/>
              <a:gd name="T29" fmla="*/ 80 h 99"/>
              <a:gd name="T30" fmla="*/ 3 w 99"/>
              <a:gd name="T31" fmla="*/ 68 h 99"/>
              <a:gd name="T32" fmla="*/ 9 w 99"/>
              <a:gd name="T33" fmla="*/ 61 h 99"/>
              <a:gd name="T34" fmla="*/ 0 w 99"/>
              <a:gd name="T35" fmla="*/ 42 h 99"/>
              <a:gd name="T36" fmla="*/ 9 w 99"/>
              <a:gd name="T37" fmla="*/ 39 h 99"/>
              <a:gd name="T38" fmla="*/ 10 w 99"/>
              <a:gd name="T39" fmla="*/ 18 h 99"/>
              <a:gd name="T40" fmla="*/ 19 w 99"/>
              <a:gd name="T41" fmla="*/ 20 h 99"/>
              <a:gd name="T42" fmla="*/ 31 w 99"/>
              <a:gd name="T43" fmla="*/ 3 h 99"/>
              <a:gd name="T44" fmla="*/ 38 w 99"/>
              <a:gd name="T45" fmla="*/ 9 h 99"/>
              <a:gd name="T46" fmla="*/ 57 w 99"/>
              <a:gd name="T47" fmla="*/ 0 h 99"/>
              <a:gd name="T48" fmla="*/ 36 w 99"/>
              <a:gd name="T49" fmla="*/ 58 h 99"/>
              <a:gd name="T50" fmla="*/ 45 w 99"/>
              <a:gd name="T51" fmla="*/ 47 h 99"/>
              <a:gd name="T52" fmla="*/ 58 w 99"/>
              <a:gd name="T53" fmla="*/ 55 h 99"/>
              <a:gd name="T54" fmla="*/ 64 w 99"/>
              <a:gd name="T55" fmla="*/ 56 h 99"/>
              <a:gd name="T56" fmla="*/ 54 w 99"/>
              <a:gd name="T57" fmla="*/ 54 h 99"/>
              <a:gd name="T58" fmla="*/ 58 w 99"/>
              <a:gd name="T59" fmla="*/ 69 h 99"/>
              <a:gd name="T60" fmla="*/ 71 w 99"/>
              <a:gd name="T61" fmla="*/ 71 h 99"/>
              <a:gd name="T62" fmla="*/ 71 w 99"/>
              <a:gd name="T63" fmla="*/ 28 h 99"/>
              <a:gd name="T64" fmla="*/ 28 w 99"/>
              <a:gd name="T65" fmla="*/ 28 h 99"/>
              <a:gd name="T66" fmla="*/ 28 w 99"/>
              <a:gd name="T67" fmla="*/ 71 h 99"/>
              <a:gd name="T68" fmla="*/ 55 w 99"/>
              <a:gd name="T69" fmla="*/ 79 h 99"/>
              <a:gd name="T70" fmla="*/ 48 w 99"/>
              <a:gd name="T71" fmla="*/ 66 h 99"/>
              <a:gd name="T72" fmla="*/ 35 w 99"/>
              <a:gd name="T73" fmla="*/ 75 h 99"/>
              <a:gd name="T74" fmla="*/ 42 w 99"/>
              <a:gd name="T75" fmla="*/ 71 h 99"/>
              <a:gd name="T76" fmla="*/ 45 w 99"/>
              <a:gd name="T77" fmla="*/ 52 h 99"/>
              <a:gd name="T78" fmla="*/ 38 w 99"/>
              <a:gd name="T79" fmla="*/ 59 h 99"/>
              <a:gd name="T80" fmla="*/ 51 w 99"/>
              <a:gd name="T81" fmla="*/ 37 h 99"/>
              <a:gd name="T82" fmla="*/ 51 w 99"/>
              <a:gd name="T83" fmla="*/ 46 h 99"/>
              <a:gd name="T84" fmla="*/ 51 w 99"/>
              <a:gd name="T85" fmla="*/ 37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9" h="99">
                <a:moveTo>
                  <a:pt x="59" y="8"/>
                </a:moveTo>
                <a:cubicBezTo>
                  <a:pt x="59" y="9"/>
                  <a:pt x="60" y="9"/>
                  <a:pt x="60" y="9"/>
                </a:cubicBezTo>
                <a:cubicBezTo>
                  <a:pt x="66" y="2"/>
                  <a:pt x="66" y="2"/>
                  <a:pt x="66" y="2"/>
                </a:cubicBezTo>
                <a:cubicBezTo>
                  <a:pt x="81" y="10"/>
                  <a:pt x="81" y="10"/>
                  <a:pt x="81" y="10"/>
                </a:cubicBezTo>
                <a:cubicBezTo>
                  <a:pt x="78" y="19"/>
                  <a:pt x="78" y="19"/>
                  <a:pt x="78" y="19"/>
                </a:cubicBezTo>
                <a:cubicBezTo>
                  <a:pt x="78" y="19"/>
                  <a:pt x="79" y="19"/>
                  <a:pt x="79" y="20"/>
                </a:cubicBezTo>
                <a:cubicBezTo>
                  <a:pt x="88" y="17"/>
                  <a:pt x="88" y="17"/>
                  <a:pt x="88" y="17"/>
                </a:cubicBezTo>
                <a:cubicBezTo>
                  <a:pt x="96" y="31"/>
                  <a:pt x="96" y="31"/>
                  <a:pt x="96" y="31"/>
                </a:cubicBezTo>
                <a:cubicBezTo>
                  <a:pt x="90" y="37"/>
                  <a:pt x="90" y="37"/>
                  <a:pt x="90" y="37"/>
                </a:cubicBezTo>
                <a:cubicBezTo>
                  <a:pt x="90" y="38"/>
                  <a:pt x="90" y="38"/>
                  <a:pt x="90" y="38"/>
                </a:cubicBezTo>
                <a:cubicBezTo>
                  <a:pt x="99" y="40"/>
                  <a:pt x="99" y="40"/>
                  <a:pt x="99" y="40"/>
                </a:cubicBezTo>
                <a:cubicBezTo>
                  <a:pt x="99" y="57"/>
                  <a:pt x="99" y="57"/>
                  <a:pt x="99" y="57"/>
                </a:cubicBezTo>
                <a:cubicBezTo>
                  <a:pt x="91" y="59"/>
                  <a:pt x="91" y="59"/>
                  <a:pt x="91" y="59"/>
                </a:cubicBezTo>
                <a:cubicBezTo>
                  <a:pt x="91" y="59"/>
                  <a:pt x="90" y="60"/>
                  <a:pt x="90" y="60"/>
                </a:cubicBezTo>
                <a:cubicBezTo>
                  <a:pt x="97" y="67"/>
                  <a:pt x="97" y="67"/>
                  <a:pt x="97" y="67"/>
                </a:cubicBezTo>
                <a:cubicBezTo>
                  <a:pt x="89" y="81"/>
                  <a:pt x="89" y="81"/>
                  <a:pt x="89" y="81"/>
                </a:cubicBezTo>
                <a:cubicBezTo>
                  <a:pt x="80" y="78"/>
                  <a:pt x="80" y="78"/>
                  <a:pt x="80" y="78"/>
                </a:cubicBezTo>
                <a:cubicBezTo>
                  <a:pt x="80" y="79"/>
                  <a:pt x="80" y="79"/>
                  <a:pt x="80" y="79"/>
                </a:cubicBezTo>
                <a:cubicBezTo>
                  <a:pt x="82" y="88"/>
                  <a:pt x="82" y="88"/>
                  <a:pt x="82" y="88"/>
                </a:cubicBezTo>
                <a:cubicBezTo>
                  <a:pt x="68" y="97"/>
                  <a:pt x="68" y="97"/>
                  <a:pt x="68" y="97"/>
                </a:cubicBezTo>
                <a:cubicBezTo>
                  <a:pt x="62" y="90"/>
                  <a:pt x="62" y="90"/>
                  <a:pt x="62" y="90"/>
                </a:cubicBezTo>
                <a:cubicBezTo>
                  <a:pt x="62" y="90"/>
                  <a:pt x="61" y="90"/>
                  <a:pt x="61" y="90"/>
                </a:cubicBezTo>
                <a:cubicBezTo>
                  <a:pt x="59" y="99"/>
                  <a:pt x="59" y="99"/>
                  <a:pt x="59" y="99"/>
                </a:cubicBezTo>
                <a:cubicBezTo>
                  <a:pt x="42" y="99"/>
                  <a:pt x="42" y="99"/>
                  <a:pt x="42" y="99"/>
                </a:cubicBezTo>
                <a:cubicBezTo>
                  <a:pt x="40" y="91"/>
                  <a:pt x="40" y="91"/>
                  <a:pt x="40" y="91"/>
                </a:cubicBezTo>
                <a:cubicBezTo>
                  <a:pt x="40" y="91"/>
                  <a:pt x="39" y="91"/>
                  <a:pt x="39" y="91"/>
                </a:cubicBezTo>
                <a:cubicBezTo>
                  <a:pt x="33" y="97"/>
                  <a:pt x="33" y="97"/>
                  <a:pt x="33" y="97"/>
                </a:cubicBezTo>
                <a:cubicBezTo>
                  <a:pt x="18" y="89"/>
                  <a:pt x="18" y="89"/>
                  <a:pt x="18" y="89"/>
                </a:cubicBezTo>
                <a:cubicBezTo>
                  <a:pt x="21" y="81"/>
                  <a:pt x="21" y="81"/>
                  <a:pt x="21" y="81"/>
                </a:cubicBezTo>
                <a:cubicBezTo>
                  <a:pt x="20" y="80"/>
                  <a:pt x="20" y="80"/>
                  <a:pt x="20" y="80"/>
                </a:cubicBezTo>
                <a:cubicBezTo>
                  <a:pt x="11" y="83"/>
                  <a:pt x="11" y="83"/>
                  <a:pt x="11" y="83"/>
                </a:cubicBezTo>
                <a:cubicBezTo>
                  <a:pt x="3" y="68"/>
                  <a:pt x="3" y="68"/>
                  <a:pt x="3" y="68"/>
                </a:cubicBezTo>
                <a:cubicBezTo>
                  <a:pt x="9" y="62"/>
                  <a:pt x="9" y="62"/>
                  <a:pt x="9" y="62"/>
                </a:cubicBezTo>
                <a:cubicBezTo>
                  <a:pt x="9" y="62"/>
                  <a:pt x="9" y="61"/>
                  <a:pt x="9" y="61"/>
                </a:cubicBezTo>
                <a:cubicBezTo>
                  <a:pt x="0" y="59"/>
                  <a:pt x="0" y="59"/>
                  <a:pt x="0" y="59"/>
                </a:cubicBezTo>
                <a:cubicBezTo>
                  <a:pt x="0" y="42"/>
                  <a:pt x="0" y="42"/>
                  <a:pt x="0" y="42"/>
                </a:cubicBezTo>
                <a:cubicBezTo>
                  <a:pt x="8" y="40"/>
                  <a:pt x="8" y="40"/>
                  <a:pt x="8" y="40"/>
                </a:cubicBezTo>
                <a:cubicBezTo>
                  <a:pt x="8" y="40"/>
                  <a:pt x="8" y="39"/>
                  <a:pt x="9" y="39"/>
                </a:cubicBezTo>
                <a:cubicBezTo>
                  <a:pt x="2" y="33"/>
                  <a:pt x="2" y="33"/>
                  <a:pt x="2" y="33"/>
                </a:cubicBezTo>
                <a:cubicBezTo>
                  <a:pt x="10" y="18"/>
                  <a:pt x="10" y="18"/>
                  <a:pt x="10" y="18"/>
                </a:cubicBezTo>
                <a:cubicBezTo>
                  <a:pt x="18" y="21"/>
                  <a:pt x="18" y="21"/>
                  <a:pt x="18" y="21"/>
                </a:cubicBezTo>
                <a:cubicBezTo>
                  <a:pt x="19" y="21"/>
                  <a:pt x="19" y="20"/>
                  <a:pt x="19" y="20"/>
                </a:cubicBezTo>
                <a:cubicBezTo>
                  <a:pt x="17" y="11"/>
                  <a:pt x="17" y="11"/>
                  <a:pt x="17" y="11"/>
                </a:cubicBezTo>
                <a:cubicBezTo>
                  <a:pt x="31" y="3"/>
                  <a:pt x="31" y="3"/>
                  <a:pt x="31" y="3"/>
                </a:cubicBezTo>
                <a:cubicBezTo>
                  <a:pt x="37" y="9"/>
                  <a:pt x="37" y="9"/>
                  <a:pt x="37" y="9"/>
                </a:cubicBezTo>
                <a:cubicBezTo>
                  <a:pt x="37" y="9"/>
                  <a:pt x="38" y="9"/>
                  <a:pt x="38" y="9"/>
                </a:cubicBezTo>
                <a:cubicBezTo>
                  <a:pt x="40" y="0"/>
                  <a:pt x="40" y="0"/>
                  <a:pt x="40" y="0"/>
                </a:cubicBezTo>
                <a:cubicBezTo>
                  <a:pt x="57" y="0"/>
                  <a:pt x="57" y="0"/>
                  <a:pt x="57" y="0"/>
                </a:cubicBezTo>
                <a:cubicBezTo>
                  <a:pt x="59" y="8"/>
                  <a:pt x="59" y="8"/>
                  <a:pt x="59" y="8"/>
                </a:cubicBezTo>
                <a:close/>
                <a:moveTo>
                  <a:pt x="36" y="58"/>
                </a:moveTo>
                <a:cubicBezTo>
                  <a:pt x="37" y="52"/>
                  <a:pt x="37" y="52"/>
                  <a:pt x="37" y="52"/>
                </a:cubicBezTo>
                <a:cubicBezTo>
                  <a:pt x="45" y="47"/>
                  <a:pt x="45" y="47"/>
                  <a:pt x="45" y="47"/>
                </a:cubicBezTo>
                <a:cubicBezTo>
                  <a:pt x="56" y="47"/>
                  <a:pt x="56" y="47"/>
                  <a:pt x="56" y="47"/>
                </a:cubicBezTo>
                <a:cubicBezTo>
                  <a:pt x="58" y="55"/>
                  <a:pt x="58" y="55"/>
                  <a:pt x="58" y="55"/>
                </a:cubicBezTo>
                <a:cubicBezTo>
                  <a:pt x="64" y="55"/>
                  <a:pt x="64" y="55"/>
                  <a:pt x="64" y="55"/>
                </a:cubicBezTo>
                <a:cubicBezTo>
                  <a:pt x="64" y="56"/>
                  <a:pt x="64" y="56"/>
                  <a:pt x="64" y="56"/>
                </a:cubicBezTo>
                <a:cubicBezTo>
                  <a:pt x="56" y="58"/>
                  <a:pt x="56" y="58"/>
                  <a:pt x="56" y="58"/>
                </a:cubicBezTo>
                <a:cubicBezTo>
                  <a:pt x="54" y="54"/>
                  <a:pt x="54" y="54"/>
                  <a:pt x="54" y="54"/>
                </a:cubicBezTo>
                <a:cubicBezTo>
                  <a:pt x="52" y="62"/>
                  <a:pt x="52" y="62"/>
                  <a:pt x="52" y="62"/>
                </a:cubicBezTo>
                <a:cubicBezTo>
                  <a:pt x="58" y="69"/>
                  <a:pt x="58" y="69"/>
                  <a:pt x="58" y="69"/>
                </a:cubicBezTo>
                <a:cubicBezTo>
                  <a:pt x="58" y="79"/>
                  <a:pt x="58" y="79"/>
                  <a:pt x="58" y="79"/>
                </a:cubicBezTo>
                <a:cubicBezTo>
                  <a:pt x="63" y="77"/>
                  <a:pt x="67" y="74"/>
                  <a:pt x="71" y="71"/>
                </a:cubicBezTo>
                <a:cubicBezTo>
                  <a:pt x="76" y="66"/>
                  <a:pt x="80" y="58"/>
                  <a:pt x="80" y="50"/>
                </a:cubicBezTo>
                <a:cubicBezTo>
                  <a:pt x="80" y="41"/>
                  <a:pt x="76" y="34"/>
                  <a:pt x="71" y="28"/>
                </a:cubicBezTo>
                <a:cubicBezTo>
                  <a:pt x="65" y="23"/>
                  <a:pt x="58" y="19"/>
                  <a:pt x="49" y="19"/>
                </a:cubicBezTo>
                <a:cubicBezTo>
                  <a:pt x="41" y="19"/>
                  <a:pt x="34" y="23"/>
                  <a:pt x="28" y="28"/>
                </a:cubicBezTo>
                <a:cubicBezTo>
                  <a:pt x="23" y="34"/>
                  <a:pt x="19" y="41"/>
                  <a:pt x="19" y="50"/>
                </a:cubicBezTo>
                <a:cubicBezTo>
                  <a:pt x="19" y="58"/>
                  <a:pt x="23" y="66"/>
                  <a:pt x="28" y="71"/>
                </a:cubicBezTo>
                <a:cubicBezTo>
                  <a:pt x="34" y="76"/>
                  <a:pt x="41" y="80"/>
                  <a:pt x="49" y="80"/>
                </a:cubicBezTo>
                <a:cubicBezTo>
                  <a:pt x="52" y="80"/>
                  <a:pt x="54" y="80"/>
                  <a:pt x="55" y="79"/>
                </a:cubicBezTo>
                <a:cubicBezTo>
                  <a:pt x="53" y="70"/>
                  <a:pt x="53" y="70"/>
                  <a:pt x="53" y="70"/>
                </a:cubicBezTo>
                <a:cubicBezTo>
                  <a:pt x="48" y="66"/>
                  <a:pt x="48" y="66"/>
                  <a:pt x="48" y="66"/>
                </a:cubicBezTo>
                <a:cubicBezTo>
                  <a:pt x="47" y="69"/>
                  <a:pt x="45" y="73"/>
                  <a:pt x="45" y="73"/>
                </a:cubicBezTo>
                <a:cubicBezTo>
                  <a:pt x="35" y="75"/>
                  <a:pt x="35" y="75"/>
                  <a:pt x="35" y="75"/>
                </a:cubicBezTo>
                <a:cubicBezTo>
                  <a:pt x="35" y="73"/>
                  <a:pt x="35" y="73"/>
                  <a:pt x="35" y="73"/>
                </a:cubicBezTo>
                <a:cubicBezTo>
                  <a:pt x="42" y="71"/>
                  <a:pt x="42" y="71"/>
                  <a:pt x="42" y="71"/>
                </a:cubicBezTo>
                <a:cubicBezTo>
                  <a:pt x="44" y="61"/>
                  <a:pt x="44" y="61"/>
                  <a:pt x="44" y="61"/>
                </a:cubicBezTo>
                <a:cubicBezTo>
                  <a:pt x="45" y="52"/>
                  <a:pt x="45" y="52"/>
                  <a:pt x="45" y="52"/>
                </a:cubicBezTo>
                <a:cubicBezTo>
                  <a:pt x="41" y="54"/>
                  <a:pt x="41" y="54"/>
                  <a:pt x="41" y="54"/>
                </a:cubicBezTo>
                <a:cubicBezTo>
                  <a:pt x="38" y="59"/>
                  <a:pt x="38" y="59"/>
                  <a:pt x="38" y="59"/>
                </a:cubicBezTo>
                <a:cubicBezTo>
                  <a:pt x="36" y="58"/>
                  <a:pt x="36" y="58"/>
                  <a:pt x="36" y="58"/>
                </a:cubicBezTo>
                <a:close/>
                <a:moveTo>
                  <a:pt x="51" y="37"/>
                </a:moveTo>
                <a:cubicBezTo>
                  <a:pt x="48" y="37"/>
                  <a:pt x="46" y="39"/>
                  <a:pt x="46" y="41"/>
                </a:cubicBezTo>
                <a:cubicBezTo>
                  <a:pt x="46" y="44"/>
                  <a:pt x="48" y="46"/>
                  <a:pt x="51" y="46"/>
                </a:cubicBezTo>
                <a:cubicBezTo>
                  <a:pt x="53" y="46"/>
                  <a:pt x="55" y="44"/>
                  <a:pt x="55" y="41"/>
                </a:cubicBezTo>
                <a:cubicBezTo>
                  <a:pt x="55" y="39"/>
                  <a:pt x="53" y="37"/>
                  <a:pt x="51" y="37"/>
                </a:cubicBezTo>
                <a:close/>
              </a:path>
            </a:pathLst>
          </a:custGeom>
          <a:solidFill>
            <a:schemeClr val="bg2">
              <a:lumMod val="25000"/>
            </a:schemeClr>
          </a:solidFill>
          <a:ln>
            <a:noFill/>
          </a:ln>
        </p:spPr>
        <p:txBody>
          <a:bodyPr lIns="68580" tIns="34290" rIns="68580" bIns="34290"/>
          <a:lstStyle/>
          <a:p>
            <a:pPr>
              <a:defRPr/>
            </a:pPr>
            <a:endParaRPr lang="zh-CN" altLang="en-US">
              <a:solidFill>
                <a:prstClr val="black"/>
              </a:solidFill>
              <a:latin typeface="+mn-lt"/>
              <a:ea typeface="+mn-ea"/>
            </a:endParaRPr>
          </a:p>
        </p:txBody>
      </p:sp>
      <p:grpSp>
        <p:nvGrpSpPr>
          <p:cNvPr id="102" name="组合 101"/>
          <p:cNvGrpSpPr/>
          <p:nvPr/>
        </p:nvGrpSpPr>
        <p:grpSpPr>
          <a:xfrm>
            <a:off x="1853723" y="3139110"/>
            <a:ext cx="5110329" cy="534591"/>
            <a:chOff x="2471630" y="1331575"/>
            <a:chExt cx="6813772" cy="712788"/>
          </a:xfrm>
        </p:grpSpPr>
        <p:sp>
          <p:nvSpPr>
            <p:cNvPr id="103" name="文本框 20"/>
            <p:cNvSpPr txBox="1">
              <a:spLocks noChangeArrowheads="1"/>
            </p:cNvSpPr>
            <p:nvPr/>
          </p:nvSpPr>
          <p:spPr bwMode="auto">
            <a:xfrm>
              <a:off x="4852773" y="1454602"/>
              <a:ext cx="3659632"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技术路线与实验验证</a:t>
              </a:r>
            </a:p>
          </p:txBody>
        </p:sp>
        <p:sp>
          <p:nvSpPr>
            <p:cNvPr id="104" name="矩形 103"/>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105" name="直接连接符 104"/>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106" name="组合 68"/>
            <p:cNvGrpSpPr/>
            <p:nvPr/>
          </p:nvGrpSpPr>
          <p:grpSpPr bwMode="auto">
            <a:xfrm>
              <a:off x="2471630" y="1331575"/>
              <a:ext cx="919442" cy="712788"/>
              <a:chOff x="6191369" y="1397569"/>
              <a:chExt cx="919239" cy="712882"/>
            </a:xfrm>
          </p:grpSpPr>
          <p:sp>
            <p:nvSpPr>
              <p:cNvPr id="107" name="矩形 106"/>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09"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dirty="0">
                    <a:solidFill>
                      <a:srgbClr val="044875"/>
                    </a:solidFill>
                    <a:latin typeface="Impact" panose="020B0806030902050204" pitchFamily="34" charset="0"/>
                  </a:rPr>
                  <a:t>03</a:t>
                </a:r>
                <a:endParaRPr lang="zh-CN" altLang="en-US" sz="2700" dirty="0">
                  <a:solidFill>
                    <a:srgbClr val="044875"/>
                  </a:solidFill>
                  <a:latin typeface="Impact" panose="020B0806030902050204" pitchFamily="34" charset="0"/>
                </a:endParaRPr>
              </a:p>
            </p:txBody>
          </p:sp>
        </p:grpSp>
      </p:grpSp>
      <p:sp>
        <p:nvSpPr>
          <p:cNvPr id="110" name="Freeform 59"/>
          <p:cNvSpPr>
            <a:spLocks noEditPoints="1"/>
          </p:cNvSpPr>
          <p:nvPr/>
        </p:nvSpPr>
        <p:spPr bwMode="auto">
          <a:xfrm>
            <a:off x="2612747" y="3215044"/>
            <a:ext cx="454819" cy="342900"/>
          </a:xfrm>
          <a:custGeom>
            <a:avLst/>
            <a:gdLst>
              <a:gd name="T0" fmla="*/ 17 w 111"/>
              <a:gd name="T1" fmla="*/ 2 h 84"/>
              <a:gd name="T2" fmla="*/ 29 w 111"/>
              <a:gd name="T3" fmla="*/ 4 h 84"/>
              <a:gd name="T4" fmla="*/ 20 w 111"/>
              <a:gd name="T5" fmla="*/ 51 h 84"/>
              <a:gd name="T6" fmla="*/ 5 w 111"/>
              <a:gd name="T7" fmla="*/ 48 h 84"/>
              <a:gd name="T8" fmla="*/ 17 w 111"/>
              <a:gd name="T9" fmla="*/ 2 h 84"/>
              <a:gd name="T10" fmla="*/ 20 w 111"/>
              <a:gd name="T11" fmla="*/ 68 h 84"/>
              <a:gd name="T12" fmla="*/ 17 w 111"/>
              <a:gd name="T13" fmla="*/ 76 h 84"/>
              <a:gd name="T14" fmla="*/ 107 w 111"/>
              <a:gd name="T15" fmla="*/ 76 h 84"/>
              <a:gd name="T16" fmla="*/ 111 w 111"/>
              <a:gd name="T17" fmla="*/ 76 h 84"/>
              <a:gd name="T18" fmla="*/ 111 w 111"/>
              <a:gd name="T19" fmla="*/ 72 h 84"/>
              <a:gd name="T20" fmla="*/ 111 w 111"/>
              <a:gd name="T21" fmla="*/ 27 h 84"/>
              <a:gd name="T22" fmla="*/ 111 w 111"/>
              <a:gd name="T23" fmla="*/ 26 h 84"/>
              <a:gd name="T24" fmla="*/ 110 w 111"/>
              <a:gd name="T25" fmla="*/ 24 h 84"/>
              <a:gd name="T26" fmla="*/ 96 w 111"/>
              <a:gd name="T27" fmla="*/ 11 h 84"/>
              <a:gd name="T28" fmla="*/ 95 w 111"/>
              <a:gd name="T29" fmla="*/ 10 h 84"/>
              <a:gd name="T30" fmla="*/ 93 w 111"/>
              <a:gd name="T31" fmla="*/ 10 h 84"/>
              <a:gd name="T32" fmla="*/ 33 w 111"/>
              <a:gd name="T33" fmla="*/ 10 h 84"/>
              <a:gd name="T34" fmla="*/ 33 w 111"/>
              <a:gd name="T35" fmla="*/ 17 h 84"/>
              <a:gd name="T36" fmla="*/ 89 w 111"/>
              <a:gd name="T37" fmla="*/ 17 h 84"/>
              <a:gd name="T38" fmla="*/ 88 w 111"/>
              <a:gd name="T39" fmla="*/ 29 h 84"/>
              <a:gd name="T40" fmla="*/ 88 w 111"/>
              <a:gd name="T41" fmla="*/ 31 h 84"/>
              <a:gd name="T42" fmla="*/ 90 w 111"/>
              <a:gd name="T43" fmla="*/ 31 h 84"/>
              <a:gd name="T44" fmla="*/ 104 w 111"/>
              <a:gd name="T45" fmla="*/ 31 h 84"/>
              <a:gd name="T46" fmla="*/ 104 w 111"/>
              <a:gd name="T47" fmla="*/ 68 h 84"/>
              <a:gd name="T48" fmla="*/ 20 w 111"/>
              <a:gd name="T49" fmla="*/ 68 h 84"/>
              <a:gd name="T50" fmla="*/ 102 w 111"/>
              <a:gd name="T51" fmla="*/ 27 h 84"/>
              <a:gd name="T52" fmla="*/ 92 w 111"/>
              <a:gd name="T53" fmla="*/ 27 h 84"/>
              <a:gd name="T54" fmla="*/ 93 w 111"/>
              <a:gd name="T55" fmla="*/ 19 h 84"/>
              <a:gd name="T56" fmla="*/ 102 w 111"/>
              <a:gd name="T57" fmla="*/ 27 h 84"/>
              <a:gd name="T58" fmla="*/ 34 w 111"/>
              <a:gd name="T59" fmla="*/ 45 h 84"/>
              <a:gd name="T60" fmla="*/ 79 w 111"/>
              <a:gd name="T61" fmla="*/ 45 h 84"/>
              <a:gd name="T62" fmla="*/ 79 w 111"/>
              <a:gd name="T63" fmla="*/ 48 h 84"/>
              <a:gd name="T64" fmla="*/ 34 w 111"/>
              <a:gd name="T65" fmla="*/ 48 h 84"/>
              <a:gd name="T66" fmla="*/ 34 w 111"/>
              <a:gd name="T67" fmla="*/ 45 h 84"/>
              <a:gd name="T68" fmla="*/ 34 w 111"/>
              <a:gd name="T69" fmla="*/ 34 h 84"/>
              <a:gd name="T70" fmla="*/ 75 w 111"/>
              <a:gd name="T71" fmla="*/ 34 h 84"/>
              <a:gd name="T72" fmla="*/ 75 w 111"/>
              <a:gd name="T73" fmla="*/ 37 h 84"/>
              <a:gd name="T74" fmla="*/ 34 w 111"/>
              <a:gd name="T75" fmla="*/ 37 h 84"/>
              <a:gd name="T76" fmla="*/ 34 w 111"/>
              <a:gd name="T77" fmla="*/ 34 h 84"/>
              <a:gd name="T78" fmla="*/ 34 w 111"/>
              <a:gd name="T79" fmla="*/ 23 h 84"/>
              <a:gd name="T80" fmla="*/ 75 w 111"/>
              <a:gd name="T81" fmla="*/ 23 h 84"/>
              <a:gd name="T82" fmla="*/ 75 w 111"/>
              <a:gd name="T83" fmla="*/ 26 h 84"/>
              <a:gd name="T84" fmla="*/ 34 w 111"/>
              <a:gd name="T85" fmla="*/ 26 h 84"/>
              <a:gd name="T86" fmla="*/ 34 w 111"/>
              <a:gd name="T87" fmla="*/ 23 h 84"/>
              <a:gd name="T88" fmla="*/ 4 w 111"/>
              <a:gd name="T89" fmla="*/ 70 h 84"/>
              <a:gd name="T90" fmla="*/ 10 w 111"/>
              <a:gd name="T91" fmla="*/ 72 h 84"/>
              <a:gd name="T92" fmla="*/ 10 w 111"/>
              <a:gd name="T93" fmla="*/ 79 h 84"/>
              <a:gd name="T94" fmla="*/ 5 w 111"/>
              <a:gd name="T95" fmla="*/ 84 h 84"/>
              <a:gd name="T96" fmla="*/ 2 w 111"/>
              <a:gd name="T97" fmla="*/ 83 h 84"/>
              <a:gd name="T98" fmla="*/ 0 w 111"/>
              <a:gd name="T99" fmla="*/ 76 h 84"/>
              <a:gd name="T100" fmla="*/ 4 w 111"/>
              <a:gd name="T101" fmla="*/ 70 h 84"/>
              <a:gd name="T102" fmla="*/ 4 w 111"/>
              <a:gd name="T103" fmla="*/ 51 h 84"/>
              <a:gd name="T104" fmla="*/ 2 w 111"/>
              <a:gd name="T105" fmla="*/ 68 h 84"/>
              <a:gd name="T106" fmla="*/ 13 w 111"/>
              <a:gd name="T107" fmla="*/ 71 h 84"/>
              <a:gd name="T108" fmla="*/ 18 w 111"/>
              <a:gd name="T109" fmla="*/ 54 h 84"/>
              <a:gd name="T110" fmla="*/ 4 w 111"/>
              <a:gd name="T111" fmla="*/ 5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11" h="84">
                <a:moveTo>
                  <a:pt x="17" y="2"/>
                </a:moveTo>
                <a:cubicBezTo>
                  <a:pt x="22" y="0"/>
                  <a:pt x="26" y="1"/>
                  <a:pt x="29" y="4"/>
                </a:cubicBezTo>
                <a:cubicBezTo>
                  <a:pt x="27" y="21"/>
                  <a:pt x="24" y="37"/>
                  <a:pt x="20" y="51"/>
                </a:cubicBezTo>
                <a:cubicBezTo>
                  <a:pt x="15" y="50"/>
                  <a:pt x="10" y="49"/>
                  <a:pt x="5" y="48"/>
                </a:cubicBezTo>
                <a:cubicBezTo>
                  <a:pt x="6" y="31"/>
                  <a:pt x="11" y="15"/>
                  <a:pt x="17" y="2"/>
                </a:cubicBezTo>
                <a:close/>
                <a:moveTo>
                  <a:pt x="20" y="68"/>
                </a:moveTo>
                <a:cubicBezTo>
                  <a:pt x="17" y="76"/>
                  <a:pt x="17" y="76"/>
                  <a:pt x="17" y="76"/>
                </a:cubicBezTo>
                <a:cubicBezTo>
                  <a:pt x="74" y="76"/>
                  <a:pt x="80" y="76"/>
                  <a:pt x="107" y="76"/>
                </a:cubicBezTo>
                <a:cubicBezTo>
                  <a:pt x="111" y="76"/>
                  <a:pt x="111" y="76"/>
                  <a:pt x="111" y="76"/>
                </a:cubicBezTo>
                <a:cubicBezTo>
                  <a:pt x="111" y="72"/>
                  <a:pt x="111" y="72"/>
                  <a:pt x="111" y="72"/>
                </a:cubicBezTo>
                <a:cubicBezTo>
                  <a:pt x="111" y="27"/>
                  <a:pt x="111" y="27"/>
                  <a:pt x="111" y="27"/>
                </a:cubicBezTo>
                <a:cubicBezTo>
                  <a:pt x="111" y="26"/>
                  <a:pt x="111" y="26"/>
                  <a:pt x="111" y="26"/>
                </a:cubicBezTo>
                <a:cubicBezTo>
                  <a:pt x="110" y="24"/>
                  <a:pt x="110" y="24"/>
                  <a:pt x="110" y="24"/>
                </a:cubicBezTo>
                <a:cubicBezTo>
                  <a:pt x="96" y="11"/>
                  <a:pt x="96" y="11"/>
                  <a:pt x="96" y="11"/>
                </a:cubicBezTo>
                <a:cubicBezTo>
                  <a:pt x="95" y="10"/>
                  <a:pt x="95" y="10"/>
                  <a:pt x="95" y="10"/>
                </a:cubicBezTo>
                <a:cubicBezTo>
                  <a:pt x="93" y="10"/>
                  <a:pt x="93" y="10"/>
                  <a:pt x="93" y="10"/>
                </a:cubicBezTo>
                <a:cubicBezTo>
                  <a:pt x="33" y="10"/>
                  <a:pt x="33" y="10"/>
                  <a:pt x="33" y="10"/>
                </a:cubicBezTo>
                <a:cubicBezTo>
                  <a:pt x="33" y="12"/>
                  <a:pt x="33" y="15"/>
                  <a:pt x="33" y="17"/>
                </a:cubicBezTo>
                <a:cubicBezTo>
                  <a:pt x="89" y="17"/>
                  <a:pt x="89" y="17"/>
                  <a:pt x="89" y="17"/>
                </a:cubicBezTo>
                <a:cubicBezTo>
                  <a:pt x="88" y="29"/>
                  <a:pt x="88" y="29"/>
                  <a:pt x="88" y="29"/>
                </a:cubicBezTo>
                <a:cubicBezTo>
                  <a:pt x="88" y="31"/>
                  <a:pt x="88" y="31"/>
                  <a:pt x="88" y="31"/>
                </a:cubicBezTo>
                <a:cubicBezTo>
                  <a:pt x="90" y="31"/>
                  <a:pt x="90" y="31"/>
                  <a:pt x="90" y="31"/>
                </a:cubicBezTo>
                <a:cubicBezTo>
                  <a:pt x="104" y="31"/>
                  <a:pt x="104" y="31"/>
                  <a:pt x="104" y="31"/>
                </a:cubicBezTo>
                <a:cubicBezTo>
                  <a:pt x="104" y="68"/>
                  <a:pt x="104" y="68"/>
                  <a:pt x="104" y="68"/>
                </a:cubicBezTo>
                <a:cubicBezTo>
                  <a:pt x="84" y="68"/>
                  <a:pt x="61" y="68"/>
                  <a:pt x="20" y="68"/>
                </a:cubicBezTo>
                <a:close/>
                <a:moveTo>
                  <a:pt x="102" y="27"/>
                </a:moveTo>
                <a:cubicBezTo>
                  <a:pt x="92" y="27"/>
                  <a:pt x="92" y="27"/>
                  <a:pt x="92" y="27"/>
                </a:cubicBezTo>
                <a:cubicBezTo>
                  <a:pt x="93" y="19"/>
                  <a:pt x="93" y="19"/>
                  <a:pt x="93" y="19"/>
                </a:cubicBezTo>
                <a:cubicBezTo>
                  <a:pt x="102" y="27"/>
                  <a:pt x="102" y="27"/>
                  <a:pt x="102" y="27"/>
                </a:cubicBezTo>
                <a:close/>
                <a:moveTo>
                  <a:pt x="34" y="45"/>
                </a:moveTo>
                <a:cubicBezTo>
                  <a:pt x="79" y="45"/>
                  <a:pt x="79" y="45"/>
                  <a:pt x="79" y="45"/>
                </a:cubicBezTo>
                <a:cubicBezTo>
                  <a:pt x="79" y="48"/>
                  <a:pt x="79" y="48"/>
                  <a:pt x="79" y="48"/>
                </a:cubicBezTo>
                <a:cubicBezTo>
                  <a:pt x="34" y="48"/>
                  <a:pt x="34" y="48"/>
                  <a:pt x="34" y="48"/>
                </a:cubicBezTo>
                <a:cubicBezTo>
                  <a:pt x="34" y="45"/>
                  <a:pt x="34" y="45"/>
                  <a:pt x="34" y="45"/>
                </a:cubicBezTo>
                <a:close/>
                <a:moveTo>
                  <a:pt x="34" y="34"/>
                </a:moveTo>
                <a:cubicBezTo>
                  <a:pt x="75" y="34"/>
                  <a:pt x="75" y="34"/>
                  <a:pt x="75" y="34"/>
                </a:cubicBezTo>
                <a:cubicBezTo>
                  <a:pt x="75" y="37"/>
                  <a:pt x="75" y="37"/>
                  <a:pt x="75" y="37"/>
                </a:cubicBezTo>
                <a:cubicBezTo>
                  <a:pt x="34" y="37"/>
                  <a:pt x="34" y="37"/>
                  <a:pt x="34" y="37"/>
                </a:cubicBezTo>
                <a:cubicBezTo>
                  <a:pt x="34" y="34"/>
                  <a:pt x="34" y="34"/>
                  <a:pt x="34" y="34"/>
                </a:cubicBezTo>
                <a:close/>
                <a:moveTo>
                  <a:pt x="34" y="23"/>
                </a:moveTo>
                <a:cubicBezTo>
                  <a:pt x="75" y="23"/>
                  <a:pt x="75" y="23"/>
                  <a:pt x="75" y="23"/>
                </a:cubicBezTo>
                <a:cubicBezTo>
                  <a:pt x="75" y="26"/>
                  <a:pt x="75" y="26"/>
                  <a:pt x="75" y="26"/>
                </a:cubicBezTo>
                <a:cubicBezTo>
                  <a:pt x="34" y="26"/>
                  <a:pt x="34" y="26"/>
                  <a:pt x="34" y="26"/>
                </a:cubicBezTo>
                <a:cubicBezTo>
                  <a:pt x="34" y="23"/>
                  <a:pt x="34" y="23"/>
                  <a:pt x="34" y="23"/>
                </a:cubicBezTo>
                <a:close/>
                <a:moveTo>
                  <a:pt x="4" y="70"/>
                </a:moveTo>
                <a:cubicBezTo>
                  <a:pt x="10" y="72"/>
                  <a:pt x="10" y="72"/>
                  <a:pt x="10" y="72"/>
                </a:cubicBezTo>
                <a:cubicBezTo>
                  <a:pt x="10" y="79"/>
                  <a:pt x="10" y="79"/>
                  <a:pt x="10" y="79"/>
                </a:cubicBezTo>
                <a:cubicBezTo>
                  <a:pt x="5" y="84"/>
                  <a:pt x="5" y="84"/>
                  <a:pt x="5" y="84"/>
                </a:cubicBezTo>
                <a:cubicBezTo>
                  <a:pt x="4" y="84"/>
                  <a:pt x="3" y="83"/>
                  <a:pt x="2" y="83"/>
                </a:cubicBezTo>
                <a:cubicBezTo>
                  <a:pt x="0" y="76"/>
                  <a:pt x="0" y="76"/>
                  <a:pt x="0" y="76"/>
                </a:cubicBezTo>
                <a:cubicBezTo>
                  <a:pt x="4" y="70"/>
                  <a:pt x="4" y="70"/>
                  <a:pt x="4" y="70"/>
                </a:cubicBezTo>
                <a:close/>
                <a:moveTo>
                  <a:pt x="4" y="51"/>
                </a:moveTo>
                <a:cubicBezTo>
                  <a:pt x="4" y="57"/>
                  <a:pt x="3" y="63"/>
                  <a:pt x="2" y="68"/>
                </a:cubicBezTo>
                <a:cubicBezTo>
                  <a:pt x="6" y="69"/>
                  <a:pt x="9" y="70"/>
                  <a:pt x="13" y="71"/>
                </a:cubicBezTo>
                <a:cubicBezTo>
                  <a:pt x="14" y="65"/>
                  <a:pt x="16" y="60"/>
                  <a:pt x="18" y="54"/>
                </a:cubicBezTo>
                <a:cubicBezTo>
                  <a:pt x="14" y="53"/>
                  <a:pt x="9" y="52"/>
                  <a:pt x="4" y="51"/>
                </a:cubicBezTo>
                <a:close/>
              </a:path>
            </a:pathLst>
          </a:custGeom>
          <a:solidFill>
            <a:schemeClr val="bg2">
              <a:lumMod val="25000"/>
            </a:schemeClr>
          </a:solidFill>
          <a:ln>
            <a:noFill/>
          </a:ln>
        </p:spPr>
        <p:txBody>
          <a:bodyPr lIns="68580" tIns="34290" rIns="68580" bIns="34290"/>
          <a:lstStyle/>
          <a:p>
            <a:pPr>
              <a:defRPr/>
            </a:pPr>
            <a:endParaRPr lang="zh-CN" altLang="en-US">
              <a:solidFill>
                <a:prstClr val="black"/>
              </a:solidFill>
              <a:latin typeface="+mn-lt"/>
              <a:ea typeface="+mn-ea"/>
            </a:endParaRPr>
          </a:p>
        </p:txBody>
      </p:sp>
      <p:grpSp>
        <p:nvGrpSpPr>
          <p:cNvPr id="111" name="组合 110"/>
          <p:cNvGrpSpPr/>
          <p:nvPr/>
        </p:nvGrpSpPr>
        <p:grpSpPr>
          <a:xfrm>
            <a:off x="1853723" y="4137082"/>
            <a:ext cx="5110329" cy="534591"/>
            <a:chOff x="2471630" y="1331575"/>
            <a:chExt cx="6813772" cy="712788"/>
          </a:xfrm>
        </p:grpSpPr>
        <p:sp>
          <p:nvSpPr>
            <p:cNvPr id="112" name="文本框 20"/>
            <p:cNvSpPr txBox="1">
              <a:spLocks noChangeArrowheads="1"/>
            </p:cNvSpPr>
            <p:nvPr/>
          </p:nvSpPr>
          <p:spPr bwMode="auto">
            <a:xfrm>
              <a:off x="4852773" y="1454602"/>
              <a:ext cx="3659632"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预期成果与进度安排</a:t>
              </a:r>
            </a:p>
          </p:txBody>
        </p:sp>
        <p:sp>
          <p:nvSpPr>
            <p:cNvPr id="113" name="矩形 112"/>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114" name="直接连接符 113"/>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115" name="组合 68"/>
            <p:cNvGrpSpPr/>
            <p:nvPr/>
          </p:nvGrpSpPr>
          <p:grpSpPr bwMode="auto">
            <a:xfrm>
              <a:off x="2471630" y="1331575"/>
              <a:ext cx="919442" cy="712788"/>
              <a:chOff x="6191369" y="1397569"/>
              <a:chExt cx="919239" cy="712882"/>
            </a:xfrm>
          </p:grpSpPr>
          <p:sp>
            <p:nvSpPr>
              <p:cNvPr id="116" name="矩形 115"/>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17"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dirty="0">
                    <a:solidFill>
                      <a:srgbClr val="044875"/>
                    </a:solidFill>
                    <a:latin typeface="Impact" panose="020B0806030902050204" pitchFamily="34" charset="0"/>
                  </a:rPr>
                  <a:t>04</a:t>
                </a:r>
                <a:endParaRPr lang="zh-CN" altLang="en-US" sz="2700" dirty="0">
                  <a:solidFill>
                    <a:srgbClr val="044875"/>
                  </a:solidFill>
                  <a:latin typeface="Impact" panose="020B0806030902050204" pitchFamily="34" charset="0"/>
                </a:endParaRPr>
              </a:p>
            </p:txBody>
          </p:sp>
        </p:grpSp>
      </p:grpSp>
      <p:sp>
        <p:nvSpPr>
          <p:cNvPr id="118" name="Freeform 71"/>
          <p:cNvSpPr>
            <a:spLocks noEditPoints="1"/>
          </p:cNvSpPr>
          <p:nvPr/>
        </p:nvSpPr>
        <p:spPr bwMode="auto">
          <a:xfrm>
            <a:off x="2639401" y="4201375"/>
            <a:ext cx="383381" cy="406004"/>
          </a:xfrm>
          <a:custGeom>
            <a:avLst/>
            <a:gdLst>
              <a:gd name="T0" fmla="*/ 170 w 222"/>
              <a:gd name="T1" fmla="*/ 29 h 235"/>
              <a:gd name="T2" fmla="*/ 182 w 222"/>
              <a:gd name="T3" fmla="*/ 7 h 235"/>
              <a:gd name="T4" fmla="*/ 151 w 222"/>
              <a:gd name="T5" fmla="*/ 19 h 235"/>
              <a:gd name="T6" fmla="*/ 7 w 222"/>
              <a:gd name="T7" fmla="*/ 159 h 235"/>
              <a:gd name="T8" fmla="*/ 31 w 222"/>
              <a:gd name="T9" fmla="*/ 223 h 235"/>
              <a:gd name="T10" fmla="*/ 31 w 222"/>
              <a:gd name="T11" fmla="*/ 171 h 235"/>
              <a:gd name="T12" fmla="*/ 109 w 222"/>
              <a:gd name="T13" fmla="*/ 114 h 235"/>
              <a:gd name="T14" fmla="*/ 116 w 222"/>
              <a:gd name="T15" fmla="*/ 93 h 235"/>
              <a:gd name="T16" fmla="*/ 87 w 222"/>
              <a:gd name="T17" fmla="*/ 104 h 235"/>
              <a:gd name="T18" fmla="*/ 76 w 222"/>
              <a:gd name="T19" fmla="*/ 100 h 235"/>
              <a:gd name="T20" fmla="*/ 116 w 222"/>
              <a:gd name="T21" fmla="*/ 83 h 235"/>
              <a:gd name="T22" fmla="*/ 132 w 222"/>
              <a:gd name="T23" fmla="*/ 90 h 235"/>
              <a:gd name="T24" fmla="*/ 132 w 222"/>
              <a:gd name="T25" fmla="*/ 19 h 235"/>
              <a:gd name="T26" fmla="*/ 180 w 222"/>
              <a:gd name="T27" fmla="*/ 0 h 235"/>
              <a:gd name="T28" fmla="*/ 182 w 222"/>
              <a:gd name="T29" fmla="*/ 0 h 235"/>
              <a:gd name="T30" fmla="*/ 222 w 222"/>
              <a:gd name="T31" fmla="*/ 19 h 235"/>
              <a:gd name="T32" fmla="*/ 173 w 222"/>
              <a:gd name="T33" fmla="*/ 187 h 235"/>
              <a:gd name="T34" fmla="*/ 158 w 222"/>
              <a:gd name="T35" fmla="*/ 180 h 235"/>
              <a:gd name="T36" fmla="*/ 106 w 222"/>
              <a:gd name="T37" fmla="*/ 211 h 235"/>
              <a:gd name="T38" fmla="*/ 90 w 222"/>
              <a:gd name="T39" fmla="*/ 201 h 235"/>
              <a:gd name="T40" fmla="*/ 38 w 222"/>
              <a:gd name="T41" fmla="*/ 235 h 235"/>
              <a:gd name="T42" fmla="*/ 2 w 222"/>
              <a:gd name="T43" fmla="*/ 218 h 235"/>
              <a:gd name="T44" fmla="*/ 0 w 222"/>
              <a:gd name="T45" fmla="*/ 213 h 235"/>
              <a:gd name="T46" fmla="*/ 0 w 222"/>
              <a:gd name="T47" fmla="*/ 147 h 235"/>
              <a:gd name="T48" fmla="*/ 47 w 222"/>
              <a:gd name="T49" fmla="*/ 128 h 235"/>
              <a:gd name="T50" fmla="*/ 50 w 222"/>
              <a:gd name="T51" fmla="*/ 128 h 235"/>
              <a:gd name="T52" fmla="*/ 90 w 222"/>
              <a:gd name="T53" fmla="*/ 147 h 235"/>
              <a:gd name="T54" fmla="*/ 99 w 222"/>
              <a:gd name="T55" fmla="*/ 199 h 235"/>
              <a:gd name="T56" fmla="*/ 76 w 222"/>
              <a:gd name="T57" fmla="*/ 114 h 235"/>
              <a:gd name="T58" fmla="*/ 68 w 222"/>
              <a:gd name="T59" fmla="*/ 138 h 235"/>
              <a:gd name="T60" fmla="*/ 68 w 222"/>
              <a:gd name="T61" fmla="*/ 102 h 235"/>
              <a:gd name="T62" fmla="*/ 139 w 222"/>
              <a:gd name="T63" fmla="*/ 95 h 235"/>
              <a:gd name="T64" fmla="*/ 158 w 222"/>
              <a:gd name="T65" fmla="*/ 102 h 235"/>
              <a:gd name="T66" fmla="*/ 165 w 222"/>
              <a:gd name="T67" fmla="*/ 175 h 235"/>
              <a:gd name="T68" fmla="*/ 139 w 222"/>
              <a:gd name="T69" fmla="*/ 31 h 235"/>
              <a:gd name="T70" fmla="*/ 139 w 222"/>
              <a:gd name="T71" fmla="*/ 95 h 235"/>
              <a:gd name="T72" fmla="*/ 38 w 222"/>
              <a:gd name="T73" fmla="*/ 159 h 235"/>
              <a:gd name="T74" fmla="*/ 47 w 222"/>
              <a:gd name="T75" fmla="*/ 138 h 235"/>
              <a:gd name="T76" fmla="*/ 19 w 222"/>
              <a:gd name="T77" fmla="*/ 149 h 235"/>
              <a:gd name="T78" fmla="*/ 173 w 222"/>
              <a:gd name="T79" fmla="*/ 36 h 235"/>
              <a:gd name="T80" fmla="*/ 173 w 222"/>
              <a:gd name="T81" fmla="*/ 38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22" h="235">
                <a:moveTo>
                  <a:pt x="151" y="19"/>
                </a:moveTo>
                <a:lnTo>
                  <a:pt x="170" y="29"/>
                </a:lnTo>
                <a:lnTo>
                  <a:pt x="203" y="19"/>
                </a:lnTo>
                <a:lnTo>
                  <a:pt x="182" y="7"/>
                </a:lnTo>
                <a:lnTo>
                  <a:pt x="151" y="19"/>
                </a:lnTo>
                <a:lnTo>
                  <a:pt x="151" y="19"/>
                </a:lnTo>
                <a:close/>
                <a:moveTo>
                  <a:pt x="31" y="171"/>
                </a:moveTo>
                <a:lnTo>
                  <a:pt x="7" y="159"/>
                </a:lnTo>
                <a:lnTo>
                  <a:pt x="7" y="211"/>
                </a:lnTo>
                <a:lnTo>
                  <a:pt x="31" y="223"/>
                </a:lnTo>
                <a:lnTo>
                  <a:pt x="31" y="171"/>
                </a:lnTo>
                <a:lnTo>
                  <a:pt x="31" y="171"/>
                </a:lnTo>
                <a:close/>
                <a:moveTo>
                  <a:pt x="87" y="104"/>
                </a:moveTo>
                <a:lnTo>
                  <a:pt x="109" y="114"/>
                </a:lnTo>
                <a:lnTo>
                  <a:pt x="137" y="102"/>
                </a:lnTo>
                <a:lnTo>
                  <a:pt x="116" y="93"/>
                </a:lnTo>
                <a:lnTo>
                  <a:pt x="87" y="104"/>
                </a:lnTo>
                <a:lnTo>
                  <a:pt x="87" y="104"/>
                </a:lnTo>
                <a:close/>
                <a:moveTo>
                  <a:pt x="68" y="102"/>
                </a:moveTo>
                <a:lnTo>
                  <a:pt x="76" y="100"/>
                </a:lnTo>
                <a:lnTo>
                  <a:pt x="116" y="83"/>
                </a:lnTo>
                <a:lnTo>
                  <a:pt x="116" y="83"/>
                </a:lnTo>
                <a:lnTo>
                  <a:pt x="118" y="83"/>
                </a:lnTo>
                <a:lnTo>
                  <a:pt x="132" y="90"/>
                </a:lnTo>
                <a:lnTo>
                  <a:pt x="132" y="24"/>
                </a:lnTo>
                <a:lnTo>
                  <a:pt x="132" y="19"/>
                </a:lnTo>
                <a:lnTo>
                  <a:pt x="139" y="14"/>
                </a:lnTo>
                <a:lnTo>
                  <a:pt x="180" y="0"/>
                </a:lnTo>
                <a:lnTo>
                  <a:pt x="182" y="0"/>
                </a:lnTo>
                <a:lnTo>
                  <a:pt x="182" y="0"/>
                </a:lnTo>
                <a:lnTo>
                  <a:pt x="215" y="14"/>
                </a:lnTo>
                <a:lnTo>
                  <a:pt x="222" y="19"/>
                </a:lnTo>
                <a:lnTo>
                  <a:pt x="222" y="168"/>
                </a:lnTo>
                <a:lnTo>
                  <a:pt x="173" y="187"/>
                </a:lnTo>
                <a:lnTo>
                  <a:pt x="168" y="185"/>
                </a:lnTo>
                <a:lnTo>
                  <a:pt x="158" y="180"/>
                </a:lnTo>
                <a:lnTo>
                  <a:pt x="158" y="192"/>
                </a:lnTo>
                <a:lnTo>
                  <a:pt x="106" y="211"/>
                </a:lnTo>
                <a:lnTo>
                  <a:pt x="102" y="209"/>
                </a:lnTo>
                <a:lnTo>
                  <a:pt x="90" y="201"/>
                </a:lnTo>
                <a:lnTo>
                  <a:pt x="90" y="216"/>
                </a:lnTo>
                <a:lnTo>
                  <a:pt x="38" y="235"/>
                </a:lnTo>
                <a:lnTo>
                  <a:pt x="33" y="232"/>
                </a:lnTo>
                <a:lnTo>
                  <a:pt x="2" y="218"/>
                </a:lnTo>
                <a:lnTo>
                  <a:pt x="0" y="216"/>
                </a:lnTo>
                <a:lnTo>
                  <a:pt x="0" y="213"/>
                </a:lnTo>
                <a:lnTo>
                  <a:pt x="0" y="154"/>
                </a:lnTo>
                <a:lnTo>
                  <a:pt x="0" y="147"/>
                </a:lnTo>
                <a:lnTo>
                  <a:pt x="7" y="145"/>
                </a:lnTo>
                <a:lnTo>
                  <a:pt x="47" y="128"/>
                </a:lnTo>
                <a:lnTo>
                  <a:pt x="47" y="128"/>
                </a:lnTo>
                <a:lnTo>
                  <a:pt x="50" y="128"/>
                </a:lnTo>
                <a:lnTo>
                  <a:pt x="80" y="145"/>
                </a:lnTo>
                <a:lnTo>
                  <a:pt x="90" y="147"/>
                </a:lnTo>
                <a:lnTo>
                  <a:pt x="90" y="194"/>
                </a:lnTo>
                <a:lnTo>
                  <a:pt x="99" y="199"/>
                </a:lnTo>
                <a:lnTo>
                  <a:pt x="99" y="126"/>
                </a:lnTo>
                <a:lnTo>
                  <a:pt x="76" y="114"/>
                </a:lnTo>
                <a:lnTo>
                  <a:pt x="76" y="142"/>
                </a:lnTo>
                <a:lnTo>
                  <a:pt x="68" y="138"/>
                </a:lnTo>
                <a:lnTo>
                  <a:pt x="68" y="109"/>
                </a:lnTo>
                <a:lnTo>
                  <a:pt x="68" y="102"/>
                </a:lnTo>
                <a:lnTo>
                  <a:pt x="68" y="102"/>
                </a:lnTo>
                <a:close/>
                <a:moveTo>
                  <a:pt x="139" y="95"/>
                </a:moveTo>
                <a:lnTo>
                  <a:pt x="149" y="100"/>
                </a:lnTo>
                <a:lnTo>
                  <a:pt x="158" y="102"/>
                </a:lnTo>
                <a:lnTo>
                  <a:pt x="158" y="171"/>
                </a:lnTo>
                <a:lnTo>
                  <a:pt x="165" y="175"/>
                </a:lnTo>
                <a:lnTo>
                  <a:pt x="165" y="43"/>
                </a:lnTo>
                <a:lnTo>
                  <a:pt x="139" y="31"/>
                </a:lnTo>
                <a:lnTo>
                  <a:pt x="139" y="95"/>
                </a:lnTo>
                <a:lnTo>
                  <a:pt x="139" y="95"/>
                </a:lnTo>
                <a:close/>
                <a:moveTo>
                  <a:pt x="19" y="149"/>
                </a:moveTo>
                <a:lnTo>
                  <a:pt x="38" y="159"/>
                </a:lnTo>
                <a:lnTo>
                  <a:pt x="71" y="147"/>
                </a:lnTo>
                <a:lnTo>
                  <a:pt x="47" y="138"/>
                </a:lnTo>
                <a:lnTo>
                  <a:pt x="19" y="149"/>
                </a:lnTo>
                <a:lnTo>
                  <a:pt x="19" y="149"/>
                </a:lnTo>
                <a:close/>
                <a:moveTo>
                  <a:pt x="173" y="38"/>
                </a:moveTo>
                <a:lnTo>
                  <a:pt x="173" y="36"/>
                </a:lnTo>
                <a:lnTo>
                  <a:pt x="173" y="38"/>
                </a:lnTo>
                <a:lnTo>
                  <a:pt x="173" y="38"/>
                </a:lnTo>
                <a:lnTo>
                  <a:pt x="173" y="38"/>
                </a:lnTo>
                <a:close/>
              </a:path>
            </a:pathLst>
          </a:custGeom>
          <a:solidFill>
            <a:schemeClr val="bg2">
              <a:lumMod val="25000"/>
            </a:schemeClr>
          </a:solidFill>
          <a:ln>
            <a:noFill/>
          </a:ln>
        </p:spPr>
        <p:txBody>
          <a:bodyPr lIns="68580" tIns="34290" rIns="68580" bIns="34290"/>
          <a:lstStyle/>
          <a:p>
            <a:pPr>
              <a:defRPr/>
            </a:pPr>
            <a:endParaRPr lang="zh-CN" altLang="en-US">
              <a:solidFill>
                <a:prstClr val="black"/>
              </a:solidFill>
              <a:latin typeface="+mn-lt"/>
              <a:ea typeface="+mn-ea"/>
            </a:endParaRPr>
          </a:p>
        </p:txBody>
      </p:sp>
    </p:spTree>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6" name="矩形 5"/>
          <p:cNvSpPr/>
          <p:nvPr/>
        </p:nvSpPr>
        <p:spPr>
          <a:xfrm>
            <a:off x="1" y="1997869"/>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8" name="文本框 7"/>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a:solidFill>
                  <a:schemeClr val="bg1"/>
                </a:solidFill>
                <a:latin typeface="Impact" panose="020B0806030902050204" pitchFamily="34" charset="0"/>
              </a:rPr>
              <a:t>1</a:t>
            </a:r>
            <a:endParaRPr lang="zh-CN" altLang="en-US" sz="8600">
              <a:solidFill>
                <a:schemeClr val="bg1"/>
              </a:solidFill>
              <a:latin typeface="Impact" panose="020B0806030902050204" pitchFamily="34" charset="0"/>
            </a:endParaRPr>
          </a:p>
        </p:txBody>
      </p:sp>
      <p:sp>
        <p:nvSpPr>
          <p:cNvPr id="9" name="文本框 8"/>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10" name="矩形 9"/>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1" name="文本框 10"/>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12" name="文本框 11"/>
          <p:cNvSpPr txBox="1">
            <a:spLocks noChangeArrowheads="1"/>
          </p:cNvSpPr>
          <p:nvPr/>
        </p:nvSpPr>
        <p:spPr bwMode="auto">
          <a:xfrm>
            <a:off x="4716016" y="2724499"/>
            <a:ext cx="4295775" cy="6232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研究背景与研究现状</a:t>
            </a:r>
          </a:p>
        </p:txBody>
      </p:sp>
    </p:spTree>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latin typeface="微软雅黑" panose="020B0503020204020204" pitchFamily="34" charset="-122"/>
              <a:ea typeface="微软雅黑" panose="020B0503020204020204" pitchFamily="34" charset="-122"/>
            </a:endParaRPr>
          </a:p>
        </p:txBody>
      </p:sp>
      <p:sp>
        <p:nvSpPr>
          <p:cNvPr id="6" name="矩形 5"/>
          <p:cNvSpPr/>
          <p:nvPr/>
        </p:nvSpPr>
        <p:spPr>
          <a:xfrm>
            <a:off x="3239344"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latin typeface="微软雅黑" panose="020B0503020204020204" pitchFamily="34" charset="-122"/>
              <a:ea typeface="微软雅黑" panose="020B0503020204020204" pitchFamily="34" charset="-122"/>
            </a:endParaRPr>
          </a:p>
        </p:txBody>
      </p:sp>
      <p:sp>
        <p:nvSpPr>
          <p:cNvPr id="7" name="文本框 20"/>
          <p:cNvSpPr txBox="1">
            <a:spLocks noChangeArrowheads="1"/>
          </p:cNvSpPr>
          <p:nvPr/>
        </p:nvSpPr>
        <p:spPr bwMode="auto">
          <a:xfrm>
            <a:off x="457200" y="67826"/>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与研究现状</a:t>
            </a:r>
          </a:p>
        </p:txBody>
      </p:sp>
      <p:sp>
        <p:nvSpPr>
          <p:cNvPr id="8"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微软雅黑" panose="020B0503020204020204" pitchFamily="34" charset="-122"/>
                <a:ea typeface="微软雅黑" panose="020B0503020204020204" pitchFamily="34" charset="-122"/>
              </a:rPr>
              <a:t>01</a:t>
            </a:r>
            <a:endParaRPr lang="zh-CN" altLang="en-US" sz="2400" dirty="0">
              <a:solidFill>
                <a:schemeClr val="bg2">
                  <a:lumMod val="25000"/>
                </a:schemeClr>
              </a:solidFill>
              <a:latin typeface="微软雅黑" panose="020B0503020204020204" pitchFamily="34" charset="-122"/>
              <a:ea typeface="微软雅黑" panose="020B0503020204020204" pitchFamily="34" charset="-122"/>
            </a:endParaRPr>
          </a:p>
        </p:txBody>
      </p:sp>
      <p:sp>
        <p:nvSpPr>
          <p:cNvPr id="2" name="灯片编号占位符 1"/>
          <p:cNvSpPr>
            <a:spLocks noGrp="1"/>
          </p:cNvSpPr>
          <p:nvPr>
            <p:ph type="sldNum" sz="quarter" idx="12"/>
            <p:custDataLst>
              <p:tags r:id="rId1"/>
            </p:custDataLst>
          </p:nvPr>
        </p:nvSpPr>
        <p:spPr/>
        <p:txBody>
          <a:bodyPr/>
          <a:lstStyle/>
          <a:p>
            <a:fld id="{0C913308-F349-4B6D-A68A-DD1791B4A57B}" type="slidenum">
              <a:rPr lang="zh-CN" altLang="en-US" smtClean="0"/>
              <a:t>4</a:t>
            </a:fld>
            <a:endParaRPr lang="zh-CN" altLang="en-US" dirty="0"/>
          </a:p>
        </p:txBody>
      </p:sp>
      <p:sp>
        <p:nvSpPr>
          <p:cNvPr id="3" name="淘宝-想搞设计PPT(倒卖必究)-3">
            <a:extLst>
              <a:ext uri="{FF2B5EF4-FFF2-40B4-BE49-F238E27FC236}">
                <a16:creationId xmlns="" xmlns:a16="http://schemas.microsoft.com/office/drawing/2014/main" id="{90ECB1AC-F476-8EDF-F839-33E155C70E82}"/>
              </a:ext>
            </a:extLst>
          </p:cNvPr>
          <p:cNvSpPr/>
          <p:nvPr/>
        </p:nvSpPr>
        <p:spPr>
          <a:xfrm>
            <a:off x="179512" y="625368"/>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工业背景</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4" name="淘宝-想搞设计PPT(倒卖必究)-3">
            <a:extLst>
              <a:ext uri="{FF2B5EF4-FFF2-40B4-BE49-F238E27FC236}">
                <a16:creationId xmlns="" xmlns:a16="http://schemas.microsoft.com/office/drawing/2014/main" id="{20779FF0-93DC-089F-FC58-F01448FA6CB4}"/>
              </a:ext>
            </a:extLst>
          </p:cNvPr>
          <p:cNvSpPr/>
          <p:nvPr/>
        </p:nvSpPr>
        <p:spPr>
          <a:xfrm>
            <a:off x="179513" y="989158"/>
            <a:ext cx="8784975" cy="1231106"/>
          </a:xfrm>
          <a:prstGeom prst="rect">
            <a:avLst/>
          </a:prstGeom>
        </p:spPr>
        <p:txBody>
          <a:bodyPr wrap="square" lIns="0" rIns="0">
            <a:spAutoFit/>
          </a:bodyPr>
          <a:lstStyle/>
          <a:p>
            <a:pPr marL="285750" lvl="0" indent="-285750">
              <a:spcBef>
                <a:spcPts val="600"/>
              </a:spcBef>
              <a:spcAft>
                <a:spcPts val="600"/>
              </a:spcAft>
              <a:buFont typeface="Arial" panose="020B0604020202020204" pitchFamily="34" charset="0"/>
              <a:buChar char="•"/>
            </a:pP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中国制造</a:t>
            </a:r>
            <a:r>
              <a:rPr lang="en-US" sz="1600" dirty="0">
                <a:latin typeface="微软雅黑" panose="020B0503020204020204" pitchFamily="34" charset="-122"/>
                <a:ea typeface="微软雅黑" panose="020B0503020204020204" pitchFamily="34" charset="-122"/>
              </a:rPr>
              <a:t>2025</a:t>
            </a: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、智能制造 等战略推进</a:t>
            </a:r>
            <a:r>
              <a:rPr lang="zh-CN" altLang="en-US" sz="1600" dirty="0">
                <a:latin typeface="微软雅黑" panose="020B0503020204020204" pitchFamily="34" charset="-122"/>
                <a:ea typeface="微软雅黑" panose="020B0503020204020204" pitchFamily="34" charset="-122"/>
              </a:rPr>
              <a:t>，柔性作业车间（</a:t>
            </a:r>
            <a:r>
              <a:rPr lang="en-US" sz="1600" dirty="0">
                <a:latin typeface="微软雅黑" panose="020B0503020204020204" pitchFamily="34" charset="-122"/>
                <a:ea typeface="微软雅黑" panose="020B0503020204020204" pitchFamily="34" charset="-122"/>
              </a:rPr>
              <a:t>Flexible Job Shop）</a:t>
            </a:r>
            <a:r>
              <a:rPr lang="zh-CN" altLang="en-US" sz="1600" dirty="0">
                <a:latin typeface="微软雅黑" panose="020B0503020204020204" pitchFamily="34" charset="-122"/>
                <a:ea typeface="微软雅黑" panose="020B0503020204020204" pitchFamily="34" charset="-122"/>
              </a:rPr>
              <a:t>中「异构加工资源 </a:t>
            </a:r>
            <a:r>
              <a:rPr lang="en-US" altLang="zh-CN" sz="1600" dirty="0">
                <a:latin typeface="微软雅黑" panose="020B0503020204020204" pitchFamily="34" charset="-122"/>
                <a:ea typeface="微软雅黑" panose="020B0503020204020204" pitchFamily="34" charset="-122"/>
              </a:rPr>
              <a:t>+ </a:t>
            </a:r>
            <a:r>
              <a:rPr lang="zh-CN" altLang="en-US" sz="1600" dirty="0">
                <a:latin typeface="微软雅黑" panose="020B0503020204020204" pitchFamily="34" charset="-122"/>
                <a:ea typeface="微软雅黑" panose="020B0503020204020204" pitchFamily="34" charset="-122"/>
              </a:rPr>
              <a:t>自主搬运」已成为智能制造的典型</a:t>
            </a:r>
            <a:r>
              <a:rPr lang="zh-CN" altLang="en-US" sz="1600" dirty="0" smtClean="0">
                <a:latin typeface="微软雅黑" panose="020B0503020204020204" pitchFamily="34" charset="-122"/>
                <a:ea typeface="微软雅黑" panose="020B0503020204020204" pitchFamily="34" charset="-122"/>
              </a:rPr>
              <a:t>形态</a:t>
            </a:r>
            <a:endParaRPr lang="en-US" altLang="zh-CN" sz="1600" dirty="0" smtClean="0">
              <a:latin typeface="微软雅黑" panose="020B0503020204020204" pitchFamily="34" charset="-122"/>
              <a:ea typeface="微软雅黑" panose="020B0503020204020204" pitchFamily="34" charset="-122"/>
            </a:endParaRPr>
          </a:p>
          <a:p>
            <a:pPr marL="285750" lvl="0" indent="-285750">
              <a:spcBef>
                <a:spcPts val="600"/>
              </a:spcBef>
              <a:spcAft>
                <a:spcPts val="600"/>
              </a:spcAft>
              <a:buFont typeface="Arial" panose="020B0604020202020204" pitchFamily="34" charset="0"/>
              <a:buChar char="•"/>
            </a:pPr>
            <a:r>
              <a:rPr lang="zh-CN" altLang="en-US" sz="1600" dirty="0" smtClean="0">
                <a:latin typeface="微软雅黑" panose="020B0503020204020204" pitchFamily="34" charset="-122"/>
                <a:ea typeface="微软雅黑" panose="020B0503020204020204" pitchFamily="34" charset="-122"/>
              </a:rPr>
              <a:t>机械臂与</a:t>
            </a:r>
            <a:r>
              <a:rPr lang="en-US" altLang="zh-CN" sz="1600" dirty="0" smtClean="0">
                <a:latin typeface="微软雅黑" panose="020B0503020204020204" pitchFamily="34" charset="-122"/>
                <a:ea typeface="微软雅黑" panose="020B0503020204020204" pitchFamily="34" charset="-122"/>
              </a:rPr>
              <a:t>AGV</a:t>
            </a:r>
            <a:r>
              <a:rPr lang="zh-CN" altLang="en-US" sz="1600" dirty="0" smtClean="0">
                <a:latin typeface="微软雅黑" panose="020B0503020204020204" pitchFamily="34" charset="-122"/>
                <a:ea typeface="微软雅黑" panose="020B0503020204020204" pitchFamily="34" charset="-122"/>
              </a:rPr>
              <a:t>二者</a:t>
            </a:r>
            <a:r>
              <a:rPr lang="zh-CN" altLang="en-US" sz="1600" dirty="0">
                <a:latin typeface="微软雅黑" panose="020B0503020204020204" pitchFamily="34" charset="-122"/>
                <a:ea typeface="微软雅黑" panose="020B0503020204020204" pitchFamily="34" charset="-122"/>
              </a:rPr>
              <a:t>分工协作</a:t>
            </a:r>
            <a:r>
              <a:rPr lang="zh-CN" altLang="en-US" sz="1600" dirty="0">
                <a:latin typeface="微软雅黑" panose="020B0503020204020204" pitchFamily="34" charset="-122"/>
                <a:ea typeface="微软雅黑" panose="020B0503020204020204" pitchFamily="34" charset="-122"/>
              </a:rPr>
              <a:t>：并非彼此独立的两个优化问题，而是通过到达时刻、开工窗口与路径占用紧密耦合，共同决定系统完工时间等全局指标</a:t>
            </a:r>
            <a:endParaRPr lang="en-US" sz="1600" dirty="0">
              <a:latin typeface="微软雅黑" panose="020B0503020204020204" pitchFamily="34" charset="-122"/>
              <a:ea typeface="微软雅黑" panose="020B0503020204020204" pitchFamily="34" charset="-122"/>
            </a:endParaRPr>
          </a:p>
        </p:txBody>
      </p:sp>
      <p:sp>
        <p:nvSpPr>
          <p:cNvPr id="9" name="淘宝-想搞设计PPT(倒卖必究)-3">
            <a:extLst>
              <a:ext uri="{FF2B5EF4-FFF2-40B4-BE49-F238E27FC236}">
                <a16:creationId xmlns="" xmlns:a16="http://schemas.microsoft.com/office/drawing/2014/main" id="{9B1B81C8-7C21-5760-32A9-1359543A6B44}"/>
              </a:ext>
            </a:extLst>
          </p:cNvPr>
          <p:cNvSpPr/>
          <p:nvPr/>
        </p:nvSpPr>
        <p:spPr>
          <a:xfrm>
            <a:off x="179512" y="2247060"/>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系统架构</a:t>
            </a:r>
            <a:r>
              <a:rPr lang="zh-CN" altLang="en-US" b="1" dirty="0" smtClean="0">
                <a:ln w="0"/>
                <a:latin typeface="微软雅黑" panose="020B0503020204020204" pitchFamily="34" charset="-122"/>
                <a:ea typeface="微软雅黑" panose="020B0503020204020204" pitchFamily="34" charset="-122"/>
                <a:cs typeface="Times New Roman" panose="02020603050405020304" pitchFamily="18" charset="0"/>
              </a:rPr>
              <a:t>（</a:t>
            </a:r>
            <a:r>
              <a:rPr lang="zh-CN" altLang="en-US" b="1" dirty="0" smtClean="0">
                <a:ln w="0"/>
                <a:latin typeface="微软雅黑" panose="020B0503020204020204" pitchFamily="34" charset="-122"/>
                <a:ea typeface="微软雅黑" panose="020B0503020204020204" pitchFamily="34" charset="-122"/>
                <a:cs typeface="Times New Roman" panose="02020603050405020304" pitchFamily="18" charset="0"/>
              </a:rPr>
              <a:t>双层</a:t>
            </a:r>
            <a:r>
              <a:rPr lang="zh-CN" altLang="en-US" b="1" dirty="0" smtClean="0">
                <a:ln w="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10" name="Table 9">
            <a:extLst>
              <a:ext uri="{FF2B5EF4-FFF2-40B4-BE49-F238E27FC236}">
                <a16:creationId xmlns="" xmlns:a16="http://schemas.microsoft.com/office/drawing/2014/main" id="{BC8D8633-87CE-F2CC-A1F2-D46F5429BCE8}"/>
              </a:ext>
            </a:extLst>
          </p:cNvPr>
          <p:cNvGraphicFramePr>
            <a:graphicFrameLocks noGrp="1"/>
          </p:cNvGraphicFramePr>
          <p:nvPr>
            <p:extLst>
              <p:ext uri="{D42A27DB-BD31-4B8C-83A1-F6EECF244321}">
                <p14:modId xmlns:p14="http://schemas.microsoft.com/office/powerpoint/2010/main" val="4008938171"/>
              </p:ext>
            </p:extLst>
          </p:nvPr>
        </p:nvGraphicFramePr>
        <p:xfrm>
          <a:off x="179511" y="2584054"/>
          <a:ext cx="4608513" cy="2213864"/>
        </p:xfrm>
        <a:graphic>
          <a:graphicData uri="http://schemas.openxmlformats.org/drawingml/2006/table">
            <a:tbl>
              <a:tblPr firstRow="1" bandRow="1">
                <a:tableStyleId>{00A15C55-8517-42AA-B614-E9B94910E393}</a:tableStyleId>
              </a:tblPr>
              <a:tblGrid>
                <a:gridCol w="1737636">
                  <a:extLst>
                    <a:ext uri="{9D8B030D-6E8A-4147-A177-3AD203B41FA5}">
                      <a16:colId xmlns="" xmlns:a16="http://schemas.microsoft.com/office/drawing/2014/main" val="1142861759"/>
                    </a:ext>
                  </a:extLst>
                </a:gridCol>
                <a:gridCol w="2870877">
                  <a:extLst>
                    <a:ext uri="{9D8B030D-6E8A-4147-A177-3AD203B41FA5}">
                      <a16:colId xmlns="" xmlns:a16="http://schemas.microsoft.com/office/drawing/2014/main" val="473110948"/>
                    </a:ext>
                  </a:extLst>
                </a:gridCol>
              </a:tblGrid>
              <a:tr h="370840">
                <a:tc>
                  <a:txBody>
                    <a:bodyPr/>
                    <a:lstStyle/>
                    <a:p>
                      <a:pPr marL="0" marR="0" algn="ctr">
                        <a:lnSpc>
                          <a:spcPct val="115000"/>
                        </a:lnSpc>
                        <a:spcAft>
                          <a:spcPts val="800"/>
                        </a:spcAft>
                        <a:buNone/>
                      </a:pPr>
                      <a:r>
                        <a:rPr lang="zh-CN" altLang="en-US" sz="1600" kern="1200" dirty="0">
                          <a:solidFill>
                            <a:schemeClr val="bg1"/>
                          </a:solidFill>
                          <a:latin typeface="微软雅黑" panose="020B0503020204020204" pitchFamily="34" charset="-122"/>
                          <a:ea typeface="微软雅黑" panose="020B0503020204020204" pitchFamily="34" charset="-122"/>
                          <a:cs typeface="+mn-cs"/>
                        </a:rPr>
                        <a:t>层级</a:t>
                      </a:r>
                      <a:endParaRPr lang="en-US" sz="1600" kern="1200" dirty="0">
                        <a:solidFill>
                          <a:schemeClr val="bg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gn="ctr">
                        <a:lnSpc>
                          <a:spcPct val="115000"/>
                        </a:lnSpc>
                        <a:spcAft>
                          <a:spcPts val="800"/>
                        </a:spcAft>
                        <a:buNone/>
                      </a:pPr>
                      <a:r>
                        <a:rPr lang="zh-CN" altLang="en-US" sz="1600" kern="1200" dirty="0">
                          <a:solidFill>
                            <a:schemeClr val="bg1"/>
                          </a:solidFill>
                          <a:latin typeface="微软雅黑" panose="020B0503020204020204" pitchFamily="34" charset="-122"/>
                          <a:ea typeface="微软雅黑" panose="020B0503020204020204" pitchFamily="34" charset="-122"/>
                          <a:cs typeface="+mn-cs"/>
                        </a:rPr>
                        <a:t>功能</a:t>
                      </a:r>
                      <a:endParaRPr lang="en-US" sz="1600" kern="1200" dirty="0">
                        <a:solidFill>
                          <a:schemeClr val="bg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 xmlns:a16="http://schemas.microsoft.com/office/drawing/2014/main" val="4263651850"/>
                  </a:ext>
                </a:extLst>
              </a:tr>
              <a:tr h="370840">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集中式任务分配层</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全局最优任务规划、指令下发</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 xmlns:a16="http://schemas.microsoft.com/office/drawing/2014/main" val="3090417641"/>
                  </a:ext>
                </a:extLst>
              </a:tr>
              <a:tr h="370840">
                <a:tc>
                  <a:txBody>
                    <a:bodyPr/>
                    <a:lstStyle/>
                    <a:p>
                      <a:pPr marL="0" marR="0">
                        <a:lnSpc>
                          <a:spcPct val="115000"/>
                        </a:lnSpc>
                        <a:spcAft>
                          <a:spcPts val="800"/>
                        </a:spcAft>
                        <a:buNone/>
                      </a:pPr>
                      <a:r>
                        <a:rPr lang="zh-CN" altLang="en-US" sz="1400" kern="1200" dirty="0" smtClean="0">
                          <a:solidFill>
                            <a:schemeClr val="tx1"/>
                          </a:solidFill>
                          <a:latin typeface="微软雅黑" panose="020B0503020204020204" pitchFamily="34" charset="-122"/>
                          <a:ea typeface="微软雅黑" panose="020B0503020204020204" pitchFamily="34" charset="-122"/>
                          <a:cs typeface="+mn-cs"/>
                        </a:rPr>
                        <a:t>现场执行与无冲突通行层</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400" kern="1200" dirty="0" smtClean="0">
                          <a:solidFill>
                            <a:schemeClr val="tx1"/>
                          </a:solidFill>
                          <a:latin typeface="微软雅黑" panose="020B0503020204020204" pitchFamily="34" charset="-122"/>
                          <a:ea typeface="微软雅黑" panose="020B0503020204020204" pitchFamily="34" charset="-122"/>
                          <a:cs typeface="+mn-cs"/>
                        </a:rPr>
                        <a:t>现场执行层由异构机械臂与 </a:t>
                      </a:r>
                      <a:r>
                        <a:rPr lang="en-US" altLang="zh-CN" sz="1400" kern="1200" dirty="0" smtClean="0">
                          <a:solidFill>
                            <a:schemeClr val="tx1"/>
                          </a:solidFill>
                          <a:latin typeface="微软雅黑" panose="020B0503020204020204" pitchFamily="34" charset="-122"/>
                          <a:ea typeface="微软雅黑" panose="020B0503020204020204" pitchFamily="34" charset="-122"/>
                          <a:cs typeface="+mn-cs"/>
                        </a:rPr>
                        <a:t>AGV </a:t>
                      </a:r>
                      <a:r>
                        <a:rPr lang="zh-CN" altLang="en-US" sz="1400" kern="1200" dirty="0" smtClean="0">
                          <a:solidFill>
                            <a:schemeClr val="tx1"/>
                          </a:solidFill>
                          <a:latin typeface="微软雅黑" panose="020B0503020204020204" pitchFamily="34" charset="-122"/>
                          <a:ea typeface="微软雅黑" panose="020B0503020204020204" pitchFamily="34" charset="-122"/>
                          <a:cs typeface="+mn-cs"/>
                        </a:rPr>
                        <a:t>等资源构成，是调度方案的具体落实单元。</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 xmlns:a16="http://schemas.microsoft.com/office/drawing/2014/main" val="1756568696"/>
                  </a:ext>
                </a:extLst>
              </a:tr>
              <a:tr h="370840">
                <a:tc>
                  <a:txBody>
                    <a:bodyPr/>
                    <a:lstStyle/>
                    <a:p>
                      <a:pPr marL="0" marR="0">
                        <a:lnSpc>
                          <a:spcPct val="115000"/>
                        </a:lnSpc>
                        <a:spcAft>
                          <a:spcPts val="800"/>
                        </a:spcAft>
                        <a:buNone/>
                      </a:pPr>
                      <a:r>
                        <a:rPr lang="zh-CN" altLang="en-US" sz="1400" kern="1200" dirty="0" smtClean="0">
                          <a:solidFill>
                            <a:schemeClr val="tx1"/>
                          </a:solidFill>
                          <a:latin typeface="微软雅黑" panose="020B0503020204020204" pitchFamily="34" charset="-122"/>
                          <a:ea typeface="微软雅黑" panose="020B0503020204020204" pitchFamily="34" charset="-122"/>
                          <a:cs typeface="+mn-cs"/>
                        </a:rPr>
                        <a:t>规划与执行之间的双向强耦合</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400" kern="1200" dirty="0" smtClean="0">
                          <a:solidFill>
                            <a:schemeClr val="tx1"/>
                          </a:solidFill>
                          <a:latin typeface="微软雅黑" panose="020B0503020204020204" pitchFamily="34" charset="-122"/>
                          <a:ea typeface="微软雅黑" panose="020B0503020204020204" pitchFamily="34" charset="-122"/>
                          <a:cs typeface="+mn-cs"/>
                        </a:rPr>
                        <a:t>规划层依据全局优化目标持续下发指派与时序；各执行单元自身状态等些信息直接约束规划层的下一轮决策。</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 xmlns:a16="http://schemas.microsoft.com/office/drawing/2014/main" val="2886293465"/>
                  </a:ext>
                </a:extLst>
              </a:tr>
            </a:tbl>
          </a:graphicData>
        </a:graphic>
      </p:graphicFrame>
      <p:pic>
        <p:nvPicPr>
          <p:cNvPr id="11" name="Picture 10">
            <a:extLst>
              <a:ext uri="{FF2B5EF4-FFF2-40B4-BE49-F238E27FC236}">
                <a16:creationId xmlns="" xmlns:a16="http://schemas.microsoft.com/office/drawing/2014/main" id="{54850EF1-9048-6213-D39F-871439A8FDB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60032" y="2217741"/>
            <a:ext cx="4293259" cy="24131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6" name="矩形 5"/>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与研究现状</a:t>
            </a:r>
          </a:p>
        </p:txBody>
      </p:sp>
      <p:sp>
        <p:nvSpPr>
          <p:cNvPr id="8"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3" name="淘宝-想搞设计PPT(倒卖必究)-3">
            <a:extLst>
              <a:ext uri="{FF2B5EF4-FFF2-40B4-BE49-F238E27FC236}">
                <a16:creationId xmlns="" xmlns:a16="http://schemas.microsoft.com/office/drawing/2014/main" id="{7D1CD056-93FF-51CB-8E05-FB8BF32FB3AD}"/>
              </a:ext>
            </a:extLst>
          </p:cNvPr>
          <p:cNvSpPr/>
          <p:nvPr/>
        </p:nvSpPr>
        <p:spPr>
          <a:xfrm>
            <a:off x="378533" y="515888"/>
            <a:ext cx="711045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工业现场主流应用方法（</a:t>
            </a:r>
            <a:r>
              <a:rPr lang="en-US" altLang="zh-CN" b="1" dirty="0">
                <a:ln w="0"/>
                <a:latin typeface="微软雅黑" panose="020B0503020204020204" pitchFamily="34" charset="-122"/>
                <a:ea typeface="微软雅黑" panose="020B0503020204020204" pitchFamily="34" charset="-122"/>
                <a:cs typeface="Times New Roman" panose="02020603050405020304" pitchFamily="18" charset="0"/>
              </a:rPr>
              <a:t>FCFS</a:t>
            </a:r>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，先来先服务）的局限</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2" name="淘宝-想搞设计PPT(倒卖必究)-3">
            <a:extLst>
              <a:ext uri="{FF2B5EF4-FFF2-40B4-BE49-F238E27FC236}">
                <a16:creationId xmlns="" xmlns:a16="http://schemas.microsoft.com/office/drawing/2014/main" id="{90BB3829-D5F4-1122-6E91-DD9AB86E3E3A}"/>
              </a:ext>
            </a:extLst>
          </p:cNvPr>
          <p:cNvSpPr/>
          <p:nvPr/>
        </p:nvSpPr>
        <p:spPr>
          <a:xfrm>
            <a:off x="517161" y="879678"/>
            <a:ext cx="8303311" cy="738664"/>
          </a:xfrm>
          <a:prstGeom prst="rect">
            <a:avLst/>
          </a:prstGeom>
        </p:spPr>
        <p:txBody>
          <a:bodyPr wrap="square" lIns="0" rIns="0">
            <a:spAutoFit/>
          </a:bodyPr>
          <a:lstStyle/>
          <a:p>
            <a:pPr marL="285750" indent="-285750">
              <a:spcBef>
                <a:spcPts val="600"/>
              </a:spcBef>
              <a:spcAft>
                <a:spcPts val="600"/>
              </a:spcAft>
              <a:buFont typeface="Arial" panose="020B0604020202020204" pitchFamily="34" charset="0"/>
              <a:buChar char="•"/>
            </a:pPr>
            <a:r>
              <a:rPr lang="zh-CN" altLang="en-US" sz="1600" b="1" dirty="0">
                <a:latin typeface="微软雅黑" panose="020B0503020204020204" pitchFamily="34" charset="-122"/>
                <a:ea typeface="微软雅黑" panose="020B0503020204020204" pitchFamily="34" charset="-122"/>
              </a:rPr>
              <a:t>优点</a:t>
            </a:r>
            <a:r>
              <a:rPr lang="zh-CN" altLang="en-US" sz="1600" dirty="0">
                <a:latin typeface="微软雅黑" panose="020B0503020204020204" pitchFamily="34" charset="-122"/>
                <a:ea typeface="微软雅黑" panose="020B0503020204020204" pitchFamily="34" charset="-122"/>
              </a:rPr>
              <a:t>：逻辑</a:t>
            </a:r>
            <a:r>
              <a:rPr lang="zh-CN" altLang="en-US" sz="1600" b="1" dirty="0">
                <a:latin typeface="微软雅黑" panose="020B0503020204020204" pitchFamily="34" charset="-122"/>
                <a:ea typeface="微软雅黑" panose="020B0503020204020204" pitchFamily="34" charset="-122"/>
              </a:rPr>
              <a:t>简单</a:t>
            </a:r>
            <a:r>
              <a:rPr lang="zh-CN" altLang="en-US" sz="1600" dirty="0">
                <a:latin typeface="微软雅黑" panose="020B0503020204020204" pitchFamily="34" charset="-122"/>
                <a:ea typeface="微软雅黑" panose="020B0503020204020204" pitchFamily="34" charset="-122"/>
              </a:rPr>
              <a:t>、响应</a:t>
            </a:r>
            <a:r>
              <a:rPr lang="zh-CN" altLang="en-US" sz="1600" b="1" dirty="0">
                <a:latin typeface="微软雅黑" panose="020B0503020204020204" pitchFamily="34" charset="-122"/>
                <a:ea typeface="微软雅黑" panose="020B0503020204020204" pitchFamily="34" charset="-122"/>
              </a:rPr>
              <a:t>快</a:t>
            </a:r>
            <a:endParaRPr lang="en-US" altLang="zh-CN" sz="1600" b="1" dirty="0">
              <a:latin typeface="微软雅黑" panose="020B0503020204020204" pitchFamily="34" charset="-122"/>
              <a:ea typeface="微软雅黑" panose="020B0503020204020204" pitchFamily="34" charset="-122"/>
            </a:endParaRPr>
          </a:p>
          <a:p>
            <a:pPr marL="285750" indent="-285750">
              <a:spcBef>
                <a:spcPts val="600"/>
              </a:spcBef>
              <a:spcAft>
                <a:spcPts val="600"/>
              </a:spcAft>
              <a:buFont typeface="Arial" panose="020B0604020202020204" pitchFamily="34" charset="0"/>
              <a:buChar char="•"/>
            </a:pPr>
            <a:r>
              <a:rPr lang="zh-CN" altLang="en-US" sz="1600" b="1" dirty="0">
                <a:latin typeface="微软雅黑" panose="020B0503020204020204" pitchFamily="34" charset="-122"/>
                <a:ea typeface="微软雅黑" panose="020B0503020204020204" pitchFamily="34" charset="-122"/>
              </a:rPr>
              <a:t>缺点</a:t>
            </a:r>
            <a:r>
              <a:rPr lang="zh-CN" altLang="en-US" sz="1600" dirty="0">
                <a:latin typeface="微软雅黑" panose="020B0503020204020204" pitchFamily="34" charset="-122"/>
                <a:ea typeface="微软雅黑" panose="020B0503020204020204" pitchFamily="34" charset="-122"/>
              </a:rPr>
              <a:t>：仅按照任务到达顺序进行分配，</a:t>
            </a:r>
            <a:r>
              <a:rPr lang="zh-CN" altLang="en-US" sz="1600" b="1" dirty="0">
                <a:latin typeface="微软雅黑" panose="020B0503020204020204" pitchFamily="34" charset="-122"/>
                <a:ea typeface="微软雅黑" panose="020B0503020204020204" pitchFamily="34" charset="-122"/>
              </a:rPr>
              <a:t>调度效率很低</a:t>
            </a:r>
            <a:endParaRPr lang="en-US" sz="1600" b="1" dirty="0">
              <a:latin typeface="微软雅黑" panose="020B0503020204020204" pitchFamily="34" charset="-122"/>
              <a:ea typeface="微软雅黑" panose="020B0503020204020204" pitchFamily="34" charset="-122"/>
            </a:endParaRPr>
          </a:p>
        </p:txBody>
      </p:sp>
      <p:sp>
        <p:nvSpPr>
          <p:cNvPr id="13" name="淘宝-想搞设计PPT(倒卖必究)-3">
            <a:extLst>
              <a:ext uri="{FF2B5EF4-FFF2-40B4-BE49-F238E27FC236}">
                <a16:creationId xmlns="" xmlns:a16="http://schemas.microsoft.com/office/drawing/2014/main" id="{B2D0C359-00F3-DA56-8405-84481FC580EC}"/>
              </a:ext>
            </a:extLst>
          </p:cNvPr>
          <p:cNvSpPr/>
          <p:nvPr/>
        </p:nvSpPr>
        <p:spPr>
          <a:xfrm>
            <a:off x="376157" y="1603323"/>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其它学界方法的局限</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淘宝-想搞设计PPT(倒卖必究)-3">
            <a:extLst>
              <a:ext uri="{FF2B5EF4-FFF2-40B4-BE49-F238E27FC236}">
                <a16:creationId xmlns="" xmlns:a16="http://schemas.microsoft.com/office/drawing/2014/main" id="{46777E22-7D61-EB33-5B7B-3791FE5F4180}"/>
              </a:ext>
            </a:extLst>
          </p:cNvPr>
          <p:cNvSpPr/>
          <p:nvPr/>
        </p:nvSpPr>
        <p:spPr>
          <a:xfrm>
            <a:off x="517161" y="1993558"/>
            <a:ext cx="8626839" cy="338554"/>
          </a:xfrm>
          <a:prstGeom prst="rect">
            <a:avLst/>
          </a:prstGeom>
        </p:spPr>
        <p:txBody>
          <a:bodyPr wrap="square" lIns="0" rIns="0">
            <a:spAutoFit/>
          </a:bodyPr>
          <a:lstStyle/>
          <a:p>
            <a:pPr marL="285750" indent="-285750">
              <a:spcBef>
                <a:spcPts val="600"/>
              </a:spcBef>
              <a:spcAft>
                <a:spcPts val="600"/>
              </a:spcAft>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现有优化算法（</a:t>
            </a:r>
            <a:r>
              <a:rPr lang="en-US" altLang="zh-CN" sz="1600" dirty="0">
                <a:latin typeface="微软雅黑" panose="020B0503020204020204" pitchFamily="34" charset="-122"/>
                <a:ea typeface="微软雅黑" panose="020B0503020204020204" pitchFamily="34" charset="-122"/>
              </a:rPr>
              <a:t>MIP</a:t>
            </a:r>
            <a:r>
              <a:rPr lang="zh-CN" altLang="en-US" sz="1600" dirty="0">
                <a:latin typeface="微软雅黑" panose="020B0503020204020204" pitchFamily="34" charset="-122"/>
                <a:ea typeface="微软雅黑" panose="020B0503020204020204" pitchFamily="34" charset="-122"/>
              </a:rPr>
              <a:t>、强化学习等）均</a:t>
            </a:r>
            <a:r>
              <a:rPr lang="zh-CN" altLang="en-US" sz="1600" b="1" dirty="0">
                <a:latin typeface="微软雅黑" panose="020B0503020204020204" pitchFamily="34" charset="-122"/>
                <a:ea typeface="微软雅黑" panose="020B0503020204020204" pitchFamily="34" charset="-122"/>
              </a:rPr>
              <a:t>以系统理想运行为前提，抗扰性严重不足</a:t>
            </a:r>
            <a:endParaRPr lang="en-US" altLang="zh-CN" sz="1600" b="1" dirty="0">
              <a:latin typeface="微软雅黑" panose="020B0503020204020204" pitchFamily="34" charset="-122"/>
              <a:ea typeface="微软雅黑" panose="020B0503020204020204" pitchFamily="34" charset="-122"/>
            </a:endParaRPr>
          </a:p>
        </p:txBody>
      </p:sp>
      <p:sp>
        <p:nvSpPr>
          <p:cNvPr id="17" name="淘宝-想搞设计PPT(倒卖必究)-3">
            <a:extLst>
              <a:ext uri="{FF2B5EF4-FFF2-40B4-BE49-F238E27FC236}">
                <a16:creationId xmlns="" xmlns:a16="http://schemas.microsoft.com/office/drawing/2014/main" id="{5883D2BE-3027-3EC4-E701-BDFEA86B7C1B}"/>
              </a:ext>
            </a:extLst>
          </p:cNvPr>
          <p:cNvSpPr/>
          <p:nvPr/>
        </p:nvSpPr>
        <p:spPr>
          <a:xfrm>
            <a:off x="413147" y="2358909"/>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工业扰动的两大来源</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8" name="淘宝-想搞设计PPT(倒卖必究)-3">
            <a:extLst>
              <a:ext uri="{FF2B5EF4-FFF2-40B4-BE49-F238E27FC236}">
                <a16:creationId xmlns="" xmlns:a16="http://schemas.microsoft.com/office/drawing/2014/main" id="{27462B26-93BF-CC67-E89E-019A77F80C25}"/>
              </a:ext>
            </a:extLst>
          </p:cNvPr>
          <p:cNvSpPr/>
          <p:nvPr/>
        </p:nvSpPr>
        <p:spPr>
          <a:xfrm>
            <a:off x="517161" y="2759019"/>
            <a:ext cx="6432279" cy="2031325"/>
          </a:xfrm>
          <a:prstGeom prst="rect">
            <a:avLst/>
          </a:prstGeom>
        </p:spPr>
        <p:txBody>
          <a:bodyPr wrap="square" lIns="0" rIns="0">
            <a:spAutoFit/>
          </a:bodyPr>
          <a:lstStyle/>
          <a:p>
            <a:r>
              <a:rPr lang="en-US" dirty="0">
                <a:solidFill>
                  <a:schemeClr val="bg1">
                    <a:lumMod val="50000"/>
                  </a:schemeClr>
                </a:solidFill>
              </a:rPr>
              <a:t>🔧 </a:t>
            </a:r>
            <a:r>
              <a:rPr lang="zh-CN" altLang="en-US" b="1" dirty="0">
                <a:solidFill>
                  <a:schemeClr val="bg1">
                    <a:lumMod val="50000"/>
                  </a:schemeClr>
                </a:solidFill>
              </a:rPr>
              <a:t>内部扰动（设备工况异常等）</a:t>
            </a:r>
            <a:endParaRPr lang="en-US" dirty="0">
              <a:solidFill>
                <a:schemeClr val="bg1">
                  <a:lumMod val="50000"/>
                </a:schemeClr>
              </a:solidFill>
            </a:endParaRPr>
          </a:p>
          <a:p>
            <a:pPr marL="285750" lvl="0" indent="-285750">
              <a:buFont typeface="Arial" panose="020B0604020202020204" pitchFamily="34" charset="0"/>
              <a:buChar char="•"/>
            </a:pPr>
            <a:r>
              <a:rPr lang="zh-CN" altLang="en-US" dirty="0"/>
              <a:t>硬件异常</a:t>
            </a:r>
            <a:endParaRPr lang="en-US" altLang="zh-CN" dirty="0"/>
          </a:p>
          <a:p>
            <a:pPr marL="285750" lvl="0" indent="-285750">
              <a:buFont typeface="Arial" panose="020B0604020202020204" pitchFamily="34" charset="0"/>
              <a:buChar char="•"/>
            </a:pPr>
            <a:r>
              <a:rPr lang="zh-CN" altLang="en-US" dirty="0"/>
              <a:t>软件异常</a:t>
            </a:r>
            <a:endParaRPr lang="en-US" dirty="0"/>
          </a:p>
          <a:p>
            <a:pPr marL="285750" lvl="0" indent="-285750">
              <a:buFont typeface="Arial" panose="020B0604020202020204" pitchFamily="34" charset="0"/>
              <a:buChar char="•"/>
            </a:pPr>
            <a:r>
              <a:rPr lang="zh-CN" altLang="en-US" dirty="0"/>
              <a:t>通信中断</a:t>
            </a:r>
            <a:endParaRPr lang="en-US" dirty="0"/>
          </a:p>
          <a:p>
            <a:r>
              <a:rPr lang="en-US" dirty="0">
                <a:solidFill>
                  <a:schemeClr val="bg1">
                    <a:lumMod val="50000"/>
                  </a:schemeClr>
                </a:solidFill>
              </a:rPr>
              <a:t>🛡️ </a:t>
            </a:r>
            <a:r>
              <a:rPr lang="zh-CN" altLang="en-US" b="1" dirty="0">
                <a:solidFill>
                  <a:schemeClr val="bg1">
                    <a:lumMod val="50000"/>
                  </a:schemeClr>
                </a:solidFill>
              </a:rPr>
              <a:t>外部扰动（网络安全威胁）</a:t>
            </a:r>
            <a:endParaRPr lang="en-US" dirty="0">
              <a:solidFill>
                <a:schemeClr val="bg1">
                  <a:lumMod val="50000"/>
                </a:schemeClr>
              </a:solidFill>
            </a:endParaRPr>
          </a:p>
          <a:p>
            <a:pPr marL="285750" lvl="0" indent="-285750">
              <a:buFont typeface="Arial" panose="020B0604020202020204" pitchFamily="34" charset="0"/>
              <a:buChar char="•"/>
            </a:pPr>
            <a:r>
              <a:rPr lang="zh-CN" altLang="en-US" dirty="0"/>
              <a:t>数据注入攻击</a:t>
            </a:r>
            <a:endParaRPr lang="en-US" altLang="zh-CN" dirty="0"/>
          </a:p>
          <a:p>
            <a:pPr marL="285750" lvl="0" indent="-285750">
              <a:buFont typeface="Arial" panose="020B0604020202020204" pitchFamily="34" charset="0"/>
              <a:buChar char="•"/>
            </a:pPr>
            <a:r>
              <a:rPr lang="zh-CN" altLang="en-US" dirty="0"/>
              <a:t>恶意软件劫持</a:t>
            </a:r>
            <a:endParaRPr lang="en-US" dirty="0"/>
          </a:p>
        </p:txBody>
      </p:sp>
      <p:sp>
        <p:nvSpPr>
          <p:cNvPr id="19" name="Arrow: Right 18">
            <a:extLst>
              <a:ext uri="{FF2B5EF4-FFF2-40B4-BE49-F238E27FC236}">
                <a16:creationId xmlns="" xmlns:a16="http://schemas.microsoft.com/office/drawing/2014/main" id="{40163572-9C23-997C-294C-C07E0BB6756B}"/>
              </a:ext>
            </a:extLst>
          </p:cNvPr>
          <p:cNvSpPr/>
          <p:nvPr/>
        </p:nvSpPr>
        <p:spPr>
          <a:xfrm>
            <a:off x="3879579" y="2735521"/>
            <a:ext cx="502920" cy="37338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淘宝-想搞设计PPT(倒卖必究)-3">
            <a:extLst>
              <a:ext uri="{FF2B5EF4-FFF2-40B4-BE49-F238E27FC236}">
                <a16:creationId xmlns="" xmlns:a16="http://schemas.microsoft.com/office/drawing/2014/main" id="{19456DA4-6F78-5D13-C689-E4B6C1F2CF06}"/>
              </a:ext>
            </a:extLst>
          </p:cNvPr>
          <p:cNvSpPr/>
          <p:nvPr/>
        </p:nvSpPr>
        <p:spPr>
          <a:xfrm>
            <a:off x="4572000" y="2741180"/>
            <a:ext cx="3521439" cy="338554"/>
          </a:xfrm>
          <a:prstGeom prst="rect">
            <a:avLst/>
          </a:prstGeom>
        </p:spPr>
        <p:txBody>
          <a:bodyPr wrap="square" lIns="0" rIns="0">
            <a:spAutoFit/>
          </a:bodyPr>
          <a:lstStyle/>
          <a:p>
            <a:r>
              <a:rPr lang="zh-CN" altLang="en-US" sz="1600" spc="100" dirty="0">
                <a:solidFill>
                  <a:schemeClr val="bg1">
                    <a:lumMod val="50000"/>
                  </a:schemeClr>
                </a:solidFill>
              </a:rPr>
              <a:t>存在物理实体，</a:t>
            </a:r>
            <a:r>
              <a:rPr lang="zh-CN" altLang="en-US" sz="1600" dirty="0">
                <a:solidFill>
                  <a:schemeClr val="bg1">
                    <a:lumMod val="50000"/>
                  </a:schemeClr>
                </a:solidFill>
              </a:rPr>
              <a:t>状态数据具有真实性</a:t>
            </a:r>
            <a:endParaRPr lang="en-US" altLang="zh-CN" sz="1600" spc="100" dirty="0">
              <a:solidFill>
                <a:schemeClr val="bg1">
                  <a:lumMod val="50000"/>
                </a:schemeClr>
              </a:solidFill>
            </a:endParaRPr>
          </a:p>
        </p:txBody>
      </p:sp>
      <p:sp>
        <p:nvSpPr>
          <p:cNvPr id="21" name="Arrow: Right 20">
            <a:extLst>
              <a:ext uri="{FF2B5EF4-FFF2-40B4-BE49-F238E27FC236}">
                <a16:creationId xmlns="" xmlns:a16="http://schemas.microsoft.com/office/drawing/2014/main" id="{631BF064-C578-5B5D-6888-07343E124AC3}"/>
              </a:ext>
            </a:extLst>
          </p:cNvPr>
          <p:cNvSpPr/>
          <p:nvPr/>
        </p:nvSpPr>
        <p:spPr>
          <a:xfrm>
            <a:off x="2308512" y="4227934"/>
            <a:ext cx="2047464" cy="151464"/>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淘宝-想搞设计PPT(倒卖必究)-3">
            <a:extLst>
              <a:ext uri="{FF2B5EF4-FFF2-40B4-BE49-F238E27FC236}">
                <a16:creationId xmlns="" xmlns:a16="http://schemas.microsoft.com/office/drawing/2014/main" id="{08549643-C0C5-3826-2697-384C0C5690FB}"/>
              </a:ext>
            </a:extLst>
          </p:cNvPr>
          <p:cNvSpPr/>
          <p:nvPr/>
        </p:nvSpPr>
        <p:spPr>
          <a:xfrm>
            <a:off x="4382499" y="3811631"/>
            <a:ext cx="4640928" cy="584775"/>
          </a:xfrm>
          <a:prstGeom prst="rect">
            <a:avLst/>
          </a:prstGeom>
        </p:spPr>
        <p:txBody>
          <a:bodyPr wrap="square" lIns="0" rIns="0">
            <a:spAutoFit/>
          </a:bodyPr>
          <a:lstStyle/>
          <a:p>
            <a:r>
              <a:rPr lang="zh-CN" altLang="en-US" sz="1600" spc="100" dirty="0">
                <a:solidFill>
                  <a:schemeClr val="bg1">
                    <a:lumMod val="50000"/>
                  </a:schemeClr>
                </a:solidFill>
              </a:rPr>
              <a:t>不依赖物理实体，</a:t>
            </a:r>
            <a:r>
              <a:rPr lang="zh-CN" altLang="en-US" sz="1600" dirty="0">
                <a:solidFill>
                  <a:schemeClr val="bg1">
                    <a:lumMod val="50000"/>
                  </a:schemeClr>
                </a:solidFill>
              </a:rPr>
              <a:t>仅需</a:t>
            </a:r>
            <a:r>
              <a:rPr lang="zh-CN" altLang="en-US" sz="1600" spc="100" dirty="0">
                <a:solidFill>
                  <a:schemeClr val="bg1">
                    <a:lumMod val="50000"/>
                  </a:schemeClr>
                </a:solidFill>
              </a:rPr>
              <a:t>注入报文</a:t>
            </a:r>
            <a:r>
              <a:rPr lang="zh-CN" altLang="en-US" sz="1600" spc="100" dirty="0" smtClean="0">
                <a:solidFill>
                  <a:schemeClr val="bg1">
                    <a:lumMod val="50000"/>
                  </a:schemeClr>
                </a:solidFill>
              </a:rPr>
              <a:t>，</a:t>
            </a:r>
            <a:r>
              <a:rPr lang="en-US" sz="1600" spc="100" dirty="0" smtClean="0">
                <a:solidFill>
                  <a:schemeClr val="bg1">
                    <a:lumMod val="50000"/>
                  </a:schemeClr>
                </a:solidFill>
              </a:rPr>
              <a:t>“</a:t>
            </a:r>
            <a:r>
              <a:rPr lang="zh-CN" altLang="en-US" sz="1600" spc="100" dirty="0" smtClean="0">
                <a:solidFill>
                  <a:schemeClr val="bg1">
                    <a:lumMod val="50000"/>
                  </a:schemeClr>
                </a:solidFill>
              </a:rPr>
              <a:t>伪造</a:t>
            </a:r>
            <a:r>
              <a:rPr lang="en-US" sz="1600" spc="100" dirty="0" smtClean="0">
                <a:solidFill>
                  <a:schemeClr val="bg1">
                    <a:lumMod val="50000"/>
                  </a:schemeClr>
                </a:solidFill>
              </a:rPr>
              <a:t>”</a:t>
            </a:r>
            <a:r>
              <a:rPr lang="zh-CN" altLang="en-US" sz="1600" spc="100" dirty="0" smtClean="0">
                <a:solidFill>
                  <a:schemeClr val="bg1">
                    <a:lumMod val="50000"/>
                  </a:schemeClr>
                </a:solidFill>
              </a:rPr>
              <a:t>出</a:t>
            </a:r>
            <a:r>
              <a:rPr lang="zh-CN" altLang="en-US" sz="1600" spc="100" dirty="0">
                <a:solidFill>
                  <a:schemeClr val="bg1">
                    <a:lumMod val="50000"/>
                  </a:schemeClr>
                </a:solidFill>
              </a:rPr>
              <a:t>一个或多个</a:t>
            </a:r>
            <a:r>
              <a:rPr lang="zh-CN" altLang="en-US" sz="1600" spc="100" dirty="0" smtClean="0">
                <a:solidFill>
                  <a:schemeClr val="bg1">
                    <a:lumMod val="50000"/>
                  </a:schemeClr>
                </a:solidFill>
              </a:rPr>
              <a:t>虚假设备的</a:t>
            </a:r>
            <a:r>
              <a:rPr lang="zh-CN" altLang="en-US" sz="1600" spc="100" dirty="0">
                <a:solidFill>
                  <a:schemeClr val="bg1">
                    <a:lumMod val="50000"/>
                  </a:schemeClr>
                </a:solidFill>
              </a:rPr>
              <a:t>身份与状态</a:t>
            </a:r>
            <a:endParaRPr lang="en-US" altLang="zh-CN" sz="1600" spc="100" dirty="0">
              <a:solidFill>
                <a:schemeClr val="bg1">
                  <a:lumMod val="50000"/>
                </a:schemeClr>
              </a:solidFill>
            </a:endParaRPr>
          </a:p>
        </p:txBody>
      </p:sp>
      <p:sp>
        <p:nvSpPr>
          <p:cNvPr id="24" name="淘宝-想搞设计PPT(倒卖必究)-3">
            <a:extLst>
              <a:ext uri="{FF2B5EF4-FFF2-40B4-BE49-F238E27FC236}">
                <a16:creationId xmlns="" xmlns:a16="http://schemas.microsoft.com/office/drawing/2014/main" id="{4BF9E72F-8193-EF1F-E828-F441CD1A0109}"/>
              </a:ext>
            </a:extLst>
          </p:cNvPr>
          <p:cNvSpPr/>
          <p:nvPr/>
        </p:nvSpPr>
        <p:spPr>
          <a:xfrm>
            <a:off x="4382498" y="4379397"/>
            <a:ext cx="4872907" cy="830997"/>
          </a:xfrm>
          <a:prstGeom prst="rect">
            <a:avLst/>
          </a:prstGeom>
        </p:spPr>
        <p:txBody>
          <a:bodyPr wrap="square" lIns="0" rIns="0">
            <a:spAutoFit/>
          </a:bodyPr>
          <a:lstStyle/>
          <a:p>
            <a:r>
              <a:rPr lang="zh-CN" altLang="en-US" sz="1600" spc="100" dirty="0">
                <a:solidFill>
                  <a:schemeClr val="bg1">
                    <a:lumMod val="50000"/>
                  </a:schemeClr>
                </a:solidFill>
              </a:rPr>
              <a:t>存在（劫持了）物理实体，位置</a:t>
            </a:r>
            <a:r>
              <a:rPr lang="zh-CN" altLang="en-US" sz="1600" spc="100" dirty="0">
                <a:solidFill>
                  <a:schemeClr val="bg1">
                    <a:lumMod val="50000"/>
                  </a:schemeClr>
                </a:solidFill>
              </a:rPr>
              <a:t>等设备</a:t>
            </a:r>
            <a:r>
              <a:rPr lang="zh-CN" altLang="en-US" sz="1600" dirty="0" smtClean="0">
                <a:solidFill>
                  <a:schemeClr val="bg1">
                    <a:lumMod val="50000"/>
                  </a:schemeClr>
                </a:solidFill>
              </a:rPr>
              <a:t>状态</a:t>
            </a:r>
            <a:r>
              <a:rPr lang="zh-CN" altLang="en-US" sz="1600" dirty="0">
                <a:solidFill>
                  <a:schemeClr val="bg1">
                    <a:lumMod val="50000"/>
                  </a:schemeClr>
                </a:solidFill>
              </a:rPr>
              <a:t>数据往往具有真实性，</a:t>
            </a:r>
            <a:r>
              <a:rPr lang="zh-CN" altLang="en-US" sz="1600" dirty="0" smtClean="0">
                <a:solidFill>
                  <a:schemeClr val="bg1">
                    <a:lumMod val="50000"/>
                  </a:schemeClr>
                </a:solidFill>
              </a:rPr>
              <a:t>但是</a:t>
            </a:r>
            <a:r>
              <a:rPr lang="zh-CN" altLang="en-US" sz="1600" spc="100" dirty="0">
                <a:solidFill>
                  <a:schemeClr val="bg1">
                    <a:lumMod val="50000"/>
                  </a:schemeClr>
                </a:solidFill>
              </a:rPr>
              <a:t>设备</a:t>
            </a:r>
            <a:r>
              <a:rPr lang="zh-CN" altLang="en-US" sz="1600" dirty="0" smtClean="0">
                <a:solidFill>
                  <a:schemeClr val="bg1">
                    <a:lumMod val="50000"/>
                  </a:schemeClr>
                </a:solidFill>
              </a:rPr>
              <a:t>的</a:t>
            </a:r>
            <a:r>
              <a:rPr lang="zh-CN" altLang="en-US" sz="1600" dirty="0">
                <a:solidFill>
                  <a:schemeClr val="bg1">
                    <a:lumMod val="50000"/>
                  </a:schemeClr>
                </a:solidFill>
              </a:rPr>
              <a:t>可用信息、任务状态等信息可能进行了“造假”</a:t>
            </a:r>
            <a:endParaRPr lang="en-US" altLang="zh-CN" sz="1600" spc="100" dirty="0">
              <a:solidFill>
                <a:schemeClr val="bg1">
                  <a:lumMod val="50000"/>
                </a:schemeClr>
              </a:solidFill>
            </a:endParaRPr>
          </a:p>
        </p:txBody>
      </p:sp>
      <p:sp>
        <p:nvSpPr>
          <p:cNvPr id="27" name="Arrow: Right 26">
            <a:extLst>
              <a:ext uri="{FF2B5EF4-FFF2-40B4-BE49-F238E27FC236}">
                <a16:creationId xmlns="" xmlns:a16="http://schemas.microsoft.com/office/drawing/2014/main" id="{F36F1E49-4C34-A3C9-0896-7C7F4D569C5A}"/>
              </a:ext>
            </a:extLst>
          </p:cNvPr>
          <p:cNvSpPr/>
          <p:nvPr/>
        </p:nvSpPr>
        <p:spPr>
          <a:xfrm>
            <a:off x="2308512" y="4537329"/>
            <a:ext cx="2047464" cy="151464"/>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6" name="矩形 5"/>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与研究现状</a:t>
            </a:r>
          </a:p>
        </p:txBody>
      </p:sp>
      <p:sp>
        <p:nvSpPr>
          <p:cNvPr id="8"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21" name="淘宝-想搞设计PPT(倒卖必究)-3">
            <a:extLst>
              <a:ext uri="{FF2B5EF4-FFF2-40B4-BE49-F238E27FC236}">
                <a16:creationId xmlns="" xmlns:a16="http://schemas.microsoft.com/office/drawing/2014/main" id="{202259F8-7A74-60B6-88F1-AD3990BCA53F}"/>
              </a:ext>
            </a:extLst>
          </p:cNvPr>
          <p:cNvSpPr/>
          <p:nvPr/>
        </p:nvSpPr>
        <p:spPr>
          <a:xfrm>
            <a:off x="251521" y="578797"/>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四大核心问题</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22" name="Table 21">
            <a:extLst>
              <a:ext uri="{FF2B5EF4-FFF2-40B4-BE49-F238E27FC236}">
                <a16:creationId xmlns="" xmlns:a16="http://schemas.microsoft.com/office/drawing/2014/main" id="{1108729A-F6B7-DA36-904F-65B9D30EDC91}"/>
              </a:ext>
            </a:extLst>
          </p:cNvPr>
          <p:cNvGraphicFramePr>
            <a:graphicFrameLocks noGrp="1"/>
          </p:cNvGraphicFramePr>
          <p:nvPr>
            <p:extLst>
              <p:ext uri="{D42A27DB-BD31-4B8C-83A1-F6EECF244321}">
                <p14:modId xmlns:p14="http://schemas.microsoft.com/office/powerpoint/2010/main" val="3217480318"/>
              </p:ext>
            </p:extLst>
          </p:nvPr>
        </p:nvGraphicFramePr>
        <p:xfrm>
          <a:off x="251520" y="1059685"/>
          <a:ext cx="8784976" cy="1854200"/>
        </p:xfrm>
        <a:graphic>
          <a:graphicData uri="http://schemas.openxmlformats.org/drawingml/2006/table">
            <a:tbl>
              <a:tblPr firstRow="1" bandRow="1">
                <a:tableStyleId>{00A15C55-8517-42AA-B614-E9B94910E393}</a:tableStyleId>
              </a:tblPr>
              <a:tblGrid>
                <a:gridCol w="2160240">
                  <a:extLst>
                    <a:ext uri="{9D8B030D-6E8A-4147-A177-3AD203B41FA5}">
                      <a16:colId xmlns="" xmlns:a16="http://schemas.microsoft.com/office/drawing/2014/main" val="1142861759"/>
                    </a:ext>
                  </a:extLst>
                </a:gridCol>
                <a:gridCol w="6624736">
                  <a:extLst>
                    <a:ext uri="{9D8B030D-6E8A-4147-A177-3AD203B41FA5}">
                      <a16:colId xmlns="" xmlns:a16="http://schemas.microsoft.com/office/drawing/2014/main" val="473110948"/>
                    </a:ext>
                  </a:extLst>
                </a:gridCol>
              </a:tblGrid>
              <a:tr h="370840">
                <a:tc>
                  <a:txBody>
                    <a:bodyPr/>
                    <a:lstStyle/>
                    <a:p>
                      <a:pPr marL="0" marR="0" algn="ctr">
                        <a:lnSpc>
                          <a:spcPct val="115000"/>
                        </a:lnSpc>
                        <a:spcAft>
                          <a:spcPts val="800"/>
                        </a:spcAft>
                        <a:buNone/>
                      </a:pPr>
                      <a:r>
                        <a:rPr lang="zh-CN" sz="1600" b="1" kern="100">
                          <a:effectLst/>
                          <a:latin typeface="Aptos" panose="020B0004020202020204" pitchFamily="34" charset="0"/>
                          <a:ea typeface="DengXian" panose="02010600030101010101" pitchFamily="2" charset="-122"/>
                          <a:cs typeface="Times New Roman" panose="02020603050405020304" pitchFamily="18" charset="0"/>
                        </a:rPr>
                        <a:t>问题</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600" b="1" kern="100" dirty="0">
                          <a:effectLst/>
                          <a:latin typeface="Aptos" panose="020B0004020202020204" pitchFamily="34" charset="0"/>
                          <a:ea typeface="DengXian" panose="02010600030101010101" pitchFamily="2" charset="-122"/>
                          <a:cs typeface="Times New Roman" panose="02020603050405020304" pitchFamily="18" charset="0"/>
                        </a:rPr>
                        <a:t>核心难点</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4263651850"/>
                  </a:ext>
                </a:extLst>
              </a:tr>
              <a:tr h="370840">
                <a:tc>
                  <a:txBody>
                    <a:bodyPr/>
                    <a:lstStyle/>
                    <a:p>
                      <a:pPr marL="0" marR="0">
                        <a:lnSpc>
                          <a:spcPct val="115000"/>
                        </a:lnSpc>
                        <a:spcAft>
                          <a:spcPts val="800"/>
                        </a:spcAft>
                        <a:buNone/>
                      </a:pPr>
                      <a:r>
                        <a:rPr lang="en-US" sz="1600" kern="1200" dirty="0">
                          <a:solidFill>
                            <a:schemeClr val="tx1"/>
                          </a:solidFill>
                          <a:latin typeface="微软雅黑" panose="020B0503020204020204" pitchFamily="34" charset="-122"/>
                          <a:ea typeface="微软雅黑" panose="020B0503020204020204" pitchFamily="34" charset="-122"/>
                          <a:cs typeface="+mn-cs"/>
                        </a:rPr>
                        <a:t>①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高效协同调度</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en-US" sz="1600" kern="1200" dirty="0">
                          <a:solidFill>
                            <a:schemeClr val="tx1"/>
                          </a:solidFill>
                          <a:latin typeface="微软雅黑" panose="020B0503020204020204" pitchFamily="34" charset="-122"/>
                          <a:ea typeface="微软雅黑" panose="020B0503020204020204" pitchFamily="34" charset="-122"/>
                          <a:cs typeface="+mn-cs"/>
                        </a:rPr>
                        <a:t>AGV</a:t>
                      </a:r>
                      <a:r>
                        <a:rPr lang="zh-CN" altLang="en-US" sz="1600" kern="1200" dirty="0">
                          <a:solidFill>
                            <a:schemeClr val="tx1"/>
                          </a:solidFill>
                          <a:latin typeface="微软雅黑" panose="020B0503020204020204" pitchFamily="34" charset="-122"/>
                          <a:ea typeface="微软雅黑" panose="020B0503020204020204" pitchFamily="34" charset="-122"/>
                          <a:cs typeface="+mn-cs"/>
                        </a:rPr>
                        <a:t>连续运动与</a:t>
                      </a:r>
                      <a:r>
                        <a:rPr lang="en-US" sz="1600" kern="1200" dirty="0">
                          <a:solidFill>
                            <a:schemeClr val="tx1"/>
                          </a:solidFill>
                          <a:latin typeface="微软雅黑" panose="020B0503020204020204" pitchFamily="34" charset="-122"/>
                          <a:ea typeface="微软雅黑" panose="020B0503020204020204" pitchFamily="34" charset="-122"/>
                          <a:cs typeface="+mn-cs"/>
                        </a:rPr>
                        <a:t>Robot Arm</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各操作任务的起止时间的联合建模与时序优化</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 xmlns:a16="http://schemas.microsoft.com/office/drawing/2014/main" val="3090417641"/>
                  </a:ext>
                </a:extLst>
              </a:tr>
              <a:tr h="370840">
                <a:tc>
                  <a:txBody>
                    <a:bodyPr/>
                    <a:lstStyle/>
                    <a:p>
                      <a:pPr marL="0" marR="0">
                        <a:lnSpc>
                          <a:spcPct val="115000"/>
                        </a:lnSpc>
                        <a:spcAft>
                          <a:spcPts val="800"/>
                        </a:spcAft>
                        <a:buNone/>
                      </a:pPr>
                      <a:r>
                        <a:rPr lang="en-US" sz="1600" kern="1200">
                          <a:solidFill>
                            <a:schemeClr val="tx1"/>
                          </a:solidFill>
                          <a:latin typeface="微软雅黑" panose="020B0503020204020204" pitchFamily="34" charset="-122"/>
                          <a:ea typeface="微软雅黑" panose="020B0503020204020204" pitchFamily="34" charset="-122"/>
                          <a:cs typeface="+mn-cs"/>
                        </a:rPr>
                        <a:t>② </a:t>
                      </a:r>
                      <a:r>
                        <a:rPr lang="zh-CN" altLang="en-US" sz="1600" kern="1200">
                          <a:solidFill>
                            <a:schemeClr val="tx1"/>
                          </a:solidFill>
                          <a:latin typeface="微软雅黑" panose="020B0503020204020204" pitchFamily="34" charset="-122"/>
                          <a:ea typeface="微软雅黑" panose="020B0503020204020204" pitchFamily="34" charset="-122"/>
                          <a:cs typeface="+mn-cs"/>
                        </a:rPr>
                        <a:t>数据注入攻击识别</a:t>
                      </a:r>
                      <a:endParaRPr lang="en-US" sz="1600" kern="120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600" kern="1200" dirty="0">
                          <a:solidFill>
                            <a:schemeClr val="tx1"/>
                          </a:solidFill>
                          <a:latin typeface="微软雅黑" panose="020B0503020204020204" pitchFamily="34" charset="-122"/>
                          <a:ea typeface="微软雅黑" panose="020B0503020204020204" pitchFamily="34" charset="-122"/>
                          <a:cs typeface="+mn-cs"/>
                        </a:rPr>
                        <a:t>计算资源受限下，对无实体虚假报文的轻量级实时检测</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 xmlns:a16="http://schemas.microsoft.com/office/drawing/2014/main" val="1756568696"/>
                  </a:ext>
                </a:extLst>
              </a:tr>
              <a:tr h="370840">
                <a:tc>
                  <a:txBody>
                    <a:bodyPr/>
                    <a:lstStyle/>
                    <a:p>
                      <a:pPr marL="0" marR="0">
                        <a:lnSpc>
                          <a:spcPct val="115000"/>
                        </a:lnSpc>
                        <a:spcAft>
                          <a:spcPts val="800"/>
                        </a:spcAft>
                        <a:buNone/>
                      </a:pPr>
                      <a:r>
                        <a:rPr lang="en-US" sz="1600" kern="1200" dirty="0">
                          <a:solidFill>
                            <a:schemeClr val="tx1"/>
                          </a:solidFill>
                          <a:latin typeface="微软雅黑" panose="020B0503020204020204" pitchFamily="34" charset="-122"/>
                          <a:ea typeface="微软雅黑" panose="020B0503020204020204" pitchFamily="34" charset="-122"/>
                          <a:cs typeface="+mn-cs"/>
                        </a:rPr>
                        <a:t>③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智能体故障甄别</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600" kern="1200" dirty="0">
                          <a:solidFill>
                            <a:schemeClr val="tx1"/>
                          </a:solidFill>
                          <a:latin typeface="微软雅黑" panose="020B0503020204020204" pitchFamily="34" charset="-122"/>
                          <a:ea typeface="微软雅黑" panose="020B0503020204020204" pitchFamily="34" charset="-122"/>
                          <a:cs typeface="+mn-cs"/>
                        </a:rPr>
                        <a:t>过滤高度逼真的虚假信息，甄别工况异常与恶意劫持</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 xmlns:a16="http://schemas.microsoft.com/office/drawing/2014/main" val="2886293465"/>
                  </a:ext>
                </a:extLst>
              </a:tr>
              <a:tr h="370840">
                <a:tc>
                  <a:txBody>
                    <a:bodyPr/>
                    <a:lstStyle/>
                    <a:p>
                      <a:pPr marL="0" marR="0">
                        <a:lnSpc>
                          <a:spcPct val="115000"/>
                        </a:lnSpc>
                        <a:spcAft>
                          <a:spcPts val="800"/>
                        </a:spcAft>
                        <a:buNone/>
                      </a:pPr>
                      <a:r>
                        <a:rPr lang="en-US" sz="1600" kern="1200" dirty="0">
                          <a:solidFill>
                            <a:schemeClr val="tx1"/>
                          </a:solidFill>
                          <a:latin typeface="微软雅黑" panose="020B0503020204020204" pitchFamily="34" charset="-122"/>
                          <a:ea typeface="微软雅黑" panose="020B0503020204020204" pitchFamily="34" charset="-122"/>
                          <a:cs typeface="+mn-cs"/>
                        </a:rPr>
                        <a:t>④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扰动后动态重调度</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600" kern="1200" dirty="0">
                          <a:solidFill>
                            <a:schemeClr val="tx1"/>
                          </a:solidFill>
                          <a:latin typeface="微软雅黑" panose="020B0503020204020204" pitchFamily="34" charset="-122"/>
                          <a:ea typeface="微软雅黑" panose="020B0503020204020204" pitchFamily="34" charset="-122"/>
                          <a:cs typeface="+mn-cs"/>
                        </a:rPr>
                        <a:t>有界时间内自动生成近优重调度方案，避免人工干预</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 xmlns:a16="http://schemas.microsoft.com/office/drawing/2014/main" val="1696131995"/>
                  </a:ext>
                </a:extLst>
              </a:tr>
            </a:tbl>
          </a:graphicData>
        </a:graphic>
      </p:graphicFrame>
      <p:sp>
        <p:nvSpPr>
          <p:cNvPr id="26" name="淘宝-想搞设计PPT(倒卖必究)-3">
            <a:extLst>
              <a:ext uri="{FF2B5EF4-FFF2-40B4-BE49-F238E27FC236}">
                <a16:creationId xmlns="" xmlns:a16="http://schemas.microsoft.com/office/drawing/2014/main" id="{B9D23FF6-EC74-B30F-E7E9-229D0EF877CE}"/>
              </a:ext>
            </a:extLst>
          </p:cNvPr>
          <p:cNvSpPr/>
          <p:nvPr/>
        </p:nvSpPr>
        <p:spPr>
          <a:xfrm>
            <a:off x="56711" y="3198339"/>
            <a:ext cx="8784976" cy="984885"/>
          </a:xfrm>
          <a:prstGeom prst="rect">
            <a:avLst/>
          </a:prstGeom>
        </p:spPr>
        <p:txBody>
          <a:bodyPr wrap="square" lIns="0" rIns="0">
            <a:spAutoFit/>
          </a:bodyPr>
          <a:lstStyle/>
          <a:p>
            <a:pPr marL="285750" indent="-285750">
              <a:spcBef>
                <a:spcPts val="600"/>
              </a:spcBef>
              <a:spcAft>
                <a:spcPts val="600"/>
              </a:spcAft>
              <a:buFont typeface="Arial" panose="020B0604020202020204" pitchFamily="34" charset="0"/>
              <a:buChar char="•"/>
            </a:pPr>
            <a:r>
              <a:rPr lang="zh-CN" altLang="en-US" sz="1600" b="1" dirty="0">
                <a:latin typeface="微软雅黑" panose="020B0503020204020204" pitchFamily="34" charset="-122"/>
                <a:ea typeface="微软雅黑" panose="020B0503020204020204" pitchFamily="34" charset="-122"/>
              </a:rPr>
              <a:t>调度效率的提升与系统抗扰性的保障</a:t>
            </a:r>
            <a:r>
              <a:rPr lang="zh-CN" altLang="en-US" sz="1600"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并非两个相互独立的问题</a:t>
            </a:r>
            <a:r>
              <a:rPr lang="zh-CN" altLang="en-US" sz="1600" dirty="0">
                <a:latin typeface="微软雅黑" panose="020B0503020204020204" pitchFamily="34" charset="-122"/>
                <a:ea typeface="微软雅黑" panose="020B0503020204020204" pitchFamily="34" charset="-122"/>
              </a:rPr>
              <a:t>。</a:t>
            </a:r>
            <a:endParaRPr lang="en-US" altLang="zh-CN" sz="1600" dirty="0">
              <a:latin typeface="微软雅黑" panose="020B0503020204020204" pitchFamily="34" charset="-122"/>
              <a:ea typeface="微软雅黑" panose="020B0503020204020204" pitchFamily="34" charset="-122"/>
            </a:endParaRPr>
          </a:p>
          <a:p>
            <a:pPr marL="285750" indent="-285750">
              <a:spcBef>
                <a:spcPts val="600"/>
              </a:spcBef>
              <a:spcAft>
                <a:spcPts val="600"/>
              </a:spcAft>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若要</a:t>
            </a:r>
            <a:r>
              <a:rPr lang="zh-CN" altLang="en-US" sz="1600" b="1" dirty="0">
                <a:latin typeface="微软雅黑" panose="020B0503020204020204" pitchFamily="34" charset="-122"/>
                <a:ea typeface="微软雅黑" panose="020B0503020204020204" pitchFamily="34" charset="-122"/>
              </a:rPr>
              <a:t>实现高效的调度算法，必须同步建立相应的抗扰机制</a:t>
            </a:r>
            <a:r>
              <a:rPr lang="zh-CN" altLang="en-US" sz="1600" dirty="0">
                <a:latin typeface="微软雅黑" panose="020B0503020204020204" pitchFamily="34" charset="-122"/>
                <a:ea typeface="微软雅黑" panose="020B0503020204020204" pitchFamily="34" charset="-122"/>
              </a:rPr>
              <a:t>，否则复杂算法在扰动面前的脆弱性将使其优势荡然无存。</a:t>
            </a:r>
            <a:endParaRPr lang="en-US" altLang="zh-CN" sz="160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矩形 79"/>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81" name="矩形 80"/>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82"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研究背景与</a:t>
            </a:r>
            <a:r>
              <a:rPr lang="zh-CN" altLang="en-US" sz="2000" b="1" dirty="0">
                <a:solidFill>
                  <a:srgbClr val="0070C0"/>
                </a:solidFill>
                <a:latin typeface="微软雅黑" panose="020B0503020204020204" pitchFamily="34" charset="-122"/>
                <a:ea typeface="微软雅黑" panose="020B0503020204020204" pitchFamily="34" charset="-122"/>
              </a:rPr>
              <a:t>研究现状</a:t>
            </a:r>
          </a:p>
        </p:txBody>
      </p:sp>
      <p:sp>
        <p:nvSpPr>
          <p:cNvPr id="83"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7" name="灯片编号占位符 6"/>
          <p:cNvSpPr>
            <a:spLocks noGrp="1"/>
          </p:cNvSpPr>
          <p:nvPr>
            <p:ph type="sldNum" sz="quarter" idx="12"/>
            <p:custDataLst>
              <p:tags r:id="rId1"/>
            </p:custDataLst>
          </p:nvPr>
        </p:nvSpPr>
        <p:spPr>
          <a:xfrm>
            <a:off x="6553199" y="4236139"/>
            <a:ext cx="2133600" cy="273844"/>
          </a:xfrm>
        </p:spPr>
        <p:txBody>
          <a:bodyPr/>
          <a:lstStyle/>
          <a:p>
            <a:fld id="{0C913308-F349-4B6D-A68A-DD1791B4A57B}" type="slidenum">
              <a:rPr lang="zh-CN" altLang="en-US" smtClean="0"/>
              <a:t>7</a:t>
            </a:fld>
            <a:endParaRPr lang="zh-CN" altLang="en-US"/>
          </a:p>
        </p:txBody>
      </p:sp>
      <p:graphicFrame>
        <p:nvGraphicFramePr>
          <p:cNvPr id="5" name="Table 4">
            <a:extLst>
              <a:ext uri="{FF2B5EF4-FFF2-40B4-BE49-F238E27FC236}">
                <a16:creationId xmlns="" xmlns:a16="http://schemas.microsoft.com/office/drawing/2014/main" id="{CA2288CC-9E95-D30F-B374-21B6E55FF577}"/>
              </a:ext>
            </a:extLst>
          </p:cNvPr>
          <p:cNvGraphicFramePr>
            <a:graphicFrameLocks noGrp="1"/>
          </p:cNvGraphicFramePr>
          <p:nvPr>
            <p:extLst>
              <p:ext uri="{D42A27DB-BD31-4B8C-83A1-F6EECF244321}">
                <p14:modId xmlns:p14="http://schemas.microsoft.com/office/powerpoint/2010/main" val="89753868"/>
              </p:ext>
            </p:extLst>
          </p:nvPr>
        </p:nvGraphicFramePr>
        <p:xfrm>
          <a:off x="251521" y="443932"/>
          <a:ext cx="8640957" cy="4541520"/>
        </p:xfrm>
        <a:graphic>
          <a:graphicData uri="http://schemas.openxmlformats.org/drawingml/2006/table">
            <a:tbl>
              <a:tblPr firstRow="1" bandRow="1">
                <a:tableStyleId>{5C22544A-7EE6-4342-B048-85BDC9FD1C3A}</a:tableStyleId>
              </a:tblPr>
              <a:tblGrid>
                <a:gridCol w="1080119">
                  <a:extLst>
                    <a:ext uri="{9D8B030D-6E8A-4147-A177-3AD203B41FA5}">
                      <a16:colId xmlns="" xmlns:a16="http://schemas.microsoft.com/office/drawing/2014/main" val="3133072510"/>
                    </a:ext>
                  </a:extLst>
                </a:gridCol>
                <a:gridCol w="4824536">
                  <a:extLst>
                    <a:ext uri="{9D8B030D-6E8A-4147-A177-3AD203B41FA5}">
                      <a16:colId xmlns="" xmlns:a16="http://schemas.microsoft.com/office/drawing/2014/main" val="1687284556"/>
                    </a:ext>
                  </a:extLst>
                </a:gridCol>
                <a:gridCol w="2736302">
                  <a:extLst>
                    <a:ext uri="{9D8B030D-6E8A-4147-A177-3AD203B41FA5}">
                      <a16:colId xmlns="" xmlns:a16="http://schemas.microsoft.com/office/drawing/2014/main" val="3434043508"/>
                    </a:ext>
                  </a:extLst>
                </a:gridCol>
              </a:tblGrid>
              <a:tr h="0">
                <a:tc gridSpan="3">
                  <a:txBody>
                    <a:bodyPr/>
                    <a:lstStyle/>
                    <a:p>
                      <a:pPr algn="ctr"/>
                      <a:r>
                        <a:rPr lang="zh-CN" altLang="en-US"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研究现状总览（</a:t>
                      </a:r>
                      <a:r>
                        <a:rPr lang="en-US" altLang="zh-CN"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2.1 ~ 2.4</a:t>
                      </a:r>
                      <a:r>
                        <a:rPr lang="zh-CN" altLang="en-US"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a:t>
                      </a:r>
                      <a:endParaRPr lang="en-US"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endParaRPr>
                    </a:p>
                  </a:txBody>
                  <a:tcPr/>
                </a:tc>
                <a:tc hMerge="1">
                  <a:txBody>
                    <a:bodyPr/>
                    <a:lstStyle/>
                    <a:p>
                      <a:endParaRPr lang="en-US"/>
                    </a:p>
                  </a:txBody>
                  <a:tcPr/>
                </a:tc>
                <a:tc hMerge="1">
                  <a:txBody>
                    <a:bodyPr/>
                    <a:lstStyle/>
                    <a:p>
                      <a:endParaRPr lang="en-US" dirty="0"/>
                    </a:p>
                  </a:txBody>
                  <a:tcPr/>
                </a:tc>
                <a:extLst>
                  <a:ext uri="{0D108BD9-81ED-4DB2-BD59-A6C34878D82A}">
                    <a16:rowId xmlns="" xmlns:a16="http://schemas.microsoft.com/office/drawing/2014/main" val="406415979"/>
                  </a:ext>
                </a:extLst>
              </a:tr>
              <a:tr h="135597">
                <a:tc>
                  <a:txBody>
                    <a:bodyPr/>
                    <a:lstStyle/>
                    <a:p>
                      <a:pPr algn="ctr"/>
                      <a:r>
                        <a:rPr lang="zh-CN" altLang="en-US" sz="1600" b="1" kern="1200" dirty="0">
                          <a:solidFill>
                            <a:schemeClr val="tx1"/>
                          </a:solidFill>
                          <a:latin typeface="微软雅黑" panose="020B0503020204020204" pitchFamily="34" charset="-122"/>
                          <a:ea typeface="微软雅黑" panose="020B0503020204020204" pitchFamily="34" charset="-122"/>
                          <a:cs typeface="+mn-cs"/>
                        </a:rPr>
                        <a:t>研究聚焦</a:t>
                      </a:r>
                      <a:endParaRPr lang="en-US" sz="1600" b="1"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algn="ctr"/>
                      <a:r>
                        <a:rPr lang="zh-CN" altLang="en-US" sz="1600" b="1" kern="1200" dirty="0">
                          <a:solidFill>
                            <a:schemeClr val="tx1"/>
                          </a:solidFill>
                          <a:latin typeface="微软雅黑" panose="020B0503020204020204" pitchFamily="34" charset="-122"/>
                          <a:ea typeface="微软雅黑" panose="020B0503020204020204" pitchFamily="34" charset="-122"/>
                          <a:cs typeface="+mn-cs"/>
                        </a:rPr>
                        <a:t>代表性方法</a:t>
                      </a:r>
                      <a:endParaRPr lang="en-US" sz="1600" b="1"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algn="ctr"/>
                      <a:r>
                        <a:rPr lang="zh-CN" altLang="en-US" sz="1600" b="1" kern="1200" dirty="0">
                          <a:solidFill>
                            <a:schemeClr val="tx1"/>
                          </a:solidFill>
                          <a:latin typeface="微软雅黑" panose="020B0503020204020204" pitchFamily="34" charset="-122"/>
                          <a:ea typeface="微软雅黑" panose="020B0503020204020204" pitchFamily="34" charset="-122"/>
                          <a:cs typeface="+mn-cs"/>
                        </a:rPr>
                        <a:t>不足</a:t>
                      </a:r>
                      <a:endParaRPr lang="en-US" sz="1600" b="1"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 xmlns:a16="http://schemas.microsoft.com/office/drawing/2014/main" val="1879225488"/>
                  </a:ext>
                </a:extLst>
              </a:tr>
              <a:tr h="552061">
                <a:tc>
                  <a:txBody>
                    <a:bodyPr/>
                    <a:lstStyle/>
                    <a:p>
                      <a:pPr marL="0" indent="0" algn="l" defTabSz="914400" rtl="0" eaLnBrk="1" latinLnBrk="0" hangingPunct="1">
                        <a:buFont typeface="Wingdings" panose="05000000000000000000" pitchFamily="2" charset="2"/>
                        <a:buNone/>
                      </a:pPr>
                      <a:r>
                        <a:rPr lang="en-US" altLang="zh-CN" sz="1600" kern="1200" dirty="0">
                          <a:solidFill>
                            <a:schemeClr val="tx1"/>
                          </a:solidFill>
                          <a:latin typeface="微软雅黑" panose="020B0503020204020204" pitchFamily="34" charset="-122"/>
                          <a:ea typeface="微软雅黑" panose="020B0503020204020204" pitchFamily="34" charset="-122"/>
                          <a:cs typeface="+mn-cs"/>
                        </a:rPr>
                        <a:t>2.1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多智能体协同调度</a:t>
                      </a:r>
                    </a:p>
                    <a:p>
                      <a:endParaRPr lang="en-US" dirty="0"/>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形式化方法（</a:t>
                      </a:r>
                      <a:r>
                        <a:rPr lang="en-US" altLang="zh-CN" sz="1400" kern="1200" dirty="0">
                          <a:solidFill>
                            <a:schemeClr val="tx1"/>
                          </a:solidFill>
                          <a:latin typeface="微软雅黑" panose="020B0503020204020204" pitchFamily="34" charset="-122"/>
                          <a:ea typeface="微软雅黑" panose="020B0503020204020204" pitchFamily="34" charset="-122"/>
                          <a:cs typeface="+mn-cs"/>
                        </a:rPr>
                        <a:t>STL / LTL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数学规划（</a:t>
                      </a:r>
                      <a:r>
                        <a:rPr lang="en-US" altLang="zh-CN" sz="1400" kern="1200" dirty="0">
                          <a:solidFill>
                            <a:schemeClr val="tx1"/>
                          </a:solidFill>
                          <a:latin typeface="微软雅黑" panose="020B0503020204020204" pitchFamily="34" charset="-122"/>
                          <a:ea typeface="微软雅黑" panose="020B0503020204020204" pitchFamily="34" charset="-122"/>
                          <a:cs typeface="+mn-cs"/>
                        </a:rPr>
                        <a:t>MIP / CP</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分布式协调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多机器人任务分配框架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时空约束调度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智能优化（</a:t>
                      </a:r>
                      <a:r>
                        <a:rPr lang="en-US" altLang="zh-CN" sz="1400" kern="1200" dirty="0">
                          <a:solidFill>
                            <a:schemeClr val="tx1"/>
                          </a:solidFill>
                          <a:latin typeface="微软雅黑" panose="020B0503020204020204" pitchFamily="34" charset="-122"/>
                          <a:ea typeface="微软雅黑" panose="020B0503020204020204" pitchFamily="34" charset="-122"/>
                          <a:cs typeface="+mn-cs"/>
                        </a:rPr>
                        <a:t>DRL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主要针对同构智能体</a:t>
                      </a:r>
                      <a:endParaRPr lang="en-US" altLang="zh-CN" sz="1400" kern="1200" dirty="0">
                        <a:solidFill>
                          <a:schemeClr val="tx1"/>
                        </a:solidFill>
                        <a:latin typeface="微软雅黑" panose="020B0503020204020204" pitchFamily="34" charset="-122"/>
                        <a:ea typeface="微软雅黑" panose="020B0503020204020204" pitchFamily="34" charset="-122"/>
                        <a:cs typeface="+mn-cs"/>
                      </a:endParaRPr>
                    </a:p>
                    <a:p>
                      <a:pPr marL="285750" indent="-285750">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缺乏移动</a:t>
                      </a:r>
                      <a:r>
                        <a:rPr lang="en-US" altLang="zh-CN" sz="1400" b="1" kern="1200" dirty="0">
                          <a:solidFill>
                            <a:schemeClr val="tx1"/>
                          </a:solidFill>
                          <a:latin typeface="微软雅黑" panose="020B0503020204020204" pitchFamily="34" charset="-122"/>
                          <a:ea typeface="微软雅黑" panose="020B0503020204020204" pitchFamily="34" charset="-122"/>
                          <a:cs typeface="+mn-cs"/>
                        </a:rPr>
                        <a:t>-</a:t>
                      </a:r>
                      <a:r>
                        <a:rPr lang="zh-CN" altLang="en-US" sz="1400" b="1" kern="1200" dirty="0">
                          <a:solidFill>
                            <a:schemeClr val="tx1"/>
                          </a:solidFill>
                          <a:latin typeface="微软雅黑" panose="020B0503020204020204" pitchFamily="34" charset="-122"/>
                          <a:ea typeface="微软雅黑" panose="020B0503020204020204" pitchFamily="34" charset="-122"/>
                          <a:cs typeface="+mn-cs"/>
                        </a:rPr>
                        <a:t>固定异构时空耦合统一建模框架</a:t>
                      </a:r>
                    </a:p>
                    <a:p>
                      <a:endParaRPr lang="en-US" sz="1600" dirty="0"/>
                    </a:p>
                  </a:txBody>
                  <a:tcPr/>
                </a:tc>
                <a:extLst>
                  <a:ext uri="{0D108BD9-81ED-4DB2-BD59-A6C34878D82A}">
                    <a16:rowId xmlns="" xmlns:a16="http://schemas.microsoft.com/office/drawing/2014/main" val="1616225758"/>
                  </a:ext>
                </a:extLst>
              </a:tr>
              <a:tr h="552061">
                <a:tc>
                  <a:txBody>
                    <a:bodyPr/>
                    <a:lstStyle/>
                    <a:p>
                      <a:pPr marL="0" indent="0" algn="l" defTabSz="914400" rtl="0" eaLnBrk="1" latinLnBrk="0" hangingPunct="1">
                        <a:buFont typeface="Wingdings" panose="05000000000000000000" pitchFamily="2" charset="2"/>
                        <a:buNone/>
                      </a:pPr>
                      <a:r>
                        <a:rPr lang="en-US" altLang="zh-CN" sz="1600" kern="1200" dirty="0">
                          <a:solidFill>
                            <a:schemeClr val="tx1"/>
                          </a:solidFill>
                          <a:latin typeface="微软雅黑" panose="020B0503020204020204" pitchFamily="34" charset="-122"/>
                          <a:ea typeface="微软雅黑" panose="020B0503020204020204" pitchFamily="34" charset="-122"/>
                          <a:cs typeface="+mn-cs"/>
                        </a:rPr>
                        <a:t>2.2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工业系统安全检测</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状态估计检测（</a:t>
                      </a:r>
                      <a:r>
                        <a:rPr lang="en-US" altLang="zh-CN" sz="1400" kern="1200" dirty="0">
                          <a:solidFill>
                            <a:schemeClr val="tx1"/>
                          </a:solidFill>
                          <a:latin typeface="微软雅黑" panose="020B0503020204020204" pitchFamily="34" charset="-122"/>
                          <a:ea typeface="微软雅黑" panose="020B0503020204020204" pitchFamily="34" charset="-122"/>
                          <a:cs typeface="+mn-cs"/>
                        </a:rPr>
                        <a:t>FDI</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检测）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网络流量分析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阈值检测（固定</a:t>
                      </a:r>
                      <a:r>
                        <a:rPr lang="en-US" altLang="zh-CN" sz="1400" kern="1200" dirty="0">
                          <a:solidFill>
                            <a:schemeClr val="tx1"/>
                          </a:solidFill>
                          <a:latin typeface="微软雅黑" panose="020B0503020204020204" pitchFamily="34" charset="-122"/>
                          <a:ea typeface="微软雅黑" panose="020B0503020204020204" pitchFamily="34" charset="-122"/>
                          <a:cs typeface="+mn-cs"/>
                        </a:rPr>
                        <a: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自适应）</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机器学习检测（</a:t>
                      </a:r>
                      <a:r>
                        <a:rPr lang="en-US" altLang="zh-CN" sz="1400" kern="1200" dirty="0">
                          <a:solidFill>
                            <a:schemeClr val="tx1"/>
                          </a:solidFill>
                          <a:latin typeface="微软雅黑" panose="020B0503020204020204" pitchFamily="34" charset="-122"/>
                          <a:ea typeface="微软雅黑" panose="020B0503020204020204" pitchFamily="34" charset="-122"/>
                          <a:cs typeface="+mn-cs"/>
                        </a:rPr>
                        <a:t>DL/RL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概率模型</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lgn="l" defTabSz="914400" rtl="0" eaLnBrk="1" latinLnBrk="0" hangingPunct="1">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实时性与准确性难以兼顾 </a:t>
                      </a:r>
                    </a:p>
                    <a:p>
                      <a:pPr marL="285750" indent="-285750" algn="l" defTabSz="914400" rtl="0" eaLnBrk="1" latinLnBrk="0" hangingPunct="1">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缺乏对动态多智能体时序演化特性的建模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 xmlns:a16="http://schemas.microsoft.com/office/drawing/2014/main" val="1063751039"/>
                  </a:ext>
                </a:extLst>
              </a:tr>
              <a:tr h="552061">
                <a:tc>
                  <a:txBody>
                    <a:bodyPr/>
                    <a:lstStyle/>
                    <a:p>
                      <a:r>
                        <a:rPr lang="en-US" dirty="0"/>
                        <a:t>2.</a:t>
                      </a:r>
                      <a:r>
                        <a:rPr lang="en-US" sz="1600" kern="1200" dirty="0">
                          <a:solidFill>
                            <a:schemeClr val="tx1"/>
                          </a:solidFill>
                          <a:latin typeface="微软雅黑" panose="020B0503020204020204" pitchFamily="34" charset="-122"/>
                          <a:ea typeface="微软雅黑" panose="020B0503020204020204" pitchFamily="34" charset="-122"/>
                          <a:cs typeface="+mn-cs"/>
                        </a:rPr>
                        <a:t>3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抗拜占庭异常智能体甄别</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经典</a:t>
                      </a:r>
                      <a:r>
                        <a:rPr lang="en-US" altLang="zh-CN" sz="1400" kern="1200" dirty="0">
                          <a:solidFill>
                            <a:schemeClr val="tx1"/>
                          </a:solidFill>
                          <a:latin typeface="微软雅黑" panose="020B0503020204020204" pitchFamily="34" charset="-122"/>
                          <a:ea typeface="微软雅黑" panose="020B0503020204020204" pitchFamily="34" charset="-122"/>
                          <a:cs typeface="+mn-cs"/>
                        </a:rPr>
                        <a:t>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PBFT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轻量化</a:t>
                      </a:r>
                      <a:r>
                        <a:rPr lang="en-US" altLang="zh-CN" sz="1400" kern="1200" dirty="0">
                          <a:solidFill>
                            <a:schemeClr val="tx1"/>
                          </a:solidFill>
                          <a:latin typeface="微软雅黑" panose="020B0503020204020204" pitchFamily="34" charset="-122"/>
                          <a:ea typeface="微软雅黑" panose="020B0503020204020204" pitchFamily="34" charset="-122"/>
                          <a:cs typeface="+mn-cs"/>
                        </a:rPr>
                        <a:t>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Reli / </a:t>
                      </a:r>
                      <a:r>
                        <a:rPr lang="en-US" altLang="zh-CN" sz="1400" kern="1200" dirty="0" err="1">
                          <a:solidFill>
                            <a:schemeClr val="tx1"/>
                          </a:solidFill>
                          <a:latin typeface="微软雅黑" panose="020B0503020204020204" pitchFamily="34" charset="-122"/>
                          <a:ea typeface="微软雅黑" panose="020B0503020204020204" pitchFamily="34" charset="-122"/>
                          <a:cs typeface="+mn-cs"/>
                        </a:rPr>
                        <a:t>CheapBFT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改进型</a:t>
                      </a:r>
                      <a:r>
                        <a:rPr lang="en-US" altLang="zh-CN" sz="1400" kern="1200" dirty="0">
                          <a:solidFill>
                            <a:schemeClr val="tx1"/>
                          </a:solidFill>
                          <a:latin typeface="微软雅黑" panose="020B0503020204020204" pitchFamily="34" charset="-122"/>
                          <a:ea typeface="微软雅黑" panose="020B0503020204020204" pitchFamily="34" charset="-122"/>
                          <a:cs typeface="+mn-cs"/>
                        </a:rPr>
                        <a:t>PBFT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（自适应）         </a:t>
                      </a:r>
                    </a:p>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区块链共识（</a:t>
                      </a:r>
                      <a:r>
                        <a:rPr lang="en-US" altLang="zh-CN" sz="1400" kern="1200" dirty="0">
                          <a:solidFill>
                            <a:schemeClr val="tx1"/>
                          </a:solidFill>
                          <a:latin typeface="微软雅黑" panose="020B0503020204020204" pitchFamily="34" charset="-122"/>
                          <a:ea typeface="微软雅黑" panose="020B0503020204020204" pitchFamily="34" charset="-122"/>
                          <a:cs typeface="+mn-cs"/>
                        </a:rPr>
                        <a:t>PoW / </a:t>
                      </a:r>
                      <a:r>
                        <a:rPr lang="en-US" altLang="zh-CN" sz="1400" kern="1200" dirty="0" err="1">
                          <a:solidFill>
                            <a:schemeClr val="tx1"/>
                          </a:solidFill>
                          <a:latin typeface="微软雅黑" panose="020B0503020204020204" pitchFamily="34" charset="-122"/>
                          <a:ea typeface="微软雅黑" panose="020B0503020204020204" pitchFamily="34" charset="-122"/>
                          <a:cs typeface="+mn-cs"/>
                        </a:rPr>
                        <a:t>PoS</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 </a:t>
                      </a:r>
                      <a:r>
                        <a:rPr lang="en-US" altLang="zh-CN" sz="1400" kern="1200" dirty="0" err="1">
                          <a:solidFill>
                            <a:schemeClr val="tx1"/>
                          </a:solidFill>
                          <a:latin typeface="微软雅黑" panose="020B0503020204020204" pitchFamily="34" charset="-122"/>
                          <a:ea typeface="微软雅黑" panose="020B0503020204020204" pitchFamily="34" charset="-122"/>
                          <a:cs typeface="+mn-cs"/>
                        </a:rPr>
                        <a:t>PoA</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自适应</a:t>
                      </a:r>
                      <a:r>
                        <a:rPr lang="en-US" altLang="zh-CN" sz="1400" kern="1200" dirty="0">
                          <a:solidFill>
                            <a:schemeClr val="tx1"/>
                          </a:solidFill>
                          <a:latin typeface="微软雅黑" panose="020B0503020204020204" pitchFamily="34" charset="-122"/>
                          <a:ea typeface="微软雅黑" panose="020B0503020204020204" pitchFamily="34" charset="-122"/>
                          <a:cs typeface="+mn-cs"/>
                        </a:rPr>
                        <a:t>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机制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lgn="l" defTabSz="914400" rtl="0" eaLnBrk="1" latinLnBrk="0" hangingPunct="1">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通信开销大</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，扩展性差  </a:t>
                      </a:r>
                    </a:p>
                    <a:p>
                      <a:pPr marL="285750" indent="-285750" algn="l" defTabSz="914400" rtl="0" eaLnBrk="1" latinLnBrk="0" hangingPunct="1">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缺乏任务耦合局部性的信任度量与</a:t>
                      </a:r>
                      <a:r>
                        <a:rPr lang="zh-CN" altLang="en-US" sz="1400" b="1" kern="1200" dirty="0">
                          <a:solidFill>
                            <a:schemeClr val="tx1"/>
                          </a:solidFill>
                          <a:latin typeface="微软雅黑" panose="020B0503020204020204" pitchFamily="34" charset="-122"/>
                          <a:ea typeface="微软雅黑" panose="020B0503020204020204" pitchFamily="34" charset="-122"/>
                          <a:cs typeface="+mn-cs"/>
                        </a:rPr>
                        <a:t>甄别</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框架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 xmlns:a16="http://schemas.microsoft.com/office/drawing/2014/main" val="3497000097"/>
                  </a:ext>
                </a:extLst>
              </a:tr>
              <a:tr h="552061">
                <a:tc>
                  <a:txBody>
                    <a:bodyPr/>
                    <a:lstStyle/>
                    <a:p>
                      <a:pPr marL="0" indent="0" algn="l" defTabSz="914400" rtl="0" eaLnBrk="1" latinLnBrk="0" hangingPunct="1">
                        <a:buFont typeface="Wingdings" panose="05000000000000000000" pitchFamily="2" charset="2"/>
                        <a:buNone/>
                      </a:pPr>
                      <a:r>
                        <a:rPr lang="en-US" altLang="zh-CN" sz="1600" kern="1200" dirty="0">
                          <a:solidFill>
                            <a:schemeClr val="tx1"/>
                          </a:solidFill>
                          <a:latin typeface="微软雅黑" panose="020B0503020204020204" pitchFamily="34" charset="-122"/>
                          <a:ea typeface="微软雅黑" panose="020B0503020204020204" pitchFamily="34" charset="-122"/>
                          <a:cs typeface="+mn-cs"/>
                        </a:rPr>
                        <a:t>2.4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动态重调度</a:t>
                      </a:r>
                    </a:p>
                    <a:p>
                      <a:pPr marL="0" indent="0" algn="l" defTabSz="914400" rtl="0" eaLnBrk="1" latinLnBrk="0" hangingPunct="1">
                        <a:buFont typeface="Wingdings" panose="05000000000000000000" pitchFamily="2" charset="2"/>
                        <a:buNone/>
                      </a:pP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滚动时域重调度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事件驱动重调度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启发式算法（</a:t>
                      </a:r>
                      <a:r>
                        <a:rPr lang="en-US" altLang="zh-CN" sz="1400" kern="1200" dirty="0">
                          <a:solidFill>
                            <a:schemeClr val="tx1"/>
                          </a:solidFill>
                          <a:latin typeface="微软雅黑" panose="020B0503020204020204" pitchFamily="34" charset="-122"/>
                          <a:ea typeface="微软雅黑" panose="020B0503020204020204" pitchFamily="34" charset="-122"/>
                          <a:cs typeface="+mn-cs"/>
                        </a:rPr>
                        <a:t>GA / PSO</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深度强化学习（</a:t>
                      </a:r>
                      <a:r>
                        <a:rPr lang="en-US" altLang="zh-CN" sz="1400" kern="1200" dirty="0">
                          <a:solidFill>
                            <a:schemeClr val="tx1"/>
                          </a:solidFill>
                          <a:latin typeface="微软雅黑" panose="020B0503020204020204" pitchFamily="34" charset="-122"/>
                          <a:ea typeface="微软雅黑" panose="020B0503020204020204" pitchFamily="34" charset="-122"/>
                          <a:cs typeface="+mn-cs"/>
                        </a:rPr>
                        <a:t>DRL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时空约束重调度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分布式协同重调度</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lgn="l" defTabSz="914400" rtl="0" eaLnBrk="1" latinLnBrk="0" hangingPunct="1">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被动触发，缺乏主动感知  </a:t>
                      </a:r>
                    </a:p>
                    <a:p>
                      <a:pPr marL="285750" indent="-285750" algn="l" defTabSz="914400" rtl="0" eaLnBrk="1" latinLnBrk="0" hangingPunct="1">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缺乏有界次优性</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理论保证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 xmlns:a16="http://schemas.microsoft.com/office/drawing/2014/main" val="419430456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bwMode="auto">
          <a:xfrm>
            <a:off x="164601" y="648510"/>
            <a:ext cx="5251546" cy="400110"/>
          </a:xfrm>
          <a:prstGeom prst="rect">
            <a:avLst/>
          </a:prstGeom>
          <a:noFill/>
        </p:spPr>
        <p:txBody>
          <a:bodyPr wrap="square">
            <a:spAutoFit/>
          </a:bodyPr>
          <a:lstStyle/>
          <a:p>
            <a:pPr>
              <a:defRPr/>
            </a:pPr>
            <a:r>
              <a:rPr lang="zh-CN" altLang="en-US" sz="2000" b="1" dirty="0">
                <a:latin typeface="微软雅黑" panose="020B0503020204020204" pitchFamily="34" charset="-122"/>
                <a:ea typeface="微软雅黑" panose="020B0503020204020204" pitchFamily="34" charset="-122"/>
                <a:cs typeface="Arial" panose="020B0604020202020204" pitchFamily="34" charset="0"/>
              </a:rPr>
              <a:t>研究现状总结</a:t>
            </a:r>
          </a:p>
        </p:txBody>
      </p:sp>
      <p:sp>
        <p:nvSpPr>
          <p:cNvPr id="11" name="矩形 10"/>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2" name="矩形 11"/>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3"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研究背景与</a:t>
            </a:r>
            <a:r>
              <a:rPr lang="zh-CN" altLang="en-US" sz="2000" b="1" dirty="0">
                <a:solidFill>
                  <a:srgbClr val="0070C0"/>
                </a:solidFill>
                <a:latin typeface="微软雅黑" panose="020B0503020204020204" pitchFamily="34" charset="-122"/>
                <a:ea typeface="微软雅黑" panose="020B0503020204020204" pitchFamily="34" charset="-122"/>
              </a:rPr>
              <a:t>研究现状</a:t>
            </a:r>
          </a:p>
        </p:txBody>
      </p:sp>
      <p:sp>
        <p:nvSpPr>
          <p:cNvPr id="14"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2" name="箭头: 右 1"/>
          <p:cNvSpPr/>
          <p:nvPr/>
        </p:nvSpPr>
        <p:spPr>
          <a:xfrm>
            <a:off x="5300562" y="2389600"/>
            <a:ext cx="943448" cy="1056003"/>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15" name="矩形 14"/>
          <p:cNvSpPr/>
          <p:nvPr/>
        </p:nvSpPr>
        <p:spPr>
          <a:xfrm>
            <a:off x="6372201" y="1807775"/>
            <a:ext cx="2664296" cy="2016224"/>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latin typeface="微软雅黑" panose="020B0503020204020204" pitchFamily="34" charset="-122"/>
                <a:ea typeface="微软雅黑" panose="020B0503020204020204" pitchFamily="34" charset="-122"/>
              </a:rPr>
              <a:t>现有研究在</a:t>
            </a:r>
            <a:r>
              <a:rPr lang="zh-CN" altLang="en-US" b="1" dirty="0">
                <a:solidFill>
                  <a:schemeClr val="tx1"/>
                </a:solidFill>
                <a:latin typeface="微软雅黑" panose="020B0503020204020204" pitchFamily="34" charset="-122"/>
                <a:ea typeface="微软雅黑" panose="020B0503020204020204" pitchFamily="34" charset="-122"/>
              </a:rPr>
              <a:t>移动</a:t>
            </a:r>
            <a:r>
              <a:rPr lang="en-US" altLang="zh-CN" b="1" dirty="0">
                <a:solidFill>
                  <a:schemeClr val="tx1"/>
                </a:solidFill>
                <a:latin typeface="微软雅黑" panose="020B0503020204020204" pitchFamily="34" charset="-122"/>
                <a:ea typeface="微软雅黑" panose="020B0503020204020204" pitchFamily="34" charset="-122"/>
              </a:rPr>
              <a:t>-</a:t>
            </a:r>
            <a:r>
              <a:rPr lang="zh-CN" altLang="en-US" b="1" dirty="0">
                <a:solidFill>
                  <a:schemeClr val="tx1"/>
                </a:solidFill>
                <a:latin typeface="微软雅黑" panose="020B0503020204020204" pitchFamily="34" charset="-122"/>
                <a:ea typeface="微软雅黑" panose="020B0503020204020204" pitchFamily="34" charset="-122"/>
              </a:rPr>
              <a:t>固定智能体时空耦合建模</a:t>
            </a:r>
            <a:r>
              <a:rPr lang="zh-CN" altLang="en-US" dirty="0">
                <a:solidFill>
                  <a:schemeClr val="tx1"/>
                </a:solidFill>
                <a:latin typeface="微软雅黑" panose="020B0503020204020204" pitchFamily="34" charset="-122"/>
                <a:ea typeface="微软雅黑" panose="020B0503020204020204" pitchFamily="34" charset="-122"/>
              </a:rPr>
              <a:t>、</a:t>
            </a:r>
            <a:r>
              <a:rPr lang="zh-CN" altLang="en-US" b="1" dirty="0">
                <a:solidFill>
                  <a:schemeClr val="tx1"/>
                </a:solidFill>
                <a:latin typeface="微软雅黑" panose="020B0503020204020204" pitchFamily="34" charset="-122"/>
                <a:ea typeface="微软雅黑" panose="020B0503020204020204" pitchFamily="34" charset="-122"/>
              </a:rPr>
              <a:t>轻量级实时注入攻击检测</a:t>
            </a:r>
            <a:r>
              <a:rPr lang="zh-CN" altLang="en-US" dirty="0">
                <a:solidFill>
                  <a:schemeClr val="tx1"/>
                </a:solidFill>
                <a:latin typeface="微软雅黑" panose="020B0503020204020204" pitchFamily="34" charset="-122"/>
                <a:ea typeface="微软雅黑" panose="020B0503020204020204" pitchFamily="34" charset="-122"/>
              </a:rPr>
              <a:t>、</a:t>
            </a:r>
            <a:r>
              <a:rPr lang="zh-CN" altLang="en-US" b="1" dirty="0">
                <a:solidFill>
                  <a:schemeClr val="tx1"/>
                </a:solidFill>
                <a:latin typeface="微软雅黑" panose="020B0503020204020204" pitchFamily="34" charset="-122"/>
                <a:ea typeface="微软雅黑" panose="020B0503020204020204" pitchFamily="34" charset="-122"/>
              </a:rPr>
              <a:t>抗拜占庭异常智能体甄别机制</a:t>
            </a:r>
            <a:r>
              <a:rPr lang="zh-CN" altLang="en-US" dirty="0">
                <a:solidFill>
                  <a:schemeClr val="tx1"/>
                </a:solidFill>
                <a:latin typeface="微软雅黑" panose="020B0503020204020204" pitchFamily="34" charset="-122"/>
                <a:ea typeface="微软雅黑" panose="020B0503020204020204" pitchFamily="34" charset="-122"/>
              </a:rPr>
              <a:t>与</a:t>
            </a:r>
            <a:r>
              <a:rPr lang="zh-CN" altLang="en-US" b="1" dirty="0">
                <a:solidFill>
                  <a:schemeClr val="tx1"/>
                </a:solidFill>
                <a:latin typeface="微软雅黑" panose="020B0503020204020204" pitchFamily="34" charset="-122"/>
                <a:ea typeface="微软雅黑" panose="020B0503020204020204" pitchFamily="34" charset="-122"/>
              </a:rPr>
              <a:t>有界次优重调度理论</a:t>
            </a:r>
            <a:r>
              <a:rPr lang="zh-CN" altLang="en-US" dirty="0">
                <a:solidFill>
                  <a:schemeClr val="tx1"/>
                </a:solidFill>
                <a:latin typeface="微软雅黑" panose="020B0503020204020204" pitchFamily="34" charset="-122"/>
                <a:ea typeface="微软雅黑" panose="020B0503020204020204" pitchFamily="34" charset="-122"/>
              </a:rPr>
              <a:t>等方面存在不足</a:t>
            </a:r>
            <a:endParaRPr lang="zh-CN" altLang="en-US" b="1" dirty="0">
              <a:solidFill>
                <a:schemeClr val="tx1"/>
              </a:solidFill>
              <a:latin typeface="微软雅黑" panose="020B0503020204020204" pitchFamily="34" charset="-122"/>
              <a:ea typeface="微软雅黑" panose="020B0503020204020204" pitchFamily="34" charset="-122"/>
            </a:endParaRPr>
          </a:p>
        </p:txBody>
      </p:sp>
      <p:grpSp>
        <p:nvGrpSpPr>
          <p:cNvPr id="9" name="组合 8"/>
          <p:cNvGrpSpPr/>
          <p:nvPr/>
        </p:nvGrpSpPr>
        <p:grpSpPr>
          <a:xfrm>
            <a:off x="308610" y="1081302"/>
            <a:ext cx="4695190" cy="812799"/>
            <a:chOff x="164860" y="3219822"/>
            <a:chExt cx="4695171" cy="1803940"/>
          </a:xfrm>
        </p:grpSpPr>
        <p:sp>
          <p:nvSpPr>
            <p:cNvPr id="10" name="矩形 9"/>
            <p:cNvSpPr/>
            <p:nvPr/>
          </p:nvSpPr>
          <p:spPr>
            <a:xfrm>
              <a:off x="164860" y="3219822"/>
              <a:ext cx="4695171" cy="1803940"/>
            </a:xfrm>
            <a:prstGeom prst="rect">
              <a:avLst/>
            </a:prstGeom>
            <a:solidFill>
              <a:srgbClr val="FDDC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矩形 5"/>
            <p:cNvSpPr/>
            <p:nvPr/>
          </p:nvSpPr>
          <p:spPr>
            <a:xfrm>
              <a:off x="181369" y="3358296"/>
              <a:ext cx="4572000" cy="1434478"/>
            </a:xfrm>
            <a:prstGeom prst="rect">
              <a:avLst/>
            </a:prstGeom>
          </p:spPr>
          <p:txBody>
            <a:bodyPr>
              <a:spAutoFit/>
            </a:bodyPr>
            <a:lstStyle/>
            <a:p>
              <a:r>
                <a:rPr lang="zh-CN" altLang="en-US" b="1" dirty="0"/>
                <a:t>移动</a:t>
              </a:r>
              <a:r>
                <a:rPr lang="en-US" b="1" dirty="0"/>
                <a:t>-</a:t>
              </a:r>
              <a:r>
                <a:rPr lang="zh-CN" altLang="en-US" b="1" dirty="0"/>
                <a:t>固定异构多智能体的时空耦合建模与协同调度框架缺失</a:t>
              </a:r>
              <a:endParaRPr lang="zh-CN" altLang="en-US" dirty="0">
                <a:latin typeface="微软雅黑" panose="020B0503020204020204" pitchFamily="34" charset="-122"/>
                <a:ea typeface="微软雅黑" panose="020B0503020204020204" pitchFamily="34" charset="-122"/>
              </a:endParaRPr>
            </a:p>
          </p:txBody>
        </p:sp>
      </p:grpSp>
      <p:grpSp>
        <p:nvGrpSpPr>
          <p:cNvPr id="4" name="组合 3"/>
          <p:cNvGrpSpPr/>
          <p:nvPr/>
        </p:nvGrpSpPr>
        <p:grpSpPr>
          <a:xfrm>
            <a:off x="325120" y="2104803"/>
            <a:ext cx="4662170" cy="812799"/>
            <a:chOff x="181589" y="1250749"/>
            <a:chExt cx="4662243" cy="1291851"/>
          </a:xfrm>
        </p:grpSpPr>
        <p:sp>
          <p:nvSpPr>
            <p:cNvPr id="8" name="矩形 7"/>
            <p:cNvSpPr/>
            <p:nvPr/>
          </p:nvSpPr>
          <p:spPr>
            <a:xfrm>
              <a:off x="181589" y="1250749"/>
              <a:ext cx="4662243" cy="1291851"/>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3" name="矩形 2"/>
            <p:cNvSpPr/>
            <p:nvPr/>
          </p:nvSpPr>
          <p:spPr>
            <a:xfrm>
              <a:off x="241280" y="1383038"/>
              <a:ext cx="4512399" cy="1027269"/>
            </a:xfrm>
            <a:prstGeom prst="rect">
              <a:avLst/>
            </a:prstGeom>
          </p:spPr>
          <p:txBody>
            <a:bodyPr wrap="square">
              <a:spAutoFit/>
            </a:bodyPr>
            <a:lstStyle/>
            <a:p>
              <a:r>
                <a:rPr lang="zh-CN" altLang="en-US" b="1" dirty="0"/>
                <a:t>工业多智能体系统的安全检测在实时性与准确性之间难以兼顾</a:t>
              </a:r>
              <a:endParaRPr lang="zh-CN" altLang="en-US" dirty="0">
                <a:latin typeface="微软雅黑" panose="020B0503020204020204" pitchFamily="34" charset="-122"/>
                <a:ea typeface="微软雅黑" panose="020B0503020204020204" pitchFamily="34" charset="-122"/>
              </a:endParaRPr>
            </a:p>
          </p:txBody>
        </p:sp>
      </p:grpSp>
      <p:sp>
        <p:nvSpPr>
          <p:cNvPr id="7" name="灯片编号占位符 6"/>
          <p:cNvSpPr>
            <a:spLocks noGrp="1"/>
          </p:cNvSpPr>
          <p:nvPr>
            <p:ph type="sldNum" sz="quarter" idx="12"/>
            <p:custDataLst>
              <p:tags r:id="rId1"/>
            </p:custDataLst>
          </p:nvPr>
        </p:nvSpPr>
        <p:spPr>
          <a:xfrm>
            <a:off x="6553200" y="4674170"/>
            <a:ext cx="2133600" cy="273844"/>
          </a:xfrm>
        </p:spPr>
        <p:txBody>
          <a:bodyPr/>
          <a:lstStyle/>
          <a:p>
            <a:fld id="{0C913308-F349-4B6D-A68A-DD1791B4A57B}" type="slidenum">
              <a:rPr lang="zh-CN" altLang="en-US" smtClean="0"/>
              <a:t>8</a:t>
            </a:fld>
            <a:endParaRPr lang="zh-CN" altLang="en-US"/>
          </a:p>
        </p:txBody>
      </p:sp>
      <p:grpSp>
        <p:nvGrpSpPr>
          <p:cNvPr id="17" name="组合 8">
            <a:extLst>
              <a:ext uri="{FF2B5EF4-FFF2-40B4-BE49-F238E27FC236}">
                <a16:creationId xmlns="" xmlns:a16="http://schemas.microsoft.com/office/drawing/2014/main" id="{8E58FFA6-3C6A-027A-3F74-3C1AC84575F7}"/>
              </a:ext>
            </a:extLst>
          </p:cNvPr>
          <p:cNvGrpSpPr/>
          <p:nvPr/>
        </p:nvGrpSpPr>
        <p:grpSpPr>
          <a:xfrm>
            <a:off x="308610" y="3073013"/>
            <a:ext cx="4695190" cy="812799"/>
            <a:chOff x="164860" y="3219822"/>
            <a:chExt cx="4695171" cy="1803940"/>
          </a:xfrm>
        </p:grpSpPr>
        <p:sp>
          <p:nvSpPr>
            <p:cNvPr id="18" name="矩形 9">
              <a:extLst>
                <a:ext uri="{FF2B5EF4-FFF2-40B4-BE49-F238E27FC236}">
                  <a16:creationId xmlns="" xmlns:a16="http://schemas.microsoft.com/office/drawing/2014/main" id="{04EB26EE-7B39-322E-1F7C-537257322EC7}"/>
                </a:ext>
              </a:extLst>
            </p:cNvPr>
            <p:cNvSpPr/>
            <p:nvPr/>
          </p:nvSpPr>
          <p:spPr>
            <a:xfrm>
              <a:off x="164860" y="3219822"/>
              <a:ext cx="4695171" cy="1803940"/>
            </a:xfrm>
            <a:prstGeom prst="rect">
              <a:avLst/>
            </a:prstGeom>
            <a:solidFill>
              <a:srgbClr val="FDDC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9" name="矩形 5">
              <a:extLst>
                <a:ext uri="{FF2B5EF4-FFF2-40B4-BE49-F238E27FC236}">
                  <a16:creationId xmlns="" xmlns:a16="http://schemas.microsoft.com/office/drawing/2014/main" id="{F3B04437-2406-9B1E-C580-D208843959F6}"/>
                </a:ext>
              </a:extLst>
            </p:cNvPr>
            <p:cNvSpPr/>
            <p:nvPr/>
          </p:nvSpPr>
          <p:spPr>
            <a:xfrm>
              <a:off x="181369" y="3358296"/>
              <a:ext cx="4572000" cy="1434478"/>
            </a:xfrm>
            <a:prstGeom prst="rect">
              <a:avLst/>
            </a:prstGeom>
          </p:spPr>
          <p:txBody>
            <a:bodyPr>
              <a:spAutoFit/>
            </a:bodyPr>
            <a:lstStyle/>
            <a:p>
              <a:r>
                <a:rPr lang="zh-CN" altLang="en-US" b="1" dirty="0"/>
                <a:t>现有协调机制对工业领域的拜占庭式异常智能体的甄别能力不足</a:t>
              </a:r>
              <a:endParaRPr lang="zh-CN" altLang="en-US" dirty="0">
                <a:latin typeface="微软雅黑" panose="020B0503020204020204" pitchFamily="34" charset="-122"/>
                <a:ea typeface="微软雅黑" panose="020B0503020204020204" pitchFamily="34" charset="-122"/>
              </a:endParaRPr>
            </a:p>
          </p:txBody>
        </p:sp>
      </p:grpSp>
      <p:grpSp>
        <p:nvGrpSpPr>
          <p:cNvPr id="21" name="组合 3">
            <a:extLst>
              <a:ext uri="{FF2B5EF4-FFF2-40B4-BE49-F238E27FC236}">
                <a16:creationId xmlns="" xmlns:a16="http://schemas.microsoft.com/office/drawing/2014/main" id="{61348E64-F66F-312C-049C-60E52BA53622}"/>
              </a:ext>
            </a:extLst>
          </p:cNvPr>
          <p:cNvGrpSpPr/>
          <p:nvPr/>
        </p:nvGrpSpPr>
        <p:grpSpPr>
          <a:xfrm>
            <a:off x="325120" y="4091838"/>
            <a:ext cx="4662170" cy="812799"/>
            <a:chOff x="181589" y="1250749"/>
            <a:chExt cx="4662243" cy="1291851"/>
          </a:xfrm>
        </p:grpSpPr>
        <p:sp>
          <p:nvSpPr>
            <p:cNvPr id="22" name="矩形 7">
              <a:extLst>
                <a:ext uri="{FF2B5EF4-FFF2-40B4-BE49-F238E27FC236}">
                  <a16:creationId xmlns="" xmlns:a16="http://schemas.microsoft.com/office/drawing/2014/main" id="{454BADA0-BFD9-D75F-45D0-DB304366E87B}"/>
                </a:ext>
              </a:extLst>
            </p:cNvPr>
            <p:cNvSpPr/>
            <p:nvPr/>
          </p:nvSpPr>
          <p:spPr>
            <a:xfrm>
              <a:off x="181589" y="1250749"/>
              <a:ext cx="4662243" cy="1291851"/>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23" name="矩形 2">
              <a:extLst>
                <a:ext uri="{FF2B5EF4-FFF2-40B4-BE49-F238E27FC236}">
                  <a16:creationId xmlns="" xmlns:a16="http://schemas.microsoft.com/office/drawing/2014/main" id="{FE246C74-0DCF-AAA4-9D7C-A13DD95EA0AB}"/>
                </a:ext>
              </a:extLst>
            </p:cNvPr>
            <p:cNvSpPr/>
            <p:nvPr/>
          </p:nvSpPr>
          <p:spPr>
            <a:xfrm>
              <a:off x="241280" y="1383038"/>
              <a:ext cx="4512399" cy="1027269"/>
            </a:xfrm>
            <a:prstGeom prst="rect">
              <a:avLst/>
            </a:prstGeom>
          </p:spPr>
          <p:txBody>
            <a:bodyPr wrap="square">
              <a:spAutoFit/>
            </a:bodyPr>
            <a:lstStyle/>
            <a:p>
              <a:r>
                <a:rPr lang="zh-CN" altLang="en-US" b="1" dirty="0"/>
                <a:t>现有动态重调度方法缺乏主动感知能力与有界次优性理论保证</a:t>
              </a:r>
              <a:endParaRPr lang="zh-CN" altLang="en-US" dirty="0">
                <a:latin typeface="微软雅黑" panose="020B0503020204020204" pitchFamily="34" charset="-122"/>
                <a:ea typeface="微软雅黑" panose="020B0503020204020204" pitchFamily="34" charset="-122"/>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1" y="1997869"/>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3"/>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dirty="0">
                <a:solidFill>
                  <a:schemeClr val="bg1"/>
                </a:solidFill>
                <a:latin typeface="Impact" panose="020B0806030902050204" pitchFamily="34" charset="0"/>
              </a:rPr>
              <a:t>2</a:t>
            </a:r>
            <a:endParaRPr lang="zh-CN" altLang="en-US" sz="8600" dirty="0">
              <a:solidFill>
                <a:schemeClr val="bg1"/>
              </a:solidFill>
              <a:latin typeface="Impact" panose="020B0806030902050204" pitchFamily="34" charset="0"/>
            </a:endParaRPr>
          </a:p>
        </p:txBody>
      </p:sp>
      <p:sp>
        <p:nvSpPr>
          <p:cNvPr id="5" name="文本框 4"/>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6" name="矩形 5"/>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6"/>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8" name="文本框 7"/>
          <p:cNvSpPr txBox="1">
            <a:spLocks noChangeArrowheads="1"/>
          </p:cNvSpPr>
          <p:nvPr/>
        </p:nvSpPr>
        <p:spPr bwMode="auto">
          <a:xfrm>
            <a:off x="4762697" y="2719387"/>
            <a:ext cx="4295775" cy="62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研究目标与研究内容</a:t>
            </a:r>
          </a:p>
        </p:txBody>
      </p:sp>
    </p:spTree>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4" y="196468"/>
            <a:ext cx="5842427"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73224" y="94269"/>
            <a:ext cx="311228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研究目标</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与研究内容</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02</a:t>
            </a:r>
            <a:endParaRPr lang="zh-CN" altLang="en-US" sz="2400" dirty="0">
              <a:solidFill>
                <a:schemeClr val="bg2">
                  <a:lumMod val="25000"/>
                </a:schemeClr>
              </a:solidFill>
              <a:latin typeface="Impact" panose="020B0806030902050204" pitchFamily="34" charset="0"/>
            </a:endParaRPr>
          </a:p>
        </p:txBody>
      </p:sp>
      <p:sp>
        <p:nvSpPr>
          <p:cNvPr id="8" name="文本框 7"/>
          <p:cNvSpPr txBox="1"/>
          <p:nvPr/>
        </p:nvSpPr>
        <p:spPr bwMode="auto">
          <a:xfrm>
            <a:off x="27891" y="656001"/>
            <a:ext cx="1313435" cy="398780"/>
          </a:xfrm>
          <a:prstGeom prst="rect">
            <a:avLst/>
          </a:prstGeom>
          <a:noFill/>
        </p:spPr>
        <p:txBody>
          <a:bodyPr wrap="square">
            <a:spAutoFit/>
          </a:bodyPr>
          <a:lstStyle/>
          <a:p>
            <a:pPr indent="0" algn="r">
              <a:buFont typeface="Wingdings" panose="05000000000000000000" pitchFamily="2" charset="2"/>
              <a:buNone/>
              <a:defRPr/>
            </a:pPr>
            <a:r>
              <a:rPr lang="zh-CN" altLang="en-US" sz="2000" b="1" dirty="0">
                <a:latin typeface="微软雅黑" panose="020B0503020204020204" pitchFamily="34" charset="-122"/>
                <a:ea typeface="微软雅黑" panose="020B0503020204020204" pitchFamily="34" charset="-122"/>
                <a:cs typeface="Arial" panose="020B0604020202020204" pitchFamily="34" charset="0"/>
              </a:rPr>
              <a:t> 研究目标</a:t>
            </a: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10</a:t>
            </a:fld>
            <a:endParaRPr lang="zh-CN" altLang="en-US"/>
          </a:p>
        </p:txBody>
      </p:sp>
      <p:sp>
        <p:nvSpPr>
          <p:cNvPr id="20" name="TextBox 19">
            <a:extLst>
              <a:ext uri="{FF2B5EF4-FFF2-40B4-BE49-F238E27FC236}">
                <a16:creationId xmlns="" xmlns:a16="http://schemas.microsoft.com/office/drawing/2014/main" id="{B463265E-52CA-8331-C429-A514361321C9}"/>
              </a:ext>
            </a:extLst>
          </p:cNvPr>
          <p:cNvSpPr txBox="1"/>
          <p:nvPr/>
        </p:nvSpPr>
        <p:spPr>
          <a:xfrm>
            <a:off x="274245" y="1341686"/>
            <a:ext cx="8407325" cy="2120902"/>
          </a:xfrm>
          <a:prstGeom prst="rect">
            <a:avLst/>
          </a:prstGeom>
          <a:noFill/>
        </p:spPr>
        <p:txBody>
          <a:bodyPr wrap="square">
            <a:spAutoFit/>
          </a:bodyPr>
          <a:lstStyle/>
          <a:p>
            <a:pPr indent="457200">
              <a:lnSpc>
                <a:spcPct val="150000"/>
              </a:lnSpc>
              <a:spcBef>
                <a:spcPts val="600"/>
              </a:spcBef>
              <a:spcAft>
                <a:spcPts val="600"/>
              </a:spcAft>
            </a:pPr>
            <a:r>
              <a:rPr lang="zh-CN" altLang="en-US" dirty="0">
                <a:latin typeface="微软雅黑" panose="020B0503020204020204" pitchFamily="34" charset="-122"/>
                <a:ea typeface="微软雅黑" panose="020B0503020204020204" pitchFamily="34" charset="-122"/>
              </a:rPr>
              <a:t>针对现有移动</a:t>
            </a:r>
            <a:r>
              <a:rPr lang="en-US" altLang="zh-CN" dirty="0">
                <a:latin typeface="微软雅黑" panose="020B0503020204020204" pitchFamily="34" charset="-122"/>
                <a:ea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rPr>
              <a:t>固定多智能体协同调度及抗扰性存在的： </a:t>
            </a:r>
            <a:r>
              <a:rPr lang="zh-CN" altLang="en-US" dirty="0">
                <a:solidFill>
                  <a:srgbClr val="FF0000"/>
                </a:solidFill>
                <a:latin typeface="微软雅黑" panose="020B0503020204020204" pitchFamily="34" charset="-122"/>
                <a:ea typeface="微软雅黑" panose="020B0503020204020204" pitchFamily="34" charset="-122"/>
              </a:rPr>
              <a:t>移动</a:t>
            </a:r>
            <a:r>
              <a:rPr lang="en-US" altLang="zh-CN" dirty="0">
                <a:solidFill>
                  <a:srgbClr val="FF0000"/>
                </a:solidFill>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固定多智能体调度系统联合优化难</a:t>
            </a:r>
            <a:r>
              <a:rPr lang="zh-CN" altLang="en-US" dirty="0">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数据注入攻击检测的准确性和实时性兼顾难</a:t>
            </a:r>
            <a:r>
              <a:rPr lang="zh-CN" altLang="en-US" dirty="0">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甄别智能体异常属于劫持还是工况原因难</a:t>
            </a:r>
            <a:r>
              <a:rPr lang="zh-CN" altLang="en-US" dirty="0">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重调度方案兼顾有界时间和近优性难 </a:t>
            </a:r>
            <a:r>
              <a:rPr lang="zh-CN" altLang="en-US" dirty="0">
                <a:latin typeface="微软雅黑" panose="020B0503020204020204" pitchFamily="34" charset="-122"/>
                <a:ea typeface="微软雅黑" panose="020B0503020204020204" pitchFamily="34" charset="-122"/>
              </a:rPr>
              <a:t>，建立</a:t>
            </a:r>
            <a:r>
              <a:rPr lang="zh-CN" altLang="en-US" dirty="0">
                <a:solidFill>
                  <a:schemeClr val="accent1"/>
                </a:solidFill>
                <a:latin typeface="微软雅黑" panose="020B0503020204020204" pitchFamily="34" charset="-122"/>
                <a:ea typeface="微软雅黑" panose="020B0503020204020204" pitchFamily="34" charset="-122"/>
              </a:rPr>
              <a:t>面向工业互联网移动</a:t>
            </a:r>
            <a:r>
              <a:rPr lang="en-US" dirty="0">
                <a:solidFill>
                  <a:schemeClr val="accent1"/>
                </a:solidFill>
                <a:latin typeface="微软雅黑" panose="020B0503020204020204" pitchFamily="34" charset="-122"/>
                <a:ea typeface="微软雅黑" panose="020B0503020204020204" pitchFamily="34" charset="-122"/>
              </a:rPr>
              <a:t>-</a:t>
            </a:r>
            <a:r>
              <a:rPr lang="zh-CN" altLang="en-US" dirty="0">
                <a:solidFill>
                  <a:schemeClr val="accent1"/>
                </a:solidFill>
                <a:latin typeface="微软雅黑" panose="020B0503020204020204" pitchFamily="34" charset="-122"/>
                <a:ea typeface="微软雅黑" panose="020B0503020204020204" pitchFamily="34" charset="-122"/>
              </a:rPr>
              <a:t>固定多智能体系统的协同调度与抗扰性</a:t>
            </a:r>
            <a:r>
              <a:rPr lang="zh-CN" altLang="en-US" dirty="0">
                <a:latin typeface="微软雅黑" panose="020B0503020204020204" pitchFamily="34" charset="-122"/>
                <a:ea typeface="微软雅黑" panose="020B0503020204020204" pitchFamily="34" charset="-122"/>
              </a:rPr>
              <a:t>综合方法，从而实现调度优化、注入攻击检测、异常智能体甄别与动态重调度的综合优化。</a:t>
            </a:r>
            <a:endParaRPr 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4" y="196468"/>
            <a:ext cx="5842427"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73224" y="94269"/>
            <a:ext cx="311228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研究目标与</a:t>
            </a:r>
            <a:r>
              <a:rPr lang="zh-CN" altLang="en-US" sz="2000" b="1" dirty="0">
                <a:solidFill>
                  <a:schemeClr val="accent1">
                    <a:lumMod val="75000"/>
                  </a:schemeClr>
                </a:solidFill>
                <a:latin typeface="微软雅黑" panose="020B0503020204020204" pitchFamily="34" charset="-122"/>
                <a:ea typeface="微软雅黑" panose="020B0503020204020204" pitchFamily="34" charset="-122"/>
              </a:rPr>
              <a:t>研究内容</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02</a:t>
            </a:r>
            <a:endParaRPr lang="zh-CN" altLang="en-US" sz="2400" dirty="0">
              <a:solidFill>
                <a:schemeClr val="bg2">
                  <a:lumMod val="25000"/>
                </a:schemeClr>
              </a:solidFill>
              <a:latin typeface="Impact" panose="020B0806030902050204" pitchFamily="34" charset="0"/>
            </a:endParaRPr>
          </a:p>
        </p:txBody>
      </p:sp>
      <p:sp>
        <p:nvSpPr>
          <p:cNvPr id="6" name="灯片编号占位符 5"/>
          <p:cNvSpPr>
            <a:spLocks noGrp="1"/>
          </p:cNvSpPr>
          <p:nvPr>
            <p:ph type="sldNum" sz="quarter" idx="12"/>
            <p:custDataLst>
              <p:tags r:id="rId1"/>
            </p:custDataLst>
          </p:nvPr>
        </p:nvSpPr>
        <p:spPr/>
        <p:txBody>
          <a:bodyPr/>
          <a:lstStyle/>
          <a:p>
            <a:fld id="{0C913308-F349-4B6D-A68A-DD1791B4A57B}" type="slidenum">
              <a:rPr lang="zh-CN" altLang="en-US" smtClean="0"/>
              <a:t>11</a:t>
            </a:fld>
            <a:endParaRPr lang="zh-CN" altLang="en-US"/>
          </a:p>
        </p:txBody>
      </p:sp>
      <p:pic>
        <p:nvPicPr>
          <p:cNvPr id="9" name="Picture 8">
            <a:extLst>
              <a:ext uri="{FF2B5EF4-FFF2-40B4-BE49-F238E27FC236}">
                <a16:creationId xmlns="" xmlns:a16="http://schemas.microsoft.com/office/drawing/2014/main" id="{91682C3C-243E-DD02-5AB1-80EF1E7BDF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7712" y="712953"/>
            <a:ext cx="8728575" cy="415547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56554" y="2022872"/>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3"/>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dirty="0">
                <a:solidFill>
                  <a:schemeClr val="bg1"/>
                </a:solidFill>
                <a:latin typeface="Impact" panose="020B0806030902050204" pitchFamily="34" charset="0"/>
              </a:rPr>
              <a:t>3</a:t>
            </a:r>
            <a:endParaRPr lang="zh-CN" altLang="en-US" sz="8600" dirty="0">
              <a:solidFill>
                <a:schemeClr val="bg1"/>
              </a:solidFill>
              <a:latin typeface="Impact" panose="020B0806030902050204" pitchFamily="34" charset="0"/>
            </a:endParaRPr>
          </a:p>
        </p:txBody>
      </p:sp>
      <p:sp>
        <p:nvSpPr>
          <p:cNvPr id="5" name="文本框 4"/>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6" name="矩形 5"/>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6"/>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8" name="文本框 7"/>
          <p:cNvSpPr txBox="1">
            <a:spLocks noChangeArrowheads="1"/>
          </p:cNvSpPr>
          <p:nvPr/>
        </p:nvSpPr>
        <p:spPr bwMode="auto">
          <a:xfrm>
            <a:off x="4665878" y="2719387"/>
            <a:ext cx="4295775" cy="62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技术路线与实验验证</a:t>
            </a:r>
          </a:p>
        </p:txBody>
      </p:sp>
    </p:spTree>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44" name="矩形 43"/>
          <p:cNvSpPr/>
          <p:nvPr/>
        </p:nvSpPr>
        <p:spPr>
          <a:xfrm>
            <a:off x="0" y="661670"/>
            <a:ext cx="8964488"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研究内容一： 基于时空约束和混合动态规划的移动</a:t>
            </a:r>
            <a:r>
              <a:rPr lang="en-US" altLang="zh-CN" sz="2000" b="1" dirty="0">
                <a:latin typeface="微软雅黑" panose="020B0503020204020204" pitchFamily="34" charset="-122"/>
                <a:ea typeface="微软雅黑" panose="020B0503020204020204" pitchFamily="34" charset="-122"/>
              </a:rPr>
              <a:t>-</a:t>
            </a:r>
            <a:r>
              <a:rPr lang="zh-CN" altLang="en-US" sz="2000" b="1" dirty="0">
                <a:latin typeface="微软雅黑" panose="020B0503020204020204" pitchFamily="34" charset="-122"/>
                <a:ea typeface="微软雅黑" panose="020B0503020204020204" pitchFamily="34" charset="-122"/>
              </a:rPr>
              <a:t>固定多智能体协同调度</a:t>
            </a:r>
          </a:p>
        </p:txBody>
      </p:sp>
      <p:sp>
        <p:nvSpPr>
          <p:cNvPr id="11" name="矩形 10"/>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12" name="矩形 11"/>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13" name="TextBox 7"/>
          <p:cNvSpPr txBox="1"/>
          <p:nvPr/>
        </p:nvSpPr>
        <p:spPr>
          <a:xfrm>
            <a:off x="457200" y="1556651"/>
            <a:ext cx="7797165" cy="502285"/>
          </a:xfrm>
          <a:prstGeom prst="rect">
            <a:avLst/>
          </a:prstGeom>
          <a:noFill/>
          <a:ln>
            <a:noFill/>
          </a:ln>
        </p:spPr>
        <p:txBody>
          <a:bodyPr wrap="square" rtlCol="0">
            <a:noAutofit/>
          </a:bodyPr>
          <a:lstStyle/>
          <a:p>
            <a:pPr indent="457200" fontAlgn="auto">
              <a:lnSpc>
                <a:spcPct val="125000"/>
              </a:lnSpc>
            </a:pPr>
            <a:r>
              <a:rPr lang="zh-CN" altLang="en-US" sz="1600" dirty="0">
                <a:latin typeface="微软雅黑" panose="020B0503020204020204" pitchFamily="34" charset="-122"/>
                <a:ea typeface="微软雅黑" panose="020B0503020204020204" pitchFamily="34" charset="-122"/>
                <a:sym typeface="+mn-ea"/>
              </a:rPr>
              <a:t>如何对工业互联网环境下移动智能体（</a:t>
            </a:r>
            <a:r>
              <a:rPr lang="en-US" altLang="zh-CN" sz="1600" dirty="0">
                <a:latin typeface="微软雅黑" panose="020B0503020204020204" pitchFamily="34" charset="-122"/>
                <a:ea typeface="微软雅黑" panose="020B0503020204020204" pitchFamily="34" charset="-122"/>
                <a:sym typeface="+mn-ea"/>
              </a:rPr>
              <a:t>CSS</a:t>
            </a:r>
            <a:r>
              <a:rPr lang="zh-CN" altLang="en-US" sz="1600" dirty="0">
                <a:latin typeface="微软雅黑" panose="020B0503020204020204" pitchFamily="34" charset="-122"/>
                <a:ea typeface="微软雅黑" panose="020B0503020204020204" pitchFamily="34" charset="-122"/>
                <a:sym typeface="+mn-ea"/>
              </a:rPr>
              <a:t>）与固定智能体（</a:t>
            </a:r>
            <a:r>
              <a:rPr lang="en-US" altLang="zh-CN" sz="1600" dirty="0">
                <a:latin typeface="微软雅黑" panose="020B0503020204020204" pitchFamily="34" charset="-122"/>
                <a:ea typeface="微软雅黑" panose="020B0503020204020204" pitchFamily="34" charset="-122"/>
                <a:sym typeface="+mn-ea"/>
              </a:rPr>
              <a:t>DES</a:t>
            </a:r>
            <a:r>
              <a:rPr lang="zh-CN" altLang="en-US" sz="1600" dirty="0">
                <a:latin typeface="微软雅黑" panose="020B0503020204020204" pitchFamily="34" charset="-122"/>
                <a:ea typeface="微软雅黑" panose="020B0503020204020204" pitchFamily="34" charset="-122"/>
                <a:sym typeface="+mn-ea"/>
              </a:rPr>
              <a:t>）的协同调度进行统一建模，以最小化系统完工时间为目标，</a:t>
            </a:r>
            <a:r>
              <a:rPr lang="zh-CN" altLang="en-US" sz="1600" dirty="0">
                <a:solidFill>
                  <a:schemeClr val="accent1"/>
                </a:solidFill>
                <a:latin typeface="微软雅黑" panose="020B0503020204020204" pitchFamily="34" charset="-122"/>
                <a:ea typeface="微软雅黑" panose="020B0503020204020204" pitchFamily="34" charset="-122"/>
                <a:sym typeface="+mn-ea"/>
              </a:rPr>
              <a:t>联合优化移动智能体运行轨迹、固定智能体任务分配方案</a:t>
            </a:r>
            <a:r>
              <a:rPr lang="zh-CN" altLang="en-US" sz="1600" dirty="0">
                <a:latin typeface="微软雅黑" panose="020B0503020204020204" pitchFamily="34" charset="-122"/>
                <a:ea typeface="微软雅黑" panose="020B0503020204020204" pitchFamily="34" charset="-122"/>
                <a:sym typeface="+mn-ea"/>
              </a:rPr>
              <a:t>？</a:t>
            </a:r>
            <a:endParaRPr lang="zh-CN" altLang="en-US" sz="1600" dirty="0">
              <a:latin typeface="微软雅黑" panose="020B0503020204020204" pitchFamily="34" charset="-122"/>
              <a:ea typeface="微软雅黑" panose="020B0503020204020204" pitchFamily="34" charset="-122"/>
            </a:endParaRP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13</a:t>
            </a:fld>
            <a:endParaRPr lang="zh-CN" altLang="en-US"/>
          </a:p>
        </p:txBody>
      </p:sp>
      <p:sp>
        <p:nvSpPr>
          <p:cNvPr id="16" name="矩形 15"/>
          <p:cNvSpPr/>
          <p:nvPr/>
        </p:nvSpPr>
        <p:spPr>
          <a:xfrm>
            <a:off x="1" y="3077629"/>
            <a:ext cx="2264410" cy="168846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latin typeface="华文楷体" panose="02010600040101010101" pitchFamily="2" charset="-122"/>
                <a:ea typeface="华文楷体" panose="02010600040101010101" pitchFamily="2" charset="-122"/>
              </a:rPr>
              <a:t>CSS智能体（AGV</a:t>
            </a:r>
            <a:r>
              <a:rPr lang="en-US" sz="1600" dirty="0">
                <a:solidFill>
                  <a:schemeClr val="tx1"/>
                </a:solidFill>
                <a:latin typeface="华文楷体" panose="02010600040101010101" pitchFamily="2" charset="-122"/>
                <a:ea typeface="华文楷体" panose="02010600040101010101" pitchFamily="2" charset="-122"/>
              </a:rPr>
              <a:t>）+ </a:t>
            </a:r>
            <a:r>
              <a:rPr lang="en-US" sz="1600" dirty="0" err="1">
                <a:solidFill>
                  <a:schemeClr val="tx1"/>
                </a:solidFill>
                <a:latin typeface="华文楷体" panose="02010600040101010101" pitchFamily="2" charset="-122"/>
                <a:ea typeface="华文楷体" panose="02010600040101010101" pitchFamily="2" charset="-122"/>
              </a:rPr>
              <a:t>DES智能体（机械臂</a:t>
            </a:r>
            <a:r>
              <a:rPr lang="en-US" sz="1600" dirty="0">
                <a:solidFill>
                  <a:schemeClr val="tx1"/>
                </a:solidFill>
                <a:latin typeface="华文楷体" panose="02010600040101010101" pitchFamily="2" charset="-122"/>
                <a:ea typeface="华文楷体" panose="02010600040101010101" pitchFamily="2" charset="-122"/>
              </a:rPr>
              <a:t>）</a:t>
            </a:r>
          </a:p>
          <a:p>
            <a:pPr algn="ctr"/>
            <a:endParaRPr lang="en-US" altLang="zh-CN" sz="1600" dirty="0">
              <a:solidFill>
                <a:schemeClr val="tx1"/>
              </a:solidFill>
            </a:endParaRPr>
          </a:p>
          <a:p>
            <a:pPr algn="ctr"/>
            <a:r>
              <a:rPr lang="zh-CN" altLang="en-US" sz="1600" dirty="0">
                <a:solidFill>
                  <a:schemeClr val="tx1"/>
                </a:solidFill>
              </a:rPr>
              <a:t>目标：最小化系统完工时间</a:t>
            </a:r>
            <a:r>
              <a:rPr lang="en-US" sz="1600" i="1" dirty="0">
                <a:solidFill>
                  <a:schemeClr val="tx1"/>
                </a:solidFill>
              </a:rPr>
              <a:t>T</a:t>
            </a:r>
            <a:r>
              <a:rPr lang="en-US" sz="1600" i="1" baseline="-25000" dirty="0">
                <a:solidFill>
                  <a:schemeClr val="tx1"/>
                </a:solidFill>
              </a:rPr>
              <a:t>m</a:t>
            </a:r>
            <a:r>
              <a:rPr lang="en-US" sz="1600" baseline="-25000" dirty="0">
                <a:solidFill>
                  <a:schemeClr val="tx1"/>
                </a:solidFill>
              </a:rPr>
              <a:t>​</a:t>
            </a:r>
            <a:r>
              <a:rPr lang="en-US" sz="1600" i="1" baseline="-25000" dirty="0" err="1">
                <a:solidFill>
                  <a:schemeClr val="tx1"/>
                </a:solidFill>
              </a:rPr>
              <a:t>akespan</a:t>
            </a:r>
            <a:endParaRPr lang="en-US" sz="1600" dirty="0">
              <a:solidFill>
                <a:schemeClr val="tx1"/>
              </a:solidFill>
            </a:endParaRPr>
          </a:p>
        </p:txBody>
      </p:sp>
      <p:sp>
        <p:nvSpPr>
          <p:cNvPr id="17" name="矩形 16"/>
          <p:cNvSpPr/>
          <p:nvPr/>
        </p:nvSpPr>
        <p:spPr>
          <a:xfrm>
            <a:off x="2593585" y="3076995"/>
            <a:ext cx="4109569"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latin typeface="华文楷体" panose="02010600040101010101" pitchFamily="2" charset="-122"/>
                <a:ea typeface="华文楷体" panose="02010600040101010101" pitchFamily="2" charset="-122"/>
              </a:rPr>
              <a:t>HDP(</a:t>
            </a:r>
            <a:r>
              <a:rPr lang="zh-CN" altLang="en-US" sz="1600" dirty="0">
                <a:solidFill>
                  <a:schemeClr val="tx1"/>
                </a:solidFill>
                <a:latin typeface="华文楷体" panose="02010600040101010101" pitchFamily="2" charset="-122"/>
                <a:ea typeface="华文楷体" panose="02010600040101010101" pitchFamily="2" charset="-122"/>
              </a:rPr>
              <a:t>混合动态规划 </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en-US" sz="1600" b="1" dirty="0">
                <a:solidFill>
                  <a:schemeClr val="tx1"/>
                </a:solidFill>
                <a:latin typeface="华文楷体" panose="02010600040101010101" pitchFamily="2" charset="-122"/>
                <a:ea typeface="华文楷体" panose="02010600040101010101" pitchFamily="2" charset="-122"/>
              </a:rPr>
              <a:t>分解</a:t>
            </a:r>
            <a:r>
              <a:rPr lang="en-US" altLang="zh-CN" sz="1600" b="1" dirty="0">
                <a:solidFill>
                  <a:schemeClr val="tx1"/>
                </a:solidFill>
                <a:latin typeface="华文楷体" panose="02010600040101010101" pitchFamily="2" charset="-122"/>
                <a:ea typeface="华文楷体" panose="02010600040101010101" pitchFamily="2" charset="-122"/>
              </a:rPr>
              <a:t>—</a:t>
            </a:r>
            <a:r>
              <a:rPr lang="zh-CN" altLang="en-US" sz="1600" b="1" dirty="0">
                <a:solidFill>
                  <a:schemeClr val="tx1"/>
                </a:solidFill>
                <a:latin typeface="华文楷体" panose="02010600040101010101" pitchFamily="2" charset="-122"/>
                <a:ea typeface="华文楷体" panose="02010600040101010101" pitchFamily="2" charset="-122"/>
              </a:rPr>
              <a:t>协调</a:t>
            </a:r>
            <a:r>
              <a:rPr lang="en-US" altLang="zh-CN" sz="1600" b="1" dirty="0">
                <a:solidFill>
                  <a:schemeClr val="tx1"/>
                </a:solidFill>
                <a:latin typeface="华文楷体" panose="02010600040101010101" pitchFamily="2" charset="-122"/>
                <a:ea typeface="华文楷体" panose="02010600040101010101" pitchFamily="2" charset="-122"/>
              </a:rPr>
              <a:t>—</a:t>
            </a:r>
            <a:r>
              <a:rPr lang="zh-CN" altLang="en-US" sz="1600" b="1" dirty="0">
                <a:solidFill>
                  <a:schemeClr val="tx1"/>
                </a:solidFill>
                <a:latin typeface="华文楷体" panose="02010600040101010101" pitchFamily="2" charset="-122"/>
                <a:ea typeface="华文楷体" panose="02010600040101010101" pitchFamily="2" charset="-122"/>
              </a:rPr>
              <a:t>收敛</a:t>
            </a:r>
            <a:r>
              <a:rPr lang="zh-CN" altLang="en-US" sz="1600" dirty="0">
                <a:solidFill>
                  <a:schemeClr val="tx1"/>
                </a:solidFill>
                <a:latin typeface="华文楷体" panose="02010600040101010101" pitchFamily="2" charset="-122"/>
                <a:ea typeface="华文楷体" panose="02010600040101010101" pitchFamily="2" charset="-122"/>
              </a:rPr>
              <a:t>框架</a:t>
            </a:r>
            <a:endParaRPr lang="en-US" altLang="zh-CN" sz="1600" dirty="0">
              <a:solidFill>
                <a:schemeClr val="tx1"/>
              </a:solidFill>
              <a:latin typeface="华文楷体" panose="02010600040101010101" pitchFamily="2" charset="-122"/>
              <a:ea typeface="华文楷体" panose="02010600040101010101" pitchFamily="2" charset="-122"/>
            </a:endParaRPr>
          </a:p>
          <a:p>
            <a:pPr algn="ctr"/>
            <a:endParaRPr lang="en-US" altLang="zh-CN" sz="1600" dirty="0">
              <a:solidFill>
                <a:schemeClr val="tx1"/>
              </a:solidFill>
              <a:latin typeface="华文楷体" panose="02010600040101010101" pitchFamily="2" charset="-122"/>
              <a:ea typeface="华文楷体" panose="02010600040101010101" pitchFamily="2" charset="-122"/>
            </a:endParaRPr>
          </a:p>
          <a:p>
            <a:pPr algn="ctr"/>
            <a:endParaRPr lang="en-US" altLang="zh-CN" sz="1600" dirty="0">
              <a:solidFill>
                <a:schemeClr val="tx1"/>
              </a:solidFill>
              <a:latin typeface="华文楷体" panose="02010600040101010101" pitchFamily="2" charset="-122"/>
              <a:ea typeface="华文楷体" panose="02010600040101010101" pitchFamily="2" charset="-122"/>
            </a:endParaRPr>
          </a:p>
          <a:p>
            <a:pPr algn="ctr"/>
            <a:endParaRPr lang="en-US" altLang="zh-CN" sz="1600" dirty="0">
              <a:solidFill>
                <a:schemeClr val="tx1"/>
              </a:solidFill>
              <a:latin typeface="华文楷体" panose="02010600040101010101" pitchFamily="2" charset="-122"/>
              <a:ea typeface="华文楷体" panose="02010600040101010101" pitchFamily="2" charset="-122"/>
            </a:endParaRPr>
          </a:p>
          <a:p>
            <a:pPr algn="ctr"/>
            <a:endParaRPr lang="en-US" altLang="zh-CN" sz="1600" dirty="0">
              <a:solidFill>
                <a:schemeClr val="tx1"/>
              </a:solidFill>
              <a:latin typeface="华文楷体" panose="02010600040101010101" pitchFamily="2" charset="-122"/>
              <a:ea typeface="华文楷体" panose="02010600040101010101" pitchFamily="2" charset="-122"/>
            </a:endParaRPr>
          </a:p>
          <a:p>
            <a:pPr algn="ctr"/>
            <a:r>
              <a:rPr lang="zh-CN" altLang="en-US" sz="1600" dirty="0">
                <a:solidFill>
                  <a:schemeClr val="tx1"/>
                </a:solidFill>
                <a:latin typeface="华文楷体" panose="02010600040101010101" pitchFamily="2" charset="-122"/>
                <a:ea typeface="华文楷体" panose="02010600040101010101" pitchFamily="2" charset="-122"/>
              </a:rPr>
              <a:t> </a:t>
            </a:r>
            <a:endParaRPr lang="zh-CN" sz="1600" dirty="0">
              <a:solidFill>
                <a:schemeClr val="tx1"/>
              </a:solidFill>
              <a:latin typeface="华文楷体" panose="02010600040101010101" pitchFamily="2" charset="-122"/>
              <a:ea typeface="华文楷体" panose="02010600040101010101" pitchFamily="2" charset="-122"/>
            </a:endParaRPr>
          </a:p>
        </p:txBody>
      </p:sp>
      <p:sp>
        <p:nvSpPr>
          <p:cNvPr id="18" name="矩形 17"/>
          <p:cNvSpPr/>
          <p:nvPr/>
        </p:nvSpPr>
        <p:spPr>
          <a:xfrm>
            <a:off x="7007500" y="3076995"/>
            <a:ext cx="2133600"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华文楷体" panose="02010600040101010101" pitchFamily="2" charset="-122"/>
                <a:ea typeface="华文楷体" panose="02010600040101010101" pitchFamily="2" charset="-122"/>
              </a:rPr>
              <a:t> 输出结果</a:t>
            </a:r>
            <a:endParaRPr lang="en-US" altLang="zh-CN" sz="1600" dirty="0">
              <a:solidFill>
                <a:schemeClr val="tx1"/>
              </a:solidFill>
              <a:latin typeface="华文楷体" panose="02010600040101010101" pitchFamily="2" charset="-122"/>
              <a:ea typeface="华文楷体" panose="02010600040101010101" pitchFamily="2" charset="-122"/>
            </a:endParaRPr>
          </a:p>
          <a:p>
            <a:pPr algn="ctr"/>
            <a:r>
              <a:rPr lang="zh-CN" altLang="en-US" sz="1600" dirty="0">
                <a:solidFill>
                  <a:schemeClr val="tx1"/>
                </a:solidFill>
                <a:latin typeface="华文楷体" panose="02010600040101010101" pitchFamily="2" charset="-122"/>
                <a:ea typeface="华文楷体" panose="02010600040101010101" pitchFamily="2" charset="-122"/>
              </a:rPr>
              <a:t>             </a:t>
            </a:r>
          </a:p>
          <a:p>
            <a:pPr algn="ctr"/>
            <a:r>
              <a:rPr lang="zh-CN" altLang="en-US" sz="1600" dirty="0">
                <a:solidFill>
                  <a:schemeClr val="tx1"/>
                </a:solidFill>
                <a:latin typeface="华文楷体" panose="02010600040101010101" pitchFamily="2" charset="-122"/>
                <a:ea typeface="华文楷体" panose="02010600040101010101" pitchFamily="2" charset="-122"/>
              </a:rPr>
              <a:t>最优轨迹 </a:t>
            </a:r>
            <a:r>
              <a:rPr lang="en-US" altLang="zh-CN" sz="1600" dirty="0">
                <a:solidFill>
                  <a:schemeClr val="tx1"/>
                </a:solidFill>
                <a:latin typeface="华文楷体" panose="02010600040101010101" pitchFamily="2" charset="-122"/>
                <a:ea typeface="华文楷体" panose="02010600040101010101" pitchFamily="2" charset="-122"/>
              </a:rPr>
              <a:t>u* + </a:t>
            </a:r>
            <a:r>
              <a:rPr lang="zh-CN" altLang="en-US" sz="1600" dirty="0">
                <a:solidFill>
                  <a:schemeClr val="tx1"/>
                </a:solidFill>
                <a:latin typeface="华文楷体" panose="02010600040101010101" pitchFamily="2" charset="-122"/>
                <a:ea typeface="华文楷体" panose="02010600040101010101" pitchFamily="2" charset="-122"/>
              </a:rPr>
              <a:t>最优时序 </a:t>
            </a:r>
            <a:r>
              <a:rPr lang="el-GR" altLang="zh-CN" sz="1600" dirty="0">
                <a:solidFill>
                  <a:schemeClr val="tx1"/>
                </a:solidFill>
                <a:latin typeface="华文楷体" panose="02010600040101010101" pitchFamily="2" charset="-122"/>
                <a:ea typeface="华文楷体" panose="02010600040101010101" pitchFamily="2" charset="-122"/>
              </a:rPr>
              <a:t>τ* + </a:t>
            </a:r>
            <a:r>
              <a:rPr lang="zh-CN" altLang="en-US" sz="1600" dirty="0">
                <a:solidFill>
                  <a:schemeClr val="tx1"/>
                </a:solidFill>
                <a:latin typeface="华文楷体" panose="02010600040101010101" pitchFamily="2" charset="-122"/>
                <a:ea typeface="华文楷体" panose="02010600040101010101" pitchFamily="2" charset="-122"/>
              </a:rPr>
              <a:t>最优分配 </a:t>
            </a:r>
            <a:r>
              <a:rPr lang="en-US" altLang="zh-CN" sz="1600" dirty="0">
                <a:solidFill>
                  <a:schemeClr val="tx1"/>
                </a:solidFill>
                <a:latin typeface="华文楷体" panose="02010600040101010101" pitchFamily="2" charset="-122"/>
                <a:ea typeface="华文楷体" panose="02010600040101010101" pitchFamily="2" charset="-122"/>
              </a:rPr>
              <a:t>z*</a:t>
            </a:r>
          </a:p>
        </p:txBody>
      </p:sp>
      <p:sp>
        <p:nvSpPr>
          <p:cNvPr id="22" name="右箭头 21"/>
          <p:cNvSpPr/>
          <p:nvPr/>
        </p:nvSpPr>
        <p:spPr>
          <a:xfrm>
            <a:off x="2291900" y="3699469"/>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右箭头 22"/>
          <p:cNvSpPr/>
          <p:nvPr/>
        </p:nvSpPr>
        <p:spPr>
          <a:xfrm>
            <a:off x="6703154" y="3699468"/>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TextBox 8">
            <a:extLst>
              <a:ext uri="{FF2B5EF4-FFF2-40B4-BE49-F238E27FC236}">
                <a16:creationId xmlns="" xmlns:a16="http://schemas.microsoft.com/office/drawing/2014/main" id="{9F983F25-BE03-BC64-7B5D-2A3B7512ECB6}"/>
              </a:ext>
            </a:extLst>
          </p:cNvPr>
          <p:cNvSpPr txBox="1"/>
          <p:nvPr/>
        </p:nvSpPr>
        <p:spPr>
          <a:xfrm>
            <a:off x="2628213" y="3599187"/>
            <a:ext cx="1735571" cy="646331"/>
          </a:xfrm>
          <a:prstGeom prst="rect">
            <a:avLst/>
          </a:prstGeom>
          <a:solidFill>
            <a:schemeClr val="bg2">
              <a:lumMod val="90000"/>
            </a:schemeClr>
          </a:solidFill>
        </p:spPr>
        <p:txBody>
          <a:bodyPr wrap="square">
            <a:spAutoFit/>
          </a:bodyPr>
          <a:lstStyle/>
          <a:p>
            <a:pPr algn="ctr"/>
            <a:r>
              <a:rPr lang="en-US" dirty="0"/>
              <a:t> CSS-DP    </a:t>
            </a:r>
          </a:p>
          <a:p>
            <a:pPr algn="ctr"/>
            <a:r>
              <a:rPr lang="en-US" dirty="0" err="1"/>
              <a:t>求解最优轨迹</a:t>
            </a:r>
            <a:r>
              <a:rPr lang="en-US" dirty="0"/>
              <a:t> u</a:t>
            </a:r>
          </a:p>
        </p:txBody>
      </p:sp>
      <p:sp>
        <p:nvSpPr>
          <p:cNvPr id="10" name="TextBox 9">
            <a:extLst>
              <a:ext uri="{FF2B5EF4-FFF2-40B4-BE49-F238E27FC236}">
                <a16:creationId xmlns="" xmlns:a16="http://schemas.microsoft.com/office/drawing/2014/main" id="{C12E34B3-BE35-4868-6735-25D134DEF5C8}"/>
              </a:ext>
            </a:extLst>
          </p:cNvPr>
          <p:cNvSpPr txBox="1"/>
          <p:nvPr/>
        </p:nvSpPr>
        <p:spPr>
          <a:xfrm>
            <a:off x="4542914" y="3599187"/>
            <a:ext cx="2133600" cy="646331"/>
          </a:xfrm>
          <a:prstGeom prst="rect">
            <a:avLst/>
          </a:prstGeom>
          <a:solidFill>
            <a:schemeClr val="bg2">
              <a:lumMod val="90000"/>
            </a:schemeClr>
          </a:solidFill>
        </p:spPr>
        <p:txBody>
          <a:bodyPr wrap="square">
            <a:spAutoFit/>
          </a:bodyPr>
          <a:lstStyle/>
          <a:p>
            <a:pPr algn="ctr"/>
            <a:r>
              <a:rPr lang="en-US" dirty="0"/>
              <a:t>  DES-DP     </a:t>
            </a:r>
          </a:p>
          <a:p>
            <a:pPr algn="ctr"/>
            <a:r>
              <a:rPr lang="zh-CN" altLang="en-US" dirty="0"/>
              <a:t>求解最优调度 </a:t>
            </a:r>
            <a:r>
              <a:rPr lang="en-US" altLang="zh-CN" dirty="0"/>
              <a:t>(</a:t>
            </a:r>
            <a:r>
              <a:rPr lang="el-GR" dirty="0"/>
              <a:t>τ,</a:t>
            </a:r>
            <a:r>
              <a:rPr lang="en-US" dirty="0"/>
              <a:t>z)</a:t>
            </a:r>
          </a:p>
        </p:txBody>
      </p:sp>
      <p:sp>
        <p:nvSpPr>
          <p:cNvPr id="14" name="Arrow: Curved Right 13">
            <a:extLst>
              <a:ext uri="{FF2B5EF4-FFF2-40B4-BE49-F238E27FC236}">
                <a16:creationId xmlns="" xmlns:a16="http://schemas.microsoft.com/office/drawing/2014/main" id="{311C2079-B052-92BB-66F3-2CD95A065427}"/>
              </a:ext>
            </a:extLst>
          </p:cNvPr>
          <p:cNvSpPr/>
          <p:nvPr/>
        </p:nvSpPr>
        <p:spPr>
          <a:xfrm rot="5400000">
            <a:off x="4201527" y="3269786"/>
            <a:ext cx="324513" cy="771890"/>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Arrow: Curved Right 14">
            <a:extLst>
              <a:ext uri="{FF2B5EF4-FFF2-40B4-BE49-F238E27FC236}">
                <a16:creationId xmlns="" xmlns:a16="http://schemas.microsoft.com/office/drawing/2014/main" id="{FF88AC0A-C5A2-CAB1-A427-5A9658C9F8C2}"/>
              </a:ext>
            </a:extLst>
          </p:cNvPr>
          <p:cNvSpPr/>
          <p:nvPr/>
        </p:nvSpPr>
        <p:spPr>
          <a:xfrm rot="15939067">
            <a:off x="4234241" y="3934208"/>
            <a:ext cx="324513" cy="771890"/>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1" name="TextBox 20">
            <a:extLst>
              <a:ext uri="{FF2B5EF4-FFF2-40B4-BE49-F238E27FC236}">
                <a16:creationId xmlns="" xmlns:a16="http://schemas.microsoft.com/office/drawing/2014/main" id="{70B67195-43C4-4C5D-F3B4-0C34C602A93D}"/>
              </a:ext>
            </a:extLst>
          </p:cNvPr>
          <p:cNvSpPr txBox="1"/>
          <p:nvPr/>
        </p:nvSpPr>
        <p:spPr>
          <a:xfrm>
            <a:off x="2652953" y="4428709"/>
            <a:ext cx="3871161" cy="338554"/>
          </a:xfrm>
          <a:prstGeom prst="rect">
            <a:avLst/>
          </a:prstGeom>
          <a:noFill/>
        </p:spPr>
        <p:txBody>
          <a:bodyPr wrap="square">
            <a:spAutoFit/>
          </a:bodyPr>
          <a:lstStyle/>
          <a:p>
            <a:pPr algn="l">
              <a:buNone/>
            </a:pPr>
            <a:r>
              <a:rPr lang="en-US" sz="1600" b="1" dirty="0" err="1">
                <a:latin typeface="华文楷体" panose="02010600040101010101" pitchFamily="2" charset="-122"/>
                <a:ea typeface="华文楷体" panose="02010600040101010101" pitchFamily="2" charset="-122"/>
              </a:rPr>
              <a:t>迭代协调</a:t>
            </a:r>
            <a:r>
              <a:rPr lang="en-US" sz="1600" dirty="0" err="1">
                <a:latin typeface="华文楷体" panose="02010600040101010101" pitchFamily="2" charset="-122"/>
                <a:ea typeface="华文楷体" panose="02010600040101010101" pitchFamily="2" charset="-122"/>
              </a:rPr>
              <a:t>，完工时间单调不增，直至收敛</a:t>
            </a:r>
            <a:endParaRPr lang="en-US" sz="1600" dirty="0">
              <a:latin typeface="华文楷体" panose="02010600040101010101" pitchFamily="2" charset="-122"/>
              <a:ea typeface="华文楷体" panose="02010600040101010101" pitchFamily="2"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7740352" y="190123"/>
            <a:ext cx="1403648" cy="19405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842010" y="103505"/>
            <a:ext cx="7037011"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a:r>
              <a:rPr lang="zh-CN" altLang="en-US" sz="2000" b="1" dirty="0">
                <a:latin typeface="微软雅黑" panose="020B0503020204020204" pitchFamily="34" charset="-122"/>
                <a:ea typeface="微软雅黑" panose="020B0503020204020204" pitchFamily="34" charset="-122"/>
              </a:rPr>
              <a:t>基于时空约束和混合动态规划的移动</a:t>
            </a:r>
            <a:r>
              <a:rPr lang="en-US" altLang="zh-CN" sz="2000" b="1" dirty="0">
                <a:latin typeface="微软雅黑" panose="020B0503020204020204" pitchFamily="34" charset="-122"/>
                <a:ea typeface="微软雅黑" panose="020B0503020204020204" pitchFamily="34" charset="-122"/>
              </a:rPr>
              <a:t>-</a:t>
            </a:r>
            <a:r>
              <a:rPr lang="zh-CN" altLang="en-US" sz="2000" b="1" dirty="0">
                <a:latin typeface="微软雅黑" panose="020B0503020204020204" pitchFamily="34" charset="-122"/>
                <a:ea typeface="微软雅黑" panose="020B0503020204020204" pitchFamily="34" charset="-122"/>
              </a:rPr>
              <a:t>固定多智能体协同调度</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14</a:t>
            </a:fld>
            <a:endParaRPr lang="zh-CN" altLang="en-US"/>
          </a:p>
        </p:txBody>
      </p:sp>
      <p:pic>
        <p:nvPicPr>
          <p:cNvPr id="9" name="Picture 8">
            <a:extLst>
              <a:ext uri="{FF2B5EF4-FFF2-40B4-BE49-F238E27FC236}">
                <a16:creationId xmlns="" xmlns:a16="http://schemas.microsoft.com/office/drawing/2014/main" id="{4160488D-D0FD-2A08-7CC1-253060BBC94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3760" y="2820250"/>
            <a:ext cx="7785261" cy="2219745"/>
          </a:xfrm>
          <a:prstGeom prst="rect">
            <a:avLst/>
          </a:prstGeom>
        </p:spPr>
      </p:pic>
      <p:pic>
        <p:nvPicPr>
          <p:cNvPr id="12" name="Picture 11">
            <a:extLst>
              <a:ext uri="{FF2B5EF4-FFF2-40B4-BE49-F238E27FC236}">
                <a16:creationId xmlns="" xmlns:a16="http://schemas.microsoft.com/office/drawing/2014/main" id="{42C3910C-B661-038F-2EDE-55EBECD4D7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273506" y="836622"/>
            <a:ext cx="5776733" cy="1974926"/>
          </a:xfrm>
          <a:prstGeom prst="rect">
            <a:avLst/>
          </a:prstGeom>
        </p:spPr>
      </p:pic>
      <p:sp>
        <p:nvSpPr>
          <p:cNvPr id="17" name="Arrow: Bent-Up 16">
            <a:extLst>
              <a:ext uri="{FF2B5EF4-FFF2-40B4-BE49-F238E27FC236}">
                <a16:creationId xmlns="" xmlns:a16="http://schemas.microsoft.com/office/drawing/2014/main" id="{0D113175-3B95-E60E-9840-0865AAD5775F}"/>
              </a:ext>
            </a:extLst>
          </p:cNvPr>
          <p:cNvSpPr/>
          <p:nvPr/>
        </p:nvSpPr>
        <p:spPr>
          <a:xfrm rot="16200000" flipH="1">
            <a:off x="7861494" y="2811646"/>
            <a:ext cx="742404" cy="742207"/>
          </a:xfrm>
          <a:prstGeom prst="bentUpArrow">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矩形 10">
            <a:extLst>
              <a:ext uri="{FF2B5EF4-FFF2-40B4-BE49-F238E27FC236}">
                <a16:creationId xmlns="" xmlns:a16="http://schemas.microsoft.com/office/drawing/2014/main" id="{698E5D4B-7CAC-2DCD-E074-AC1A369ED0A4}"/>
              </a:ext>
            </a:extLst>
          </p:cNvPr>
          <p:cNvSpPr/>
          <p:nvPr/>
        </p:nvSpPr>
        <p:spPr>
          <a:xfrm>
            <a:off x="146127" y="795425"/>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传统方法：</a:t>
            </a:r>
            <a:endParaRPr lang="zh-CN" altLang="en-US" sz="1600" dirty="0">
              <a:latin typeface="微软雅黑" panose="020B0503020204020204" pitchFamily="34" charset="-122"/>
              <a:ea typeface="微软雅黑" panose="020B0503020204020204" pitchFamily="34" charset="-122"/>
            </a:endParaRPr>
          </a:p>
        </p:txBody>
      </p:sp>
      <p:sp>
        <p:nvSpPr>
          <p:cNvPr id="20" name="矩形 11">
            <a:extLst>
              <a:ext uri="{FF2B5EF4-FFF2-40B4-BE49-F238E27FC236}">
                <a16:creationId xmlns="" xmlns:a16="http://schemas.microsoft.com/office/drawing/2014/main" id="{4B83D5F3-D8C6-A650-836A-E3274EDD7B90}"/>
              </a:ext>
            </a:extLst>
          </p:cNvPr>
          <p:cNvSpPr/>
          <p:nvPr/>
        </p:nvSpPr>
        <p:spPr>
          <a:xfrm>
            <a:off x="146127" y="2292017"/>
            <a:ext cx="1351652"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新方法：</a:t>
            </a:r>
            <a:endParaRPr lang="zh-CN" altLang="en-US" sz="1600" b="1" dirty="0">
              <a:latin typeface="微软雅黑" panose="020B0503020204020204" pitchFamily="34" charset="-122"/>
              <a:ea typeface="微软雅黑" panose="020B0503020204020204" pitchFamily="34" charset="-122"/>
            </a:endParaRPr>
          </a:p>
        </p:txBody>
      </p:sp>
      <p:sp>
        <p:nvSpPr>
          <p:cNvPr id="23" name="TextBox 22">
            <a:extLst>
              <a:ext uri="{FF2B5EF4-FFF2-40B4-BE49-F238E27FC236}">
                <a16:creationId xmlns="" xmlns:a16="http://schemas.microsoft.com/office/drawing/2014/main" id="{A200EEA4-3B4D-8DA6-FAF7-1DD72D7FBF63}"/>
              </a:ext>
            </a:extLst>
          </p:cNvPr>
          <p:cNvSpPr txBox="1"/>
          <p:nvPr/>
        </p:nvSpPr>
        <p:spPr>
          <a:xfrm>
            <a:off x="323528" y="775037"/>
            <a:ext cx="3600400" cy="830997"/>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                   将双向耦合关系单向截断，导致子问题的局部最优解在系统层面产生显著次优性。</a:t>
            </a:r>
            <a:endParaRPr lang="en-US" sz="1600" dirty="0">
              <a:latin typeface="微软雅黑" panose="020B0503020204020204" pitchFamily="34" charset="-122"/>
              <a:ea typeface="微软雅黑" panose="020B0503020204020204" pitchFamily="34" charset="-122"/>
            </a:endParaRPr>
          </a:p>
        </p:txBody>
      </p:sp>
      <p:sp>
        <p:nvSpPr>
          <p:cNvPr id="24" name="TextBox 23">
            <a:extLst>
              <a:ext uri="{FF2B5EF4-FFF2-40B4-BE49-F238E27FC236}">
                <a16:creationId xmlns="" xmlns:a16="http://schemas.microsoft.com/office/drawing/2014/main" id="{895E8596-0FCF-8A83-373F-8E6314542606}"/>
              </a:ext>
            </a:extLst>
          </p:cNvPr>
          <p:cNvSpPr txBox="1"/>
          <p:nvPr/>
        </p:nvSpPr>
        <p:spPr>
          <a:xfrm>
            <a:off x="1239791" y="2290905"/>
            <a:ext cx="1676025" cy="584775"/>
          </a:xfrm>
          <a:prstGeom prst="rect">
            <a:avLst/>
          </a:prstGeom>
          <a:noFill/>
        </p:spPr>
        <p:txBody>
          <a:bodyPr wrap="square">
            <a:spAutoFit/>
          </a:bodyPr>
          <a:lstStyle/>
          <a:p>
            <a:r>
              <a:rPr lang="zh-CN" altLang="en-US" sz="1600" b="1" dirty="0">
                <a:latin typeface="微软雅黑" panose="020B0503020204020204" pitchFamily="34" charset="-122"/>
                <a:ea typeface="微软雅黑" panose="020B0503020204020204" pitchFamily="34" charset="-122"/>
              </a:rPr>
              <a:t> 分解</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（双向）协调</a:t>
            </a:r>
            <a:r>
              <a:rPr lang="en-US" altLang="zh-CN" sz="1600" b="1"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收敛</a:t>
            </a:r>
            <a:r>
              <a:rPr lang="zh-CN" altLang="en-US" sz="1600" dirty="0">
                <a:latin typeface="微软雅黑" panose="020B0503020204020204" pitchFamily="34" charset="-122"/>
                <a:ea typeface="微软雅黑" panose="020B0503020204020204" pitchFamily="34" charset="-122"/>
              </a:rPr>
              <a:t>策略</a:t>
            </a:r>
            <a:endParaRPr lang="en-US" sz="160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44" name="矩形 43"/>
          <p:cNvSpPr/>
          <p:nvPr/>
        </p:nvSpPr>
        <p:spPr>
          <a:xfrm>
            <a:off x="0" y="661670"/>
            <a:ext cx="882047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研究内容二： 基于状态预测和动态阈值的工业多智能体系统数据注入检测</a:t>
            </a:r>
          </a:p>
        </p:txBody>
      </p:sp>
      <p:sp>
        <p:nvSpPr>
          <p:cNvPr id="7" name="灯片编号占位符 6"/>
          <p:cNvSpPr>
            <a:spLocks noGrp="1"/>
          </p:cNvSpPr>
          <p:nvPr>
            <p:ph type="sldNum" sz="quarter" idx="12"/>
            <p:custDataLst>
              <p:tags r:id="rId1"/>
            </p:custDataLst>
          </p:nvPr>
        </p:nvSpPr>
        <p:spPr>
          <a:xfrm>
            <a:off x="6553200" y="4839018"/>
            <a:ext cx="2133600" cy="273844"/>
          </a:xfrm>
        </p:spPr>
        <p:txBody>
          <a:bodyPr/>
          <a:lstStyle/>
          <a:p>
            <a:fld id="{0C913308-F349-4B6D-A68A-DD1791B4A57B}" type="slidenum">
              <a:rPr lang="zh-CN" altLang="en-US" smtClean="0"/>
              <a:t>15</a:t>
            </a:fld>
            <a:endParaRPr lang="zh-CN" altLang="en-US"/>
          </a:p>
        </p:txBody>
      </p:sp>
      <p:sp>
        <p:nvSpPr>
          <p:cNvPr id="10" name="矩形 10">
            <a:extLst>
              <a:ext uri="{FF2B5EF4-FFF2-40B4-BE49-F238E27FC236}">
                <a16:creationId xmlns="" xmlns:a16="http://schemas.microsoft.com/office/drawing/2014/main" id="{CD0B42CA-8CB7-804D-5241-1F1E2778AE41}"/>
              </a:ext>
            </a:extLst>
          </p:cNvPr>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15" name="矩形 11">
            <a:extLst>
              <a:ext uri="{FF2B5EF4-FFF2-40B4-BE49-F238E27FC236}">
                <a16:creationId xmlns="" xmlns:a16="http://schemas.microsoft.com/office/drawing/2014/main" id="{4A703DAD-7FEB-879B-47FE-F61D2140B2A6}"/>
              </a:ext>
            </a:extLst>
          </p:cNvPr>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21" name="TextBox 7">
            <a:extLst>
              <a:ext uri="{FF2B5EF4-FFF2-40B4-BE49-F238E27FC236}">
                <a16:creationId xmlns="" xmlns:a16="http://schemas.microsoft.com/office/drawing/2014/main" id="{31154B70-F08D-5359-62A2-63A5F4902493}"/>
              </a:ext>
            </a:extLst>
          </p:cNvPr>
          <p:cNvSpPr txBox="1"/>
          <p:nvPr/>
        </p:nvSpPr>
        <p:spPr>
          <a:xfrm>
            <a:off x="457200" y="1556651"/>
            <a:ext cx="7797165" cy="502285"/>
          </a:xfrm>
          <a:prstGeom prst="rect">
            <a:avLst/>
          </a:prstGeom>
          <a:noFill/>
          <a:ln>
            <a:noFill/>
          </a:ln>
        </p:spPr>
        <p:txBody>
          <a:bodyPr wrap="square" rtlCol="0">
            <a:noAutofit/>
          </a:bodyPr>
          <a:lstStyle/>
          <a:p>
            <a:pPr indent="457200" fontAlgn="auto">
              <a:lnSpc>
                <a:spcPct val="125000"/>
              </a:lnSpc>
            </a:pPr>
            <a:r>
              <a:rPr lang="zh-CN" altLang="en-US" sz="1600" dirty="0">
                <a:latin typeface="微软雅黑" panose="020B0503020204020204" pitchFamily="34" charset="-122"/>
                <a:ea typeface="微软雅黑" panose="020B0503020204020204" pitchFamily="34" charset="-122"/>
                <a:sym typeface="+mn-ea"/>
              </a:rPr>
              <a:t>如何在移动</a:t>
            </a:r>
            <a:r>
              <a:rPr lang="en-US" altLang="zh-CN" sz="1600" dirty="0">
                <a:latin typeface="微软雅黑" panose="020B0503020204020204" pitchFamily="34" charset="-122"/>
                <a:ea typeface="微软雅黑" panose="020B0503020204020204" pitchFamily="34" charset="-122"/>
                <a:sym typeface="+mn-ea"/>
              </a:rPr>
              <a:t>-</a:t>
            </a:r>
            <a:r>
              <a:rPr lang="zh-CN" altLang="en-US" sz="1600" dirty="0">
                <a:latin typeface="微软雅黑" panose="020B0503020204020204" pitchFamily="34" charset="-122"/>
                <a:ea typeface="微软雅黑" panose="020B0503020204020204" pitchFamily="34" charset="-122"/>
                <a:sym typeface="+mn-ea"/>
              </a:rPr>
              <a:t>固定多智能体系统中</a:t>
            </a:r>
            <a:r>
              <a:rPr lang="zh-CN" altLang="en-US" sz="1600" dirty="0">
                <a:solidFill>
                  <a:schemeClr val="accent1"/>
                </a:solidFill>
                <a:latin typeface="微软雅黑" panose="020B0503020204020204" pitchFamily="34" charset="-122"/>
                <a:ea typeface="微软雅黑" panose="020B0503020204020204" pitchFamily="34" charset="-122"/>
                <a:sym typeface="+mn-ea"/>
              </a:rPr>
              <a:t>采用满足实时性的检测算法</a:t>
            </a:r>
            <a:r>
              <a:rPr lang="zh-CN" altLang="en-US" sz="1600" dirty="0">
                <a:latin typeface="微软雅黑" panose="020B0503020204020204" pitchFamily="34" charset="-122"/>
                <a:ea typeface="微软雅黑" panose="020B0503020204020204" pitchFamily="34" charset="-122"/>
                <a:sym typeface="+mn-ea"/>
              </a:rPr>
              <a:t>，并使该算法能够保证对数据注入攻击</a:t>
            </a:r>
            <a:r>
              <a:rPr lang="zh-CN" altLang="en-US" sz="1600" dirty="0">
                <a:solidFill>
                  <a:schemeClr val="accent1"/>
                </a:solidFill>
                <a:latin typeface="微软雅黑" panose="020B0503020204020204" pitchFamily="34" charset="-122"/>
                <a:ea typeface="微软雅黑" panose="020B0503020204020204" pitchFamily="34" charset="-122"/>
                <a:sym typeface="+mn-ea"/>
              </a:rPr>
              <a:t>及时和有效发现</a:t>
            </a:r>
            <a:r>
              <a:rPr lang="zh-CN" altLang="en-US" sz="1600" dirty="0">
                <a:latin typeface="微软雅黑" panose="020B0503020204020204" pitchFamily="34" charset="-122"/>
                <a:ea typeface="微软雅黑" panose="020B0503020204020204" pitchFamily="34" charset="-122"/>
                <a:sym typeface="+mn-ea"/>
              </a:rPr>
              <a:t>？</a:t>
            </a:r>
            <a:endParaRPr lang="zh-CN" altLang="en-US" sz="1600" dirty="0">
              <a:latin typeface="微软雅黑" panose="020B0503020204020204" pitchFamily="34" charset="-122"/>
              <a:ea typeface="微软雅黑" panose="020B0503020204020204" pitchFamily="34" charset="-122"/>
            </a:endParaRPr>
          </a:p>
        </p:txBody>
      </p:sp>
      <p:sp>
        <p:nvSpPr>
          <p:cNvPr id="25" name="矩形 15">
            <a:extLst>
              <a:ext uri="{FF2B5EF4-FFF2-40B4-BE49-F238E27FC236}">
                <a16:creationId xmlns="" xmlns:a16="http://schemas.microsoft.com/office/drawing/2014/main" id="{F719B801-ED16-F8F9-B3FA-9BCD302179FA}"/>
              </a:ext>
            </a:extLst>
          </p:cNvPr>
          <p:cNvSpPr/>
          <p:nvPr/>
        </p:nvSpPr>
        <p:spPr>
          <a:xfrm>
            <a:off x="1" y="3077629"/>
            <a:ext cx="2264410" cy="168846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华文楷体" panose="02010600040101010101" pitchFamily="2" charset="-122"/>
                <a:ea typeface="华文楷体" panose="02010600040101010101" pitchFamily="2" charset="-122"/>
              </a:rPr>
              <a:t>关键洞察</a:t>
            </a:r>
            <a:r>
              <a:rPr lang="zh-CN" altLang="en-US" sz="1600" dirty="0">
                <a:solidFill>
                  <a:schemeClr val="tx1"/>
                </a:solidFill>
              </a:rPr>
              <a:t>：移动</a:t>
            </a:r>
            <a:r>
              <a:rPr lang="en-US" altLang="zh-CN" sz="1600" dirty="0">
                <a:solidFill>
                  <a:schemeClr val="tx1"/>
                </a:solidFill>
              </a:rPr>
              <a:t>-</a:t>
            </a:r>
            <a:r>
              <a:rPr lang="zh-CN" altLang="en-US" sz="1600" dirty="0">
                <a:solidFill>
                  <a:schemeClr val="tx1"/>
                </a:solidFill>
              </a:rPr>
              <a:t>固定多智能体中执行层</a:t>
            </a:r>
            <a:r>
              <a:rPr lang="zh-CN" altLang="en-US" sz="1600" b="1" dirty="0">
                <a:solidFill>
                  <a:schemeClr val="tx1"/>
                </a:solidFill>
              </a:rPr>
              <a:t>智能体的状态空间具有有限性与可枚举性</a:t>
            </a:r>
            <a:endParaRPr lang="en-US" sz="1600" b="1" dirty="0">
              <a:solidFill>
                <a:schemeClr val="tx1"/>
              </a:solidFill>
            </a:endParaRPr>
          </a:p>
        </p:txBody>
      </p:sp>
      <p:sp>
        <p:nvSpPr>
          <p:cNvPr id="26" name="矩形 16">
            <a:extLst>
              <a:ext uri="{FF2B5EF4-FFF2-40B4-BE49-F238E27FC236}">
                <a16:creationId xmlns="" xmlns:a16="http://schemas.microsoft.com/office/drawing/2014/main" id="{A766754D-A161-FC7B-0309-BD33A23321F9}"/>
              </a:ext>
            </a:extLst>
          </p:cNvPr>
          <p:cNvSpPr/>
          <p:nvPr/>
        </p:nvSpPr>
        <p:spPr>
          <a:xfrm>
            <a:off x="2593585" y="3076995"/>
            <a:ext cx="3778615"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通过</a:t>
            </a:r>
            <a:r>
              <a:rPr lang="zh-CN" altLang="en-US" sz="1600" b="1" dirty="0">
                <a:solidFill>
                  <a:schemeClr val="tx1"/>
                </a:solidFill>
                <a:latin typeface="华文楷体" panose="02010600040101010101" pitchFamily="2" charset="-122"/>
                <a:ea typeface="华文楷体" panose="02010600040101010101" pitchFamily="2" charset="-122"/>
              </a:rPr>
              <a:t>历史运行数据训练状态转移矩阵</a:t>
            </a:r>
            <a:r>
              <a:rPr lang="zh-CN" altLang="en-US" sz="1600" dirty="0">
                <a:solidFill>
                  <a:schemeClr val="tx1"/>
                </a:solidFill>
                <a:latin typeface="华文楷体" panose="02010600040101010101" pitchFamily="2" charset="-122"/>
                <a:ea typeface="华文楷体" panose="02010600040101010101" pitchFamily="2" charset="-122"/>
              </a:rPr>
              <a:t>，建立智能体的正常行为模型。</a:t>
            </a:r>
          </a:p>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结合</a:t>
            </a:r>
            <a:r>
              <a:rPr lang="zh-CN" altLang="en-US" sz="1600" b="1" dirty="0">
                <a:solidFill>
                  <a:schemeClr val="tx1"/>
                </a:solidFill>
                <a:latin typeface="华文楷体" panose="02010600040101010101" pitchFamily="2" charset="-122"/>
                <a:ea typeface="华文楷体" panose="02010600040101010101" pitchFamily="2" charset="-122"/>
              </a:rPr>
              <a:t>动态调整的异常检测阈值</a:t>
            </a:r>
            <a:r>
              <a:rPr lang="zh-CN" altLang="en-US" sz="1600" dirty="0">
                <a:solidFill>
                  <a:schemeClr val="tx1"/>
                </a:solidFill>
                <a:latin typeface="华文楷体" panose="02010600040101010101" pitchFamily="2" charset="-122"/>
                <a:ea typeface="华文楷体" panose="02010600040101010101" pitchFamily="2" charset="-122"/>
              </a:rPr>
              <a:t>。</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27" name="矩形 17">
            <a:extLst>
              <a:ext uri="{FF2B5EF4-FFF2-40B4-BE49-F238E27FC236}">
                <a16:creationId xmlns="" xmlns:a16="http://schemas.microsoft.com/office/drawing/2014/main" id="{D2110BA3-CA83-937F-E77C-2F8AED1CFA58}"/>
              </a:ext>
            </a:extLst>
          </p:cNvPr>
          <p:cNvSpPr/>
          <p:nvPr/>
        </p:nvSpPr>
        <p:spPr>
          <a:xfrm>
            <a:off x="6730460" y="3076995"/>
            <a:ext cx="2410640"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华文楷体" panose="02010600040101010101" pitchFamily="2" charset="-122"/>
                <a:ea typeface="华文楷体" panose="02010600040101010101" pitchFamily="2" charset="-122"/>
              </a:rPr>
              <a:t>通过</a:t>
            </a:r>
            <a:r>
              <a:rPr lang="zh-CN" altLang="en-US" sz="1600" b="1" dirty="0">
                <a:solidFill>
                  <a:schemeClr val="tx1"/>
                </a:solidFill>
                <a:latin typeface="华文楷体" panose="02010600040101010101" pitchFamily="2" charset="-122"/>
                <a:ea typeface="华文楷体" panose="02010600040101010101" pitchFamily="2" charset="-122"/>
              </a:rPr>
              <a:t>比较实际状态和预测状态</a:t>
            </a:r>
            <a:r>
              <a:rPr lang="zh-CN" altLang="en-US" sz="1600" dirty="0">
                <a:solidFill>
                  <a:schemeClr val="tx1"/>
                </a:solidFill>
                <a:latin typeface="华文楷体" panose="02010600040101010101" pitchFamily="2" charset="-122"/>
                <a:ea typeface="华文楷体" panose="02010600040101010101" pitchFamily="2" charset="-122"/>
              </a:rPr>
              <a:t>之间的“欧氏距离”，实现数据注入攻击的实时检测</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28" name="右箭头 21">
            <a:extLst>
              <a:ext uri="{FF2B5EF4-FFF2-40B4-BE49-F238E27FC236}">
                <a16:creationId xmlns="" xmlns:a16="http://schemas.microsoft.com/office/drawing/2014/main" id="{D8B8B683-A4B6-BA44-DFAA-C2FC006E9FDF}"/>
              </a:ext>
            </a:extLst>
          </p:cNvPr>
          <p:cNvSpPr/>
          <p:nvPr/>
        </p:nvSpPr>
        <p:spPr>
          <a:xfrm>
            <a:off x="2291900" y="3699469"/>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右箭头 22">
            <a:extLst>
              <a:ext uri="{FF2B5EF4-FFF2-40B4-BE49-F238E27FC236}">
                <a16:creationId xmlns="" xmlns:a16="http://schemas.microsoft.com/office/drawing/2014/main" id="{09D718F2-0D21-4490-89D8-71E437948539}"/>
              </a:ext>
            </a:extLst>
          </p:cNvPr>
          <p:cNvSpPr/>
          <p:nvPr/>
        </p:nvSpPr>
        <p:spPr>
          <a:xfrm>
            <a:off x="6428775" y="3699468"/>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7596336" y="190500"/>
            <a:ext cx="1547664" cy="17843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843280" y="103505"/>
            <a:ext cx="682506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a:r>
              <a:rPr lang="zh-CN" altLang="en-US" sz="2000" b="1" dirty="0">
                <a:latin typeface="微软雅黑" panose="020B0503020204020204" pitchFamily="34" charset="-122"/>
                <a:ea typeface="微软雅黑" panose="020B0503020204020204" pitchFamily="34" charset="-122"/>
              </a:rPr>
              <a:t>基于状态预测和动态阈值的工业多智能体系统数据注入检测</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16</a:t>
            </a:fld>
            <a:endParaRPr lang="zh-CN" altLang="en-US"/>
          </a:p>
        </p:txBody>
      </p:sp>
      <p:sp>
        <p:nvSpPr>
          <p:cNvPr id="9" name="TextBox 8">
            <a:extLst>
              <a:ext uri="{FF2B5EF4-FFF2-40B4-BE49-F238E27FC236}">
                <a16:creationId xmlns="" xmlns:a16="http://schemas.microsoft.com/office/drawing/2014/main" id="{AF612170-EF4C-B2EC-93F0-25975D263C2E}"/>
              </a:ext>
            </a:extLst>
          </p:cNvPr>
          <p:cNvSpPr txBox="1"/>
          <p:nvPr/>
        </p:nvSpPr>
        <p:spPr>
          <a:xfrm>
            <a:off x="488657" y="747849"/>
            <a:ext cx="2283143"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状态转移概率矩阵</a:t>
            </a:r>
            <a:endParaRPr lang="en-US" sz="1600" dirty="0">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 xmlns:a16="http://schemas.microsoft.com/office/drawing/2014/main" id="{414D82EE-10CA-D554-10D0-69B7E7460DCC}"/>
                  </a:ext>
                </a:extLst>
              </p:cNvPr>
              <p:cNvSpPr txBox="1"/>
              <p:nvPr/>
            </p:nvSpPr>
            <p:spPr>
              <a:xfrm>
                <a:off x="207016" y="1149274"/>
                <a:ext cx="2813990" cy="114589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r>
                        <a:rPr lang="en-US" i="0">
                          <a:latin typeface="Cambria Math" panose="02040503050406030204" pitchFamily="18" charset="0"/>
                        </a:rPr>
                        <m:t>=</m:t>
                      </m:r>
                      <m:d>
                        <m:dPr>
                          <m:begChr m:val="["/>
                          <m:endChr m:val="]"/>
                          <m:ctrlPr>
                            <a:rPr lang="en-US" i="1">
                              <a:latin typeface="Cambria Math" panose="02040503050406030204" pitchFamily="18" charset="0"/>
                            </a:rPr>
                          </m:ctrlPr>
                        </m:dPr>
                        <m:e>
                          <m:m>
                            <m:mPr>
                              <m:plcHide m:val="on"/>
                              <m:mcs>
                                <m:mc>
                                  <m:mcPr>
                                    <m:count m:val="4"/>
                                    <m:mcJc m:val="center"/>
                                  </m:mcPr>
                                </m:mc>
                              </m:mcs>
                              <m:ctrlPr>
                                <a:rPr lang="en-US" i="1">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11</m:t>
                                    </m:r>
                                  </m:sub>
                                </m:sSub>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12</m:t>
                                    </m:r>
                                  </m:sub>
                                </m:sSub>
                              </m:e>
                              <m:e>
                                <m:r>
                                  <a:rPr lang="en-US" i="0">
                                    <a:latin typeface="Cambria Math" panose="02040503050406030204" pitchFamily="18" charset="0"/>
                                  </a:rPr>
                                  <m:t>⋯</m:t>
                                </m:r>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1</m:t>
                                    </m:r>
                                    <m:r>
                                      <a:rPr lang="en-US" i="1">
                                        <a:latin typeface="Cambria Math" panose="02040503050406030204" pitchFamily="18" charset="0"/>
                                      </a:rPr>
                                      <m:t>𝑛</m:t>
                                    </m:r>
                                  </m:sub>
                                </m:sSub>
                              </m:e>
                            </m:mr>
                            <m:mr>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21</m:t>
                                    </m:r>
                                  </m:sub>
                                </m:sSub>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22</m:t>
                                    </m:r>
                                  </m:sub>
                                </m:sSub>
                              </m:e>
                              <m:e>
                                <m:r>
                                  <a:rPr lang="en-US" i="0">
                                    <a:latin typeface="Cambria Math" panose="02040503050406030204" pitchFamily="18" charset="0"/>
                                  </a:rPr>
                                  <m:t>⋯</m:t>
                                </m:r>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2</m:t>
                                    </m:r>
                                    <m:r>
                                      <a:rPr lang="en-US" i="1">
                                        <a:latin typeface="Cambria Math" panose="02040503050406030204" pitchFamily="18" charset="0"/>
                                      </a:rPr>
                                      <m:t>𝑛</m:t>
                                    </m:r>
                                  </m:sub>
                                </m:sSub>
                              </m:e>
                            </m:mr>
                            <m:mr>
                              <m:e>
                                <m:r>
                                  <a:rPr lang="en-US" i="0">
                                    <a:latin typeface="Cambria Math" panose="02040503050406030204" pitchFamily="18" charset="0"/>
                                  </a:rPr>
                                  <m:t>⋮</m:t>
                                </m:r>
                              </m:e>
                              <m:e>
                                <m:r>
                                  <a:rPr lang="en-US" i="0">
                                    <a:latin typeface="Cambria Math" panose="02040503050406030204" pitchFamily="18" charset="0"/>
                                  </a:rPr>
                                  <m:t>⋮</m:t>
                                </m:r>
                              </m:e>
                              <m:e>
                                <m:r>
                                  <a:rPr lang="en-US" i="0">
                                    <a:latin typeface="Cambria Math" panose="02040503050406030204" pitchFamily="18" charset="0"/>
                                  </a:rPr>
                                  <m:t>⋱</m:t>
                                </m:r>
                              </m:e>
                              <m:e>
                                <m:r>
                                  <a:rPr lang="en-US" i="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𝑛</m:t>
                                    </m:r>
                                    <m:r>
                                      <a:rPr lang="en-US" i="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𝑛</m:t>
                                    </m:r>
                                    <m:r>
                                      <a:rPr lang="en-US" i="0">
                                        <a:latin typeface="Cambria Math" panose="02040503050406030204" pitchFamily="18" charset="0"/>
                                      </a:rPr>
                                      <m:t>2</m:t>
                                    </m:r>
                                  </m:sub>
                                </m:sSub>
                              </m:e>
                              <m:e>
                                <m:r>
                                  <a:rPr lang="en-US" i="0">
                                    <a:latin typeface="Cambria Math" panose="02040503050406030204" pitchFamily="18" charset="0"/>
                                  </a:rPr>
                                  <m:t>⋯</m:t>
                                </m:r>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𝑛𝑛</m:t>
                                    </m:r>
                                  </m:sub>
                                </m:sSub>
                              </m:e>
                            </m:mr>
                          </m:m>
                        </m:e>
                      </m:d>
                    </m:oMath>
                  </m:oMathPara>
                </a14:m>
                <a:endParaRPr lang="en-US" dirty="0"/>
              </a:p>
            </p:txBody>
          </p:sp>
        </mc:Choice>
        <mc:Fallback xmlns="">
          <p:sp>
            <p:nvSpPr>
              <p:cNvPr id="10" name="TextBox 9">
                <a:extLst>
                  <a:ext uri="{FF2B5EF4-FFF2-40B4-BE49-F238E27FC236}">
                    <a16:creationId xmlns:a16="http://schemas.microsoft.com/office/drawing/2014/main" id="{414D82EE-10CA-D554-10D0-69B7E7460DCC}"/>
                  </a:ext>
                </a:extLst>
              </p:cNvPr>
              <p:cNvSpPr txBox="1">
                <a:spLocks noRot="1" noChangeAspect="1" noMove="1" noResize="1" noEditPoints="1" noAdjustHandles="1" noChangeArrowheads="1" noChangeShapeType="1" noTextEdit="1"/>
              </p:cNvSpPr>
              <p:nvPr/>
            </p:nvSpPr>
            <p:spPr>
              <a:xfrm>
                <a:off x="207016" y="1149274"/>
                <a:ext cx="2813990" cy="1145891"/>
              </a:xfrm>
              <a:prstGeom prst="rect">
                <a:avLst/>
              </a:prstGeom>
              <a:blipFill>
                <a:blip r:embed="rId3"/>
                <a:stretch>
                  <a:fillRect/>
                </a:stretch>
              </a:blipFill>
            </p:spPr>
            <p:txBody>
              <a:bodyPr/>
              <a:lstStyle/>
              <a:p>
                <a:r>
                  <a:rPr lang="en-US">
                    <a:noFill/>
                  </a:rPr>
                  <a:t> </a:t>
                </a:r>
              </a:p>
            </p:txBody>
          </p:sp>
        </mc:Fallback>
      </mc:AlternateContent>
      <p:sp>
        <p:nvSpPr>
          <p:cNvPr id="11" name="TextBox 10">
            <a:extLst>
              <a:ext uri="{FF2B5EF4-FFF2-40B4-BE49-F238E27FC236}">
                <a16:creationId xmlns="" xmlns:a16="http://schemas.microsoft.com/office/drawing/2014/main" id="{FA699D05-5C41-2252-9EA6-0BF50906B0B2}"/>
              </a:ext>
            </a:extLst>
          </p:cNvPr>
          <p:cNvSpPr txBox="1"/>
          <p:nvPr/>
        </p:nvSpPr>
        <p:spPr>
          <a:xfrm>
            <a:off x="413147" y="2301414"/>
            <a:ext cx="1474034"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的一个例子：</a:t>
            </a:r>
            <a:endParaRPr lang="en-US" sz="1600" dirty="0">
              <a:latin typeface="微软雅黑" panose="020B0503020204020204" pitchFamily="34" charset="-122"/>
              <a:ea typeface="微软雅黑" panose="020B0503020204020204" pitchFamily="34" charset="-122"/>
            </a:endParaRPr>
          </a:p>
        </p:txBody>
      </p:sp>
      <p:pic>
        <p:nvPicPr>
          <p:cNvPr id="12" name="Picture 11">
            <a:extLst>
              <a:ext uri="{FF2B5EF4-FFF2-40B4-BE49-F238E27FC236}">
                <a16:creationId xmlns="" xmlns:a16="http://schemas.microsoft.com/office/drawing/2014/main" id="{A3477455-725F-6D68-9CE3-D63B52CF6A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165175" y="973972"/>
            <a:ext cx="5950115" cy="1562808"/>
          </a:xfrm>
          <a:prstGeom prst="rect">
            <a:avLst/>
          </a:prstGeom>
        </p:spPr>
      </p:pic>
      <p:cxnSp>
        <p:nvCxnSpPr>
          <p:cNvPr id="13" name="Straight Connector 12">
            <a:extLst>
              <a:ext uri="{FF2B5EF4-FFF2-40B4-BE49-F238E27FC236}">
                <a16:creationId xmlns="" xmlns:a16="http://schemas.microsoft.com/office/drawing/2014/main" id="{9C5AA790-ABBE-851D-73D7-D4FF92E89363}"/>
              </a:ext>
            </a:extLst>
          </p:cNvPr>
          <p:cNvCxnSpPr>
            <a:cxnSpLocks/>
          </p:cNvCxnSpPr>
          <p:nvPr/>
        </p:nvCxnSpPr>
        <p:spPr>
          <a:xfrm>
            <a:off x="3227136" y="1659578"/>
            <a:ext cx="5770588" cy="0"/>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 xmlns:a16="http://schemas.microsoft.com/office/drawing/2014/main" id="{7A3AA1F4-8204-1E70-CF03-67D86EE1A625}"/>
              </a:ext>
            </a:extLst>
          </p:cNvPr>
          <p:cNvSpPr txBox="1"/>
          <p:nvPr/>
        </p:nvSpPr>
        <p:spPr>
          <a:xfrm>
            <a:off x="457200" y="2890677"/>
            <a:ext cx="6240905" cy="338554"/>
          </a:xfrm>
          <a:prstGeom prst="rect">
            <a:avLst/>
          </a:prstGeom>
          <a:noFill/>
        </p:spPr>
        <p:txBody>
          <a:bodyPr wrap="square">
            <a:spAutoFit/>
          </a:bodyPr>
          <a:lstStyle/>
          <a:p>
            <a:r>
              <a:rPr lang="en-US" altLang="zh-CN" sz="1600" dirty="0" err="1">
                <a:latin typeface="微软雅黑" panose="020B0503020204020204" pitchFamily="34" charset="-122"/>
                <a:ea typeface="微软雅黑" panose="020B0503020204020204" pitchFamily="34" charset="-122"/>
              </a:rPr>
              <a:t>AGV_idle</a:t>
            </a:r>
            <a:r>
              <a:rPr lang="zh-CN" altLang="en-US" sz="1600" dirty="0">
                <a:latin typeface="微软雅黑" panose="020B0503020204020204" pitchFamily="34" charset="-122"/>
                <a:ea typeface="微软雅黑" panose="020B0503020204020204" pitchFamily="34" charset="-122"/>
              </a:rPr>
              <a:t>的下一个预测状态向量：</a:t>
            </a:r>
            <a:r>
              <a:rPr lang="en-US" sz="1400" dirty="0"/>
              <a:t>[0.222, 0, 0.222, 0, 0, 0.556, 0]</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 xmlns:a16="http://schemas.microsoft.com/office/drawing/2014/main" id="{4C1EC216-4895-835E-BF67-ABD9F0D54D3C}"/>
                  </a:ext>
                </a:extLst>
              </p:cNvPr>
              <p:cNvSpPr txBox="1"/>
              <p:nvPr/>
            </p:nvSpPr>
            <p:spPr>
              <a:xfrm>
                <a:off x="3837050" y="3751753"/>
                <a:ext cx="2012563" cy="504818"/>
              </a:xfrm>
              <a:prstGeom prst="rect">
                <a:avLst/>
              </a:prstGeom>
              <a:noFill/>
            </p:spPr>
            <p:txBody>
              <a:bodyPr wrap="square">
                <a:spAutoFit/>
              </a:bodyPr>
              <a:lstStyle/>
              <a:p>
                <a14:m>
                  <m:oMath xmlns:m="http://schemas.openxmlformats.org/officeDocument/2006/math">
                    <m:d>
                      <m:dPr>
                        <m:begChr m:val="‖"/>
                        <m:endChr m:val="‖"/>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1</m:t>
                            </m:r>
                          </m:sub>
                        </m:sSub>
                      </m:e>
                      <m:e>
                        <m:sSub>
                          <m:sSubPr>
                            <m:ctrlPr>
                              <a:rPr lang="en-US" i="1">
                                <a:latin typeface="Cambria Math" panose="02040503050406030204" pitchFamily="18" charset="0"/>
                              </a:rPr>
                            </m:ctrlPr>
                          </m:sSubPr>
                          <m:e>
                            <m:limUpp>
                              <m:limUppPr>
                                <m:ctrlPr>
                                  <a:rPr lang="en-US" i="1">
                                    <a:latin typeface="Cambria Math" panose="02040503050406030204" pitchFamily="18" charset="0"/>
                                  </a:rPr>
                                </m:ctrlPr>
                              </m:limUppPr>
                              <m:e>
                                <m:r>
                                  <a:rPr lang="en-US" i="1">
                                    <a:latin typeface="Cambria Math" panose="02040503050406030204" pitchFamily="18" charset="0"/>
                                  </a:rPr>
                                  <m:t>𝑆</m:t>
                                </m:r>
                              </m:e>
                              <m:lim>
                                <m:r>
                                  <a:rPr lang="en-US" i="1">
                                    <a:latin typeface="Cambria Math" panose="02040503050406030204" pitchFamily="18" charset="0"/>
                                  </a:rPr>
                                  <m:t>^</m:t>
                                </m:r>
                              </m:lim>
                            </m:limUpp>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1</m:t>
                            </m:r>
                          </m:sub>
                        </m:sSub>
                      </m:e>
                    </m:d>
                  </m:oMath>
                </a14:m>
                <a:r>
                  <a:rPr lang="en-US" dirty="0"/>
                  <a:t>=</a:t>
                </a:r>
              </a:p>
            </p:txBody>
          </p:sp>
        </mc:Choice>
        <mc:Fallback xmlns="">
          <p:sp>
            <p:nvSpPr>
              <p:cNvPr id="16" name="TextBox 15">
                <a:extLst>
                  <a:ext uri="{FF2B5EF4-FFF2-40B4-BE49-F238E27FC236}">
                    <a16:creationId xmlns:a16="http://schemas.microsoft.com/office/drawing/2014/main" id="{4C1EC216-4895-835E-BF67-ABD9F0D54D3C}"/>
                  </a:ext>
                </a:extLst>
              </p:cNvPr>
              <p:cNvSpPr txBox="1">
                <a:spLocks noRot="1" noChangeAspect="1" noMove="1" noResize="1" noEditPoints="1" noAdjustHandles="1" noChangeArrowheads="1" noChangeShapeType="1" noTextEdit="1"/>
              </p:cNvSpPr>
              <p:nvPr/>
            </p:nvSpPr>
            <p:spPr>
              <a:xfrm>
                <a:off x="3837050" y="3751753"/>
                <a:ext cx="2012563" cy="504818"/>
              </a:xfrm>
              <a:prstGeom prst="rect">
                <a:avLst/>
              </a:prstGeom>
              <a:blipFill>
                <a:blip r:embed="rId5"/>
                <a:stretch>
                  <a:fillRect b="-19277"/>
                </a:stretch>
              </a:blipFill>
            </p:spPr>
            <p:txBody>
              <a:bodyPr/>
              <a:lstStyle/>
              <a:p>
                <a:r>
                  <a:rPr lang="en-US">
                    <a:noFill/>
                  </a:rPr>
                  <a:t> </a:t>
                </a:r>
              </a:p>
            </p:txBody>
          </p:sp>
        </mc:Fallback>
      </mc:AlternateContent>
      <p:sp>
        <p:nvSpPr>
          <p:cNvPr id="17" name="TextBox 16">
            <a:extLst>
              <a:ext uri="{FF2B5EF4-FFF2-40B4-BE49-F238E27FC236}">
                <a16:creationId xmlns="" xmlns:a16="http://schemas.microsoft.com/office/drawing/2014/main" id="{11707134-B3BB-A2E7-C019-C40C95F0098B}"/>
              </a:ext>
            </a:extLst>
          </p:cNvPr>
          <p:cNvSpPr txBox="1"/>
          <p:nvPr/>
        </p:nvSpPr>
        <p:spPr>
          <a:xfrm>
            <a:off x="457200" y="3748676"/>
            <a:ext cx="6240905"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预测状态与实际状态之间的差值：</a:t>
            </a:r>
            <a:endParaRPr lang="en-US" sz="1600" dirty="0">
              <a:latin typeface="微软雅黑" panose="020B0503020204020204" pitchFamily="34" charset="-122"/>
              <a:ea typeface="微软雅黑" panose="020B0503020204020204" pitchFamily="34" charset="-122"/>
            </a:endParaRPr>
          </a:p>
        </p:txBody>
      </p:sp>
      <p:sp>
        <p:nvSpPr>
          <p:cNvPr id="18" name="TextBox 17">
            <a:extLst>
              <a:ext uri="{FF2B5EF4-FFF2-40B4-BE49-F238E27FC236}">
                <a16:creationId xmlns="" xmlns:a16="http://schemas.microsoft.com/office/drawing/2014/main" id="{C6D42A51-C137-1803-CDF3-22309595DC81}"/>
              </a:ext>
            </a:extLst>
          </p:cNvPr>
          <p:cNvSpPr txBox="1"/>
          <p:nvPr/>
        </p:nvSpPr>
        <p:spPr>
          <a:xfrm>
            <a:off x="4966075" y="3394291"/>
            <a:ext cx="2702169" cy="307777"/>
          </a:xfrm>
          <a:prstGeom prst="rect">
            <a:avLst/>
          </a:prstGeom>
          <a:noFill/>
        </p:spPr>
        <p:txBody>
          <a:bodyPr wrap="square">
            <a:spAutoFit/>
          </a:bodyPr>
          <a:lstStyle/>
          <a:p>
            <a:r>
              <a:rPr lang="zh-CN" altLang="en-US" sz="1400" dirty="0">
                <a:highlight>
                  <a:srgbClr val="C0C0C0"/>
                </a:highlight>
              </a:rPr>
              <a:t>（</a:t>
            </a:r>
            <a:r>
              <a:rPr lang="en-US" altLang="zh-CN" sz="1400" dirty="0">
                <a:highlight>
                  <a:srgbClr val="C0C0C0"/>
                </a:highlight>
              </a:rPr>
              <a:t>*</a:t>
            </a:r>
            <a:r>
              <a:rPr lang="zh-CN" altLang="en-US" sz="1400" dirty="0">
                <a:highlight>
                  <a:srgbClr val="C0C0C0"/>
                </a:highlight>
              </a:rPr>
              <a:t>状态向量用</a:t>
            </a:r>
            <a:r>
              <a:rPr lang="en-US" altLang="zh-CN" sz="1400" dirty="0">
                <a:highlight>
                  <a:srgbClr val="C0C0C0"/>
                </a:highlight>
              </a:rPr>
              <a:t>one-bot</a:t>
            </a:r>
            <a:r>
              <a:rPr lang="zh-CN" altLang="en-US" sz="1400" dirty="0">
                <a:highlight>
                  <a:srgbClr val="C0C0C0"/>
                </a:highlight>
              </a:rPr>
              <a:t>编码表示）</a:t>
            </a:r>
            <a:endParaRPr lang="en-US" sz="1400" dirty="0">
              <a:highlight>
                <a:srgbClr val="C0C0C0"/>
              </a:highlight>
            </a:endParaRPr>
          </a:p>
        </p:txBody>
      </p:sp>
      <p:sp>
        <p:nvSpPr>
          <p:cNvPr id="19" name="TextBox 18">
            <a:extLst>
              <a:ext uri="{FF2B5EF4-FFF2-40B4-BE49-F238E27FC236}">
                <a16:creationId xmlns="" xmlns:a16="http://schemas.microsoft.com/office/drawing/2014/main" id="{5B0C1A31-E180-CF82-E59F-F18063BA80EB}"/>
              </a:ext>
            </a:extLst>
          </p:cNvPr>
          <p:cNvSpPr txBox="1"/>
          <p:nvPr/>
        </p:nvSpPr>
        <p:spPr>
          <a:xfrm>
            <a:off x="1344809" y="4038332"/>
            <a:ext cx="2327625" cy="307777"/>
          </a:xfrm>
          <a:prstGeom prst="rect">
            <a:avLst/>
          </a:prstGeom>
          <a:noFill/>
        </p:spPr>
        <p:txBody>
          <a:bodyPr wrap="square">
            <a:spAutoFit/>
          </a:bodyPr>
          <a:lstStyle/>
          <a:p>
            <a:r>
              <a:rPr lang="zh-CN" altLang="en-US" sz="1400" dirty="0">
                <a:highlight>
                  <a:srgbClr val="C0C0C0"/>
                </a:highlight>
              </a:rPr>
              <a:t>（</a:t>
            </a:r>
            <a:r>
              <a:rPr lang="en-US" altLang="zh-CN" sz="1400" dirty="0">
                <a:highlight>
                  <a:srgbClr val="C0C0C0"/>
                </a:highlight>
              </a:rPr>
              <a:t>*</a:t>
            </a:r>
            <a:r>
              <a:rPr lang="zh-CN" altLang="en-US" sz="1400" dirty="0">
                <a:highlight>
                  <a:srgbClr val="C0C0C0"/>
                </a:highlight>
              </a:rPr>
              <a:t>差值用欧式距离表示）</a:t>
            </a:r>
            <a:endParaRPr lang="en-US" sz="1400" dirty="0">
              <a:highlight>
                <a:srgbClr val="C0C0C0"/>
              </a:highlight>
            </a:endParaRPr>
          </a:p>
        </p:txBody>
      </p:sp>
      <p:sp>
        <p:nvSpPr>
          <p:cNvPr id="20" name="TextBox 19">
            <a:extLst>
              <a:ext uri="{FF2B5EF4-FFF2-40B4-BE49-F238E27FC236}">
                <a16:creationId xmlns="" xmlns:a16="http://schemas.microsoft.com/office/drawing/2014/main" id="{562484C7-AA35-93F3-29F0-95E7620EAC82}"/>
              </a:ext>
            </a:extLst>
          </p:cNvPr>
          <p:cNvSpPr txBox="1"/>
          <p:nvPr/>
        </p:nvSpPr>
        <p:spPr>
          <a:xfrm>
            <a:off x="5324800" y="3876605"/>
            <a:ext cx="689429" cy="369332"/>
          </a:xfrm>
          <a:prstGeom prst="rect">
            <a:avLst/>
          </a:prstGeom>
          <a:noFill/>
        </p:spPr>
        <p:txBody>
          <a:bodyPr wrap="square">
            <a:spAutoFit/>
          </a:bodyPr>
          <a:lstStyle/>
          <a:p>
            <a:r>
              <a:rPr lang="en-US" altLang="zh-CN" kern="100" dirty="0">
                <a:latin typeface="Times New Roman" panose="02020603050405020304" pitchFamily="18" charset="0"/>
                <a:ea typeface="SimSun" panose="02010600030101010101" pitchFamily="2" charset="-122"/>
                <a:cs typeface="Times New Roman" panose="02020603050405020304" pitchFamily="18" charset="0"/>
              </a:rPr>
              <a:t>1.19</a:t>
            </a:r>
            <a:endParaRPr lang="en-US" dirty="0"/>
          </a:p>
        </p:txBody>
      </p:sp>
      <p:sp>
        <p:nvSpPr>
          <p:cNvPr id="21" name="TextBox 20">
            <a:extLst>
              <a:ext uri="{FF2B5EF4-FFF2-40B4-BE49-F238E27FC236}">
                <a16:creationId xmlns="" xmlns:a16="http://schemas.microsoft.com/office/drawing/2014/main" id="{B626A332-97A0-594D-91BF-B51439CACD83}"/>
              </a:ext>
            </a:extLst>
          </p:cNvPr>
          <p:cNvSpPr txBox="1"/>
          <p:nvPr/>
        </p:nvSpPr>
        <p:spPr>
          <a:xfrm>
            <a:off x="5775952" y="3876605"/>
            <a:ext cx="2133600" cy="369332"/>
          </a:xfrm>
          <a:prstGeom prst="rect">
            <a:avLst/>
          </a:prstGeom>
          <a:noFill/>
        </p:spPr>
        <p:txBody>
          <a:bodyPr wrap="square">
            <a:spAutoFit/>
          </a:bodyPr>
          <a:lstStyle/>
          <a:p>
            <a:r>
              <a:rPr lang="en-US" altLang="zh-CN" sz="1800" kern="100" dirty="0">
                <a:effectLst/>
                <a:latin typeface="Times New Roman" panose="02020603050405020304" pitchFamily="18" charset="0"/>
                <a:ea typeface="SimSun" panose="02010600030101010101" pitchFamily="2" charset="-122"/>
                <a:cs typeface="Times New Roman" panose="02020603050405020304" pitchFamily="18" charset="0"/>
              </a:rPr>
              <a:t>&gt;</a:t>
            </a:r>
            <a:r>
              <a:rPr lang="zh-CN" sz="1800" kern="100" dirty="0">
                <a:effectLst/>
                <a:latin typeface="Times New Roman" panose="02020603050405020304" pitchFamily="18" charset="0"/>
                <a:ea typeface="SimSun" panose="02010600030101010101" pitchFamily="2" charset="-122"/>
                <a:cs typeface="Times New Roman" panose="02020603050405020304" pitchFamily="18" charset="0"/>
              </a:rPr>
              <a:t>阈值</a:t>
            </a:r>
            <a:r>
              <a:rPr lang="en-US" sz="1800" kern="100" dirty="0">
                <a:effectLst/>
                <a:latin typeface="Times New Roman" panose="02020603050405020304" pitchFamily="18" charset="0"/>
                <a:ea typeface="SimSun" panose="02010600030101010101" pitchFamily="2" charset="-122"/>
              </a:rPr>
              <a:t>ε </a:t>
            </a:r>
            <a:r>
              <a:rPr lang="zh-CN" altLang="en-US" sz="1800" kern="100" dirty="0">
                <a:effectLst/>
                <a:latin typeface="Times New Roman" panose="02020603050405020304" pitchFamily="18" charset="0"/>
                <a:ea typeface="SimSun" panose="02010600030101010101" pitchFamily="2" charset="-122"/>
              </a:rPr>
              <a:t>（</a:t>
            </a:r>
            <a:r>
              <a:rPr lang="zh-CN" altLang="en-US" sz="1400" kern="100" dirty="0">
                <a:effectLst/>
                <a:latin typeface="Times New Roman" panose="02020603050405020304" pitchFamily="18" charset="0"/>
                <a:ea typeface="SimSun" panose="02010600030101010101" pitchFamily="2" charset="-122"/>
              </a:rPr>
              <a:t>例：</a:t>
            </a:r>
            <a:r>
              <a:rPr lang="en-US" altLang="zh-CN" sz="1400" kern="100" dirty="0">
                <a:effectLst/>
                <a:latin typeface="Times New Roman" panose="02020603050405020304" pitchFamily="18" charset="0"/>
                <a:ea typeface="SimSun" panose="02010600030101010101" pitchFamily="2" charset="-122"/>
              </a:rPr>
              <a:t>1.08</a:t>
            </a:r>
            <a:r>
              <a:rPr lang="zh-CN" altLang="en-US" sz="1800" kern="100" dirty="0">
                <a:effectLst/>
                <a:latin typeface="Times New Roman" panose="02020603050405020304" pitchFamily="18" charset="0"/>
                <a:ea typeface="SimSun" panose="02010600030101010101" pitchFamily="2" charset="-122"/>
              </a:rPr>
              <a:t>）</a:t>
            </a:r>
            <a:endParaRPr lang="en-US" dirty="0"/>
          </a:p>
        </p:txBody>
      </p:sp>
      <p:sp>
        <p:nvSpPr>
          <p:cNvPr id="22" name="TextBox 21">
            <a:extLst>
              <a:ext uri="{FF2B5EF4-FFF2-40B4-BE49-F238E27FC236}">
                <a16:creationId xmlns="" xmlns:a16="http://schemas.microsoft.com/office/drawing/2014/main" id="{E1ECFCE6-B538-2795-05C8-940921135F1A}"/>
              </a:ext>
            </a:extLst>
          </p:cNvPr>
          <p:cNvSpPr txBox="1"/>
          <p:nvPr/>
        </p:nvSpPr>
        <p:spPr>
          <a:xfrm>
            <a:off x="457200" y="4443958"/>
            <a:ext cx="6240905"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判定为：异常</a:t>
            </a:r>
            <a:r>
              <a:rPr lang="en-US" sz="1600" dirty="0">
                <a:latin typeface="微软雅黑" panose="020B0503020204020204" pitchFamily="34" charset="-122"/>
                <a:ea typeface="微软雅黑" panose="020B0503020204020204" pitchFamily="34" charset="-122"/>
              </a:rPr>
              <a:t>! </a:t>
            </a:r>
            <a:r>
              <a:rPr lang="zh-CN" altLang="en-US" sz="1600" dirty="0">
                <a:latin typeface="微软雅黑" panose="020B0503020204020204" pitchFamily="34" charset="-122"/>
                <a:ea typeface="微软雅黑" panose="020B0503020204020204" pitchFamily="34" charset="-122"/>
              </a:rPr>
              <a:t>可能有数据注入攻击</a:t>
            </a:r>
            <a:r>
              <a:rPr lang="en-US" sz="1600" dirty="0">
                <a:latin typeface="微软雅黑" panose="020B0503020204020204" pitchFamily="34" charset="-122"/>
                <a:ea typeface="微软雅黑" panose="020B0503020204020204" pitchFamily="34" charset="-122"/>
              </a:rPr>
              <a:t>!</a:t>
            </a:r>
          </a:p>
        </p:txBody>
      </p:sp>
      <p:sp>
        <p:nvSpPr>
          <p:cNvPr id="23" name="TextBox 22">
            <a:extLst>
              <a:ext uri="{FF2B5EF4-FFF2-40B4-BE49-F238E27FC236}">
                <a16:creationId xmlns="" xmlns:a16="http://schemas.microsoft.com/office/drawing/2014/main" id="{5C6D2D94-D765-55B6-163F-95248684F6F0}"/>
              </a:ext>
            </a:extLst>
          </p:cNvPr>
          <p:cNvSpPr txBox="1"/>
          <p:nvPr/>
        </p:nvSpPr>
        <p:spPr>
          <a:xfrm>
            <a:off x="423099" y="3292101"/>
            <a:ext cx="7245145"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实际观测到的状态向量：</a:t>
            </a:r>
            <a:r>
              <a:rPr lang="en-US" sz="1600" dirty="0"/>
              <a:t>[0, 0, 0, 0, 1, 0, 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760" y="196215"/>
            <a:ext cx="5349875" cy="14668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矩形 5"/>
          <p:cNvSpPr/>
          <p:nvPr/>
        </p:nvSpPr>
        <p:spPr>
          <a:xfrm>
            <a:off x="-1" y="636030"/>
            <a:ext cx="7773417"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研究内容三：基于轻量化抗拜占庭协调协议的异常智能体甄别</a:t>
            </a:r>
          </a:p>
        </p:txBody>
      </p:sp>
      <p:sp>
        <p:nvSpPr>
          <p:cNvPr id="17"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17</a:t>
            </a:fld>
            <a:endParaRPr lang="zh-CN" altLang="en-US"/>
          </a:p>
        </p:txBody>
      </p:sp>
      <p:sp>
        <p:nvSpPr>
          <p:cNvPr id="8" name="矩形 10">
            <a:extLst>
              <a:ext uri="{FF2B5EF4-FFF2-40B4-BE49-F238E27FC236}">
                <a16:creationId xmlns="" xmlns:a16="http://schemas.microsoft.com/office/drawing/2014/main" id="{CD14F516-DC24-121F-5776-1EA2FEF8DC43}"/>
              </a:ext>
            </a:extLst>
          </p:cNvPr>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9" name="矩形 11">
            <a:extLst>
              <a:ext uri="{FF2B5EF4-FFF2-40B4-BE49-F238E27FC236}">
                <a16:creationId xmlns="" xmlns:a16="http://schemas.microsoft.com/office/drawing/2014/main" id="{54060D8E-BD7F-3E18-1393-B258AD65F8A2}"/>
              </a:ext>
            </a:extLst>
          </p:cNvPr>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10" name="TextBox 7">
            <a:extLst>
              <a:ext uri="{FF2B5EF4-FFF2-40B4-BE49-F238E27FC236}">
                <a16:creationId xmlns="" xmlns:a16="http://schemas.microsoft.com/office/drawing/2014/main" id="{61728BF3-B1DE-D21B-571C-36875A4EFCE1}"/>
              </a:ext>
            </a:extLst>
          </p:cNvPr>
          <p:cNvSpPr txBox="1"/>
          <p:nvPr/>
        </p:nvSpPr>
        <p:spPr>
          <a:xfrm>
            <a:off x="457200" y="1491630"/>
            <a:ext cx="7797165" cy="1013313"/>
          </a:xfrm>
          <a:prstGeom prst="rect">
            <a:avLst/>
          </a:prstGeom>
          <a:noFill/>
          <a:ln>
            <a:noFill/>
          </a:ln>
        </p:spPr>
        <p:txBody>
          <a:bodyPr wrap="square" rtlCol="0">
            <a:noAutofit/>
          </a:bodyPr>
          <a:lstStyle/>
          <a:p>
            <a:pPr indent="457200" fontAlgn="auto">
              <a:lnSpc>
                <a:spcPct val="125000"/>
              </a:lnSpc>
            </a:pPr>
            <a:r>
              <a:rPr lang="en-US" sz="1600" dirty="0" err="1">
                <a:latin typeface="微软雅黑" panose="020B0503020204020204" pitchFamily="34" charset="-122"/>
                <a:ea typeface="微软雅黑" panose="020B0503020204020204" pitchFamily="34" charset="-122"/>
              </a:rPr>
              <a:t>如何在</a:t>
            </a:r>
            <a:r>
              <a:rPr lang="zh-CN" altLang="en-US" sz="1600" dirty="0">
                <a:latin typeface="微软雅黑" panose="020B0503020204020204" pitchFamily="34" charset="-122"/>
                <a:ea typeface="微软雅黑" panose="020B0503020204020204" pitchFamily="34" charset="-122"/>
              </a:rPr>
              <a:t>研究内容一的</a:t>
            </a:r>
            <a:r>
              <a:rPr lang="en-US" sz="1600" dirty="0" err="1">
                <a:latin typeface="微软雅黑" panose="020B0503020204020204" pitchFamily="34" charset="-122"/>
                <a:ea typeface="微软雅黑" panose="020B0503020204020204" pitchFamily="34" charset="-122"/>
              </a:rPr>
              <a:t>调度架构下，对被劫持执行层智能体发起的内部拜占庭攻击进行高效甄别与隔离</a:t>
            </a:r>
            <a:r>
              <a:rPr lang="en-US"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而且</a:t>
            </a:r>
            <a:r>
              <a:rPr lang="en-US" sz="1600" dirty="0" err="1">
                <a:solidFill>
                  <a:schemeClr val="accent1"/>
                </a:solidFill>
                <a:latin typeface="微软雅黑" panose="020B0503020204020204" pitchFamily="34" charset="-122"/>
                <a:ea typeface="微软雅黑" panose="020B0503020204020204" pitchFamily="34" charset="-122"/>
              </a:rPr>
              <a:t>甄别协调开销</a:t>
            </a:r>
            <a:r>
              <a:rPr lang="en-US" sz="1600" dirty="0" err="1">
                <a:latin typeface="微软雅黑" panose="020B0503020204020204" pitchFamily="34" charset="-122"/>
                <a:ea typeface="微软雅黑" panose="020B0503020204020204" pitchFamily="34" charset="-122"/>
              </a:rPr>
              <a:t>从全局</a:t>
            </a:r>
            <a:r>
              <a:rPr lang="en-US" sz="1600" dirty="0">
                <a:latin typeface="微软雅黑" panose="020B0503020204020204" pitchFamily="34" charset="-122"/>
                <a:ea typeface="微软雅黑" panose="020B0503020204020204" pitchFamily="34" charset="-122"/>
              </a:rPr>
              <a:t> O(N</a:t>
            </a:r>
            <a:r>
              <a:rPr lang="en-US" sz="1600" baseline="30000" dirty="0">
                <a:latin typeface="微软雅黑" panose="020B0503020204020204" pitchFamily="34" charset="-122"/>
                <a:ea typeface="微软雅黑" panose="020B0503020204020204" pitchFamily="34" charset="-122"/>
              </a:rPr>
              <a:t>2</a:t>
            </a:r>
            <a:r>
              <a:rPr lang="en-US" sz="1600" dirty="0">
                <a:latin typeface="微软雅黑" panose="020B0503020204020204" pitchFamily="34" charset="-122"/>
                <a:ea typeface="微软雅黑" panose="020B0503020204020204" pitchFamily="34" charset="-122"/>
              </a:rPr>
              <a:t>) </a:t>
            </a:r>
            <a:r>
              <a:rPr lang="en-US" sz="1600" dirty="0" err="1">
                <a:latin typeface="微软雅黑" panose="020B0503020204020204" pitchFamily="34" charset="-122"/>
                <a:ea typeface="微软雅黑" panose="020B0503020204020204" pitchFamily="34" charset="-122"/>
              </a:rPr>
              <a:t>收缩至任务耦合局部域</a:t>
            </a:r>
            <a:r>
              <a:rPr lang="en-US" sz="1600" dirty="0">
                <a:latin typeface="微软雅黑" panose="020B0503020204020204" pitchFamily="34" charset="-122"/>
                <a:ea typeface="微软雅黑" panose="020B0503020204020204" pitchFamily="34" charset="-122"/>
              </a:rPr>
              <a:t> O(k</a:t>
            </a:r>
            <a:r>
              <a:rPr lang="en-US" sz="1600" baseline="30000" dirty="0">
                <a:latin typeface="微软雅黑" panose="020B0503020204020204" pitchFamily="34" charset="-122"/>
                <a:ea typeface="微软雅黑" panose="020B0503020204020204" pitchFamily="34" charset="-122"/>
              </a:rPr>
              <a:t>2</a:t>
            </a:r>
            <a:r>
              <a:rPr lang="en-US" sz="1600" dirty="0">
                <a:latin typeface="微软雅黑" panose="020B0503020204020204" pitchFamily="34" charset="-122"/>
                <a:ea typeface="微软雅黑" panose="020B0503020204020204" pitchFamily="34" charset="-122"/>
              </a:rPr>
              <a:t>)（</a:t>
            </a:r>
            <a:r>
              <a:rPr lang="en-US" sz="1600" dirty="0" err="1">
                <a:latin typeface="微软雅黑" panose="020B0503020204020204" pitchFamily="34" charset="-122"/>
                <a:ea typeface="微软雅黑" panose="020B0503020204020204" pitchFamily="34" charset="-122"/>
              </a:rPr>
              <a:t>k≪N</a:t>
            </a:r>
            <a:r>
              <a:rPr lang="en-US" sz="1600" dirty="0">
                <a:latin typeface="微软雅黑" panose="020B0503020204020204" pitchFamily="34" charset="-122"/>
                <a:ea typeface="微软雅黑" panose="020B0503020204020204" pitchFamily="34" charset="-122"/>
              </a:rPr>
              <a:t>），</a:t>
            </a:r>
            <a:r>
              <a:rPr lang="en-US" sz="1600" dirty="0" err="1">
                <a:latin typeface="微软雅黑" panose="020B0503020204020204" pitchFamily="34" charset="-122"/>
                <a:ea typeface="微软雅黑" panose="020B0503020204020204" pitchFamily="34" charset="-122"/>
              </a:rPr>
              <a:t>同时</a:t>
            </a:r>
            <a:r>
              <a:rPr lang="en-US" sz="1600" dirty="0" err="1">
                <a:solidFill>
                  <a:schemeClr val="accent1"/>
                </a:solidFill>
                <a:latin typeface="微软雅黑" panose="020B0503020204020204" pitchFamily="34" charset="-122"/>
                <a:ea typeface="微软雅黑" panose="020B0503020204020204" pitchFamily="34" charset="-122"/>
              </a:rPr>
              <a:t>保证甄别的准确性与实时性</a:t>
            </a:r>
            <a:r>
              <a:rPr lang="en-US" sz="1600" dirty="0">
                <a:latin typeface="微软雅黑" panose="020B0503020204020204" pitchFamily="34" charset="-122"/>
                <a:ea typeface="微软雅黑" panose="020B0503020204020204" pitchFamily="34" charset="-122"/>
              </a:rPr>
              <a:t>？</a:t>
            </a:r>
            <a:endParaRPr lang="zh-CN" altLang="en-US" sz="1600" dirty="0">
              <a:latin typeface="微软雅黑" panose="020B0503020204020204" pitchFamily="34" charset="-122"/>
              <a:ea typeface="微软雅黑" panose="020B0503020204020204" pitchFamily="34" charset="-122"/>
            </a:endParaRPr>
          </a:p>
        </p:txBody>
      </p:sp>
      <p:sp>
        <p:nvSpPr>
          <p:cNvPr id="11" name="矩形 15">
            <a:extLst>
              <a:ext uri="{FF2B5EF4-FFF2-40B4-BE49-F238E27FC236}">
                <a16:creationId xmlns="" xmlns:a16="http://schemas.microsoft.com/office/drawing/2014/main" id="{9AF2CB60-FDC3-57BB-3D8E-10290464949C}"/>
              </a:ext>
            </a:extLst>
          </p:cNvPr>
          <p:cNvSpPr/>
          <p:nvPr/>
        </p:nvSpPr>
        <p:spPr>
          <a:xfrm>
            <a:off x="1" y="3077629"/>
            <a:ext cx="3262202" cy="186829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利用任务执行的时空局部性</a:t>
            </a:r>
            <a:endParaRPr lang="en-US" altLang="zh-CN" sz="1600" dirty="0">
              <a:solidFill>
                <a:schemeClr val="tx1"/>
              </a:solidFill>
            </a:endParaRPr>
          </a:p>
          <a:p>
            <a:pPr marL="285750" indent="-285750">
              <a:buFont typeface="Arial" panose="020B0604020202020204" pitchFamily="34" charset="0"/>
              <a:buChar char="•"/>
            </a:pPr>
            <a:r>
              <a:rPr lang="en-US" sz="1600" dirty="0" err="1">
                <a:solidFill>
                  <a:schemeClr val="tx1"/>
                </a:solidFill>
                <a:latin typeface="华文楷体" panose="02010600040101010101" pitchFamily="2" charset="-122"/>
                <a:ea typeface="华文楷体" panose="02010600040101010101" pitchFamily="2" charset="-122"/>
              </a:rPr>
              <a:t>时空局部性</a:t>
            </a:r>
            <a:r>
              <a:rPr lang="zh-CN" altLang="en-US" sz="1600" dirty="0">
                <a:solidFill>
                  <a:schemeClr val="tx1"/>
                </a:solidFill>
                <a:latin typeface="华文楷体" panose="02010600040101010101" pitchFamily="2" charset="-122"/>
                <a:ea typeface="华文楷体" panose="02010600040101010101" pitchFamily="2" charset="-122"/>
              </a:rPr>
              <a:t>：</a:t>
            </a:r>
            <a:r>
              <a:rPr lang="en-US" sz="1600" dirty="0" err="1">
                <a:solidFill>
                  <a:schemeClr val="tx1"/>
                </a:solidFill>
                <a:latin typeface="华文楷体" panose="02010600040101010101" pitchFamily="2" charset="-122"/>
                <a:ea typeface="华文楷体" panose="02010600040101010101" pitchFamily="2" charset="-122"/>
              </a:rPr>
              <a:t>执行同一任务</a:t>
            </a:r>
            <a:r>
              <a:rPr lang="en-US" sz="1600" dirty="0">
                <a:solidFill>
                  <a:schemeClr val="tx1"/>
                </a:solidFill>
                <a:latin typeface="华文楷体" panose="02010600040101010101" pitchFamily="2" charset="-122"/>
                <a:ea typeface="华文楷体" panose="02010600040101010101" pitchFamily="2" charset="-122"/>
              </a:rPr>
              <a:t> </a:t>
            </a:r>
            <a:r>
              <a:rPr lang="en-US" sz="1600" dirty="0" err="1">
                <a:solidFill>
                  <a:schemeClr val="tx1"/>
                </a:solidFill>
                <a:latin typeface="华文楷体" panose="02010600040101010101" pitchFamily="2" charset="-122"/>
                <a:ea typeface="华文楷体" panose="02010600040101010101" pitchFamily="2" charset="-122"/>
              </a:rPr>
              <a:t>的智能体之间</a:t>
            </a:r>
            <a:endParaRPr lang="en-US" sz="1600" dirty="0">
              <a:solidFill>
                <a:schemeClr val="tx1"/>
              </a:solidFill>
              <a:latin typeface="华文楷体" panose="02010600040101010101" pitchFamily="2" charset="-122"/>
              <a:ea typeface="华文楷体" panose="02010600040101010101" pitchFamily="2" charset="-122"/>
            </a:endParaRPr>
          </a:p>
          <a:p>
            <a:pPr marL="285750" indent="-285750">
              <a:buFont typeface="Arial" panose="020B0604020202020204" pitchFamily="34" charset="0"/>
              <a:buChar char="•"/>
            </a:pPr>
            <a:r>
              <a:rPr lang="en-US" sz="1600" dirty="0" err="1">
                <a:solidFill>
                  <a:schemeClr val="tx1"/>
                </a:solidFill>
                <a:latin typeface="华文楷体" panose="02010600040101010101" pitchFamily="2" charset="-122"/>
                <a:ea typeface="华文楷体" panose="02010600040101010101" pitchFamily="2" charset="-122"/>
              </a:rPr>
              <a:t>空间局部性：协作智能体在物理上相邻</a:t>
            </a:r>
            <a:endParaRPr lang="en-US" sz="1600" dirty="0">
              <a:solidFill>
                <a:schemeClr val="tx1"/>
              </a:solidFill>
              <a:latin typeface="华文楷体" panose="02010600040101010101" pitchFamily="2" charset="-122"/>
              <a:ea typeface="华文楷体" panose="02010600040101010101" pitchFamily="2" charset="-122"/>
            </a:endParaRPr>
          </a:p>
          <a:p>
            <a:pPr marL="285750" indent="-285750">
              <a:buFont typeface="Arial" panose="020B0604020202020204" pitchFamily="34" charset="0"/>
              <a:buChar char="•"/>
            </a:pPr>
            <a:r>
              <a:rPr lang="en-US" sz="1600" dirty="0" err="1">
                <a:solidFill>
                  <a:schemeClr val="tx1"/>
                </a:solidFill>
                <a:latin typeface="华文楷体" panose="02010600040101010101" pitchFamily="2" charset="-122"/>
                <a:ea typeface="华文楷体" panose="02010600040101010101" pitchFamily="2" charset="-122"/>
              </a:rPr>
              <a:t>时间局部性：协作关系只在任务时间窗口内有效</a:t>
            </a:r>
            <a:endParaRPr lang="en-US" dirty="0"/>
          </a:p>
        </p:txBody>
      </p:sp>
      <p:sp>
        <p:nvSpPr>
          <p:cNvPr id="12" name="矩形 16">
            <a:extLst>
              <a:ext uri="{FF2B5EF4-FFF2-40B4-BE49-F238E27FC236}">
                <a16:creationId xmlns="" xmlns:a16="http://schemas.microsoft.com/office/drawing/2014/main" id="{7D8E61C7-E070-4F5F-0C16-6C40F2F84CF6}"/>
              </a:ext>
            </a:extLst>
          </p:cNvPr>
          <p:cNvSpPr/>
          <p:nvPr/>
        </p:nvSpPr>
        <p:spPr>
          <a:xfrm>
            <a:off x="3521149" y="3076995"/>
            <a:ext cx="3528392" cy="1870290"/>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err="1">
                <a:solidFill>
                  <a:schemeClr val="tx1"/>
                </a:solidFill>
              </a:rPr>
              <a:t>轻量化抗拜占庭协调协议</a:t>
            </a:r>
            <a:r>
              <a:rPr lang="en-US" sz="1600" dirty="0">
                <a:solidFill>
                  <a:schemeClr val="tx1"/>
                </a:solidFill>
              </a:rPr>
              <a:t>：</a:t>
            </a:r>
          </a:p>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时空验证层→ 过滤大部分假消息：重放攻击</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en-US" sz="1600" dirty="0">
                <a:solidFill>
                  <a:schemeClr val="tx1"/>
                </a:solidFill>
                <a:latin typeface="华文楷体" panose="02010600040101010101" pitchFamily="2" charset="-122"/>
                <a:ea typeface="华文楷体" panose="02010600040101010101" pitchFamily="2" charset="-122"/>
              </a:rPr>
              <a:t>位置欺骗</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en-US" sz="1600" dirty="0">
                <a:solidFill>
                  <a:schemeClr val="tx1"/>
                </a:solidFill>
                <a:latin typeface="华文楷体" panose="02010600040101010101" pitchFamily="2" charset="-122"/>
                <a:ea typeface="华文楷体" panose="02010600040101010101" pitchFamily="2" charset="-122"/>
              </a:rPr>
              <a:t>跨任务注入 </a:t>
            </a:r>
          </a:p>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任务耦合协调层→ 解决</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en-US" sz="1600" dirty="0">
                <a:solidFill>
                  <a:schemeClr val="tx1"/>
                </a:solidFill>
                <a:latin typeface="华文楷体" panose="02010600040101010101" pitchFamily="2" charset="-122"/>
                <a:ea typeface="华文楷体" panose="02010600040101010101" pitchFamily="2" charset="-122"/>
              </a:rPr>
              <a:t>谁参与协调</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en-US" sz="1600" dirty="0">
                <a:solidFill>
                  <a:schemeClr val="tx1"/>
                </a:solidFill>
                <a:latin typeface="华文楷体" panose="02010600040101010101" pitchFamily="2" charset="-122"/>
                <a:ea typeface="华文楷体" panose="02010600040101010101" pitchFamily="2" charset="-122"/>
              </a:rPr>
              <a:t>，大幅压缩通信规模</a:t>
            </a:r>
          </a:p>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自适应信任管理层→ 动态维护节点可信度，支撑上一层的加权仲裁</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13" name="矩形 17">
            <a:extLst>
              <a:ext uri="{FF2B5EF4-FFF2-40B4-BE49-F238E27FC236}">
                <a16:creationId xmlns="" xmlns:a16="http://schemas.microsoft.com/office/drawing/2014/main" id="{92D6EEFB-B2C3-DDCB-5F6D-063104343636}"/>
              </a:ext>
            </a:extLst>
          </p:cNvPr>
          <p:cNvSpPr/>
          <p:nvPr/>
        </p:nvSpPr>
        <p:spPr>
          <a:xfrm>
            <a:off x="7308304" y="3076995"/>
            <a:ext cx="1832796" cy="1870290"/>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甄别输出</a:t>
            </a:r>
            <a:endParaRPr lang="en-US" altLang="zh-CN" sz="1600" dirty="0">
              <a:solidFill>
                <a:schemeClr val="tx1"/>
              </a:solidFill>
            </a:endParaRPr>
          </a:p>
          <a:p>
            <a:pPr algn="ctr"/>
            <a:endParaRPr lang="en-US" altLang="zh-CN" sz="1600" dirty="0">
              <a:solidFill>
                <a:schemeClr val="tx1"/>
              </a:solidFill>
              <a:latin typeface="华文楷体" panose="02010600040101010101" pitchFamily="2" charset="-122"/>
              <a:ea typeface="华文楷体" panose="02010600040101010101" pitchFamily="2" charset="-122"/>
            </a:endParaRPr>
          </a:p>
          <a:p>
            <a:pPr algn="ctr"/>
            <a:r>
              <a:rPr lang="zh-CN" altLang="en-US" sz="1600" dirty="0">
                <a:solidFill>
                  <a:schemeClr val="tx1"/>
                </a:solidFill>
                <a:latin typeface="华文楷体" panose="02010600040101010101" pitchFamily="2" charset="-122"/>
                <a:ea typeface="华文楷体" panose="02010600040101010101" pitchFamily="2" charset="-122"/>
              </a:rPr>
              <a:t>异常智能体识别 → 隔离被劫持节点 → 通知调度层剔除虚假状态信息</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14" name="右箭头 21">
            <a:extLst>
              <a:ext uri="{FF2B5EF4-FFF2-40B4-BE49-F238E27FC236}">
                <a16:creationId xmlns="" xmlns:a16="http://schemas.microsoft.com/office/drawing/2014/main" id="{10A827CB-3698-A257-1B82-80FD005247E9}"/>
              </a:ext>
            </a:extLst>
          </p:cNvPr>
          <p:cNvSpPr/>
          <p:nvPr/>
        </p:nvSpPr>
        <p:spPr>
          <a:xfrm>
            <a:off x="3275856" y="3936441"/>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22">
            <a:extLst>
              <a:ext uri="{FF2B5EF4-FFF2-40B4-BE49-F238E27FC236}">
                <a16:creationId xmlns="" xmlns:a16="http://schemas.microsoft.com/office/drawing/2014/main" id="{0E67C2BA-A576-BCE3-371C-054013CCA330}"/>
              </a:ext>
            </a:extLst>
          </p:cNvPr>
          <p:cNvSpPr/>
          <p:nvPr/>
        </p:nvSpPr>
        <p:spPr>
          <a:xfrm>
            <a:off x="7041423" y="3936440"/>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CA52C77-070A-6F17-4145-2DC74BDFA18F}"/>
            </a:ext>
          </a:extLst>
        </p:cNvPr>
        <p:cNvGrpSpPr/>
        <p:nvPr/>
      </p:nvGrpSpPr>
      <p:grpSpPr>
        <a:xfrm>
          <a:off x="0" y="0"/>
          <a:ext cx="0" cy="0"/>
          <a:chOff x="0" y="0"/>
          <a:chExt cx="0" cy="0"/>
        </a:xfrm>
      </p:grpSpPr>
      <p:sp>
        <p:nvSpPr>
          <p:cNvPr id="2" name="矩形 1">
            <a:extLst>
              <a:ext uri="{FF2B5EF4-FFF2-40B4-BE49-F238E27FC236}">
                <a16:creationId xmlns="" xmlns:a16="http://schemas.microsoft.com/office/drawing/2014/main" id="{E8AB4FE0-738B-D0C6-2A46-D60C00AB311E}"/>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 xmlns:a16="http://schemas.microsoft.com/office/drawing/2014/main" id="{48067F7B-C960-1418-198E-476340416501}"/>
              </a:ext>
            </a:extLst>
          </p:cNvPr>
          <p:cNvSpPr/>
          <p:nvPr/>
        </p:nvSpPr>
        <p:spPr>
          <a:xfrm>
            <a:off x="6372200" y="190500"/>
            <a:ext cx="2771800" cy="17843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 xmlns:a16="http://schemas.microsoft.com/office/drawing/2014/main" id="{95E7BEA2-B9A5-24B5-65AA-886AA9451476}"/>
              </a:ext>
            </a:extLst>
          </p:cNvPr>
          <p:cNvSpPr txBox="1">
            <a:spLocks noChangeArrowheads="1"/>
          </p:cNvSpPr>
          <p:nvPr/>
        </p:nvSpPr>
        <p:spPr bwMode="auto">
          <a:xfrm>
            <a:off x="843280" y="103505"/>
            <a:ext cx="682506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r>
              <a:rPr lang="zh-CN" altLang="en-US" sz="2000" b="1" dirty="0">
                <a:latin typeface="微软雅黑" panose="020B0503020204020204" pitchFamily="34" charset="-122"/>
                <a:ea typeface="微软雅黑" panose="020B0503020204020204" pitchFamily="34" charset="-122"/>
              </a:rPr>
              <a:t>基于轻量化抗拜占庭协调协议的异常智能体甄别</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 xmlns:a16="http://schemas.microsoft.com/office/drawing/2014/main" id="{D3B45E24-3760-A457-05A0-BF3AF491B84D}"/>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a:extLst>
              <a:ext uri="{FF2B5EF4-FFF2-40B4-BE49-F238E27FC236}">
                <a16:creationId xmlns="" xmlns:a16="http://schemas.microsoft.com/office/drawing/2014/main" id="{4839A68B-1A2D-500F-F7C0-5A7E9CCDE7D9}"/>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a:extLst>
              <a:ext uri="{FF2B5EF4-FFF2-40B4-BE49-F238E27FC236}">
                <a16:creationId xmlns="" xmlns:a16="http://schemas.microsoft.com/office/drawing/2014/main" id="{CBDA5503-DA0B-047A-3659-181BCE6DA3DC}"/>
              </a:ext>
            </a:extLst>
          </p:cNvPr>
          <p:cNvSpPr>
            <a:spLocks noGrp="1"/>
          </p:cNvSpPr>
          <p:nvPr>
            <p:ph type="sldNum" sz="quarter" idx="12"/>
          </p:nvPr>
        </p:nvSpPr>
        <p:spPr/>
        <p:txBody>
          <a:bodyPr/>
          <a:lstStyle/>
          <a:p>
            <a:fld id="{0C913308-F349-4B6D-A68A-DD1791B4A57B}" type="slidenum">
              <a:rPr lang="zh-CN" altLang="en-US" smtClean="0"/>
              <a:t>18</a:t>
            </a:fld>
            <a:endParaRPr lang="zh-CN" altLang="en-US"/>
          </a:p>
        </p:txBody>
      </p:sp>
      <p:sp>
        <p:nvSpPr>
          <p:cNvPr id="30" name="TextBox 29">
            <a:extLst>
              <a:ext uri="{FF2B5EF4-FFF2-40B4-BE49-F238E27FC236}">
                <a16:creationId xmlns="" xmlns:a16="http://schemas.microsoft.com/office/drawing/2014/main" id="{033AFE8A-EC6D-3513-2091-740278E73B06}"/>
              </a:ext>
            </a:extLst>
          </p:cNvPr>
          <p:cNvSpPr txBox="1"/>
          <p:nvPr/>
        </p:nvSpPr>
        <p:spPr>
          <a:xfrm>
            <a:off x="0" y="612224"/>
            <a:ext cx="6301100" cy="338554"/>
          </a:xfrm>
          <a:prstGeom prst="rect">
            <a:avLst/>
          </a:prstGeom>
          <a:noFill/>
        </p:spPr>
        <p:txBody>
          <a:bodyPr wrap="square">
            <a:spAutoFit/>
          </a:bodyPr>
          <a:lstStyle/>
          <a:p>
            <a:pPr marL="0" marR="0" indent="304800" algn="just">
              <a:buNone/>
            </a:pPr>
            <a:r>
              <a:rPr lang="en-US" sz="1600" dirty="0">
                <a:latin typeface="微软雅黑" panose="020B0503020204020204" pitchFamily="34" charset="-122"/>
                <a:ea typeface="微软雅黑" panose="020B0503020204020204" pitchFamily="34" charset="-122"/>
              </a:rPr>
              <a:t>Layer 1: </a:t>
            </a:r>
            <a:r>
              <a:rPr lang="zh-CN" altLang="en-US" sz="1600" dirty="0">
                <a:latin typeface="微软雅黑" panose="020B0503020204020204" pitchFamily="34" charset="-122"/>
                <a:ea typeface="微软雅黑" panose="020B0503020204020204" pitchFamily="34" charset="-122"/>
              </a:rPr>
              <a:t>时空验证层</a:t>
            </a:r>
            <a:r>
              <a:rPr lang="en-US" sz="1600" dirty="0">
                <a:latin typeface="微软雅黑" panose="020B0503020204020204" pitchFamily="34" charset="-122"/>
                <a:ea typeface="微软雅黑" panose="020B0503020204020204" pitchFamily="34" charset="-122"/>
              </a:rPr>
              <a:t>(Spatiotemporal Validation)</a:t>
            </a:r>
            <a:r>
              <a:rPr lang="zh-CN" altLang="en-US" sz="1600" dirty="0">
                <a:latin typeface="微软雅黑" panose="020B0503020204020204" pitchFamily="34" charset="-122"/>
                <a:ea typeface="微软雅黑" panose="020B0503020204020204" pitchFamily="34" charset="-122"/>
              </a:rPr>
              <a:t> ：</a:t>
            </a:r>
            <a:endParaRPr lang="en-US" sz="1600" dirty="0">
              <a:latin typeface="微软雅黑" panose="020B0503020204020204" pitchFamily="34" charset="-122"/>
              <a:ea typeface="微软雅黑" panose="020B0503020204020204" pitchFamily="34" charset="-122"/>
            </a:endParaRPr>
          </a:p>
        </p:txBody>
      </p:sp>
      <p:sp>
        <p:nvSpPr>
          <p:cNvPr id="31" name="TextBox 30">
            <a:extLst>
              <a:ext uri="{FF2B5EF4-FFF2-40B4-BE49-F238E27FC236}">
                <a16:creationId xmlns="" xmlns:a16="http://schemas.microsoft.com/office/drawing/2014/main" id="{6F6C2CC7-D1C5-ACB7-5E30-34079042377C}"/>
              </a:ext>
            </a:extLst>
          </p:cNvPr>
          <p:cNvSpPr txBox="1"/>
          <p:nvPr/>
        </p:nvSpPr>
        <p:spPr>
          <a:xfrm>
            <a:off x="30758" y="1122015"/>
            <a:ext cx="5549354" cy="861774"/>
          </a:xfrm>
          <a:prstGeom prst="rect">
            <a:avLst/>
          </a:prstGeom>
          <a:noFill/>
        </p:spPr>
        <p:txBody>
          <a:bodyPr wrap="square">
            <a:spAutoFit/>
          </a:bodyPr>
          <a:lstStyle/>
          <a:p>
            <a:pPr indent="304800" algn="just"/>
            <a:r>
              <a:rPr lang="en-US" sz="1600" dirty="0">
                <a:latin typeface="微软雅黑" panose="020B0503020204020204" pitchFamily="34" charset="-122"/>
                <a:ea typeface="微软雅黑" panose="020B0503020204020204" pitchFamily="34" charset="-122"/>
              </a:rPr>
              <a:t>Layer 2: </a:t>
            </a:r>
            <a:r>
              <a:rPr lang="zh-CN" altLang="en-US" sz="1600" dirty="0">
                <a:latin typeface="微软雅黑" panose="020B0503020204020204" pitchFamily="34" charset="-122"/>
                <a:ea typeface="微软雅黑" panose="020B0503020204020204" pitchFamily="34" charset="-122"/>
              </a:rPr>
              <a:t>任务耦合协调层</a:t>
            </a:r>
            <a:r>
              <a:rPr lang="en-US" sz="1600" dirty="0">
                <a:latin typeface="微软雅黑" panose="020B0503020204020204" pitchFamily="34" charset="-122"/>
                <a:ea typeface="微软雅黑" panose="020B0503020204020204" pitchFamily="34" charset="-122"/>
              </a:rPr>
              <a:t> (Task-Coupled </a:t>
            </a:r>
            <a:r>
              <a:rPr lang="en-US" dirty="0"/>
              <a:t>Coordination</a:t>
            </a:r>
            <a:r>
              <a:rPr lang="en-US" sz="1600" dirty="0">
                <a:latin typeface="微软雅黑" panose="020B0503020204020204" pitchFamily="34" charset="-122"/>
                <a:ea typeface="微软雅黑" panose="020B0503020204020204" pitchFamily="34" charset="-122"/>
              </a:rPr>
              <a:t>)</a:t>
            </a:r>
          </a:p>
          <a:p>
            <a:pPr indent="304800" algn="just"/>
            <a:r>
              <a:rPr lang="zh-CN" altLang="en-US" sz="1600" dirty="0">
                <a:latin typeface="微软雅黑" panose="020B0503020204020204" pitchFamily="34" charset="-122"/>
                <a:ea typeface="微软雅黑" panose="020B0503020204020204" pitchFamily="34" charset="-122"/>
              </a:rPr>
              <a:t>核心思想是：只有与任务直接相关的智能体才需要参与协调。</a:t>
            </a:r>
            <a:endParaRPr lang="en-US" sz="1600" dirty="0">
              <a:latin typeface="微软雅黑" panose="020B0503020204020204" pitchFamily="34" charset="-122"/>
              <a:ea typeface="微软雅黑" panose="020B0503020204020204" pitchFamily="34" charset="-122"/>
            </a:endParaRPr>
          </a:p>
        </p:txBody>
      </p:sp>
      <p:sp>
        <p:nvSpPr>
          <p:cNvPr id="32" name="TextBox 31">
            <a:extLst>
              <a:ext uri="{FF2B5EF4-FFF2-40B4-BE49-F238E27FC236}">
                <a16:creationId xmlns="" xmlns:a16="http://schemas.microsoft.com/office/drawing/2014/main" id="{B0DD2F3F-8E39-AD12-76B7-5082EE988AEF}"/>
              </a:ext>
            </a:extLst>
          </p:cNvPr>
          <p:cNvSpPr txBox="1"/>
          <p:nvPr/>
        </p:nvSpPr>
        <p:spPr>
          <a:xfrm>
            <a:off x="71100" y="2060733"/>
            <a:ext cx="5220980" cy="584775"/>
          </a:xfrm>
          <a:prstGeom prst="rect">
            <a:avLst/>
          </a:prstGeom>
          <a:noFill/>
        </p:spPr>
        <p:txBody>
          <a:bodyPr wrap="square">
            <a:spAutoFit/>
          </a:bodyPr>
          <a:lstStyle/>
          <a:p>
            <a:pPr indent="304800" algn="just"/>
            <a:r>
              <a:rPr lang="en-US" sz="1600" dirty="0">
                <a:latin typeface="微软雅黑" panose="020B0503020204020204" pitchFamily="34" charset="-122"/>
                <a:ea typeface="微软雅黑" panose="020B0503020204020204" pitchFamily="34" charset="-122"/>
              </a:rPr>
              <a:t>Layer 3:</a:t>
            </a:r>
            <a:r>
              <a:rPr lang="zh-CN" altLang="en-US" sz="1600" dirty="0">
                <a:latin typeface="微软雅黑" panose="020B0503020204020204" pitchFamily="34" charset="-122"/>
                <a:ea typeface="微软雅黑" panose="020B0503020204020204" pitchFamily="34" charset="-122"/>
              </a:rPr>
              <a:t>自适应信任管理层</a:t>
            </a:r>
            <a:r>
              <a:rPr lang="en-US" sz="1600" dirty="0">
                <a:latin typeface="微软雅黑" panose="020B0503020204020204" pitchFamily="34" charset="-122"/>
                <a:ea typeface="微软雅黑" panose="020B0503020204020204" pitchFamily="34" charset="-122"/>
              </a:rPr>
              <a:t> (Adaptive Trust Management)</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 xmlns:a16="http://schemas.microsoft.com/office/drawing/2014/main" id="{7EB60099-FCAC-7F1C-AF33-ED9E7E9227B6}"/>
                  </a:ext>
                </a:extLst>
              </p:cNvPr>
              <p:cNvSpPr txBox="1"/>
              <p:nvPr/>
            </p:nvSpPr>
            <p:spPr>
              <a:xfrm>
                <a:off x="173650" y="2589428"/>
                <a:ext cx="5118430" cy="2460161"/>
              </a:xfrm>
              <a:prstGeom prst="rect">
                <a:avLst/>
              </a:prstGeom>
              <a:noFill/>
            </p:spPr>
            <p:txBody>
              <a:bodyPr wrap="square">
                <a:spAutoFit/>
              </a:bodyPr>
              <a:lstStyle/>
              <a:p>
                <a:pPr marL="0" marR="0" indent="304800" algn="just">
                  <a:buNone/>
                </a:pPr>
                <a:r>
                  <a:rPr lang="zh-CN" sz="1400" kern="100" dirty="0">
                    <a:effectLst/>
                    <a:latin typeface="Times New Roman" panose="02020603050405020304" pitchFamily="18" charset="0"/>
                    <a:ea typeface="SimSun" panose="02010600030101010101" pitchFamily="2" charset="-122"/>
                  </a:rPr>
                  <a:t>每个多智能体节点都有一个自适应权重</a:t>
                </a:r>
                <a14:m>
                  <m:oMath xmlns:m="http://schemas.openxmlformats.org/officeDocument/2006/math">
                    <m:sSub>
                      <m:sSubPr>
                        <m:ctrlPr>
                          <a:rPr lang="en-US" sz="1400" i="1" kern="100">
                            <a:effectLst/>
                            <a:latin typeface="Cambria Math" panose="02040503050406030204" pitchFamily="18" charset="0"/>
                            <a:ea typeface="SimSun" panose="02010600030101010101" pitchFamily="2" charset="-122"/>
                          </a:rPr>
                        </m:ctrlPr>
                      </m:sSub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Sub>
                  </m:oMath>
                </a14:m>
                <a:r>
                  <a:rPr lang="zh-CN" sz="1400" kern="100" dirty="0">
                    <a:effectLst/>
                    <a:latin typeface="Times New Roman" panose="02020603050405020304" pitchFamily="18" charset="0"/>
                    <a:ea typeface="SimSun" panose="02010600030101010101" pitchFamily="2" charset="-122"/>
                  </a:rPr>
                  <a:t>，初始化为</a:t>
                </a:r>
                <a14:m>
                  <m:oMath xmlns:m="http://schemas.openxmlformats.org/officeDocument/2006/math">
                    <m:sSub>
                      <m:sSubPr>
                        <m:ctrlPr>
                          <a:rPr lang="en-US" sz="1400" i="1" kern="100">
                            <a:effectLst/>
                            <a:latin typeface="Cambria Math" panose="02040503050406030204" pitchFamily="18" charset="0"/>
                            <a:ea typeface="SimSun" panose="02010600030101010101" pitchFamily="2" charset="-122"/>
                          </a:rPr>
                        </m:ctrlPr>
                      </m:sSub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Sub>
                    <m:r>
                      <a:rPr lang="en-US" sz="1400" i="1" kern="100">
                        <a:effectLst/>
                        <a:latin typeface="Cambria Math" panose="02040503050406030204" pitchFamily="18" charset="0"/>
                        <a:ea typeface="SimSun" panose="02010600030101010101" pitchFamily="2" charset="-122"/>
                      </a:rPr>
                      <m:t>=1</m:t>
                    </m:r>
                  </m:oMath>
                </a14:m>
                <a:r>
                  <a:rPr lang="zh-CN" sz="1400" kern="100" dirty="0">
                    <a:effectLst/>
                    <a:latin typeface="Times New Roman" panose="02020603050405020304" pitchFamily="18" charset="0"/>
                    <a:ea typeface="SimSun" panose="02010600030101010101" pitchFamily="2" charset="-122"/>
                  </a:rPr>
                  <a:t>（完全信任）。</a:t>
                </a:r>
                <a:endParaRPr lang="en-US" sz="1400" kern="100" dirty="0">
                  <a:effectLst/>
                  <a:latin typeface="Times New Roman" panose="02020603050405020304" pitchFamily="18" charset="0"/>
                  <a:ea typeface="SimSun" panose="02010600030101010101" pitchFamily="2" charset="-122"/>
                </a:endParaRPr>
              </a:p>
              <a:p>
                <a:pPr marL="0" marR="0" indent="304800" algn="just">
                  <a:buNone/>
                </a:pPr>
                <a:r>
                  <a:rPr lang="zh-CN" sz="1400" kern="100" dirty="0">
                    <a:effectLst/>
                    <a:latin typeface="Times New Roman" panose="02020603050405020304" pitchFamily="18" charset="0"/>
                    <a:ea typeface="SimSun" panose="02010600030101010101" pitchFamily="2" charset="-122"/>
                  </a:rPr>
                  <a:t>惩罚机制</a:t>
                </a:r>
                <a:r>
                  <a:rPr lang="en-US" sz="1400" kern="100" dirty="0">
                    <a:effectLst/>
                    <a:latin typeface="Times New Roman" panose="02020603050405020304" pitchFamily="18" charset="0"/>
                    <a:ea typeface="SimSun" panose="02010600030101010101" pitchFamily="2" charset="-122"/>
                  </a:rPr>
                  <a:t> (Penalty)</a:t>
                </a:r>
                <a:r>
                  <a:rPr lang="zh-CN" sz="1400" kern="100" dirty="0">
                    <a:effectLst/>
                    <a:latin typeface="Times New Roman" panose="02020603050405020304" pitchFamily="18" charset="0"/>
                    <a:ea typeface="SimSun" panose="02010600030101010101" pitchFamily="2" charset="-122"/>
                  </a:rPr>
                  <a:t>：检测到可疑行为（时空违规、冲突消息）时，权重降低。</a:t>
                </a:r>
                <a:endParaRPr lang="en-US" sz="1400" kern="100" dirty="0">
                  <a:effectLst/>
                  <a:latin typeface="Times New Roman" panose="02020603050405020304" pitchFamily="18" charset="0"/>
                  <a:ea typeface="SimSun" panose="02010600030101010101" pitchFamily="2" charset="-122"/>
                </a:endParaRPr>
              </a:p>
              <a:p>
                <a:pPr marL="0" marR="0" indent="304800" algn="just">
                  <a:buNone/>
                </a:pPr>
                <a14:m>
                  <m:oMathPara xmlns:m="http://schemas.openxmlformats.org/officeDocument/2006/math">
                    <m:oMathParaPr>
                      <m:jc m:val="centerGroup"/>
                    </m:oMathParaPr>
                    <m:oMath xmlns:m="http://schemas.openxmlformats.org/officeDocument/2006/math">
                      <m:sSubSup>
                        <m:sSubSupPr>
                          <m:ctrlPr>
                            <a:rPr lang="en-US" sz="1400" i="1" kern="100">
                              <a:effectLst/>
                              <a:latin typeface="Cambria Math" panose="02040503050406030204" pitchFamily="18" charset="0"/>
                              <a:ea typeface="SimSun" panose="02010600030101010101" pitchFamily="2" charset="-122"/>
                            </a:rPr>
                          </m:ctrlPr>
                        </m:sSubSup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up>
                          <m:d>
                            <m:dPr>
                              <m:sepChr m:val="+"/>
                              <m:ctrlPr>
                                <a:rPr lang="en-US" sz="1400" i="1" kern="100">
                                  <a:effectLst/>
                                  <a:latin typeface="Cambria Math" panose="02040503050406030204" pitchFamily="18" charset="0"/>
                                  <a:ea typeface="SimSun" panose="02010600030101010101" pitchFamily="2" charset="-122"/>
                                </a:rPr>
                              </m:ctrlPr>
                            </m:dPr>
                            <m:e>
                              <m:r>
                                <a:rPr lang="en-US" sz="1400" i="1" kern="100">
                                  <a:effectLst/>
                                  <a:latin typeface="Cambria Math" panose="02040503050406030204" pitchFamily="18" charset="0"/>
                                  <a:ea typeface="SimSun" panose="02010600030101010101" pitchFamily="2" charset="-122"/>
                                </a:rPr>
                                <m:t>𝑡</m:t>
                              </m:r>
                            </m:e>
                            <m:e>
                              <m:r>
                                <a:rPr lang="en-US" sz="1400" i="1" kern="100">
                                  <a:effectLst/>
                                  <a:latin typeface="Cambria Math" panose="02040503050406030204" pitchFamily="18" charset="0"/>
                                  <a:ea typeface="SimSun" panose="02010600030101010101" pitchFamily="2" charset="-122"/>
                                </a:rPr>
                                <m:t>1</m:t>
                              </m:r>
                            </m:e>
                          </m:d>
                        </m:sup>
                      </m:sSubSup>
                      <m:r>
                        <a:rPr lang="en-US" sz="1400" i="1" kern="100">
                          <a:effectLst/>
                          <a:latin typeface="Cambria Math" panose="02040503050406030204" pitchFamily="18" charset="0"/>
                          <a:ea typeface="SimSun" panose="02010600030101010101" pitchFamily="2" charset="-122"/>
                        </a:rPr>
                        <m:t>=</m:t>
                      </m:r>
                      <m:r>
                        <m:rPr>
                          <m:sty m:val="p"/>
                        </m:rPr>
                        <a:rPr lang="en-US" sz="1400" kern="100">
                          <a:effectLst/>
                          <a:latin typeface="Cambria Math" panose="02040503050406030204" pitchFamily="18" charset="0"/>
                          <a:ea typeface="SimSun" panose="02010600030101010101" pitchFamily="2" charset="-122"/>
                        </a:rPr>
                        <m:t>max</m:t>
                      </m:r>
                      <m:r>
                        <a:rPr lang="en-US" sz="1400" i="1" kern="100">
                          <a:effectLst/>
                          <a:latin typeface="Cambria Math" panose="02040503050406030204" pitchFamily="18" charset="0"/>
                          <a:ea typeface="SimSun" panose="02010600030101010101" pitchFamily="2" charset="-122"/>
                        </a:rPr>
                        <m:t>⁡(</m:t>
                      </m:r>
                      <m:sSub>
                        <m:sSubPr>
                          <m:ctrlPr>
                            <a:rPr lang="en-US" sz="1400" i="1" kern="100">
                              <a:effectLst/>
                              <a:latin typeface="Cambria Math" panose="02040503050406030204" pitchFamily="18" charset="0"/>
                              <a:ea typeface="SimSun" panose="02010600030101010101" pitchFamily="2" charset="-122"/>
                            </a:rPr>
                          </m:ctrlPr>
                        </m:sSubPr>
                        <m:e>
                          <m:r>
                            <a:rPr lang="en-US" sz="1400" i="1" kern="100">
                              <a:effectLst/>
                              <a:latin typeface="Cambria Math" panose="02040503050406030204" pitchFamily="18" charset="0"/>
                              <a:ea typeface="SimSun" panose="02010600030101010101" pitchFamily="2" charset="-122"/>
                            </a:rPr>
                            <m:t>𝑤</m:t>
                          </m:r>
                        </m:e>
                        <m:sub>
                          <m:r>
                            <m:rPr>
                              <m:sty m:val="p"/>
                            </m:rPr>
                            <a:rPr lang="en-US" sz="1400" kern="100">
                              <a:effectLst/>
                              <a:latin typeface="Cambria Math" panose="02040503050406030204" pitchFamily="18" charset="0"/>
                              <a:ea typeface="SimSun" panose="02010600030101010101" pitchFamily="2" charset="-122"/>
                            </a:rPr>
                            <m:t>min</m:t>
                          </m:r>
                          <m:r>
                            <a:rPr lang="en-US" sz="1400" i="1" kern="100">
                              <a:effectLst/>
                              <a:latin typeface="Cambria Math" panose="02040503050406030204" pitchFamily="18" charset="0"/>
                              <a:ea typeface="SimSun" panose="02010600030101010101" pitchFamily="2" charset="-122"/>
                            </a:rPr>
                            <m:t>⁡</m:t>
                          </m:r>
                        </m:sub>
                      </m:sSub>
                      <m:r>
                        <a:rPr lang="en-US" sz="1400" i="1" kern="100">
                          <a:effectLst/>
                          <a:latin typeface="Cambria Math" panose="02040503050406030204" pitchFamily="18" charset="0"/>
                          <a:ea typeface="SimSun" panose="02010600030101010101" pitchFamily="2" charset="-122"/>
                        </a:rPr>
                        <m:t>,</m:t>
                      </m:r>
                      <m:sSubSup>
                        <m:sSubSupPr>
                          <m:ctrlPr>
                            <a:rPr lang="en-US" sz="1400" i="1" kern="100">
                              <a:effectLst/>
                              <a:latin typeface="Cambria Math" panose="02040503050406030204" pitchFamily="18" charset="0"/>
                              <a:ea typeface="SimSun" panose="02010600030101010101" pitchFamily="2" charset="-122"/>
                            </a:rPr>
                          </m:ctrlPr>
                        </m:sSubSup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up>
                          <m:d>
                            <m:dPr>
                              <m:ctrlPr>
                                <a:rPr lang="en-US" sz="1400" i="1" kern="100">
                                  <a:effectLst/>
                                  <a:latin typeface="Cambria Math" panose="02040503050406030204" pitchFamily="18" charset="0"/>
                                  <a:ea typeface="SimSun" panose="02010600030101010101" pitchFamily="2" charset="-122"/>
                                </a:rPr>
                              </m:ctrlPr>
                            </m:dPr>
                            <m:e>
                              <m:r>
                                <a:rPr lang="en-US" sz="1400" i="1" kern="100">
                                  <a:effectLst/>
                                  <a:latin typeface="Cambria Math" panose="02040503050406030204" pitchFamily="18" charset="0"/>
                                  <a:ea typeface="SimSun" panose="02010600030101010101" pitchFamily="2" charset="-122"/>
                                </a:rPr>
                                <m:t>𝑡</m:t>
                              </m:r>
                            </m:e>
                          </m:d>
                        </m:sup>
                      </m:sSubSup>
                      <m:r>
                        <a:rPr lang="en-US" sz="1400" i="1" kern="100">
                          <a:effectLst/>
                          <a:latin typeface="Cambria Math" panose="02040503050406030204" pitchFamily="18" charset="0"/>
                          <a:ea typeface="SimSun" panose="02010600030101010101" pitchFamily="2" charset="-122"/>
                        </a:rPr>
                        <m:t>−</m:t>
                      </m:r>
                      <m:r>
                        <m:rPr>
                          <m:sty m:val="p"/>
                        </m:rPr>
                        <a:rPr lang="en-US" sz="1400" kern="100">
                          <a:effectLst/>
                          <a:latin typeface="Cambria Math" panose="02040503050406030204" pitchFamily="18" charset="0"/>
                          <a:ea typeface="SimSun" panose="02010600030101010101" pitchFamily="2" charset="-122"/>
                        </a:rPr>
                        <m:t>Δ</m:t>
                      </m:r>
                      <m:r>
                        <a:rPr lang="en-US" sz="1400" i="1" kern="100">
                          <a:effectLst/>
                          <a:latin typeface="Cambria Math" panose="02040503050406030204" pitchFamily="18" charset="0"/>
                          <a:ea typeface="SimSun" panose="02010600030101010101" pitchFamily="2" charset="-122"/>
                        </a:rPr>
                        <m:t>𝑤</m:t>
                      </m:r>
                      <m:r>
                        <a:rPr lang="en-US" sz="1400" i="1" kern="100">
                          <a:effectLst/>
                          <a:latin typeface="Cambria Math" panose="02040503050406030204" pitchFamily="18" charset="0"/>
                          <a:ea typeface="SimSun" panose="02010600030101010101" pitchFamily="2" charset="-122"/>
                        </a:rPr>
                        <m:t>)</m:t>
                      </m:r>
                    </m:oMath>
                  </m:oMathPara>
                </a14:m>
                <a:endParaRPr lang="en-US" sz="1400" kern="100" dirty="0">
                  <a:effectLst/>
                  <a:latin typeface="Times New Roman" panose="02020603050405020304" pitchFamily="18" charset="0"/>
                  <a:ea typeface="SimSun" panose="02010600030101010101" pitchFamily="2" charset="-122"/>
                </a:endParaRPr>
              </a:p>
              <a:p>
                <a:pPr marL="342900" marR="0" lvl="0" indent="-342900" algn="l">
                  <a:buSzPts val="1000"/>
                  <a:buFont typeface="Symbol" panose="05050102010706020507" pitchFamily="18" charset="2"/>
                  <a:buChar char=""/>
                  <a:tabLst>
                    <a:tab pos="457200" algn="l"/>
                  </a:tabLst>
                </a:pPr>
                <a14:m>
                  <m:oMath xmlns:m="http://schemas.openxmlformats.org/officeDocument/2006/math">
                    <m:r>
                      <m:rPr>
                        <m:sty m:val="p"/>
                      </m:rPr>
                      <a:rPr lang="en-US" sz="1400" kern="100">
                        <a:effectLst/>
                        <a:latin typeface="Cambria Math" panose="02040503050406030204" pitchFamily="18" charset="0"/>
                        <a:ea typeface="SimSun" panose="02010600030101010101" pitchFamily="2" charset="-122"/>
                      </a:rPr>
                      <m:t>Δ</m:t>
                    </m:r>
                    <m:r>
                      <a:rPr lang="en-US" sz="1400" i="1" kern="100">
                        <a:effectLst/>
                        <a:latin typeface="Cambria Math" panose="02040503050406030204" pitchFamily="18" charset="0"/>
                        <a:ea typeface="SimSun" panose="02010600030101010101" pitchFamily="2" charset="-122"/>
                      </a:rPr>
                      <m:t>𝑤</m:t>
                    </m:r>
                    <m:r>
                      <a:rPr lang="en-US" sz="1400" kern="100">
                        <a:effectLst/>
                        <a:latin typeface="Cambria Math" panose="02040503050406030204" pitchFamily="18" charset="0"/>
                        <a:ea typeface="SimSun" panose="02010600030101010101" pitchFamily="2" charset="-122"/>
                      </a:rPr>
                      <m:t>=0.1</m:t>
                    </m:r>
                  </m:oMath>
                </a14:m>
                <a:r>
                  <a:rPr lang="en-US" sz="1400" kern="100" dirty="0">
                    <a:effectLst/>
                    <a:latin typeface="Cambria Math" panose="02040503050406030204" pitchFamily="18" charset="0"/>
                    <a:ea typeface="SimSun" panose="02010600030101010101" pitchFamily="2" charset="-122"/>
                  </a:rPr>
                  <a:t> </a:t>
                </a:r>
                <a:r>
                  <a:rPr lang="zh-CN" sz="1400" kern="100" dirty="0">
                    <a:effectLst/>
                    <a:latin typeface="Cambria Math" panose="02040503050406030204" pitchFamily="18" charset="0"/>
                    <a:ea typeface="SimSun" panose="02010600030101010101" pitchFamily="2" charset="-122"/>
                  </a:rPr>
                  <a:t>每次违规的惩罚</a:t>
                </a:r>
                <a:endParaRPr lang="en-US" sz="1400" kern="100" dirty="0">
                  <a:effectLst/>
                  <a:latin typeface="Times New Roman" panose="02020603050405020304" pitchFamily="18" charset="0"/>
                  <a:ea typeface="SimSun" panose="02010600030101010101" pitchFamily="2" charset="-122"/>
                </a:endParaRPr>
              </a:p>
              <a:p>
                <a:pPr marL="342900" marR="0" lvl="0" indent="-342900" algn="l">
                  <a:buSzPts val="1000"/>
                  <a:buFont typeface="Symbol" panose="05050102010706020507" pitchFamily="18" charset="2"/>
                  <a:buChar char=""/>
                  <a:tabLst>
                    <a:tab pos="457200" algn="l"/>
                  </a:tabLst>
                </a:pPr>
                <a14:m>
                  <m:oMath xmlns:m="http://schemas.openxmlformats.org/officeDocument/2006/math">
                    <m:sSub>
                      <m:sSubPr>
                        <m:ctrlPr>
                          <a:rPr lang="en-US" sz="1400" i="1" kern="100">
                            <a:effectLst/>
                            <a:latin typeface="Cambria Math" panose="02040503050406030204" pitchFamily="18" charset="0"/>
                            <a:ea typeface="SimSun" panose="02010600030101010101" pitchFamily="2" charset="-122"/>
                          </a:rPr>
                        </m:ctrlPr>
                      </m:sSubPr>
                      <m:e>
                        <m:r>
                          <a:rPr lang="en-US" sz="1400" i="1" kern="100">
                            <a:effectLst/>
                            <a:latin typeface="Cambria Math" panose="02040503050406030204" pitchFamily="18" charset="0"/>
                            <a:ea typeface="SimSun" panose="02010600030101010101" pitchFamily="2" charset="-122"/>
                          </a:rPr>
                          <m:t>𝑤</m:t>
                        </m:r>
                      </m:e>
                      <m:sub>
                        <m:r>
                          <m:rPr>
                            <m:sty m:val="p"/>
                          </m:rPr>
                          <a:rPr lang="en-US" sz="1400" kern="100">
                            <a:effectLst/>
                            <a:latin typeface="Cambria Math" panose="02040503050406030204" pitchFamily="18" charset="0"/>
                            <a:ea typeface="SimSun" panose="02010600030101010101" pitchFamily="2" charset="-122"/>
                          </a:rPr>
                          <m:t>min</m:t>
                        </m:r>
                        <m:r>
                          <a:rPr lang="en-US" sz="1400" kern="100">
                            <a:effectLst/>
                            <a:latin typeface="Cambria Math" panose="02040503050406030204" pitchFamily="18" charset="0"/>
                            <a:ea typeface="SimSun" panose="02010600030101010101" pitchFamily="2" charset="-122"/>
                          </a:rPr>
                          <m:t>⁡</m:t>
                        </m:r>
                      </m:sub>
                    </m:sSub>
                    <m:r>
                      <a:rPr lang="en-US" sz="1400" kern="100">
                        <a:effectLst/>
                        <a:latin typeface="Cambria Math" panose="02040503050406030204" pitchFamily="18" charset="0"/>
                        <a:ea typeface="SimSun" panose="02010600030101010101" pitchFamily="2" charset="-122"/>
                      </a:rPr>
                      <m:t>=0.1</m:t>
                    </m:r>
                  </m:oMath>
                </a14:m>
                <a:r>
                  <a:rPr lang="en-US" sz="1400" kern="100" dirty="0">
                    <a:effectLst/>
                    <a:latin typeface="Cambria Math" panose="02040503050406030204" pitchFamily="18" charset="0"/>
                    <a:ea typeface="SimSun" panose="02010600030101010101" pitchFamily="2" charset="-122"/>
                  </a:rPr>
                  <a:t> </a:t>
                </a:r>
                <a:r>
                  <a:rPr lang="zh-CN" sz="1400" kern="100" dirty="0">
                    <a:effectLst/>
                    <a:latin typeface="Cambria Math" panose="02040503050406030204" pitchFamily="18" charset="0"/>
                    <a:ea typeface="SimSun" panose="02010600030101010101" pitchFamily="2" charset="-122"/>
                  </a:rPr>
                  <a:t>最小权重（初始信任的</a:t>
                </a:r>
                <a:r>
                  <a:rPr lang="en-US" sz="1400" kern="100" dirty="0">
                    <a:effectLst/>
                    <a:latin typeface="Cambria Math" panose="02040503050406030204" pitchFamily="18" charset="0"/>
                    <a:ea typeface="SimSun" panose="02010600030101010101" pitchFamily="2" charset="-122"/>
                  </a:rPr>
                  <a:t>10%</a:t>
                </a:r>
                <a:r>
                  <a:rPr lang="zh-CN" sz="1400" kern="100" dirty="0">
                    <a:effectLst/>
                    <a:latin typeface="Cambria Math" panose="02040503050406030204" pitchFamily="18" charset="0"/>
                    <a:ea typeface="SimSun" panose="02010600030101010101" pitchFamily="2" charset="-122"/>
                  </a:rPr>
                  <a:t>）</a:t>
                </a:r>
                <a:endParaRPr lang="en-US" sz="1400" kern="100" dirty="0">
                  <a:effectLst/>
                  <a:latin typeface="Times New Roman" panose="02020603050405020304" pitchFamily="18" charset="0"/>
                  <a:ea typeface="SimSun" panose="02010600030101010101" pitchFamily="2" charset="-122"/>
                </a:endParaRPr>
              </a:p>
              <a:p>
                <a:pPr marL="0" marR="0" indent="304800" algn="just">
                  <a:buNone/>
                </a:pPr>
                <a:r>
                  <a:rPr lang="zh-CN" sz="1400" kern="100" dirty="0">
                    <a:effectLst/>
                    <a:latin typeface="Times New Roman" panose="02020603050405020304" pitchFamily="18" charset="0"/>
                    <a:ea typeface="SimSun" panose="02010600030101010101" pitchFamily="2" charset="-122"/>
                  </a:rPr>
                  <a:t>恢复机制</a:t>
                </a:r>
                <a:r>
                  <a:rPr lang="en-US" sz="1400" kern="100" dirty="0">
                    <a:effectLst/>
                    <a:latin typeface="Times New Roman" panose="02020603050405020304" pitchFamily="18" charset="0"/>
                    <a:ea typeface="SimSun" panose="02010600030101010101" pitchFamily="2" charset="-122"/>
                  </a:rPr>
                  <a:t> (Recovery)</a:t>
                </a:r>
                <a:r>
                  <a:rPr lang="zh-CN" sz="1400" kern="100" dirty="0">
                    <a:effectLst/>
                    <a:latin typeface="Times New Roman" panose="02020603050405020304" pitchFamily="18" charset="0"/>
                    <a:ea typeface="SimSun" panose="02010600030101010101" pitchFamily="2" charset="-122"/>
                  </a:rPr>
                  <a:t>：连续诚实轮次后，节点恢复权重。</a:t>
                </a:r>
                <a:endParaRPr lang="en-US" sz="1400" kern="100" dirty="0">
                  <a:effectLst/>
                  <a:latin typeface="Times New Roman" panose="02020603050405020304" pitchFamily="18" charset="0"/>
                  <a:ea typeface="SimSun" panose="02010600030101010101" pitchFamily="2" charset="-122"/>
                </a:endParaRPr>
              </a:p>
              <a:p>
                <a:pPr marL="0" marR="0" indent="304800" algn="just">
                  <a:buNone/>
                </a:pPr>
                <a14:m>
                  <m:oMathPara xmlns:m="http://schemas.openxmlformats.org/officeDocument/2006/math">
                    <m:oMathParaPr>
                      <m:jc m:val="centerGroup"/>
                    </m:oMathParaPr>
                    <m:oMath xmlns:m="http://schemas.openxmlformats.org/officeDocument/2006/math">
                      <m:sSubSup>
                        <m:sSubSupPr>
                          <m:ctrlPr>
                            <a:rPr lang="en-US" sz="1400" i="1" kern="100">
                              <a:effectLst/>
                              <a:latin typeface="Cambria Math" panose="02040503050406030204" pitchFamily="18" charset="0"/>
                              <a:ea typeface="SimSun" panose="02010600030101010101" pitchFamily="2" charset="-122"/>
                            </a:rPr>
                          </m:ctrlPr>
                        </m:sSubSup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up>
                          <m:d>
                            <m:dPr>
                              <m:sepChr m:val="+"/>
                              <m:ctrlPr>
                                <a:rPr lang="en-US" sz="1400" i="1" kern="100">
                                  <a:effectLst/>
                                  <a:latin typeface="Cambria Math" panose="02040503050406030204" pitchFamily="18" charset="0"/>
                                  <a:ea typeface="SimSun" panose="02010600030101010101" pitchFamily="2" charset="-122"/>
                                </a:rPr>
                              </m:ctrlPr>
                            </m:dPr>
                            <m:e>
                              <m:r>
                                <a:rPr lang="en-US" sz="1400" i="1" kern="100">
                                  <a:effectLst/>
                                  <a:latin typeface="Cambria Math" panose="02040503050406030204" pitchFamily="18" charset="0"/>
                                  <a:ea typeface="SimSun" panose="02010600030101010101" pitchFamily="2" charset="-122"/>
                                </a:rPr>
                                <m:t>𝑡</m:t>
                              </m:r>
                            </m:e>
                            <m:e>
                              <m:r>
                                <a:rPr lang="en-US" sz="1400" i="1" kern="100">
                                  <a:effectLst/>
                                  <a:latin typeface="Cambria Math" panose="02040503050406030204" pitchFamily="18" charset="0"/>
                                  <a:ea typeface="SimSun" panose="02010600030101010101" pitchFamily="2" charset="-122"/>
                                </a:rPr>
                                <m:t>1</m:t>
                              </m:r>
                            </m:e>
                          </m:d>
                        </m:sup>
                      </m:sSubSup>
                      <m:r>
                        <a:rPr lang="en-US" sz="1400" i="1" kern="100">
                          <a:effectLst/>
                          <a:latin typeface="Cambria Math" panose="02040503050406030204" pitchFamily="18" charset="0"/>
                          <a:ea typeface="SimSun" panose="02010600030101010101" pitchFamily="2" charset="-122"/>
                        </a:rPr>
                        <m:t>=</m:t>
                      </m:r>
                      <m:r>
                        <m:rPr>
                          <m:sty m:val="p"/>
                        </m:rPr>
                        <a:rPr lang="en-US" sz="1400" kern="100">
                          <a:effectLst/>
                          <a:latin typeface="Cambria Math" panose="02040503050406030204" pitchFamily="18" charset="0"/>
                          <a:ea typeface="SimSun" panose="02010600030101010101" pitchFamily="2" charset="-122"/>
                        </a:rPr>
                        <m:t>min</m:t>
                      </m:r>
                      <m:r>
                        <a:rPr lang="en-US" sz="1400" i="1" kern="100">
                          <a:effectLst/>
                          <a:latin typeface="Cambria Math" panose="02040503050406030204" pitchFamily="18" charset="0"/>
                          <a:ea typeface="SimSun" panose="02010600030101010101" pitchFamily="2" charset="-122"/>
                        </a:rPr>
                        <m:t>⁡(</m:t>
                      </m:r>
                      <m:sSubSup>
                        <m:sSubSupPr>
                          <m:ctrlPr>
                            <a:rPr lang="en-US" sz="1400" i="1" kern="100">
                              <a:effectLst/>
                              <a:latin typeface="Cambria Math" panose="02040503050406030204" pitchFamily="18" charset="0"/>
                              <a:ea typeface="SimSun" panose="02010600030101010101" pitchFamily="2" charset="-122"/>
                            </a:rPr>
                          </m:ctrlPr>
                        </m:sSubSup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up>
                          <m:d>
                            <m:dPr>
                              <m:ctrlPr>
                                <a:rPr lang="en-US" sz="1400" i="1" kern="100">
                                  <a:effectLst/>
                                  <a:latin typeface="Cambria Math" panose="02040503050406030204" pitchFamily="18" charset="0"/>
                                  <a:ea typeface="SimSun" panose="02010600030101010101" pitchFamily="2" charset="-122"/>
                                </a:rPr>
                              </m:ctrlPr>
                            </m:dPr>
                            <m:e>
                              <m:r>
                                <a:rPr lang="en-US" sz="1400" i="1" kern="100">
                                  <a:effectLst/>
                                  <a:latin typeface="Cambria Math" panose="02040503050406030204" pitchFamily="18" charset="0"/>
                                  <a:ea typeface="SimSun" panose="02010600030101010101" pitchFamily="2" charset="-122"/>
                                </a:rPr>
                                <m:t>𝑡</m:t>
                              </m:r>
                            </m:e>
                          </m:d>
                        </m:sup>
                      </m:sSubSup>
                      <m:r>
                        <a:rPr lang="en-US" sz="1400" i="1" kern="100">
                          <a:effectLst/>
                          <a:latin typeface="Cambria Math" panose="02040503050406030204" pitchFamily="18" charset="0"/>
                          <a:ea typeface="SimSun" panose="02010600030101010101" pitchFamily="2" charset="-122"/>
                        </a:rPr>
                        <m:t>+</m:t>
                      </m:r>
                      <m:r>
                        <a:rPr lang="en-US" sz="1400" i="1" kern="100">
                          <a:effectLst/>
                          <a:latin typeface="Cambria Math" panose="02040503050406030204" pitchFamily="18" charset="0"/>
                          <a:ea typeface="SimSun" panose="02010600030101010101" pitchFamily="2" charset="-122"/>
                        </a:rPr>
                        <m:t>𝛾</m:t>
                      </m:r>
                      <m:r>
                        <a:rPr lang="en-US" sz="1400" i="1" kern="100">
                          <a:effectLst/>
                          <a:latin typeface="Cambria Math" panose="02040503050406030204" pitchFamily="18" charset="0"/>
                          <a:ea typeface="SimSun" panose="02010600030101010101" pitchFamily="2" charset="-122"/>
                        </a:rPr>
                        <m:t>,1)</m:t>
                      </m:r>
                    </m:oMath>
                  </m:oMathPara>
                </a14:m>
                <a:endParaRPr lang="en-US" sz="1400" kern="100" dirty="0">
                  <a:effectLst/>
                  <a:latin typeface="Times New Roman" panose="02020603050405020304" pitchFamily="18" charset="0"/>
                  <a:ea typeface="SimSun" panose="02010600030101010101" pitchFamily="2" charset="-122"/>
                </a:endParaRPr>
              </a:p>
              <a:p>
                <a:pPr marL="342900" marR="0" lvl="0" indent="-342900" algn="l">
                  <a:buSzPts val="1000"/>
                  <a:buFont typeface="Symbol" panose="05050102010706020507" pitchFamily="18" charset="2"/>
                  <a:buChar char=""/>
                  <a:tabLst>
                    <a:tab pos="457200" algn="l"/>
                  </a:tabLst>
                </a:pPr>
                <a14:m>
                  <m:oMath xmlns:m="http://schemas.openxmlformats.org/officeDocument/2006/math">
                    <m:r>
                      <a:rPr lang="en-US" sz="1400" i="1" kern="100">
                        <a:effectLst/>
                        <a:latin typeface="Cambria Math" panose="02040503050406030204" pitchFamily="18" charset="0"/>
                        <a:ea typeface="SimSun" panose="02010600030101010101" pitchFamily="2" charset="-122"/>
                      </a:rPr>
                      <m:t>𝛾</m:t>
                    </m:r>
                    <m:r>
                      <a:rPr lang="en-US" sz="1400" kern="100">
                        <a:effectLst/>
                        <a:latin typeface="Cambria Math" panose="02040503050406030204" pitchFamily="18" charset="0"/>
                        <a:ea typeface="SimSun" panose="02010600030101010101" pitchFamily="2" charset="-122"/>
                      </a:rPr>
                      <m:t>=0.01</m:t>
                    </m:r>
                  </m:oMath>
                </a14:m>
                <a:r>
                  <a:rPr lang="en-US" sz="1400" kern="100" dirty="0">
                    <a:effectLst/>
                    <a:latin typeface="Cambria Math" panose="02040503050406030204" pitchFamily="18" charset="0"/>
                    <a:ea typeface="SimSun" panose="02010600030101010101" pitchFamily="2" charset="-122"/>
                  </a:rPr>
                  <a:t> </a:t>
                </a:r>
                <a:r>
                  <a:rPr lang="zh-CN" sz="1400" kern="100" dirty="0">
                    <a:effectLst/>
                    <a:latin typeface="Cambria Math" panose="02040503050406030204" pitchFamily="18" charset="0"/>
                    <a:ea typeface="SimSun" panose="02010600030101010101" pitchFamily="2" charset="-122"/>
                  </a:rPr>
                  <a:t>恢复率</a:t>
                </a:r>
                <a:endParaRPr lang="en-US" sz="1400" kern="100" dirty="0">
                  <a:effectLst/>
                  <a:latin typeface="Times New Roman" panose="02020603050405020304" pitchFamily="18" charset="0"/>
                  <a:ea typeface="SimSun" panose="02010600030101010101" pitchFamily="2" charset="-122"/>
                </a:endParaRPr>
              </a:p>
            </p:txBody>
          </p:sp>
        </mc:Choice>
        <mc:Fallback xmlns="">
          <p:sp>
            <p:nvSpPr>
              <p:cNvPr id="33" name="TextBox 32">
                <a:extLst>
                  <a:ext uri="{FF2B5EF4-FFF2-40B4-BE49-F238E27FC236}">
                    <a16:creationId xmlns:a16="http://schemas.microsoft.com/office/drawing/2014/main" id="{7EB60099-FCAC-7F1C-AF33-ED9E7E9227B6}"/>
                  </a:ext>
                </a:extLst>
              </p:cNvPr>
              <p:cNvSpPr txBox="1">
                <a:spLocks noRot="1" noChangeAspect="1" noMove="1" noResize="1" noEditPoints="1" noAdjustHandles="1" noChangeArrowheads="1" noChangeShapeType="1" noTextEdit="1"/>
              </p:cNvSpPr>
              <p:nvPr/>
            </p:nvSpPr>
            <p:spPr>
              <a:xfrm>
                <a:off x="173650" y="2589428"/>
                <a:ext cx="5118430" cy="2460161"/>
              </a:xfrm>
              <a:prstGeom prst="rect">
                <a:avLst/>
              </a:prstGeom>
              <a:blipFill>
                <a:blip r:embed="rId3"/>
                <a:stretch>
                  <a:fillRect l="-357" t="-744" r="-3929" b="-1241"/>
                </a:stretch>
              </a:blipFill>
            </p:spPr>
            <p:txBody>
              <a:bodyPr/>
              <a:lstStyle/>
              <a:p>
                <a:r>
                  <a:rPr lang="en-US">
                    <a:noFill/>
                  </a:rPr>
                  <a:t> </a:t>
                </a:r>
              </a:p>
            </p:txBody>
          </p:sp>
        </mc:Fallback>
      </mc:AlternateContent>
      <p:pic>
        <p:nvPicPr>
          <p:cNvPr id="34" name="Picture 33">
            <a:extLst>
              <a:ext uri="{FF2B5EF4-FFF2-40B4-BE49-F238E27FC236}">
                <a16:creationId xmlns="" xmlns:a16="http://schemas.microsoft.com/office/drawing/2014/main" id="{57FBAECA-D7C7-B471-2BCF-CE9B8F568F4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36259" y="500494"/>
            <a:ext cx="3807741" cy="3079368"/>
          </a:xfrm>
          <a:prstGeom prst="rect">
            <a:avLst/>
          </a:prstGeom>
        </p:spPr>
      </p:pic>
    </p:spTree>
    <p:extLst>
      <p:ext uri="{BB962C8B-B14F-4D97-AF65-F5344CB8AC3E}">
        <p14:creationId xmlns:p14="http://schemas.microsoft.com/office/powerpoint/2010/main" val="3417047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A753A03-5B61-DD0C-F6BB-35DFE26F8595}"/>
            </a:ext>
          </a:extLst>
        </p:cNvPr>
        <p:cNvGrpSpPr/>
        <p:nvPr/>
      </p:nvGrpSpPr>
      <p:grpSpPr>
        <a:xfrm>
          <a:off x="0" y="0"/>
          <a:ext cx="0" cy="0"/>
          <a:chOff x="0" y="0"/>
          <a:chExt cx="0" cy="0"/>
        </a:xfrm>
      </p:grpSpPr>
      <p:sp>
        <p:nvSpPr>
          <p:cNvPr id="2" name="矩形 1">
            <a:extLst>
              <a:ext uri="{FF2B5EF4-FFF2-40B4-BE49-F238E27FC236}">
                <a16:creationId xmlns="" xmlns:a16="http://schemas.microsoft.com/office/drawing/2014/main" id="{3D1A601A-D164-A050-065B-886F974B28FA}"/>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 xmlns:a16="http://schemas.microsoft.com/office/drawing/2014/main" id="{3DE846CB-C1C8-5771-C09E-1254FE92D85C}"/>
              </a:ext>
            </a:extLst>
          </p:cNvPr>
          <p:cNvSpPr/>
          <p:nvPr/>
        </p:nvSpPr>
        <p:spPr>
          <a:xfrm>
            <a:off x="3794760" y="196215"/>
            <a:ext cx="5349875" cy="14668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5" name="文本框 4">
            <a:extLst>
              <a:ext uri="{FF2B5EF4-FFF2-40B4-BE49-F238E27FC236}">
                <a16:creationId xmlns="" xmlns:a16="http://schemas.microsoft.com/office/drawing/2014/main" id="{6989706C-F9FD-AD70-BE99-324CB36B0F20}"/>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矩形 5">
            <a:extLst>
              <a:ext uri="{FF2B5EF4-FFF2-40B4-BE49-F238E27FC236}">
                <a16:creationId xmlns="" xmlns:a16="http://schemas.microsoft.com/office/drawing/2014/main" id="{8495ACAA-E9B4-039B-F795-DC2AF795D36D}"/>
              </a:ext>
            </a:extLst>
          </p:cNvPr>
          <p:cNvSpPr/>
          <p:nvPr/>
        </p:nvSpPr>
        <p:spPr>
          <a:xfrm>
            <a:off x="-1" y="636030"/>
            <a:ext cx="7773417"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研究内容四：基于状态感知分解的近优重调度算法</a:t>
            </a:r>
          </a:p>
        </p:txBody>
      </p:sp>
      <p:sp>
        <p:nvSpPr>
          <p:cNvPr id="17" name="文本框 20">
            <a:extLst>
              <a:ext uri="{FF2B5EF4-FFF2-40B4-BE49-F238E27FC236}">
                <a16:creationId xmlns="" xmlns:a16="http://schemas.microsoft.com/office/drawing/2014/main" id="{8EAE8765-5746-F981-AA4E-2B53CC35BF8F}"/>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7" name="灯片编号占位符 6">
            <a:extLst>
              <a:ext uri="{FF2B5EF4-FFF2-40B4-BE49-F238E27FC236}">
                <a16:creationId xmlns="" xmlns:a16="http://schemas.microsoft.com/office/drawing/2014/main" id="{56438B9E-84E6-19B9-4B46-C12A7B007968}"/>
              </a:ext>
            </a:extLst>
          </p:cNvPr>
          <p:cNvSpPr>
            <a:spLocks noGrp="1"/>
          </p:cNvSpPr>
          <p:nvPr>
            <p:ph type="sldNum" sz="quarter" idx="12"/>
            <p:custDataLst>
              <p:tags r:id="rId1"/>
            </p:custDataLst>
          </p:nvPr>
        </p:nvSpPr>
        <p:spPr/>
        <p:txBody>
          <a:bodyPr/>
          <a:lstStyle/>
          <a:p>
            <a:fld id="{0C913308-F349-4B6D-A68A-DD1791B4A57B}" type="slidenum">
              <a:rPr lang="zh-CN" altLang="en-US" smtClean="0"/>
              <a:t>19</a:t>
            </a:fld>
            <a:endParaRPr lang="zh-CN" altLang="en-US"/>
          </a:p>
        </p:txBody>
      </p:sp>
      <p:sp>
        <p:nvSpPr>
          <p:cNvPr id="8" name="矩形 10">
            <a:extLst>
              <a:ext uri="{FF2B5EF4-FFF2-40B4-BE49-F238E27FC236}">
                <a16:creationId xmlns="" xmlns:a16="http://schemas.microsoft.com/office/drawing/2014/main" id="{010E3DD2-4A6C-8AC4-6BFE-D024434A65C7}"/>
              </a:ext>
            </a:extLst>
          </p:cNvPr>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9" name="矩形 11">
            <a:extLst>
              <a:ext uri="{FF2B5EF4-FFF2-40B4-BE49-F238E27FC236}">
                <a16:creationId xmlns="" xmlns:a16="http://schemas.microsoft.com/office/drawing/2014/main" id="{4843DD3A-AF5F-D92C-E6C6-B88EED513AD0}"/>
              </a:ext>
            </a:extLst>
          </p:cNvPr>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10" name="TextBox 7">
            <a:extLst>
              <a:ext uri="{FF2B5EF4-FFF2-40B4-BE49-F238E27FC236}">
                <a16:creationId xmlns="" xmlns:a16="http://schemas.microsoft.com/office/drawing/2014/main" id="{79ADF53A-5530-F0C8-9A9A-B4F532F0B3CF}"/>
              </a:ext>
            </a:extLst>
          </p:cNvPr>
          <p:cNvSpPr txBox="1"/>
          <p:nvPr/>
        </p:nvSpPr>
        <p:spPr>
          <a:xfrm>
            <a:off x="457200" y="1491630"/>
            <a:ext cx="7797165" cy="1013313"/>
          </a:xfrm>
          <a:prstGeom prst="rect">
            <a:avLst/>
          </a:prstGeom>
          <a:noFill/>
          <a:ln>
            <a:noFill/>
          </a:ln>
        </p:spPr>
        <p:txBody>
          <a:bodyPr wrap="square" rtlCol="0">
            <a:noAutofit/>
          </a:bodyPr>
          <a:lstStyle/>
          <a:p>
            <a:pPr indent="457200" fontAlgn="auto">
              <a:lnSpc>
                <a:spcPct val="125000"/>
              </a:lnSpc>
            </a:pPr>
            <a:r>
              <a:rPr lang="zh-CN" altLang="en-US" sz="1600" dirty="0">
                <a:latin typeface="微软雅黑" panose="020B0503020204020204" pitchFamily="34" charset="-122"/>
                <a:ea typeface="微软雅黑" panose="020B0503020204020204" pitchFamily="34" charset="-122"/>
              </a:rPr>
              <a:t>如何在移动</a:t>
            </a: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固定多智能体系统运行时扰动发生后，</a:t>
            </a:r>
            <a:r>
              <a:rPr lang="zh-CN" altLang="en-US" sz="1600" dirty="0">
                <a:solidFill>
                  <a:schemeClr val="accent1"/>
                </a:solidFill>
                <a:latin typeface="微软雅黑" panose="020B0503020204020204" pitchFamily="34" charset="-122"/>
                <a:ea typeface="微软雅黑" panose="020B0503020204020204" pitchFamily="34" charset="-122"/>
              </a:rPr>
              <a:t>精确界定影响范围</a:t>
            </a:r>
            <a:r>
              <a:rPr lang="zh-CN" altLang="en-US" sz="1600" dirty="0">
                <a:latin typeface="微软雅黑" panose="020B0503020204020204" pitchFamily="34" charset="-122"/>
                <a:ea typeface="微软雅黑" panose="020B0503020204020204" pitchFamily="34" charset="-122"/>
              </a:rPr>
              <a:t>，并将全局</a:t>
            </a:r>
            <a:r>
              <a:rPr lang="en-US" altLang="zh-CN" sz="1600" dirty="0">
                <a:latin typeface="微软雅黑" panose="020B0503020204020204" pitchFamily="34" charset="-122"/>
                <a:ea typeface="微软雅黑" panose="020B0503020204020204" pitchFamily="34" charset="-122"/>
              </a:rPr>
              <a:t>NP-hard</a:t>
            </a:r>
            <a:r>
              <a:rPr lang="zh-CN" altLang="en-US" sz="1600" dirty="0">
                <a:latin typeface="微软雅黑" panose="020B0503020204020204" pitchFamily="34" charset="-122"/>
                <a:ea typeface="微软雅黑" panose="020B0503020204020204" pitchFamily="34" charset="-122"/>
              </a:rPr>
              <a:t>重调度问题</a:t>
            </a:r>
            <a:r>
              <a:rPr lang="zh-CN" altLang="en-US" sz="1600" dirty="0">
                <a:solidFill>
                  <a:schemeClr val="accent1"/>
                </a:solidFill>
                <a:latin typeface="微软雅黑" panose="020B0503020204020204" pitchFamily="34" charset="-122"/>
                <a:ea typeface="微软雅黑" panose="020B0503020204020204" pitchFamily="34" charset="-122"/>
              </a:rPr>
              <a:t>转化为多个规模可控的局部子问题</a:t>
            </a:r>
            <a:r>
              <a:rPr lang="zh-CN" altLang="en-US" sz="1600" dirty="0">
                <a:latin typeface="微软雅黑" panose="020B0503020204020204" pitchFamily="34" charset="-122"/>
                <a:ea typeface="微软雅黑" panose="020B0503020204020204" pitchFamily="34" charset="-122"/>
              </a:rPr>
              <a:t>，在秒级时间内生成具有</a:t>
            </a:r>
            <a:r>
              <a:rPr lang="zh-CN" altLang="en-US" sz="1600" dirty="0">
                <a:solidFill>
                  <a:schemeClr val="accent1"/>
                </a:solidFill>
                <a:latin typeface="微软雅黑" panose="020B0503020204020204" pitchFamily="34" charset="-122"/>
                <a:ea typeface="微软雅黑" panose="020B0503020204020204" pitchFamily="34" charset="-122"/>
              </a:rPr>
              <a:t>有界次优性保证</a:t>
            </a:r>
            <a:r>
              <a:rPr lang="zh-CN" altLang="en-US" sz="1600" dirty="0">
                <a:latin typeface="微软雅黑" panose="020B0503020204020204" pitchFamily="34" charset="-122"/>
                <a:ea typeface="微软雅黑" panose="020B0503020204020204" pitchFamily="34" charset="-122"/>
              </a:rPr>
              <a:t>的近优重调度方案？</a:t>
            </a:r>
          </a:p>
        </p:txBody>
      </p:sp>
      <p:sp>
        <p:nvSpPr>
          <p:cNvPr id="11" name="矩形 15">
            <a:extLst>
              <a:ext uri="{FF2B5EF4-FFF2-40B4-BE49-F238E27FC236}">
                <a16:creationId xmlns="" xmlns:a16="http://schemas.microsoft.com/office/drawing/2014/main" id="{D1DA1CBD-3A3E-B1D2-2E8E-D2E778448E63}"/>
              </a:ext>
            </a:extLst>
          </p:cNvPr>
          <p:cNvSpPr/>
          <p:nvPr/>
        </p:nvSpPr>
        <p:spPr>
          <a:xfrm>
            <a:off x="1" y="3077629"/>
            <a:ext cx="3262202" cy="186829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1. </a:t>
            </a:r>
            <a:r>
              <a:rPr lang="zh-CN" altLang="en-US" sz="1600" b="1" dirty="0">
                <a:solidFill>
                  <a:schemeClr val="tx1"/>
                </a:solidFill>
                <a:latin typeface="华文楷体" panose="02010600040101010101" pitchFamily="2" charset="-122"/>
                <a:ea typeface="华文楷体" panose="02010600040101010101" pitchFamily="2" charset="-122"/>
              </a:rPr>
              <a:t>精确界定影响范围</a:t>
            </a:r>
            <a:r>
              <a:rPr lang="zh-CN" altLang="en-US" sz="1600" dirty="0">
                <a:solidFill>
                  <a:schemeClr val="tx1"/>
                </a:solidFill>
                <a:latin typeface="华文楷体" panose="02010600040101010101" pitchFamily="2" charset="-122"/>
                <a:ea typeface="华文楷体" panose="02010600040101010101" pitchFamily="2" charset="-122"/>
              </a:rPr>
              <a:t>，如何做？</a:t>
            </a:r>
            <a:endParaRPr lang="en-US" altLang="zh-CN" sz="1600" dirty="0">
              <a:solidFill>
                <a:schemeClr val="tx1"/>
              </a:solidFill>
              <a:latin typeface="华文楷体" panose="02010600040101010101" pitchFamily="2" charset="-122"/>
              <a:ea typeface="华文楷体" panose="02010600040101010101" pitchFamily="2" charset="-122"/>
            </a:endParaRPr>
          </a:p>
          <a:p>
            <a:pPr marL="28575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2. </a:t>
            </a:r>
            <a:r>
              <a:rPr lang="zh-CN" altLang="en-US" sz="1600" dirty="0">
                <a:solidFill>
                  <a:schemeClr val="tx1"/>
                </a:solidFill>
                <a:latin typeface="华文楷体" panose="02010600040101010101" pitchFamily="2" charset="-122"/>
                <a:ea typeface="华文楷体" panose="02010600040101010101" pitchFamily="2" charset="-122"/>
              </a:rPr>
              <a:t>把大的重调度任务集，</a:t>
            </a:r>
            <a:r>
              <a:rPr lang="zh-CN" altLang="en-US" sz="1600" b="1" dirty="0">
                <a:solidFill>
                  <a:schemeClr val="tx1"/>
                </a:solidFill>
                <a:latin typeface="华文楷体" panose="02010600040101010101" pitchFamily="2" charset="-122"/>
                <a:ea typeface="华文楷体" panose="02010600040101010101" pitchFamily="2" charset="-122"/>
              </a:rPr>
              <a:t>如何</a:t>
            </a:r>
            <a:r>
              <a:rPr lang="en-US" sz="1600" b="1" dirty="0" err="1">
                <a:solidFill>
                  <a:schemeClr val="tx1"/>
                </a:solidFill>
                <a:latin typeface="华文楷体" panose="02010600040101010101" pitchFamily="2" charset="-122"/>
                <a:ea typeface="华文楷体" panose="02010600040101010101" pitchFamily="2" charset="-122"/>
              </a:rPr>
              <a:t>转化为多个规模可控的局部子问题</a:t>
            </a:r>
            <a:r>
              <a:rPr lang="en-US" sz="1600" dirty="0">
                <a:solidFill>
                  <a:schemeClr val="tx1"/>
                </a:solidFill>
                <a:latin typeface="华文楷体" panose="02010600040101010101" pitchFamily="2" charset="-122"/>
                <a:ea typeface="华文楷体" panose="02010600040101010101" pitchFamily="2" charset="-122"/>
              </a:rPr>
              <a:t> </a:t>
            </a:r>
            <a:r>
              <a:rPr lang="zh-CN" altLang="en-US" sz="1600" dirty="0">
                <a:solidFill>
                  <a:schemeClr val="tx1"/>
                </a:solidFill>
                <a:latin typeface="华文楷体" panose="02010600040101010101" pitchFamily="2" charset="-122"/>
                <a:ea typeface="华文楷体" panose="02010600040101010101" pitchFamily="2" charset="-122"/>
              </a:rPr>
              <a:t>？</a:t>
            </a:r>
            <a:endParaRPr lang="en-US" sz="1600" dirty="0">
              <a:solidFill>
                <a:schemeClr val="tx1"/>
              </a:solidFill>
              <a:latin typeface="华文楷体" panose="02010600040101010101" pitchFamily="2" charset="-122"/>
              <a:ea typeface="华文楷体" panose="02010600040101010101" pitchFamily="2" charset="-122"/>
            </a:endParaRPr>
          </a:p>
          <a:p>
            <a:pPr marL="28575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3. </a:t>
            </a:r>
            <a:r>
              <a:rPr lang="zh-CN" altLang="en-US" sz="1600" dirty="0">
                <a:solidFill>
                  <a:schemeClr val="tx1"/>
                </a:solidFill>
                <a:latin typeface="华文楷体" panose="02010600040101010101" pitchFamily="2" charset="-122"/>
                <a:ea typeface="华文楷体" panose="02010600040101010101" pitchFamily="2" charset="-122"/>
              </a:rPr>
              <a:t>对于拆解出来的子问题，使用</a:t>
            </a:r>
            <a:r>
              <a:rPr lang="zh-CN" altLang="en-US" sz="1600" b="1" dirty="0">
                <a:solidFill>
                  <a:schemeClr val="tx1"/>
                </a:solidFill>
                <a:latin typeface="华文楷体" panose="02010600040101010101" pitchFamily="2" charset="-122"/>
                <a:ea typeface="华文楷体" panose="02010600040101010101" pitchFamily="2" charset="-122"/>
              </a:rPr>
              <a:t>统一算法还是不同算法</a:t>
            </a:r>
            <a:r>
              <a:rPr lang="zh-CN" altLang="en-US" sz="1600" dirty="0">
                <a:solidFill>
                  <a:schemeClr val="tx1"/>
                </a:solidFill>
                <a:latin typeface="华文楷体" panose="02010600040101010101" pitchFamily="2" charset="-122"/>
                <a:ea typeface="华文楷体" panose="02010600040101010101" pitchFamily="2" charset="-122"/>
              </a:rPr>
              <a:t>来进行重调度规划？</a:t>
            </a:r>
            <a:endParaRPr lang="en-US" dirty="0"/>
          </a:p>
        </p:txBody>
      </p:sp>
      <p:sp>
        <p:nvSpPr>
          <p:cNvPr id="12" name="矩形 16">
            <a:extLst>
              <a:ext uri="{FF2B5EF4-FFF2-40B4-BE49-F238E27FC236}">
                <a16:creationId xmlns="" xmlns:a16="http://schemas.microsoft.com/office/drawing/2014/main" id="{2490D3E7-79A8-2F32-DC0E-D87FE9C24420}"/>
              </a:ext>
            </a:extLst>
          </p:cNvPr>
          <p:cNvSpPr/>
          <p:nvPr/>
        </p:nvSpPr>
        <p:spPr>
          <a:xfrm>
            <a:off x="3521149" y="2544440"/>
            <a:ext cx="3528392" cy="2591559"/>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1. </a:t>
            </a:r>
            <a:r>
              <a:rPr lang="en-US" sz="1600" dirty="0" err="1">
                <a:solidFill>
                  <a:schemeClr val="tx1"/>
                </a:solidFill>
                <a:latin typeface="华文楷体" panose="02010600040101010101" pitchFamily="2" charset="-122"/>
                <a:ea typeface="华文楷体" panose="02010600040101010101" pitchFamily="2" charset="-122"/>
              </a:rPr>
              <a:t>利用</a:t>
            </a:r>
            <a:r>
              <a:rPr lang="en-US" sz="1600" b="1" dirty="0" err="1">
                <a:solidFill>
                  <a:schemeClr val="tx1"/>
                </a:solidFill>
                <a:latin typeface="华文楷体" panose="02010600040101010101" pitchFamily="2" charset="-122"/>
                <a:ea typeface="华文楷体" panose="02010600040101010101" pitchFamily="2" charset="-122"/>
              </a:rPr>
              <a:t>任务依赖图</a:t>
            </a:r>
            <a:r>
              <a:rPr lang="en-US" sz="1600" dirty="0" err="1">
                <a:solidFill>
                  <a:schemeClr val="tx1"/>
                </a:solidFill>
                <a:latin typeface="华文楷体" panose="02010600040101010101" pitchFamily="2" charset="-122"/>
                <a:ea typeface="华文楷体" panose="02010600040101010101" pitchFamily="2" charset="-122"/>
              </a:rPr>
              <a:t>的结构信息精确界定影响范围</a:t>
            </a:r>
            <a:endParaRPr lang="en-US" altLang="zh-CN" sz="1600" dirty="0">
              <a:solidFill>
                <a:schemeClr val="tx1"/>
              </a:solidFill>
              <a:latin typeface="华文楷体" panose="02010600040101010101" pitchFamily="2" charset="-122"/>
              <a:ea typeface="华文楷体" panose="02010600040101010101" pitchFamily="2" charset="-122"/>
            </a:endParaRPr>
          </a:p>
          <a:p>
            <a:pPr marL="28575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2.1 </a:t>
            </a:r>
            <a:r>
              <a:rPr lang="zh-CN" altLang="en-US" sz="1600" dirty="0">
                <a:solidFill>
                  <a:schemeClr val="tx1"/>
                </a:solidFill>
                <a:latin typeface="华文楷体" panose="02010600040101010101" pitchFamily="2" charset="-122"/>
                <a:ea typeface="华文楷体" panose="02010600040101010101" pitchFamily="2" charset="-122"/>
              </a:rPr>
              <a:t>状态感知</a:t>
            </a:r>
            <a:r>
              <a:rPr lang="zh-CN" altLang="en-US" sz="1600" b="1" dirty="0">
                <a:solidFill>
                  <a:schemeClr val="tx1"/>
                </a:solidFill>
                <a:latin typeface="华文楷体" panose="02010600040101010101" pitchFamily="2" charset="-122"/>
                <a:ea typeface="华文楷体" panose="02010600040101010101" pitchFamily="2" charset="-122"/>
              </a:rPr>
              <a:t>过滤</a:t>
            </a:r>
            <a:r>
              <a:rPr lang="zh-CN" altLang="en-US" sz="1600" dirty="0">
                <a:solidFill>
                  <a:schemeClr val="tx1"/>
                </a:solidFill>
                <a:latin typeface="华文楷体" panose="02010600040101010101" pitchFamily="2" charset="-122"/>
                <a:ea typeface="华文楷体" panose="02010600040101010101" pitchFamily="2" charset="-122"/>
              </a:rPr>
              <a:t>（对任务进行状态划分，已完成任务、执行中但不受影响、未执行但不受影响的几类无需重调度）</a:t>
            </a:r>
            <a:endParaRPr lang="en-US" altLang="zh-CN" sz="1600" dirty="0">
              <a:solidFill>
                <a:schemeClr val="tx1"/>
              </a:solidFill>
              <a:latin typeface="华文楷体" panose="02010600040101010101" pitchFamily="2" charset="-122"/>
              <a:ea typeface="华文楷体" panose="02010600040101010101" pitchFamily="2" charset="-122"/>
            </a:endParaRPr>
          </a:p>
          <a:p>
            <a:pPr marL="28575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2.2 </a:t>
            </a:r>
            <a:r>
              <a:rPr lang="zh-CN" altLang="en-US" sz="1600" dirty="0">
                <a:solidFill>
                  <a:schemeClr val="tx1"/>
                </a:solidFill>
                <a:latin typeface="华文楷体" panose="02010600040101010101" pitchFamily="2" charset="-122"/>
                <a:ea typeface="华文楷体" panose="02010600040101010101" pitchFamily="2" charset="-122"/>
              </a:rPr>
              <a:t>根据任务的</a:t>
            </a:r>
            <a:r>
              <a:rPr lang="zh-CN" altLang="en-US" sz="1600" b="1" dirty="0">
                <a:solidFill>
                  <a:schemeClr val="tx1"/>
                </a:solidFill>
                <a:latin typeface="华文楷体" panose="02010600040101010101" pitchFamily="2" charset="-122"/>
                <a:ea typeface="华文楷体" panose="02010600040101010101" pitchFamily="2" charset="-122"/>
              </a:rPr>
              <a:t>依赖密度</a:t>
            </a:r>
            <a:r>
              <a:rPr lang="zh-CN" altLang="en-US" sz="1600" dirty="0">
                <a:solidFill>
                  <a:schemeClr val="tx1"/>
                </a:solidFill>
                <a:latin typeface="华文楷体" panose="02010600040101010101" pitchFamily="2" charset="-122"/>
                <a:ea typeface="华文楷体" panose="02010600040101010101" pitchFamily="2" charset="-122"/>
              </a:rPr>
              <a:t>进行分解，</a:t>
            </a:r>
            <a:r>
              <a:rPr lang="zh-CN" altLang="en-US" sz="1600" b="1" dirty="0">
                <a:solidFill>
                  <a:schemeClr val="tx1"/>
                </a:solidFill>
                <a:latin typeface="华文楷体" panose="02010600040101010101" pitchFamily="2" charset="-122"/>
                <a:ea typeface="华文楷体" panose="02010600040101010101" pitchFamily="2" charset="-122"/>
              </a:rPr>
              <a:t>“区别对待”</a:t>
            </a:r>
            <a:r>
              <a:rPr lang="en-US" sz="1600" dirty="0" err="1">
                <a:solidFill>
                  <a:schemeClr val="tx1"/>
                </a:solidFill>
                <a:latin typeface="华文楷体" panose="02010600040101010101" pitchFamily="2" charset="-122"/>
                <a:ea typeface="华文楷体" panose="02010600040101010101" pitchFamily="2" charset="-122"/>
              </a:rPr>
              <a:t>依赖密度</a:t>
            </a:r>
            <a:r>
              <a:rPr lang="zh-CN" altLang="en-US" sz="1600" dirty="0">
                <a:solidFill>
                  <a:schemeClr val="tx1"/>
                </a:solidFill>
                <a:latin typeface="华文楷体" panose="02010600040101010101" pitchFamily="2" charset="-122"/>
                <a:ea typeface="华文楷体" panose="02010600040101010101" pitchFamily="2" charset="-122"/>
              </a:rPr>
              <a:t>不同的任务集</a:t>
            </a:r>
            <a:endParaRPr lang="en-US" altLang="zh-CN" sz="1600" dirty="0">
              <a:solidFill>
                <a:schemeClr val="tx1"/>
              </a:solidFill>
              <a:latin typeface="华文楷体" panose="02010600040101010101" pitchFamily="2" charset="-122"/>
              <a:ea typeface="华文楷体" panose="02010600040101010101" pitchFamily="2" charset="-122"/>
            </a:endParaRPr>
          </a:p>
          <a:p>
            <a:pPr marL="285750" indent="-285750">
              <a:buFont typeface="Arial" panose="020B0604020202020204" pitchFamily="34" charset="0"/>
              <a:buChar char="•"/>
            </a:pPr>
            <a:r>
              <a:rPr lang="en-US" sz="1600" dirty="0">
                <a:solidFill>
                  <a:schemeClr val="tx1"/>
                </a:solidFill>
                <a:latin typeface="华文楷体" panose="02010600040101010101" pitchFamily="2" charset="-122"/>
                <a:ea typeface="华文楷体" panose="02010600040101010101" pitchFamily="2" charset="-122"/>
              </a:rPr>
              <a:t>3. </a:t>
            </a:r>
            <a:r>
              <a:rPr lang="zh-CN" altLang="en-US" sz="1600" b="1" dirty="0">
                <a:solidFill>
                  <a:schemeClr val="tx1"/>
                </a:solidFill>
                <a:latin typeface="华文楷体" panose="02010600040101010101" pitchFamily="2" charset="-122"/>
                <a:ea typeface="华文楷体" panose="02010600040101010101" pitchFamily="2" charset="-122"/>
              </a:rPr>
              <a:t>多尺度求解器</a:t>
            </a:r>
            <a:r>
              <a:rPr lang="zh-CN" altLang="en-US" sz="1600" dirty="0">
                <a:solidFill>
                  <a:schemeClr val="tx1"/>
                </a:solidFill>
                <a:latin typeface="华文楷体" panose="02010600040101010101" pitchFamily="2" charset="-122"/>
                <a:ea typeface="华文楷体" panose="02010600040101010101" pitchFamily="2" charset="-122"/>
              </a:rPr>
              <a:t>作为求解算法</a:t>
            </a:r>
            <a:endParaRPr lang="en-US" sz="1600" dirty="0">
              <a:solidFill>
                <a:schemeClr val="tx1"/>
              </a:solidFill>
              <a:latin typeface="华文楷体" panose="02010600040101010101" pitchFamily="2" charset="-122"/>
              <a:ea typeface="华文楷体" panose="02010600040101010101" pitchFamily="2" charset="-122"/>
            </a:endParaRPr>
          </a:p>
        </p:txBody>
      </p:sp>
      <p:sp>
        <p:nvSpPr>
          <p:cNvPr id="13" name="矩形 17">
            <a:extLst>
              <a:ext uri="{FF2B5EF4-FFF2-40B4-BE49-F238E27FC236}">
                <a16:creationId xmlns="" xmlns:a16="http://schemas.microsoft.com/office/drawing/2014/main" id="{23EE7914-9968-82EC-24D1-DAA2EBD966DA}"/>
              </a:ext>
            </a:extLst>
          </p:cNvPr>
          <p:cNvSpPr/>
          <p:nvPr/>
        </p:nvSpPr>
        <p:spPr>
          <a:xfrm>
            <a:off x="7308304" y="3076995"/>
            <a:ext cx="1832796" cy="1870290"/>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合并各子段局部解 → 全局重调度方案 </a:t>
            </a:r>
            <a:r>
              <a:rPr lang="en-US" altLang="zh-CN" sz="1600" dirty="0">
                <a:solidFill>
                  <a:schemeClr val="tx1"/>
                </a:solidFill>
              </a:rPr>
              <a:t>s’</a:t>
            </a:r>
          </a:p>
          <a:p>
            <a:endParaRPr lang="en-US" altLang="zh-CN" sz="1600" dirty="0">
              <a:solidFill>
                <a:schemeClr val="tx1"/>
              </a:solidFill>
            </a:endParaRPr>
          </a:p>
          <a:p>
            <a:r>
              <a:rPr lang="zh-CN" altLang="en-US" sz="1600" dirty="0">
                <a:solidFill>
                  <a:schemeClr val="tx1"/>
                </a:solidFill>
                <a:latin typeface="华文楷体" panose="02010600040101010101" pitchFamily="2" charset="-122"/>
                <a:ea typeface="华文楷体" panose="02010600040101010101" pitchFamily="2" charset="-122"/>
              </a:rPr>
              <a:t>并进行验证：时序一致性，资源一致性，任务集完整性</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14" name="右箭头 21">
            <a:extLst>
              <a:ext uri="{FF2B5EF4-FFF2-40B4-BE49-F238E27FC236}">
                <a16:creationId xmlns="" xmlns:a16="http://schemas.microsoft.com/office/drawing/2014/main" id="{4A2D5ED0-34AC-3EA7-8B9C-9392002423B8}"/>
              </a:ext>
            </a:extLst>
          </p:cNvPr>
          <p:cNvSpPr/>
          <p:nvPr/>
        </p:nvSpPr>
        <p:spPr>
          <a:xfrm>
            <a:off x="3275856" y="3936441"/>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22">
            <a:extLst>
              <a:ext uri="{FF2B5EF4-FFF2-40B4-BE49-F238E27FC236}">
                <a16:creationId xmlns="" xmlns:a16="http://schemas.microsoft.com/office/drawing/2014/main" id="{74B83F07-EF9C-749E-29C6-1C7EBBB9D2CD}"/>
              </a:ext>
            </a:extLst>
          </p:cNvPr>
          <p:cNvSpPr/>
          <p:nvPr/>
        </p:nvSpPr>
        <p:spPr>
          <a:xfrm>
            <a:off x="7041423" y="3936440"/>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36945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2A379AC-F599-34BC-3C72-BF330E2D65BA}"/>
            </a:ext>
          </a:extLst>
        </p:cNvPr>
        <p:cNvGrpSpPr/>
        <p:nvPr/>
      </p:nvGrpSpPr>
      <p:grpSpPr>
        <a:xfrm>
          <a:off x="0" y="0"/>
          <a:ext cx="0" cy="0"/>
          <a:chOff x="0" y="0"/>
          <a:chExt cx="0" cy="0"/>
        </a:xfrm>
      </p:grpSpPr>
      <p:sp>
        <p:nvSpPr>
          <p:cNvPr id="2" name="矩形 1">
            <a:extLst>
              <a:ext uri="{FF2B5EF4-FFF2-40B4-BE49-F238E27FC236}">
                <a16:creationId xmlns="" xmlns:a16="http://schemas.microsoft.com/office/drawing/2014/main" id="{3F28AF05-A1F3-6DDE-D4C8-C4B4A8C45128}"/>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 xmlns:a16="http://schemas.microsoft.com/office/drawing/2014/main" id="{C2245C81-B45F-80FD-5182-911E52BC650C}"/>
              </a:ext>
            </a:extLst>
          </p:cNvPr>
          <p:cNvSpPr/>
          <p:nvPr/>
        </p:nvSpPr>
        <p:spPr>
          <a:xfrm>
            <a:off x="5148064" y="190500"/>
            <a:ext cx="3995936" cy="17843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 xmlns:a16="http://schemas.microsoft.com/office/drawing/2014/main" id="{349E7F22-287E-F1FF-DB0E-D31077A38EB3}"/>
              </a:ext>
            </a:extLst>
          </p:cNvPr>
          <p:cNvSpPr txBox="1">
            <a:spLocks noChangeArrowheads="1"/>
          </p:cNvSpPr>
          <p:nvPr/>
        </p:nvSpPr>
        <p:spPr bwMode="auto">
          <a:xfrm>
            <a:off x="843280" y="103505"/>
            <a:ext cx="682506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r>
              <a:rPr lang="zh-CN" altLang="en-US" sz="2000" b="1" dirty="0">
                <a:latin typeface="微软雅黑" panose="020B0503020204020204" pitchFamily="34" charset="-122"/>
                <a:ea typeface="微软雅黑" panose="020B0503020204020204" pitchFamily="34" charset="-122"/>
              </a:rPr>
              <a:t>基于状态感知分解的近优重调度算法</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 xmlns:a16="http://schemas.microsoft.com/office/drawing/2014/main" id="{0B83CA43-7DC4-1580-8BA1-9D6DB68EB1F8}"/>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a:extLst>
              <a:ext uri="{FF2B5EF4-FFF2-40B4-BE49-F238E27FC236}">
                <a16:creationId xmlns="" xmlns:a16="http://schemas.microsoft.com/office/drawing/2014/main" id="{8333C154-0ABF-DFE6-C39E-D95F0A67738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a:extLst>
              <a:ext uri="{FF2B5EF4-FFF2-40B4-BE49-F238E27FC236}">
                <a16:creationId xmlns="" xmlns:a16="http://schemas.microsoft.com/office/drawing/2014/main" id="{5283F55D-848A-9224-B129-E73B6370CDE7}"/>
              </a:ext>
            </a:extLst>
          </p:cNvPr>
          <p:cNvSpPr>
            <a:spLocks noGrp="1"/>
          </p:cNvSpPr>
          <p:nvPr>
            <p:ph type="sldNum" sz="quarter" idx="12"/>
          </p:nvPr>
        </p:nvSpPr>
        <p:spPr/>
        <p:txBody>
          <a:bodyPr/>
          <a:lstStyle/>
          <a:p>
            <a:fld id="{0C913308-F349-4B6D-A68A-DD1791B4A57B}" type="slidenum">
              <a:rPr lang="zh-CN" altLang="en-US" smtClean="0"/>
              <a:t>20</a:t>
            </a:fld>
            <a:endParaRPr lang="zh-CN" altLang="en-US" dirty="0"/>
          </a:p>
        </p:txBody>
      </p:sp>
      <p:pic>
        <p:nvPicPr>
          <p:cNvPr id="10" name="Picture 9">
            <a:extLst>
              <a:ext uri="{FF2B5EF4-FFF2-40B4-BE49-F238E27FC236}">
                <a16:creationId xmlns="" xmlns:a16="http://schemas.microsoft.com/office/drawing/2014/main" id="{35A38E24-A960-C9D0-8914-09D8E7B06C94}"/>
              </a:ext>
            </a:extLst>
          </p:cNvPr>
          <p:cNvPicPr>
            <a:picLocks noChangeAspect="1"/>
          </p:cNvPicPr>
          <p:nvPr/>
        </p:nvPicPr>
        <p:blipFill>
          <a:blip r:embed="rId3"/>
          <a:stretch>
            <a:fillRect/>
          </a:stretch>
        </p:blipFill>
        <p:spPr>
          <a:xfrm>
            <a:off x="0" y="584034"/>
            <a:ext cx="3752722" cy="4183229"/>
          </a:xfrm>
          <a:prstGeom prst="rect">
            <a:avLst/>
          </a:prstGeom>
        </p:spPr>
      </p:pic>
      <p:sp>
        <p:nvSpPr>
          <p:cNvPr id="11" name="TextBox 10">
            <a:extLst>
              <a:ext uri="{FF2B5EF4-FFF2-40B4-BE49-F238E27FC236}">
                <a16:creationId xmlns="" xmlns:a16="http://schemas.microsoft.com/office/drawing/2014/main" id="{E7852AFE-4393-0171-C5E7-373AAFC273F0}"/>
              </a:ext>
            </a:extLst>
          </p:cNvPr>
          <p:cNvSpPr txBox="1"/>
          <p:nvPr/>
        </p:nvSpPr>
        <p:spPr>
          <a:xfrm>
            <a:off x="614680" y="4779380"/>
            <a:ext cx="2133600" cy="307777"/>
          </a:xfrm>
          <a:prstGeom prst="rect">
            <a:avLst/>
          </a:prstGeom>
          <a:noFill/>
        </p:spPr>
        <p:txBody>
          <a:bodyPr wrap="square">
            <a:spAutoFit/>
          </a:bodyPr>
          <a:lstStyle/>
          <a:p>
            <a:pPr marL="0" marR="0" indent="304800" algn="ctr">
              <a:buNone/>
            </a:pPr>
            <a:r>
              <a:rPr lang="zh-CN" altLang="en-US" sz="1400" b="1" dirty="0">
                <a:latin typeface="微软雅黑" panose="020B0503020204020204" pitchFamily="34" charset="-122"/>
                <a:ea typeface="微软雅黑" panose="020B0503020204020204" pitchFamily="34" charset="-122"/>
              </a:rPr>
              <a:t>图：算法框架图</a:t>
            </a:r>
            <a:endParaRPr lang="en-US" sz="1400" b="1" dirty="0">
              <a:latin typeface="微软雅黑" panose="020B0503020204020204" pitchFamily="34" charset="-122"/>
              <a:ea typeface="微软雅黑" panose="020B0503020204020204" pitchFamily="34" charset="-122"/>
            </a:endParaRPr>
          </a:p>
        </p:txBody>
      </p:sp>
      <p:sp>
        <p:nvSpPr>
          <p:cNvPr id="12" name="TextBox 11">
            <a:extLst>
              <a:ext uri="{FF2B5EF4-FFF2-40B4-BE49-F238E27FC236}">
                <a16:creationId xmlns="" xmlns:a16="http://schemas.microsoft.com/office/drawing/2014/main" id="{04F33E76-3EFF-3446-7976-C1764F5F62F8}"/>
              </a:ext>
            </a:extLst>
          </p:cNvPr>
          <p:cNvSpPr txBox="1"/>
          <p:nvPr/>
        </p:nvSpPr>
        <p:spPr>
          <a:xfrm>
            <a:off x="3348806" y="421236"/>
            <a:ext cx="5364088" cy="338554"/>
          </a:xfrm>
          <a:prstGeom prst="rect">
            <a:avLst/>
          </a:prstGeom>
          <a:noFill/>
        </p:spPr>
        <p:txBody>
          <a:bodyPr wrap="square">
            <a:spAutoFit/>
          </a:bodyPr>
          <a:lstStyle/>
          <a:p>
            <a:pPr marL="0" marR="0" indent="304800" algn="just">
              <a:buNone/>
            </a:pPr>
            <a:r>
              <a:rPr lang="en-US" sz="1600" dirty="0">
                <a:latin typeface="微软雅黑" panose="020B0503020204020204" pitchFamily="34" charset="-122"/>
                <a:ea typeface="微软雅黑" panose="020B0503020204020204" pitchFamily="34" charset="-122"/>
              </a:rPr>
              <a:t>Step 1</a:t>
            </a:r>
            <a:r>
              <a:rPr lang="zh-CN" altLang="en-US" sz="1600" dirty="0">
                <a:latin typeface="微软雅黑" panose="020B0503020204020204" pitchFamily="34" charset="-122"/>
                <a:ea typeface="微软雅黑" panose="020B0503020204020204" pitchFamily="34" charset="-122"/>
              </a:rPr>
              <a:t>：计算影响边界</a:t>
            </a:r>
            <a:endParaRPr lang="en-US" sz="1600" dirty="0">
              <a:latin typeface="微软雅黑" panose="020B0503020204020204" pitchFamily="34" charset="-122"/>
              <a:ea typeface="微软雅黑" panose="020B0503020204020204" pitchFamily="34" charset="-122"/>
            </a:endParaRPr>
          </a:p>
        </p:txBody>
      </p:sp>
      <p:sp>
        <p:nvSpPr>
          <p:cNvPr id="13" name="TextBox 12">
            <a:extLst>
              <a:ext uri="{FF2B5EF4-FFF2-40B4-BE49-F238E27FC236}">
                <a16:creationId xmlns="" xmlns:a16="http://schemas.microsoft.com/office/drawing/2014/main" id="{943A507A-9C0D-1208-C6EE-6647372A6406}"/>
              </a:ext>
            </a:extLst>
          </p:cNvPr>
          <p:cNvSpPr txBox="1"/>
          <p:nvPr/>
        </p:nvSpPr>
        <p:spPr>
          <a:xfrm>
            <a:off x="3348806" y="1316785"/>
            <a:ext cx="3400684" cy="338554"/>
          </a:xfrm>
          <a:prstGeom prst="rect">
            <a:avLst/>
          </a:prstGeom>
          <a:noFill/>
        </p:spPr>
        <p:txBody>
          <a:bodyPr wrap="square">
            <a:spAutoFit/>
          </a:bodyPr>
          <a:lstStyle/>
          <a:p>
            <a:pPr marL="0" marR="0" indent="304800" algn="just">
              <a:buNone/>
            </a:pPr>
            <a:r>
              <a:rPr lang="en-US" sz="1600" dirty="0">
                <a:latin typeface="微软雅黑" panose="020B0503020204020204" pitchFamily="34" charset="-122"/>
                <a:ea typeface="微软雅黑" panose="020B0503020204020204" pitchFamily="34" charset="-122"/>
              </a:rPr>
              <a:t>Step 2</a:t>
            </a:r>
            <a:r>
              <a:rPr lang="zh-CN" altLang="en-US" sz="1600" dirty="0">
                <a:latin typeface="微软雅黑" panose="020B0503020204020204" pitchFamily="34" charset="-122"/>
                <a:ea typeface="微软雅黑" panose="020B0503020204020204" pitchFamily="34" charset="-122"/>
              </a:rPr>
              <a:t>：基于任务状态过滤</a:t>
            </a:r>
            <a:endParaRPr lang="en-US" sz="1600" dirty="0">
              <a:latin typeface="微软雅黑" panose="020B0503020204020204" pitchFamily="34" charset="-122"/>
              <a:ea typeface="微软雅黑" panose="020B0503020204020204" pitchFamily="34" charset="-122"/>
            </a:endParaRPr>
          </a:p>
        </p:txBody>
      </p:sp>
      <p:sp>
        <p:nvSpPr>
          <p:cNvPr id="14" name="TextBox 13">
            <a:extLst>
              <a:ext uri="{FF2B5EF4-FFF2-40B4-BE49-F238E27FC236}">
                <a16:creationId xmlns="" xmlns:a16="http://schemas.microsoft.com/office/drawing/2014/main" id="{B48EBDA7-8D0D-4A95-9DA6-C615EBD5949F}"/>
              </a:ext>
            </a:extLst>
          </p:cNvPr>
          <p:cNvSpPr txBox="1"/>
          <p:nvPr/>
        </p:nvSpPr>
        <p:spPr>
          <a:xfrm>
            <a:off x="3377334" y="2850845"/>
            <a:ext cx="3581708" cy="338554"/>
          </a:xfrm>
          <a:prstGeom prst="rect">
            <a:avLst/>
          </a:prstGeom>
          <a:noFill/>
        </p:spPr>
        <p:txBody>
          <a:bodyPr wrap="square">
            <a:spAutoFit/>
          </a:bodyPr>
          <a:lstStyle/>
          <a:p>
            <a:pPr indent="304800" algn="just"/>
            <a:r>
              <a:rPr lang="en-US" sz="1600" dirty="0">
                <a:latin typeface="微软雅黑" panose="020B0503020204020204" pitchFamily="34" charset="-122"/>
                <a:ea typeface="微软雅黑" panose="020B0503020204020204" pitchFamily="34" charset="-122"/>
              </a:rPr>
              <a:t>Step 3</a:t>
            </a:r>
            <a:r>
              <a:rPr lang="zh-CN" altLang="en-US" sz="1600" dirty="0">
                <a:latin typeface="微软雅黑" panose="020B0503020204020204" pitchFamily="34" charset="-122"/>
                <a:ea typeface="微软雅黑" panose="020B0503020204020204" pitchFamily="34" charset="-122"/>
              </a:rPr>
              <a:t>：自适应分解</a:t>
            </a:r>
            <a:endParaRPr lang="en-US" altLang="zh-CN" sz="1600" dirty="0">
              <a:latin typeface="微软雅黑" panose="020B0503020204020204" pitchFamily="34" charset="-122"/>
              <a:ea typeface="微软雅黑" panose="020B0503020204020204" pitchFamily="34" charset="-122"/>
            </a:endParaRPr>
          </a:p>
        </p:txBody>
      </p:sp>
      <p:sp>
        <p:nvSpPr>
          <p:cNvPr id="15" name="TextBox 14">
            <a:extLst>
              <a:ext uri="{FF2B5EF4-FFF2-40B4-BE49-F238E27FC236}">
                <a16:creationId xmlns="" xmlns:a16="http://schemas.microsoft.com/office/drawing/2014/main" id="{D5BD9C48-06F9-AFCA-CB7F-B6B901CFA6FF}"/>
              </a:ext>
            </a:extLst>
          </p:cNvPr>
          <p:cNvSpPr txBox="1"/>
          <p:nvPr/>
        </p:nvSpPr>
        <p:spPr>
          <a:xfrm>
            <a:off x="3348806" y="3553566"/>
            <a:ext cx="3400684" cy="338554"/>
          </a:xfrm>
          <a:prstGeom prst="rect">
            <a:avLst/>
          </a:prstGeom>
          <a:noFill/>
        </p:spPr>
        <p:txBody>
          <a:bodyPr wrap="square">
            <a:spAutoFit/>
          </a:bodyPr>
          <a:lstStyle/>
          <a:p>
            <a:pPr marL="0" marR="0" indent="304800" algn="just">
              <a:buNone/>
            </a:pPr>
            <a:r>
              <a:rPr lang="en-US" sz="1600" dirty="0">
                <a:latin typeface="微软雅黑" panose="020B0503020204020204" pitchFamily="34" charset="-122"/>
                <a:ea typeface="微软雅黑" panose="020B0503020204020204" pitchFamily="34" charset="-122"/>
              </a:rPr>
              <a:t>Step 4</a:t>
            </a:r>
            <a:r>
              <a:rPr lang="zh-CN" altLang="en-US" sz="1600" dirty="0">
                <a:latin typeface="微软雅黑" panose="020B0503020204020204" pitchFamily="34" charset="-122"/>
                <a:ea typeface="微软雅黑" panose="020B0503020204020204" pitchFamily="34" charset="-122"/>
              </a:rPr>
              <a:t>：多尺度求解</a:t>
            </a:r>
            <a:endParaRPr lang="en-US" sz="1600" dirty="0">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 xmlns:a16="http://schemas.microsoft.com/office/drawing/2014/main" id="{5628D532-8699-52FE-6B7E-21299837961C}"/>
                  </a:ext>
                </a:extLst>
              </p:cNvPr>
              <p:cNvSpPr txBox="1"/>
              <p:nvPr/>
            </p:nvSpPr>
            <p:spPr>
              <a:xfrm>
                <a:off x="3531319" y="792087"/>
                <a:ext cx="3668486" cy="45749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200" i="1" smtClean="0">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𝑇</m:t>
                              </m:r>
                            </m:e>
                            <m:sub>
                              <m:r>
                                <m:rPr>
                                  <m:nor/>
                                </m:rPr>
                                <a:rPr lang="en-US" sz="1200" b="0" i="1">
                                  <a:latin typeface="Cambria Math" panose="02040503050406030204" pitchFamily="18" charset="0"/>
                                </a:rPr>
                                <m:t>impact</m:t>
                              </m:r>
                            </m:sub>
                          </m:sSub>
                        </m:e>
                      </m:d>
                      <m:r>
                        <a:rPr lang="en-US" sz="1200" b="0" i="0">
                          <a:latin typeface="Cambria Math" panose="02040503050406030204" pitchFamily="18" charset="0"/>
                        </a:rPr>
                        <m:t>≤</m:t>
                      </m:r>
                      <m:d>
                        <m:dPr>
                          <m:begChr m:val="|"/>
                          <m:endChr m:val="|"/>
                          <m:ctrlPr>
                            <a:rPr lang="en-US" sz="1200" b="0" i="1">
                              <a:latin typeface="Cambria Math" panose="02040503050406030204" pitchFamily="18" charset="0"/>
                            </a:rPr>
                          </m:ctrlPr>
                        </m:dPr>
                        <m:e>
                          <m:sSub>
                            <m:sSubPr>
                              <m:ctrlPr>
                                <a:rPr lang="en-US" sz="1200" b="0" i="1">
                                  <a:latin typeface="Cambria Math" panose="02040503050406030204" pitchFamily="18" charset="0"/>
                                </a:rPr>
                              </m:ctrlPr>
                            </m:sSubPr>
                            <m:e>
                              <m:r>
                                <a:rPr lang="en-US" sz="1200" b="0" i="1">
                                  <a:latin typeface="Cambria Math" panose="02040503050406030204" pitchFamily="18" charset="0"/>
                                </a:rPr>
                                <m:t>𝑇</m:t>
                              </m:r>
                            </m:e>
                            <m:sub>
                              <m:r>
                                <m:rPr>
                                  <m:nor/>
                                </m:rPr>
                                <a:rPr lang="en-US" sz="1200" b="0" i="1">
                                  <a:latin typeface="Cambria Math" panose="02040503050406030204" pitchFamily="18" charset="0"/>
                                </a:rPr>
                                <m:t>direct</m:t>
                              </m:r>
                            </m:sub>
                          </m:sSub>
                        </m:e>
                      </m:d>
                      <m:r>
                        <a:rPr lang="en-US" sz="1200" b="0" i="0">
                          <a:latin typeface="Cambria Math" panose="02040503050406030204" pitchFamily="18" charset="0"/>
                        </a:rPr>
                        <m:t>⋅</m:t>
                      </m:r>
                      <m:sSup>
                        <m:sSupPr>
                          <m:ctrlPr>
                            <a:rPr lang="en-US" sz="1200" b="0" i="1">
                              <a:latin typeface="Cambria Math" panose="02040503050406030204" pitchFamily="18" charset="0"/>
                            </a:rPr>
                          </m:ctrlPr>
                        </m:sSupPr>
                        <m:e>
                          <m:d>
                            <m:dPr>
                              <m:ctrlPr>
                                <a:rPr lang="en-US" sz="1200" b="0" i="1">
                                  <a:latin typeface="Cambria Math" panose="02040503050406030204" pitchFamily="18" charset="0"/>
                                </a:rPr>
                              </m:ctrlPr>
                            </m:dPr>
                            <m:e>
                              <m:r>
                                <a:rPr lang="en-US" sz="1200" b="0" i="0">
                                  <a:latin typeface="Cambria Math" panose="02040503050406030204" pitchFamily="18" charset="0"/>
                                </a:rPr>
                                <m:t>1+</m:t>
                              </m:r>
                              <m:r>
                                <a:rPr lang="en-US" sz="1200" b="0" i="1">
                                  <a:latin typeface="Cambria Math" panose="02040503050406030204" pitchFamily="18" charset="0"/>
                                </a:rPr>
                                <m:t>𝑝</m:t>
                              </m:r>
                              <m:r>
                                <a:rPr lang="en-US" sz="1200" b="0" i="0">
                                  <a:latin typeface="Cambria Math" panose="02040503050406030204" pitchFamily="18" charset="0"/>
                                </a:rPr>
                                <m:t>⋅</m:t>
                              </m:r>
                              <m:limUpp>
                                <m:limUppPr>
                                  <m:ctrlPr>
                                    <a:rPr lang="en-US" sz="1200" b="0" i="1">
                                      <a:latin typeface="Cambria Math" panose="02040503050406030204" pitchFamily="18" charset="0"/>
                                    </a:rPr>
                                  </m:ctrlPr>
                                </m:limUppPr>
                                <m:e>
                                  <m:r>
                                    <a:rPr lang="en-US" sz="1200" b="0" i="1">
                                      <a:latin typeface="Cambria Math" panose="02040503050406030204" pitchFamily="18" charset="0"/>
                                    </a:rPr>
                                    <m:t>𝑑</m:t>
                                  </m:r>
                                </m:e>
                                <m:lim>
                                  <m:r>
                                    <a:rPr lang="en-US" sz="1200" b="0" i="0">
                                      <a:latin typeface="Cambria Math" panose="02040503050406030204" pitchFamily="18" charset="0"/>
                                    </a:rPr>
                                    <m:t>‾</m:t>
                                  </m:r>
                                </m:lim>
                              </m:limUpp>
                              <m:r>
                                <m:rPr>
                                  <m:nor/>
                                </m:rPr>
                                <a:rPr lang="en-US" sz="1200" b="0" i="1">
                                  <a:latin typeface="Cambria Math" panose="02040503050406030204" pitchFamily="18" charset="0"/>
                                </a:rPr>
                                <m:t>out</m:t>
                              </m:r>
                            </m:e>
                          </m:d>
                        </m:e>
                        <m:sup>
                          <m:r>
                            <a:rPr lang="en-US" sz="1200" b="0" i="1">
                              <a:latin typeface="Cambria Math" panose="02040503050406030204" pitchFamily="18" charset="0"/>
                            </a:rPr>
                            <m:t>𝑑</m:t>
                          </m:r>
                          <m:r>
                            <m:rPr>
                              <m:sty m:val="p"/>
                            </m:rPr>
                            <a:rPr lang="en-US" sz="1200" b="0" i="0">
                              <a:latin typeface="Cambria Math" panose="02040503050406030204" pitchFamily="18" charset="0"/>
                            </a:rPr>
                            <m:t>max</m:t>
                          </m:r>
                        </m:sup>
                      </m:sSup>
                    </m:oMath>
                  </m:oMathPara>
                </a14:m>
                <a:endParaRPr lang="en-US" sz="1200" dirty="0"/>
              </a:p>
            </p:txBody>
          </p:sp>
        </mc:Choice>
        <mc:Fallback xmlns="">
          <p:sp>
            <p:nvSpPr>
              <p:cNvPr id="18" name="TextBox 17">
                <a:extLst>
                  <a:ext uri="{FF2B5EF4-FFF2-40B4-BE49-F238E27FC236}">
                    <a16:creationId xmlns:a16="http://schemas.microsoft.com/office/drawing/2014/main" id="{5628D532-8699-52FE-6B7E-21299837961C}"/>
                  </a:ext>
                </a:extLst>
              </p:cNvPr>
              <p:cNvSpPr txBox="1">
                <a:spLocks noRot="1" noChangeAspect="1" noMove="1" noResize="1" noEditPoints="1" noAdjustHandles="1" noChangeArrowheads="1" noChangeShapeType="1" noTextEdit="1"/>
              </p:cNvSpPr>
              <p:nvPr/>
            </p:nvSpPr>
            <p:spPr>
              <a:xfrm>
                <a:off x="3531319" y="792087"/>
                <a:ext cx="3668486" cy="457498"/>
              </a:xfrm>
              <a:prstGeom prst="rect">
                <a:avLst/>
              </a:prstGeom>
              <a:blipFill>
                <a:blip r:embed="rId4"/>
                <a:stretch>
                  <a:fillRect b="-2667"/>
                </a:stretch>
              </a:blipFill>
            </p:spPr>
            <p:txBody>
              <a:bodyPr/>
              <a:lstStyle/>
              <a:p>
                <a:r>
                  <a:rPr lang="en-US">
                    <a:noFill/>
                  </a:rPr>
                  <a:t> </a:t>
                </a:r>
              </a:p>
            </p:txBody>
          </p:sp>
        </mc:Fallback>
      </mc:AlternateContent>
      <p:graphicFrame>
        <p:nvGraphicFramePr>
          <p:cNvPr id="21" name="Table 20">
            <a:extLst>
              <a:ext uri="{FF2B5EF4-FFF2-40B4-BE49-F238E27FC236}">
                <a16:creationId xmlns="" xmlns:a16="http://schemas.microsoft.com/office/drawing/2014/main" id="{EB0C4404-6955-5061-5D7A-6A626AE7A519}"/>
              </a:ext>
            </a:extLst>
          </p:cNvPr>
          <p:cNvGraphicFramePr>
            <a:graphicFrameLocks noGrp="1"/>
          </p:cNvGraphicFramePr>
          <p:nvPr>
            <p:extLst>
              <p:ext uri="{D42A27DB-BD31-4B8C-83A1-F6EECF244321}">
                <p14:modId xmlns:p14="http://schemas.microsoft.com/office/powerpoint/2010/main" val="2844768732"/>
              </p:ext>
            </p:extLst>
          </p:nvPr>
        </p:nvGraphicFramePr>
        <p:xfrm>
          <a:off x="6782519" y="612691"/>
          <a:ext cx="2362200" cy="762000"/>
        </p:xfrm>
        <a:graphic>
          <a:graphicData uri="http://schemas.openxmlformats.org/drawingml/2006/table">
            <a:tbl>
              <a:tblPr>
                <a:tableStyleId>{5C22544A-7EE6-4342-B048-85BDC9FD1C3A}</a:tableStyleId>
              </a:tblPr>
              <a:tblGrid>
                <a:gridCol w="393700">
                  <a:extLst>
                    <a:ext uri="{9D8B030D-6E8A-4147-A177-3AD203B41FA5}">
                      <a16:colId xmlns="" xmlns:a16="http://schemas.microsoft.com/office/drawing/2014/main" val="1149794813"/>
                    </a:ext>
                  </a:extLst>
                </a:gridCol>
                <a:gridCol w="1968500">
                  <a:extLst>
                    <a:ext uri="{9D8B030D-6E8A-4147-A177-3AD203B41FA5}">
                      <a16:colId xmlns="" xmlns:a16="http://schemas.microsoft.com/office/drawing/2014/main" val="1878770959"/>
                    </a:ext>
                  </a:extLst>
                </a:gridCol>
              </a:tblGrid>
              <a:tr h="190500">
                <a:tc>
                  <a:txBody>
                    <a:bodyPr/>
                    <a:lstStyle/>
                    <a:p>
                      <a:pPr algn="ctr" fontAlgn="b">
                        <a:buNone/>
                      </a:pPr>
                      <a:r>
                        <a:rPr lang="en-US" sz="1100" b="1" u="none" strike="noStrike">
                          <a:solidFill>
                            <a:schemeClr val="bg1">
                              <a:lumMod val="50000"/>
                            </a:schemeClr>
                          </a:solidFill>
                          <a:effectLst/>
                        </a:rPr>
                        <a:t>符号</a:t>
                      </a:r>
                      <a:endParaRPr lang="en-US" sz="1100" b="1" i="0" u="none" strike="noStrike">
                        <a:solidFill>
                          <a:schemeClr val="bg1">
                            <a:lumMod val="50000"/>
                          </a:schemeClr>
                        </a:solidFill>
                        <a:effectLst/>
                        <a:latin typeface="Aptos Narrow" panose="020B0004020202020204" pitchFamily="34" charset="0"/>
                      </a:endParaRPr>
                    </a:p>
                  </a:txBody>
                  <a:tcPr marL="7620" marR="7620" marT="7620" marB="0" anchor="b"/>
                </a:tc>
                <a:tc>
                  <a:txBody>
                    <a:bodyPr/>
                    <a:lstStyle/>
                    <a:p>
                      <a:pPr algn="ctr" fontAlgn="b">
                        <a:buNone/>
                      </a:pPr>
                      <a:r>
                        <a:rPr lang="en-US" sz="1100" b="1" u="none" strike="noStrike" dirty="0" err="1">
                          <a:solidFill>
                            <a:schemeClr val="bg1">
                              <a:lumMod val="50000"/>
                            </a:schemeClr>
                          </a:solidFill>
                          <a:effectLst/>
                        </a:rPr>
                        <a:t>含义</a:t>
                      </a:r>
                      <a:endParaRPr lang="en-US" sz="1100" b="1" i="0" u="none" strike="noStrike" dirty="0">
                        <a:solidFill>
                          <a:schemeClr val="bg1">
                            <a:lumMod val="50000"/>
                          </a:schemeClr>
                        </a:solidFill>
                        <a:effectLst/>
                        <a:latin typeface="Aptos Narrow" panose="020B0004020202020204" pitchFamily="34" charset="0"/>
                      </a:endParaRPr>
                    </a:p>
                  </a:txBody>
                  <a:tcPr marL="7620" marR="7620" marT="7620" marB="0" anchor="b"/>
                </a:tc>
                <a:extLst>
                  <a:ext uri="{0D108BD9-81ED-4DB2-BD59-A6C34878D82A}">
                    <a16:rowId xmlns="" xmlns:a16="http://schemas.microsoft.com/office/drawing/2014/main" val="3186652247"/>
                  </a:ext>
                </a:extLst>
              </a:tr>
              <a:tr h="190500">
                <a:tc>
                  <a:txBody>
                    <a:bodyPr/>
                    <a:lstStyle/>
                    <a:p>
                      <a:pPr algn="l" fontAlgn="b">
                        <a:buNone/>
                      </a:pPr>
                      <a:r>
                        <a:rPr lang="en-US" sz="1100" u="none" strike="noStrike">
                          <a:effectLst/>
                        </a:rPr>
                        <a:t>p</a:t>
                      </a:r>
                      <a:endParaRPr lang="en-US" sz="1100" b="0" i="0" u="none" strike="noStrike">
                        <a:solidFill>
                          <a:srgbClr val="000000"/>
                        </a:solidFill>
                        <a:effectLst/>
                        <a:latin typeface="Aptos Narrow" panose="020B0004020202020204" pitchFamily="34" charset="0"/>
                      </a:endParaRPr>
                    </a:p>
                  </a:txBody>
                  <a:tcPr marL="7620" marR="7620" marT="7620" marB="0" anchor="b"/>
                </a:tc>
                <a:tc>
                  <a:txBody>
                    <a:bodyPr/>
                    <a:lstStyle/>
                    <a:p>
                      <a:pPr algn="l" fontAlgn="b">
                        <a:buNone/>
                      </a:pPr>
                      <a:r>
                        <a:rPr lang="en-US" sz="1100" u="none" strike="noStrike">
                          <a:effectLst/>
                        </a:rPr>
                        <a:t>影响沿每条线传下去的概率</a:t>
                      </a:r>
                      <a:endParaRPr lang="en-US" sz="1100" b="0" i="0" u="none" strike="noStrike">
                        <a:solidFill>
                          <a:srgbClr val="000000"/>
                        </a:solidFill>
                        <a:effectLst/>
                        <a:latin typeface="Aptos Narrow" panose="020B0004020202020204" pitchFamily="34" charset="0"/>
                      </a:endParaRPr>
                    </a:p>
                  </a:txBody>
                  <a:tcPr marL="7620" marR="7620" marT="7620" marB="0" anchor="b"/>
                </a:tc>
                <a:extLst>
                  <a:ext uri="{0D108BD9-81ED-4DB2-BD59-A6C34878D82A}">
                    <a16:rowId xmlns="" xmlns:a16="http://schemas.microsoft.com/office/drawing/2014/main" val="963817381"/>
                  </a:ext>
                </a:extLst>
              </a:tr>
              <a:tr h="190500">
                <a:tc>
                  <a:txBody>
                    <a:bodyPr/>
                    <a:lstStyle/>
                    <a:p>
                      <a:pPr algn="l" fontAlgn="b">
                        <a:buNone/>
                      </a:pPr>
                      <a:r>
                        <a:rPr lang="en-US" sz="1100" u="none" strike="noStrike">
                          <a:effectLst/>
                        </a:rPr>
                        <a:t>dˉout​</a:t>
                      </a:r>
                      <a:endParaRPr lang="en-US" sz="1100" b="0" i="0" u="none" strike="noStrike">
                        <a:solidFill>
                          <a:srgbClr val="000000"/>
                        </a:solidFill>
                        <a:effectLst/>
                        <a:latin typeface="Aptos Narrow" panose="020B0004020202020204" pitchFamily="34" charset="0"/>
                      </a:endParaRPr>
                    </a:p>
                  </a:txBody>
                  <a:tcPr marL="7620" marR="7620" marT="7620" marB="0" anchor="b"/>
                </a:tc>
                <a:tc>
                  <a:txBody>
                    <a:bodyPr/>
                    <a:lstStyle/>
                    <a:p>
                      <a:pPr algn="l" fontAlgn="b">
                        <a:buNone/>
                      </a:pPr>
                      <a:r>
                        <a:rPr lang="en-US" sz="1100" u="none" strike="noStrike" dirty="0" err="1">
                          <a:effectLst/>
                        </a:rPr>
                        <a:t>每个任务平均有几个下游任务</a:t>
                      </a:r>
                      <a:endParaRPr lang="en-US" sz="1100" b="0" i="0" u="none" strike="noStrike" dirty="0">
                        <a:solidFill>
                          <a:srgbClr val="000000"/>
                        </a:solidFill>
                        <a:effectLst/>
                        <a:latin typeface="Aptos Narrow" panose="020B0004020202020204" pitchFamily="34" charset="0"/>
                      </a:endParaRPr>
                    </a:p>
                  </a:txBody>
                  <a:tcPr marL="7620" marR="7620" marT="7620" marB="0" anchor="b"/>
                </a:tc>
                <a:extLst>
                  <a:ext uri="{0D108BD9-81ED-4DB2-BD59-A6C34878D82A}">
                    <a16:rowId xmlns="" xmlns:a16="http://schemas.microsoft.com/office/drawing/2014/main" val="2807267596"/>
                  </a:ext>
                </a:extLst>
              </a:tr>
              <a:tr h="190500">
                <a:tc>
                  <a:txBody>
                    <a:bodyPr/>
                    <a:lstStyle/>
                    <a:p>
                      <a:pPr algn="l" fontAlgn="b">
                        <a:buNone/>
                      </a:pPr>
                      <a:r>
                        <a:rPr lang="en-US" sz="1100" u="none" strike="noStrike">
                          <a:effectLst/>
                        </a:rPr>
                        <a:t>dmax​</a:t>
                      </a:r>
                      <a:endParaRPr lang="en-US" sz="1100" b="0" i="0" u="none" strike="noStrike">
                        <a:solidFill>
                          <a:srgbClr val="000000"/>
                        </a:solidFill>
                        <a:effectLst/>
                        <a:latin typeface="Aptos Narrow" panose="020B0004020202020204" pitchFamily="34" charset="0"/>
                      </a:endParaRPr>
                    </a:p>
                  </a:txBody>
                  <a:tcPr marL="7620" marR="7620" marT="7620" marB="0" anchor="b"/>
                </a:tc>
                <a:tc>
                  <a:txBody>
                    <a:bodyPr/>
                    <a:lstStyle/>
                    <a:p>
                      <a:pPr algn="l" fontAlgn="b">
                        <a:buNone/>
                      </a:pPr>
                      <a:r>
                        <a:rPr lang="en-US" sz="1100" u="none" strike="noStrike" dirty="0" err="1">
                          <a:effectLst/>
                        </a:rPr>
                        <a:t>最多追踪几层传播</a:t>
                      </a:r>
                      <a:endParaRPr lang="en-US" sz="1100" b="0" i="0" u="none" strike="noStrike" dirty="0">
                        <a:solidFill>
                          <a:srgbClr val="000000"/>
                        </a:solidFill>
                        <a:effectLst/>
                        <a:latin typeface="Aptos Narrow" panose="020B0004020202020204" pitchFamily="34" charset="0"/>
                      </a:endParaRPr>
                    </a:p>
                  </a:txBody>
                  <a:tcPr marL="7620" marR="7620" marT="7620" marB="0" anchor="b"/>
                </a:tc>
                <a:extLst>
                  <a:ext uri="{0D108BD9-81ED-4DB2-BD59-A6C34878D82A}">
                    <a16:rowId xmlns="" xmlns:a16="http://schemas.microsoft.com/office/drawing/2014/main" val="3590090535"/>
                  </a:ext>
                </a:extLst>
              </a:tr>
            </a:tbl>
          </a:graphicData>
        </a:graphic>
      </p:graphicFrame>
      <p:sp>
        <p:nvSpPr>
          <p:cNvPr id="23" name="TextBox 22">
            <a:extLst>
              <a:ext uri="{FF2B5EF4-FFF2-40B4-BE49-F238E27FC236}">
                <a16:creationId xmlns="" xmlns:a16="http://schemas.microsoft.com/office/drawing/2014/main" id="{02BF0563-0D47-5C2F-106F-D733E3B31009}"/>
              </a:ext>
            </a:extLst>
          </p:cNvPr>
          <p:cNvSpPr txBox="1"/>
          <p:nvPr/>
        </p:nvSpPr>
        <p:spPr>
          <a:xfrm>
            <a:off x="3635896" y="1600220"/>
            <a:ext cx="5471435" cy="1261884"/>
          </a:xfrm>
          <a:prstGeom prst="rect">
            <a:avLst/>
          </a:prstGeom>
          <a:noFill/>
        </p:spPr>
        <p:txBody>
          <a:bodyPr wrap="square">
            <a:spAutoFit/>
          </a:bodyPr>
          <a:lstStyle/>
          <a:p>
            <a:pPr lvl="0">
              <a:buSzPts val="1000"/>
              <a:tabLst>
                <a:tab pos="457200" algn="l"/>
              </a:tabLst>
            </a:pPr>
            <a:r>
              <a:rPr lang="en-US" sz="1200" dirty="0"/>
              <a:t>• </a:t>
            </a:r>
            <a:r>
              <a:rPr lang="en-US" sz="1200" dirty="0">
                <a:latin typeface="微软雅黑" panose="020B0503020204020204" pitchFamily="34" charset="-122"/>
                <a:ea typeface="微软雅黑" panose="020B0503020204020204" pitchFamily="34" charset="-122"/>
              </a:rPr>
              <a:t>Comp</a:t>
            </a:r>
            <a:r>
              <a:rPr lang="zh-CN" altLang="en-US" sz="1200" dirty="0">
                <a:latin typeface="微软雅黑" panose="020B0503020204020204" pitchFamily="34" charset="-122"/>
                <a:ea typeface="微软雅黑" panose="020B0503020204020204" pitchFamily="34" charset="-122"/>
              </a:rPr>
              <a:t>（已完成）</a:t>
            </a:r>
            <a:r>
              <a:rPr lang="en-US" sz="1200" dirty="0"/>
              <a:t>• </a:t>
            </a:r>
            <a:r>
              <a:rPr lang="en-US" sz="1200" dirty="0">
                <a:latin typeface="微软雅黑" panose="020B0503020204020204" pitchFamily="34" charset="-122"/>
                <a:ea typeface="微软雅黑" panose="020B0503020204020204" pitchFamily="34" charset="-122"/>
              </a:rPr>
              <a:t>Exec-U</a:t>
            </a:r>
            <a:r>
              <a:rPr lang="zh-CN" altLang="en-US" sz="1200" dirty="0">
                <a:latin typeface="微软雅黑" panose="020B0503020204020204" pitchFamily="34" charset="-122"/>
                <a:ea typeface="微软雅黑" panose="020B0503020204020204" pitchFamily="34" charset="-122"/>
              </a:rPr>
              <a:t>（执行中</a:t>
            </a:r>
            <a:r>
              <a:rPr lang="en-US" sz="1200" dirty="0">
                <a:latin typeface="微软雅黑" panose="020B0503020204020204" pitchFamily="34" charset="-122"/>
                <a:ea typeface="微软雅黑" panose="020B0503020204020204" pitchFamily="34" charset="-122"/>
              </a:rPr>
              <a:t>-</a:t>
            </a:r>
            <a:r>
              <a:rPr lang="zh-CN" altLang="en-US" sz="1200" dirty="0">
                <a:latin typeface="微软雅黑" panose="020B0503020204020204" pitchFamily="34" charset="-122"/>
                <a:ea typeface="微软雅黑" panose="020B0503020204020204" pitchFamily="34" charset="-122"/>
              </a:rPr>
              <a:t>无影响）</a:t>
            </a:r>
            <a:r>
              <a:rPr lang="en-US" sz="1200" dirty="0"/>
              <a:t>• </a:t>
            </a:r>
            <a:r>
              <a:rPr lang="en-US" sz="1200" dirty="0">
                <a:latin typeface="微软雅黑" panose="020B0503020204020204" pitchFamily="34" charset="-122"/>
                <a:ea typeface="微软雅黑" panose="020B0503020204020204" pitchFamily="34" charset="-122"/>
              </a:rPr>
              <a:t>Exec-A</a:t>
            </a:r>
            <a:r>
              <a:rPr lang="zh-CN" altLang="en-US" sz="1200" dirty="0">
                <a:latin typeface="微软雅黑" panose="020B0503020204020204" pitchFamily="34" charset="-122"/>
                <a:ea typeface="微软雅黑" panose="020B0503020204020204" pitchFamily="34" charset="-122"/>
              </a:rPr>
              <a:t>（执行中</a:t>
            </a:r>
            <a:r>
              <a:rPr lang="en-US" sz="1200" dirty="0">
                <a:latin typeface="微软雅黑" panose="020B0503020204020204" pitchFamily="34" charset="-122"/>
                <a:ea typeface="微软雅黑" panose="020B0503020204020204" pitchFamily="34" charset="-122"/>
              </a:rPr>
              <a:t>-</a:t>
            </a:r>
            <a:r>
              <a:rPr lang="zh-CN" altLang="en-US" sz="1200" dirty="0">
                <a:latin typeface="微软雅黑" panose="020B0503020204020204" pitchFamily="34" charset="-122"/>
                <a:ea typeface="微软雅黑" panose="020B0503020204020204" pitchFamily="34" charset="-122"/>
              </a:rPr>
              <a:t>受影响）</a:t>
            </a:r>
            <a:r>
              <a:rPr lang="en-US" sz="1200" dirty="0"/>
              <a:t>• </a:t>
            </a:r>
            <a:r>
              <a:rPr lang="en-US" sz="1200" dirty="0">
                <a:latin typeface="微软雅黑" panose="020B0503020204020204" pitchFamily="34" charset="-122"/>
                <a:ea typeface="微软雅黑" panose="020B0503020204020204" pitchFamily="34" charset="-122"/>
              </a:rPr>
              <a:t>Pend-U</a:t>
            </a:r>
            <a:r>
              <a:rPr lang="zh-CN" altLang="en-US" sz="1200" dirty="0">
                <a:latin typeface="微软雅黑" panose="020B0503020204020204" pitchFamily="34" charset="-122"/>
                <a:ea typeface="微软雅黑" panose="020B0503020204020204" pitchFamily="34" charset="-122"/>
              </a:rPr>
              <a:t>（待执行</a:t>
            </a:r>
            <a:r>
              <a:rPr lang="en-US" sz="1200" dirty="0">
                <a:latin typeface="微软雅黑" panose="020B0503020204020204" pitchFamily="34" charset="-122"/>
                <a:ea typeface="微软雅黑" panose="020B0503020204020204" pitchFamily="34" charset="-122"/>
              </a:rPr>
              <a:t>-</a:t>
            </a:r>
            <a:r>
              <a:rPr lang="zh-CN" altLang="en-US" sz="1200" dirty="0">
                <a:latin typeface="微软雅黑" panose="020B0503020204020204" pitchFamily="34" charset="-122"/>
                <a:ea typeface="微软雅黑" panose="020B0503020204020204" pitchFamily="34" charset="-122"/>
              </a:rPr>
              <a:t>无影响）</a:t>
            </a:r>
            <a:r>
              <a:rPr lang="en-US" sz="1200" dirty="0"/>
              <a:t>• </a:t>
            </a:r>
            <a:r>
              <a:rPr lang="en-US" sz="1200" dirty="0">
                <a:latin typeface="微软雅黑" panose="020B0503020204020204" pitchFamily="34" charset="-122"/>
                <a:ea typeface="微软雅黑" panose="020B0503020204020204" pitchFamily="34" charset="-122"/>
              </a:rPr>
              <a:t>Pend-D</a:t>
            </a:r>
            <a:r>
              <a:rPr lang="zh-CN" altLang="en-US" sz="1200" dirty="0">
                <a:latin typeface="微软雅黑" panose="020B0503020204020204" pitchFamily="34" charset="-122"/>
                <a:ea typeface="微软雅黑" panose="020B0503020204020204" pitchFamily="34" charset="-122"/>
              </a:rPr>
              <a:t>（待执行</a:t>
            </a:r>
            <a:r>
              <a:rPr lang="en-US" sz="1200" dirty="0">
                <a:latin typeface="微软雅黑" panose="020B0503020204020204" pitchFamily="34" charset="-122"/>
                <a:ea typeface="微软雅黑" panose="020B0503020204020204" pitchFamily="34" charset="-122"/>
              </a:rPr>
              <a:t>-</a:t>
            </a:r>
            <a:r>
              <a:rPr lang="zh-CN" altLang="en-US" sz="1200" dirty="0">
                <a:latin typeface="微软雅黑" panose="020B0503020204020204" pitchFamily="34" charset="-122"/>
                <a:ea typeface="微软雅黑" panose="020B0503020204020204" pitchFamily="34" charset="-122"/>
              </a:rPr>
              <a:t>直接影响）</a:t>
            </a:r>
            <a:r>
              <a:rPr lang="en-US" sz="1200" dirty="0"/>
              <a:t>• </a:t>
            </a:r>
            <a:r>
              <a:rPr lang="en-US" sz="1200" dirty="0">
                <a:latin typeface="微软雅黑" panose="020B0503020204020204" pitchFamily="34" charset="-122"/>
                <a:ea typeface="微软雅黑" panose="020B0503020204020204" pitchFamily="34" charset="-122"/>
              </a:rPr>
              <a:t>Pend-I</a:t>
            </a:r>
            <a:r>
              <a:rPr lang="zh-CN" altLang="en-US" sz="1200" dirty="0">
                <a:latin typeface="微软雅黑" panose="020B0503020204020204" pitchFamily="34" charset="-122"/>
                <a:ea typeface="微软雅黑" panose="020B0503020204020204" pitchFamily="34" charset="-122"/>
              </a:rPr>
              <a:t>（待执行</a:t>
            </a:r>
            <a:r>
              <a:rPr lang="en-US" sz="1200" dirty="0">
                <a:latin typeface="微软雅黑" panose="020B0503020204020204" pitchFamily="34" charset="-122"/>
                <a:ea typeface="微软雅黑" panose="020B0503020204020204" pitchFamily="34" charset="-122"/>
              </a:rPr>
              <a:t>-</a:t>
            </a:r>
            <a:r>
              <a:rPr lang="zh-CN" altLang="en-US" sz="1200" dirty="0">
                <a:latin typeface="微软雅黑" panose="020B0503020204020204" pitchFamily="34" charset="-122"/>
                <a:ea typeface="微软雅黑" panose="020B0503020204020204" pitchFamily="34" charset="-122"/>
              </a:rPr>
              <a:t>间接影响）</a:t>
            </a:r>
            <a:endParaRPr lang="en-US" altLang="zh-CN" sz="1200" dirty="0">
              <a:latin typeface="微软雅黑" panose="020B0503020204020204" pitchFamily="34" charset="-122"/>
              <a:ea typeface="微软雅黑" panose="020B0503020204020204" pitchFamily="34" charset="-122"/>
            </a:endParaRPr>
          </a:p>
          <a:p>
            <a:r>
              <a:rPr lang="zh-CN" altLang="en-US" sz="1400" dirty="0">
                <a:latin typeface="微软雅黑" panose="020B0503020204020204" pitchFamily="34" charset="-122"/>
                <a:ea typeface="微软雅黑" panose="020B0503020204020204" pitchFamily="34" charset="-122"/>
              </a:rPr>
              <a:t>需重调度任务集合</a:t>
            </a:r>
            <a:r>
              <a:rPr lang="en-US" sz="1400" dirty="0">
                <a:latin typeface="微软雅黑" panose="020B0503020204020204" pitchFamily="34" charset="-122"/>
                <a:ea typeface="微软雅黑" panose="020B0503020204020204" pitchFamily="34" charset="-122"/>
              </a:rPr>
              <a:t> = {</a:t>
            </a:r>
            <a:r>
              <a:rPr lang="zh-CN" altLang="en-US" sz="1400" dirty="0">
                <a:latin typeface="微软雅黑" panose="020B0503020204020204" pitchFamily="34" charset="-122"/>
                <a:ea typeface="微软雅黑" panose="020B0503020204020204" pitchFamily="34" charset="-122"/>
              </a:rPr>
              <a:t>任务</a:t>
            </a:r>
            <a:r>
              <a:rPr lang="en-US" sz="1400" dirty="0">
                <a:latin typeface="微软雅黑" panose="020B0503020204020204" pitchFamily="34" charset="-122"/>
                <a:ea typeface="微软雅黑" panose="020B0503020204020204" pitchFamily="34" charset="-122"/>
              </a:rPr>
              <a:t> | </a:t>
            </a:r>
            <a:r>
              <a:rPr lang="zh-CN" altLang="en-US" sz="1400" dirty="0">
                <a:latin typeface="微软雅黑" panose="020B0503020204020204" pitchFamily="34" charset="-122"/>
                <a:ea typeface="微软雅黑" panose="020B0503020204020204" pitchFamily="34" charset="-122"/>
              </a:rPr>
              <a:t>状态 </a:t>
            </a:r>
            <a:r>
              <a:rPr lang="en-US" sz="1400" dirty="0">
                <a:latin typeface="微软雅黑" panose="020B0503020204020204" pitchFamily="34" charset="-122"/>
                <a:ea typeface="微软雅黑" panose="020B0503020204020204" pitchFamily="34" charset="-122"/>
              </a:rPr>
              <a:t>∈ { Exec-A, Pend-D, Pend-I }}</a:t>
            </a:r>
          </a:p>
          <a:p>
            <a:r>
              <a:rPr lang="zh-CN" altLang="en-US" sz="1400" dirty="0">
                <a:latin typeface="微软雅黑" panose="020B0503020204020204" pitchFamily="34" charset="-122"/>
                <a:ea typeface="微软雅黑" panose="020B0503020204020204" pitchFamily="34" charset="-122"/>
              </a:rPr>
              <a:t>保持不变任务集合</a:t>
            </a:r>
            <a:r>
              <a:rPr lang="en-US" sz="1400" dirty="0">
                <a:latin typeface="微软雅黑" panose="020B0503020204020204" pitchFamily="34" charset="-122"/>
                <a:ea typeface="微软雅黑" panose="020B0503020204020204" pitchFamily="34" charset="-122"/>
              </a:rPr>
              <a:t> = {</a:t>
            </a:r>
            <a:r>
              <a:rPr lang="zh-CN" altLang="en-US" sz="1400" dirty="0">
                <a:latin typeface="微软雅黑" panose="020B0503020204020204" pitchFamily="34" charset="-122"/>
                <a:ea typeface="微软雅黑" panose="020B0503020204020204" pitchFamily="34" charset="-122"/>
              </a:rPr>
              <a:t>任务</a:t>
            </a:r>
            <a:r>
              <a:rPr lang="en-US" sz="1400" dirty="0">
                <a:latin typeface="微软雅黑" panose="020B0503020204020204" pitchFamily="34" charset="-122"/>
                <a:ea typeface="微软雅黑" panose="020B0503020204020204" pitchFamily="34" charset="-122"/>
              </a:rPr>
              <a:t> | </a:t>
            </a:r>
            <a:r>
              <a:rPr lang="zh-CN" altLang="en-US" sz="1400" dirty="0">
                <a:latin typeface="微软雅黑" panose="020B0503020204020204" pitchFamily="34" charset="-122"/>
                <a:ea typeface="微软雅黑" panose="020B0503020204020204" pitchFamily="34" charset="-122"/>
              </a:rPr>
              <a:t>状态 </a:t>
            </a:r>
            <a:r>
              <a:rPr lang="en-US" sz="1400" dirty="0">
                <a:latin typeface="微软雅黑" panose="020B0503020204020204" pitchFamily="34" charset="-122"/>
                <a:ea typeface="微软雅黑" panose="020B0503020204020204" pitchFamily="34" charset="-122"/>
              </a:rPr>
              <a:t>∈ {Comp, Exec-U, Pend-U }}</a:t>
            </a:r>
          </a:p>
          <a:p>
            <a:pPr lvl="0">
              <a:buSzPts val="1000"/>
              <a:tabLst>
                <a:tab pos="457200" algn="l"/>
              </a:tabLst>
            </a:pPr>
            <a:endParaRPr lang="en-US" sz="1200" dirty="0">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25" name="TextBox 24">
                <a:extLst>
                  <a:ext uri="{FF2B5EF4-FFF2-40B4-BE49-F238E27FC236}">
                    <a16:creationId xmlns="" xmlns:a16="http://schemas.microsoft.com/office/drawing/2014/main" id="{C23E53BD-883F-87CA-82CA-B7BE113BF242}"/>
                  </a:ext>
                </a:extLst>
              </p:cNvPr>
              <p:cNvSpPr txBox="1"/>
              <p:nvPr/>
            </p:nvSpPr>
            <p:spPr>
              <a:xfrm>
                <a:off x="5652120" y="2648354"/>
                <a:ext cx="3474260" cy="954107"/>
              </a:xfrm>
              <a:prstGeom prst="rect">
                <a:avLst/>
              </a:prstGeom>
              <a:noFill/>
            </p:spPr>
            <p:txBody>
              <a:bodyPr wrap="square">
                <a:spAutoFit/>
              </a:bodyPr>
              <a:lstStyle/>
              <a:p>
                <a:r>
                  <a:rPr lang="en-US" sz="1400" dirty="0"/>
                  <a:t>• </a:t>
                </a:r>
                <a:r>
                  <a:rPr lang="en-US" sz="1400" dirty="0" err="1"/>
                  <a:t>若ρ</a:t>
                </a:r>
                <a:r>
                  <a:rPr lang="en-US" sz="1400" dirty="0"/>
                  <a:t>&lt;0.3（稀疏依赖）</a:t>
                </a:r>
                <a:r>
                  <a:rPr lang="zh-CN" altLang="en-US" sz="1400" dirty="0"/>
                  <a:t>：断裂成多组小任务（任务之间没太有关联）分别调度规划</a:t>
                </a:r>
                <a:endParaRPr lang="en-US" altLang="zh-CN" sz="1400" dirty="0"/>
              </a:p>
              <a:p>
                <a:r>
                  <a:rPr lang="en-US" sz="1400" dirty="0"/>
                  <a:t>• 若 </a:t>
                </a:r>
                <a14:m>
                  <m:oMath xmlns:m="http://schemas.openxmlformats.org/officeDocument/2006/math">
                    <m:r>
                      <a:rPr lang="en-US" sz="1400">
                        <a:latin typeface="Cambria Math" panose="02040503050406030204" pitchFamily="18" charset="0"/>
                      </a:rPr>
                      <m:t>𝜌</m:t>
                    </m:r>
                    <m:r>
                      <a:rPr lang="en-US" sz="1400">
                        <a:latin typeface="Cambria Math" panose="02040503050406030204" pitchFamily="18" charset="0"/>
                      </a:rPr>
                      <m:t>≥</m:t>
                    </m:r>
                  </m:oMath>
                </a14:m>
                <a:r>
                  <a:rPr lang="en-US" sz="1400" dirty="0"/>
                  <a:t> 0.3（</a:t>
                </a:r>
                <a:r>
                  <a:rPr lang="zh-CN" altLang="en-US" sz="1400" dirty="0"/>
                  <a:t>稠密</a:t>
                </a:r>
                <a:r>
                  <a:rPr lang="en-US" sz="1400" dirty="0" err="1"/>
                  <a:t>依赖</a:t>
                </a:r>
                <a:r>
                  <a:rPr lang="en-US" sz="1400" dirty="0"/>
                  <a:t>）</a:t>
                </a:r>
                <a:r>
                  <a:rPr lang="zh-CN" altLang="en-US" sz="1400" dirty="0"/>
                  <a:t>：</a:t>
                </a:r>
                <a:r>
                  <a:rPr lang="en-US" sz="1400" dirty="0"/>
                  <a:t> </a:t>
                </a:r>
                <a:r>
                  <a:rPr lang="en-US" sz="1400" dirty="0" err="1"/>
                  <a:t>按时间</a:t>
                </a:r>
                <a:r>
                  <a:rPr lang="zh-CN" altLang="en-US" sz="1400" dirty="0"/>
                  <a:t>轴上的</a:t>
                </a:r>
                <a:r>
                  <a:rPr lang="en-US" sz="1400" dirty="0" err="1"/>
                  <a:t>顺序切</a:t>
                </a:r>
                <a:r>
                  <a:rPr lang="zh-CN" altLang="en-US" sz="1400" dirty="0"/>
                  <a:t>开任务集</a:t>
                </a:r>
                <a:endParaRPr lang="en-US" sz="1400" dirty="0"/>
              </a:p>
            </p:txBody>
          </p:sp>
        </mc:Choice>
        <mc:Fallback xmlns="">
          <p:sp>
            <p:nvSpPr>
              <p:cNvPr id="25" name="TextBox 24">
                <a:extLst>
                  <a:ext uri="{FF2B5EF4-FFF2-40B4-BE49-F238E27FC236}">
                    <a16:creationId xmlns:a16="http://schemas.microsoft.com/office/drawing/2014/main" id="{C23E53BD-883F-87CA-82CA-B7BE113BF242}"/>
                  </a:ext>
                </a:extLst>
              </p:cNvPr>
              <p:cNvSpPr txBox="1">
                <a:spLocks noRot="1" noChangeAspect="1" noMove="1" noResize="1" noEditPoints="1" noAdjustHandles="1" noChangeArrowheads="1" noChangeShapeType="1" noTextEdit="1"/>
              </p:cNvSpPr>
              <p:nvPr/>
            </p:nvSpPr>
            <p:spPr>
              <a:xfrm>
                <a:off x="5652120" y="2648354"/>
                <a:ext cx="3474260" cy="954107"/>
              </a:xfrm>
              <a:prstGeom prst="rect">
                <a:avLst/>
              </a:prstGeom>
              <a:blipFill>
                <a:blip r:embed="rId5"/>
                <a:stretch>
                  <a:fillRect l="-526" t="-1911"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152E66B6-29FA-D6FA-198E-F548332073D2}"/>
                  </a:ext>
                </a:extLst>
              </p:cNvPr>
              <p:cNvSpPr txBox="1"/>
              <p:nvPr/>
            </p:nvSpPr>
            <p:spPr>
              <a:xfrm>
                <a:off x="3617565" y="3900114"/>
                <a:ext cx="4581524" cy="95660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n-US" sz="1200" b="0" smtClean="0"/>
                        <m:t>Solver</m:t>
                      </m:r>
                      <m:d>
                        <m:dPr>
                          <m:ctrlPr>
                            <a:rPr lang="en-US" sz="1200" b="0" i="1">
                              <a:latin typeface="Cambria Math" panose="02040503050406030204" pitchFamily="18" charset="0"/>
                            </a:rPr>
                          </m:ctrlPr>
                        </m:dPr>
                        <m:e>
                          <m:sSub>
                            <m:sSubPr>
                              <m:ctrlPr>
                                <a:rPr lang="en-US" sz="1200" b="0" i="1">
                                  <a:latin typeface="Cambria Math" panose="02040503050406030204" pitchFamily="18" charset="0"/>
                                </a:rPr>
                              </m:ctrlPr>
                            </m:sSubPr>
                            <m:e>
                              <m:r>
                                <a:rPr lang="en-US" sz="1200" b="0" i="1">
                                  <a:latin typeface="Cambria Math" panose="02040503050406030204" pitchFamily="18" charset="0"/>
                                </a:rPr>
                                <m:t>𝑆</m:t>
                              </m:r>
                            </m:e>
                            <m:sub>
                              <m:r>
                                <a:rPr lang="en-US" sz="1200" b="0" i="1">
                                  <a:latin typeface="Cambria Math" panose="02040503050406030204" pitchFamily="18" charset="0"/>
                                </a:rPr>
                                <m:t>𝑘</m:t>
                              </m:r>
                            </m:sub>
                          </m:sSub>
                        </m:e>
                      </m:d>
                      <m:r>
                        <a:rPr lang="en-US" sz="1200" b="0" i="0">
                          <a:latin typeface="Cambria Math" panose="02040503050406030204" pitchFamily="18" charset="0"/>
                        </a:rPr>
                        <m:t>=</m:t>
                      </m:r>
                      <m:d>
                        <m:dPr>
                          <m:begChr m:val="{"/>
                          <m:endChr m:val=""/>
                          <m:ctrlPr>
                            <a:rPr lang="en-US" sz="1200" b="0" i="1">
                              <a:latin typeface="Cambria Math" panose="02040503050406030204" pitchFamily="18" charset="0"/>
                            </a:rPr>
                          </m:ctrlPr>
                        </m:dPr>
                        <m:e>
                          <m:m>
                            <m:mPr>
                              <m:plcHide m:val="on"/>
                              <m:mcs>
                                <m:mc>
                                  <m:mcPr>
                                    <m:count m:val="2"/>
                                    <m:mcJc m:val="center"/>
                                  </m:mcPr>
                                </m:mc>
                              </m:mcs>
                              <m:ctrlPr>
                                <a:rPr lang="en-US" sz="1200" b="0" i="1">
                                  <a:latin typeface="Cambria Math" panose="02040503050406030204" pitchFamily="18" charset="0"/>
                                </a:rPr>
                              </m:ctrlPr>
                            </m:mPr>
                            <m:mr>
                              <m:e>
                                <m:r>
                                  <m:rPr>
                                    <m:nor/>
                                  </m:rPr>
                                  <a:rPr lang="en-US" sz="1200" b="0" i="1">
                                    <a:latin typeface="Cambria Math" panose="02040503050406030204" pitchFamily="18" charset="0"/>
                                  </a:rPr>
                                  <m:t>MIP</m:t>
                                </m:r>
                                <m:r>
                                  <m:rPr>
                                    <m:nor/>
                                  </m:rPr>
                                  <a:rPr lang="en-US" sz="1200" b="0" i="1">
                                    <a:latin typeface="Cambria Math" panose="02040503050406030204" pitchFamily="18" charset="0"/>
                                  </a:rPr>
                                  <m:t>（混合整数规划）</m:t>
                                </m:r>
                              </m:e>
                              <m:e>
                                <m:r>
                                  <a:rPr lang="en-US" sz="1200" b="0" i="0">
                                    <a:latin typeface="Cambria Math" panose="02040503050406030204" pitchFamily="18" charset="0"/>
                                  </a:rPr>
                                  <m:t>|</m:t>
                                </m:r>
                                <m:sSub>
                                  <m:sSubPr>
                                    <m:ctrlPr>
                                      <a:rPr lang="en-US" sz="1200" b="0" i="1">
                                        <a:latin typeface="Cambria Math" panose="02040503050406030204" pitchFamily="18" charset="0"/>
                                      </a:rPr>
                                    </m:ctrlPr>
                                  </m:sSubPr>
                                  <m:e>
                                    <m:r>
                                      <a:rPr lang="en-US" sz="1200" b="0" i="1">
                                        <a:latin typeface="Cambria Math" panose="02040503050406030204" pitchFamily="18" charset="0"/>
                                      </a:rPr>
                                      <m:t>𝑆</m:t>
                                    </m:r>
                                  </m:e>
                                  <m:sub>
                                    <m:r>
                                      <a:rPr lang="en-US" sz="1200" b="0" i="1">
                                        <a:latin typeface="Cambria Math" panose="02040503050406030204" pitchFamily="18" charset="0"/>
                                      </a:rPr>
                                      <m:t>𝑘</m:t>
                                    </m:r>
                                  </m:sub>
                                </m:sSub>
                                <m:d>
                                  <m:dPr>
                                    <m:begChr m:val="|"/>
                                    <m:endChr m:val=""/>
                                    <m:ctrlPr>
                                      <a:rPr lang="en-US" sz="1200" b="0" i="1">
                                        <a:latin typeface="Cambria Math" panose="02040503050406030204" pitchFamily="18" charset="0"/>
                                      </a:rPr>
                                    </m:ctrlPr>
                                  </m:dPr>
                                  <m:e>
                                    <m:r>
                                      <a:rPr lang="en-US" sz="1200" b="0" i="0">
                                        <a:latin typeface="Cambria Math" panose="02040503050406030204" pitchFamily="18" charset="0"/>
                                      </a:rPr>
                                      <m:t>≤15</m:t>
                                    </m:r>
                                    <m:r>
                                      <m:rPr>
                                        <m:nor/>
                                      </m:rPr>
                                      <a:rPr lang="en-US" sz="1200" b="0" i="1">
                                        <a:latin typeface="Cambria Math" panose="02040503050406030204" pitchFamily="18" charset="0"/>
                                      </a:rPr>
                                      <m:t>（小规模，精确求解）</m:t>
                                    </m:r>
                                  </m:e>
                                </m:d>
                              </m:e>
                            </m:mr>
                            <m:mr>
                              <m:e>
                                <m:r>
                                  <m:rPr>
                                    <m:nor/>
                                  </m:rPr>
                                  <a:rPr lang="en-US" sz="1200" b="0" i="1">
                                    <a:latin typeface="Cambria Math" panose="02040503050406030204" pitchFamily="18" charset="0"/>
                                  </a:rPr>
                                  <m:t>GA</m:t>
                                </m:r>
                                <m:r>
                                  <m:rPr>
                                    <m:nor/>
                                  </m:rPr>
                                  <a:rPr lang="en-US" sz="1200" b="0" i="1">
                                    <a:latin typeface="Cambria Math" panose="02040503050406030204" pitchFamily="18" charset="0"/>
                                  </a:rPr>
                                  <m:t>（遗传算法）</m:t>
                                </m:r>
                              </m:e>
                              <m:e>
                                <m:r>
                                  <a:rPr lang="en-US" sz="1200" b="0" i="0">
                                    <a:latin typeface="Cambria Math" panose="02040503050406030204" pitchFamily="18" charset="0"/>
                                  </a:rPr>
                                  <m:t>15&lt;</m:t>
                                </m:r>
                                <m:d>
                                  <m:dPr>
                                    <m:begChr m:val="|"/>
                                    <m:endChr m:val="|"/>
                                    <m:ctrlPr>
                                      <a:rPr lang="en-US" sz="1200" b="0" i="1">
                                        <a:latin typeface="Cambria Math" panose="02040503050406030204" pitchFamily="18" charset="0"/>
                                      </a:rPr>
                                    </m:ctrlPr>
                                  </m:dPr>
                                  <m:e>
                                    <m:sSub>
                                      <m:sSubPr>
                                        <m:ctrlPr>
                                          <a:rPr lang="en-US" sz="1200" b="0" i="1">
                                            <a:latin typeface="Cambria Math" panose="02040503050406030204" pitchFamily="18" charset="0"/>
                                          </a:rPr>
                                        </m:ctrlPr>
                                      </m:sSubPr>
                                      <m:e>
                                        <m:r>
                                          <a:rPr lang="en-US" sz="1200" b="0" i="1">
                                            <a:latin typeface="Cambria Math" panose="02040503050406030204" pitchFamily="18" charset="0"/>
                                          </a:rPr>
                                          <m:t>𝑆</m:t>
                                        </m:r>
                                      </m:e>
                                      <m:sub>
                                        <m:r>
                                          <a:rPr lang="en-US" sz="1200" b="0" i="1">
                                            <a:latin typeface="Cambria Math" panose="02040503050406030204" pitchFamily="18" charset="0"/>
                                          </a:rPr>
                                          <m:t>𝑘</m:t>
                                        </m:r>
                                      </m:sub>
                                    </m:sSub>
                                  </m:e>
                                </m:d>
                                <m:r>
                                  <a:rPr lang="en-US" sz="1200" b="0" i="0">
                                    <a:latin typeface="Cambria Math" panose="02040503050406030204" pitchFamily="18" charset="0"/>
                                  </a:rPr>
                                  <m:t>≤50</m:t>
                                </m:r>
                                <m:r>
                                  <m:rPr>
                                    <m:nor/>
                                  </m:rPr>
                                  <a:rPr lang="en-US" sz="1200" b="0" i="1">
                                    <a:latin typeface="Cambria Math" panose="02040503050406030204" pitchFamily="18" charset="0"/>
                                  </a:rPr>
                                  <m:t>（中等规模，启发式）</m:t>
                                </m:r>
                              </m:e>
                            </m:mr>
                            <m:mr>
                              <m:e>
                                <m:r>
                                  <m:rPr>
                                    <m:nor/>
                                  </m:rPr>
                                  <a:rPr lang="en-US" sz="1200" b="0" i="1">
                                    <a:latin typeface="Cambria Math" panose="02040503050406030204" pitchFamily="18" charset="0"/>
                                  </a:rPr>
                                  <m:t>Greedy</m:t>
                                </m:r>
                                <m:r>
                                  <m:rPr>
                                    <m:nor/>
                                  </m:rPr>
                                  <a:rPr lang="en-US" sz="1200" b="0" i="1">
                                    <a:latin typeface="Cambria Math" panose="02040503050406030204" pitchFamily="18" charset="0"/>
                                  </a:rPr>
                                  <m:t> + </m:t>
                                </m:r>
                                <m:r>
                                  <m:rPr>
                                    <m:nor/>
                                  </m:rPr>
                                  <a:rPr lang="en-US" sz="1200" b="0" i="1">
                                    <a:latin typeface="Cambria Math" panose="02040503050406030204" pitchFamily="18" charset="0"/>
                                  </a:rPr>
                                  <m:t>LS</m:t>
                                </m:r>
                                <m:r>
                                  <m:rPr>
                                    <m:nor/>
                                  </m:rPr>
                                  <a:rPr lang="en-US" sz="1200" b="0" i="1">
                                    <a:latin typeface="Cambria Math" panose="02040503050406030204" pitchFamily="18" charset="0"/>
                                  </a:rPr>
                                  <m:t>（贪心</m:t>
                                </m:r>
                                <m:r>
                                  <m:rPr>
                                    <m:nor/>
                                  </m:rPr>
                                  <a:rPr lang="en-US" sz="1200" b="0" i="1">
                                    <a:latin typeface="Cambria Math" panose="02040503050406030204" pitchFamily="18" charset="0"/>
                                  </a:rPr>
                                  <m:t> + </m:t>
                                </m:r>
                                <m:r>
                                  <m:rPr>
                                    <m:nor/>
                                  </m:rPr>
                                  <a:rPr lang="en-US" sz="1200" b="0" i="1">
                                    <a:latin typeface="Cambria Math" panose="02040503050406030204" pitchFamily="18" charset="0"/>
                                  </a:rPr>
                                  <m:t>局部搜索）</m:t>
                                </m:r>
                              </m:e>
                              <m:e>
                                <m:r>
                                  <a:rPr lang="en-US" sz="1200" b="0" i="0">
                                    <a:latin typeface="Cambria Math" panose="02040503050406030204" pitchFamily="18" charset="0"/>
                                  </a:rPr>
                                  <m:t>|</m:t>
                                </m:r>
                                <m:sSub>
                                  <m:sSubPr>
                                    <m:ctrlPr>
                                      <a:rPr lang="en-US" sz="1200" b="0" i="1">
                                        <a:latin typeface="Cambria Math" panose="02040503050406030204" pitchFamily="18" charset="0"/>
                                      </a:rPr>
                                    </m:ctrlPr>
                                  </m:sSubPr>
                                  <m:e>
                                    <m:r>
                                      <a:rPr lang="en-US" sz="1200" b="0" i="1">
                                        <a:latin typeface="Cambria Math" panose="02040503050406030204" pitchFamily="18" charset="0"/>
                                      </a:rPr>
                                      <m:t>𝑆</m:t>
                                    </m:r>
                                  </m:e>
                                  <m:sub>
                                    <m:r>
                                      <a:rPr lang="en-US" sz="1200" b="0" i="1">
                                        <a:latin typeface="Cambria Math" panose="02040503050406030204" pitchFamily="18" charset="0"/>
                                      </a:rPr>
                                      <m:t>𝑘</m:t>
                                    </m:r>
                                  </m:sub>
                                </m:sSub>
                                <m:d>
                                  <m:dPr>
                                    <m:begChr m:val="|"/>
                                    <m:endChr m:val=""/>
                                    <m:ctrlPr>
                                      <a:rPr lang="en-US" sz="1200" b="0" i="1">
                                        <a:latin typeface="Cambria Math" panose="02040503050406030204" pitchFamily="18" charset="0"/>
                                      </a:rPr>
                                    </m:ctrlPr>
                                  </m:dPr>
                                  <m:e>
                                    <m:r>
                                      <a:rPr lang="en-US" sz="1200" b="0" i="0">
                                        <a:latin typeface="Cambria Math" panose="02040503050406030204" pitchFamily="18" charset="0"/>
                                      </a:rPr>
                                      <m:t>&gt;50</m:t>
                                    </m:r>
                                    <m:r>
                                      <m:rPr>
                                        <m:nor/>
                                      </m:rPr>
                                      <a:rPr lang="en-US" sz="1200" b="0" i="1">
                                        <a:latin typeface="Cambria Math" panose="02040503050406030204" pitchFamily="18" charset="0"/>
                                      </a:rPr>
                                      <m:t>（大规模，近似求解）</m:t>
                                    </m:r>
                                  </m:e>
                                </m:d>
                              </m:e>
                            </m:mr>
                          </m:m>
                        </m:e>
                      </m:d>
                    </m:oMath>
                  </m:oMathPara>
                </a14:m>
                <a:endParaRPr lang="en-US" sz="1200" dirty="0"/>
              </a:p>
            </p:txBody>
          </p:sp>
        </mc:Choice>
        <mc:Fallback xmlns="">
          <p:sp>
            <p:nvSpPr>
              <p:cNvPr id="27" name="TextBox 26">
                <a:extLst>
                  <a:ext uri="{FF2B5EF4-FFF2-40B4-BE49-F238E27FC236}">
                    <a16:creationId xmlns:a16="http://schemas.microsoft.com/office/drawing/2014/main" id="{152E66B6-29FA-D6FA-198E-F548332073D2}"/>
                  </a:ext>
                </a:extLst>
              </p:cNvPr>
              <p:cNvSpPr txBox="1">
                <a:spLocks noRot="1" noChangeAspect="1" noMove="1" noResize="1" noEditPoints="1" noAdjustHandles="1" noChangeArrowheads="1" noChangeShapeType="1" noTextEdit="1"/>
              </p:cNvSpPr>
              <p:nvPr/>
            </p:nvSpPr>
            <p:spPr>
              <a:xfrm>
                <a:off x="3617565" y="3900114"/>
                <a:ext cx="4581524" cy="956609"/>
              </a:xfrm>
              <a:prstGeom prst="rect">
                <a:avLst/>
              </a:prstGeom>
              <a:blipFill>
                <a:blip r:embed="rId6"/>
                <a:stretch>
                  <a:fillRect r="-12367"/>
                </a:stretch>
              </a:blipFill>
            </p:spPr>
            <p:txBody>
              <a:bodyPr/>
              <a:lstStyle/>
              <a:p>
                <a:r>
                  <a:rPr lang="en-US">
                    <a:noFill/>
                  </a:rPr>
                  <a:t> </a:t>
                </a:r>
              </a:p>
            </p:txBody>
          </p:sp>
        </mc:Fallback>
      </mc:AlternateContent>
    </p:spTree>
    <p:extLst>
      <p:ext uri="{BB962C8B-B14F-4D97-AF65-F5344CB8AC3E}">
        <p14:creationId xmlns:p14="http://schemas.microsoft.com/office/powerpoint/2010/main" val="12352420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p:cNvSpPr/>
          <p:nvPr/>
        </p:nvSpPr>
        <p:spPr>
          <a:xfrm>
            <a:off x="107504" y="675430"/>
            <a:ext cx="4314001"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实验一：移动</a:t>
            </a:r>
            <a:r>
              <a:rPr lang="en-US" sz="1600" b="1"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固定多智能体协同调度验证</a:t>
            </a:r>
          </a:p>
        </p:txBody>
      </p:sp>
      <p:sp>
        <p:nvSpPr>
          <p:cNvPr id="8" name="矩形 5">
            <a:extLst>
              <a:ext uri="{FF2B5EF4-FFF2-40B4-BE49-F238E27FC236}">
                <a16:creationId xmlns="" xmlns:a16="http://schemas.microsoft.com/office/drawing/2014/main" id="{8FCC5F10-880F-82B8-5F59-9B5B229C8447}"/>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9" name="Table 8">
            <a:extLst>
              <a:ext uri="{FF2B5EF4-FFF2-40B4-BE49-F238E27FC236}">
                <a16:creationId xmlns="" xmlns:a16="http://schemas.microsoft.com/office/drawing/2014/main" id="{296A28BD-0DAB-93F0-2FFC-74BB108491A1}"/>
              </a:ext>
            </a:extLst>
          </p:cNvPr>
          <p:cNvGraphicFramePr>
            <a:graphicFrameLocks noGrp="1"/>
          </p:cNvGraphicFramePr>
          <p:nvPr>
            <p:extLst>
              <p:ext uri="{D42A27DB-BD31-4B8C-83A1-F6EECF244321}">
                <p14:modId xmlns:p14="http://schemas.microsoft.com/office/powerpoint/2010/main" val="3446681371"/>
              </p:ext>
            </p:extLst>
          </p:nvPr>
        </p:nvGraphicFramePr>
        <p:xfrm>
          <a:off x="539552" y="1311011"/>
          <a:ext cx="8229600" cy="1146810"/>
        </p:xfrm>
        <a:graphic>
          <a:graphicData uri="http://schemas.openxmlformats.org/drawingml/2006/table">
            <a:tbl>
              <a:tblPr firstRow="1" firstCol="1" bandRow="1">
                <a:tableStyleId>{5C22544A-7EE6-4342-B048-85BDC9FD1C3A}</a:tableStyleId>
              </a:tblPr>
              <a:tblGrid>
                <a:gridCol w="2743200">
                  <a:extLst>
                    <a:ext uri="{9D8B030D-6E8A-4147-A177-3AD203B41FA5}">
                      <a16:colId xmlns="" xmlns:a16="http://schemas.microsoft.com/office/drawing/2014/main" val="3947607742"/>
                    </a:ext>
                  </a:extLst>
                </a:gridCol>
                <a:gridCol w="2743200">
                  <a:extLst>
                    <a:ext uri="{9D8B030D-6E8A-4147-A177-3AD203B41FA5}">
                      <a16:colId xmlns="" xmlns:a16="http://schemas.microsoft.com/office/drawing/2014/main" val="3615661026"/>
                    </a:ext>
                  </a:extLst>
                </a:gridCol>
                <a:gridCol w="2743200">
                  <a:extLst>
                    <a:ext uri="{9D8B030D-6E8A-4147-A177-3AD203B41FA5}">
                      <a16:colId xmlns="" xmlns:a16="http://schemas.microsoft.com/office/drawing/2014/main" val="2503039646"/>
                    </a:ext>
                  </a:extLst>
                </a:gridCol>
              </a:tblGrid>
              <a:tr h="0">
                <a:tc>
                  <a:txBody>
                    <a:bodyPr/>
                    <a:lstStyle/>
                    <a:p>
                      <a:pPr marL="0" marR="0" algn="ctr">
                        <a:lnSpc>
                          <a:spcPct val="115000"/>
                        </a:lnSpc>
                        <a:spcAft>
                          <a:spcPts val="800"/>
                        </a:spcAft>
                        <a:buNone/>
                      </a:pPr>
                      <a:r>
                        <a:rPr lang="zh-CN" sz="1200" kern="100" dirty="0">
                          <a:effectLst/>
                        </a:rPr>
                        <a:t>基线方法</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简称</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975436362"/>
                  </a:ext>
                </a:extLst>
              </a:tr>
              <a:tr h="0">
                <a:tc>
                  <a:txBody>
                    <a:bodyPr/>
                    <a:lstStyle/>
                    <a:p>
                      <a:pPr marL="0" marR="0">
                        <a:lnSpc>
                          <a:spcPct val="115000"/>
                        </a:lnSpc>
                        <a:spcAft>
                          <a:spcPts val="800"/>
                        </a:spcAft>
                        <a:buNone/>
                      </a:pPr>
                      <a:r>
                        <a:rPr lang="zh-CN" sz="1200" kern="100">
                          <a:effectLst/>
                        </a:rPr>
                        <a:t>混合整数线性规划</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MILP</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全局最优，但指数级复杂度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548892994"/>
                  </a:ext>
                </a:extLst>
              </a:tr>
              <a:tr h="0">
                <a:tc>
                  <a:txBody>
                    <a:bodyPr/>
                    <a:lstStyle/>
                    <a:p>
                      <a:pPr marL="0" marR="0">
                        <a:lnSpc>
                          <a:spcPct val="115000"/>
                        </a:lnSpc>
                        <a:spcAft>
                          <a:spcPts val="800"/>
                        </a:spcAft>
                        <a:buNone/>
                      </a:pPr>
                      <a:r>
                        <a:rPr lang="zh-CN" sz="1200" kern="100">
                          <a:effectLst/>
                        </a:rPr>
                        <a:t>贪心调度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Greedy</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速度快，局部次优</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711493502"/>
                  </a:ext>
                </a:extLst>
              </a:tr>
              <a:tr h="0">
                <a:tc>
                  <a:txBody>
                    <a:bodyPr/>
                    <a:lstStyle/>
                    <a:p>
                      <a:pPr marL="0" marR="0">
                        <a:lnSpc>
                          <a:spcPct val="115000"/>
                        </a:lnSpc>
                        <a:spcAft>
                          <a:spcPts val="800"/>
                        </a:spcAft>
                        <a:buNone/>
                      </a:pPr>
                      <a:r>
                        <a:rPr lang="zh-CN" sz="1200" kern="100">
                          <a:effectLst/>
                        </a:rPr>
                        <a:t>滚动时域控制</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RHC</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平衡优化与效率，窗口敏感</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876154005"/>
                  </a:ext>
                </a:extLst>
              </a:tr>
              <a:tr h="0">
                <a:tc>
                  <a:txBody>
                    <a:bodyPr/>
                    <a:lstStyle/>
                    <a:p>
                      <a:pPr marL="0" marR="0">
                        <a:lnSpc>
                          <a:spcPct val="115000"/>
                        </a:lnSpc>
                        <a:spcAft>
                          <a:spcPts val="800"/>
                        </a:spcAft>
                        <a:buNone/>
                      </a:pPr>
                      <a:r>
                        <a:rPr lang="zh-CN" sz="1200" kern="100">
                          <a:effectLst/>
                        </a:rPr>
                        <a:t>多智能体深度</a:t>
                      </a:r>
                      <a:r>
                        <a:rPr lang="en-US" sz="1200" kern="100">
                          <a:effectLst/>
                        </a:rPr>
                        <a:t>Q</a:t>
                      </a:r>
                      <a:r>
                        <a:rPr lang="zh-CN" sz="1200" kern="100">
                          <a:effectLst/>
                        </a:rPr>
                        <a:t>网络</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DRL</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数据驱动，泛化受限</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041126226"/>
                  </a:ext>
                </a:extLst>
              </a:tr>
            </a:tbl>
          </a:graphicData>
        </a:graphic>
      </p:graphicFrame>
      <p:sp>
        <p:nvSpPr>
          <p:cNvPr id="13" name="矩形 5">
            <a:extLst>
              <a:ext uri="{FF2B5EF4-FFF2-40B4-BE49-F238E27FC236}">
                <a16:creationId xmlns="" xmlns:a16="http://schemas.microsoft.com/office/drawing/2014/main" id="{B50BA6DF-AEFF-A4FE-FD00-1B7AC15E1593}"/>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 xmlns:a16="http://schemas.microsoft.com/office/drawing/2014/main" id="{61210C41-6F9F-A3F8-8C0D-484B82E0B73D}"/>
              </a:ext>
            </a:extLst>
          </p:cNvPr>
          <p:cNvSpPr/>
          <p:nvPr/>
        </p:nvSpPr>
        <p:spPr>
          <a:xfrm>
            <a:off x="369570" y="2684932"/>
            <a:ext cx="8317865" cy="461665"/>
          </a:xfrm>
          <a:prstGeom prst="rect">
            <a:avLst/>
          </a:prstGeom>
        </p:spPr>
        <p:txBody>
          <a:bodyPr wrap="square">
            <a:spAutoFit/>
          </a:bodyPr>
          <a:lstStyle/>
          <a:p>
            <a:pPr marL="171450" indent="-171450" fontAlgn="auto">
              <a:buFont typeface="Arial" panose="020B0604020202020204" pitchFamily="34" charset="0"/>
              <a:buChar char="•"/>
            </a:pP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仿真生成数据集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：自定义工业场景（任务数</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M</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可变）</a:t>
            </a:r>
            <a:endPar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endParaRPr>
          </a:p>
          <a:p>
            <a:pPr marL="171450" indent="-171450">
              <a:buFont typeface="Arial" panose="020B0604020202020204" pitchFamily="34" charset="0"/>
              <a:buChar char="•"/>
            </a:pPr>
            <a:r>
              <a:rPr lang="en-US" sz="1200" kern="100" dirty="0" err="1">
                <a:latin typeface="微软雅黑" panose="020B0503020204020204" pitchFamily="34" charset="-122"/>
                <a:ea typeface="微软雅黑" panose="020B0503020204020204" pitchFamily="34" charset="-122"/>
                <a:cs typeface="Times New Roman" panose="02020603050405020304" pitchFamily="18" charset="0"/>
              </a:rPr>
              <a:t>Taillard</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Benchmark</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（公开参考数据集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endParaRPr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 xmlns:a16="http://schemas.microsoft.com/office/drawing/2014/main" id="{F8C068C4-AF09-55A0-5274-2433C79985AB}"/>
              </a:ext>
            </a:extLst>
          </p:cNvPr>
          <p:cNvSpPr/>
          <p:nvPr/>
        </p:nvSpPr>
        <p:spPr>
          <a:xfrm>
            <a:off x="384242" y="3146597"/>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17" name="Table 16">
            <a:extLst>
              <a:ext uri="{FF2B5EF4-FFF2-40B4-BE49-F238E27FC236}">
                <a16:creationId xmlns="" xmlns:a16="http://schemas.microsoft.com/office/drawing/2014/main" id="{FA8218A1-C82C-8BAF-AFA3-C759C5EE074C}"/>
              </a:ext>
            </a:extLst>
          </p:cNvPr>
          <p:cNvGraphicFramePr>
            <a:graphicFrameLocks noGrp="1"/>
          </p:cNvGraphicFramePr>
          <p:nvPr>
            <p:extLst>
              <p:ext uri="{D42A27DB-BD31-4B8C-83A1-F6EECF244321}">
                <p14:modId xmlns:p14="http://schemas.microsoft.com/office/powerpoint/2010/main" val="3944042839"/>
              </p:ext>
            </p:extLst>
          </p:nvPr>
        </p:nvGraphicFramePr>
        <p:xfrm>
          <a:off x="457200" y="3494123"/>
          <a:ext cx="8229600" cy="1146810"/>
        </p:xfrm>
        <a:graphic>
          <a:graphicData uri="http://schemas.openxmlformats.org/drawingml/2006/table">
            <a:tbl>
              <a:tblPr firstRow="1" firstCol="1" bandRow="1">
                <a:tableStyleId>{5C22544A-7EE6-4342-B048-85BDC9FD1C3A}</a:tableStyleId>
              </a:tblPr>
              <a:tblGrid>
                <a:gridCol w="3466728">
                  <a:extLst>
                    <a:ext uri="{9D8B030D-6E8A-4147-A177-3AD203B41FA5}">
                      <a16:colId xmlns="" xmlns:a16="http://schemas.microsoft.com/office/drawing/2014/main" val="3589910080"/>
                    </a:ext>
                  </a:extLst>
                </a:gridCol>
                <a:gridCol w="4762872">
                  <a:extLst>
                    <a:ext uri="{9D8B030D-6E8A-4147-A177-3AD203B41FA5}">
                      <a16:colId xmlns="" xmlns:a16="http://schemas.microsoft.com/office/drawing/2014/main" val="3599827227"/>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794717099"/>
                  </a:ext>
                </a:extLst>
              </a:tr>
              <a:tr h="0">
                <a:tc>
                  <a:txBody>
                    <a:bodyPr/>
                    <a:lstStyle/>
                    <a:p>
                      <a:pPr marL="0" marR="0">
                        <a:lnSpc>
                          <a:spcPct val="115000"/>
                        </a:lnSpc>
                        <a:spcAft>
                          <a:spcPts val="800"/>
                        </a:spcAft>
                        <a:buNone/>
                      </a:pPr>
                      <a:r>
                        <a:rPr lang="zh-CN" sz="1200" kern="100">
                          <a:effectLst/>
                        </a:rPr>
                        <a:t>调度质量</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总完工时间</a:t>
                      </a:r>
                      <a:r>
                        <a:rPr lang="en-US" sz="1200" kern="100">
                          <a:effectLst/>
                        </a:rPr>
                        <a:t> Makespan</a:t>
                      </a:r>
                      <a:r>
                        <a:rPr lang="zh-CN" sz="1200" kern="100">
                          <a:effectLst/>
                        </a:rPr>
                        <a:t>、固定智能体利用率</a:t>
                      </a:r>
                      <a:r>
                        <a:rPr lang="en-US" sz="1200" kern="100">
                          <a:effectLst/>
                        </a:rPr>
                        <a:t> Utilization</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540079774"/>
                  </a:ext>
                </a:extLst>
              </a:tr>
              <a:tr h="0">
                <a:tc>
                  <a:txBody>
                    <a:bodyPr/>
                    <a:lstStyle/>
                    <a:p>
                      <a:pPr marL="0" marR="0">
                        <a:lnSpc>
                          <a:spcPct val="115000"/>
                        </a:lnSpc>
                        <a:spcAft>
                          <a:spcPts val="800"/>
                        </a:spcAft>
                        <a:buNone/>
                      </a:pPr>
                      <a:r>
                        <a:rPr lang="zh-CN" sz="1200" kern="100">
                          <a:effectLst/>
                        </a:rPr>
                        <a:t>计算效率</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算法求解时间、时间复杂度增长趋势</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929275050"/>
                  </a:ext>
                </a:extLst>
              </a:tr>
              <a:tr h="0">
                <a:tc>
                  <a:txBody>
                    <a:bodyPr/>
                    <a:lstStyle/>
                    <a:p>
                      <a:pPr marL="0" marR="0">
                        <a:lnSpc>
                          <a:spcPct val="115000"/>
                        </a:lnSpc>
                        <a:spcAft>
                          <a:spcPts val="800"/>
                        </a:spcAft>
                        <a:buNone/>
                      </a:pPr>
                      <a:r>
                        <a:rPr lang="zh-CN" sz="1200" kern="100">
                          <a:effectLst/>
                        </a:rPr>
                        <a:t>鲁棒性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±40%</a:t>
                      </a:r>
                      <a:r>
                        <a:rPr lang="zh-CN" sz="1200" kern="100">
                          <a:effectLst/>
                        </a:rPr>
                        <a:t>任务时长扰动下的</a:t>
                      </a:r>
                      <a:r>
                        <a:rPr lang="en-US" sz="1200" kern="100">
                          <a:effectLst/>
                        </a:rPr>
                        <a:t>Makespan</a:t>
                      </a:r>
                      <a:r>
                        <a:rPr lang="zh-CN" sz="1200" kern="100">
                          <a:effectLst/>
                        </a:rPr>
                        <a:t>增幅与成功率</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98069410"/>
                  </a:ext>
                </a:extLst>
              </a:tr>
              <a:tr h="0">
                <a:tc>
                  <a:txBody>
                    <a:bodyPr/>
                    <a:lstStyle/>
                    <a:p>
                      <a:pPr marL="0" marR="0">
                        <a:lnSpc>
                          <a:spcPct val="115000"/>
                        </a:lnSpc>
                        <a:spcAft>
                          <a:spcPts val="800"/>
                        </a:spcAft>
                        <a:buNone/>
                      </a:pPr>
                      <a:r>
                        <a:rPr lang="zh-CN" sz="1200" kern="100">
                          <a:effectLst/>
                        </a:rPr>
                        <a:t>可扩展性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任务数量扩展性、移动智能体数量扩展性</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511290769"/>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05521E8-A442-3D61-8EF5-176441E2AD74}"/>
            </a:ext>
          </a:extLst>
        </p:cNvPr>
        <p:cNvGrpSpPr/>
        <p:nvPr/>
      </p:nvGrpSpPr>
      <p:grpSpPr>
        <a:xfrm>
          <a:off x="0" y="0"/>
          <a:ext cx="0" cy="0"/>
          <a:chOff x="0" y="0"/>
          <a:chExt cx="0" cy="0"/>
        </a:xfrm>
      </p:grpSpPr>
      <p:sp>
        <p:nvSpPr>
          <p:cNvPr id="2" name="矩形 1">
            <a:extLst>
              <a:ext uri="{FF2B5EF4-FFF2-40B4-BE49-F238E27FC236}">
                <a16:creationId xmlns="" xmlns:a16="http://schemas.microsoft.com/office/drawing/2014/main" id="{B8778255-4A43-845B-4B2F-5F2761E56C4D}"/>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 xmlns:a16="http://schemas.microsoft.com/office/drawing/2014/main" id="{B30D6071-3B0E-9FD8-3B64-92D7A7EC25DE}"/>
              </a:ext>
            </a:extLst>
          </p:cNvPr>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 xmlns:a16="http://schemas.microsoft.com/office/drawing/2014/main" id="{4A09A54B-FE9B-FEC8-7E9A-5D6019A41AAC}"/>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a:extLst>
              <a:ext uri="{FF2B5EF4-FFF2-40B4-BE49-F238E27FC236}">
                <a16:creationId xmlns="" xmlns:a16="http://schemas.microsoft.com/office/drawing/2014/main" id="{6FAC473E-EE9C-C4F0-A841-BB3FF00BF7F2}"/>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a:extLst>
              <a:ext uri="{FF2B5EF4-FFF2-40B4-BE49-F238E27FC236}">
                <a16:creationId xmlns="" xmlns:a16="http://schemas.microsoft.com/office/drawing/2014/main" id="{C7053283-EDC8-AEF8-1695-C2DCDC1218A2}"/>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a:extLst>
              <a:ext uri="{FF2B5EF4-FFF2-40B4-BE49-F238E27FC236}">
                <a16:creationId xmlns="" xmlns:a16="http://schemas.microsoft.com/office/drawing/2014/main" id="{9F208F86-D03D-68C6-D39A-0142D820510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a:extLst>
              <a:ext uri="{FF2B5EF4-FFF2-40B4-BE49-F238E27FC236}">
                <a16:creationId xmlns="" xmlns:a16="http://schemas.microsoft.com/office/drawing/2014/main" id="{69443ECD-3C64-126C-BD15-0AE94000C8CB}"/>
              </a:ext>
            </a:extLst>
          </p:cNvPr>
          <p:cNvSpPr/>
          <p:nvPr/>
        </p:nvSpPr>
        <p:spPr>
          <a:xfrm>
            <a:off x="107504" y="675430"/>
            <a:ext cx="4634602"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实验二：工业多智能体数据注入攻击检测验证</a:t>
            </a:r>
          </a:p>
        </p:txBody>
      </p:sp>
      <p:sp>
        <p:nvSpPr>
          <p:cNvPr id="8" name="矩形 5">
            <a:extLst>
              <a:ext uri="{FF2B5EF4-FFF2-40B4-BE49-F238E27FC236}">
                <a16:creationId xmlns="" xmlns:a16="http://schemas.microsoft.com/office/drawing/2014/main" id="{8734D1F7-38BE-FB37-9E5A-D33A4E0F841F}"/>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3" name="矩形 5">
            <a:extLst>
              <a:ext uri="{FF2B5EF4-FFF2-40B4-BE49-F238E27FC236}">
                <a16:creationId xmlns="" xmlns:a16="http://schemas.microsoft.com/office/drawing/2014/main" id="{768B8860-C5D2-9C04-5F3B-ACC9AC6EEBCC}"/>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 xmlns:a16="http://schemas.microsoft.com/office/drawing/2014/main" id="{93FFD7C5-4990-91E3-7049-3A91DD638DE6}"/>
              </a:ext>
            </a:extLst>
          </p:cNvPr>
          <p:cNvSpPr/>
          <p:nvPr/>
        </p:nvSpPr>
        <p:spPr>
          <a:xfrm>
            <a:off x="369570" y="2684932"/>
            <a:ext cx="8317865" cy="1015663"/>
          </a:xfrm>
          <a:prstGeom prst="rect">
            <a:avLst/>
          </a:prstGeom>
        </p:spPr>
        <p:txBody>
          <a:bodyPr wrap="square">
            <a:spAutoFit/>
          </a:bodyPr>
          <a:lstStyle/>
          <a:p>
            <a:pPr marL="171450" indent="-171450">
              <a:buFont typeface="Arial" panose="020B0604020202020204" pitchFamily="34" charset="0"/>
              <a:buChar char="•"/>
            </a:pP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仿真生成数据集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，自定义攻击注入场景</a:t>
            </a:r>
            <a:endParaRPr lang="en-US" sz="1200" kern="100" dirty="0">
              <a:latin typeface="微软雅黑" panose="020B0503020204020204" pitchFamily="34" charset="-122"/>
              <a:ea typeface="微软雅黑" panose="020B0503020204020204" pitchFamily="34" charset="-122"/>
              <a:cs typeface="Times New Roman" panose="02020603050405020304" pitchFamily="18" charset="0"/>
            </a:endParaRPr>
          </a:p>
          <a:p>
            <a:pPr marL="171450" indent="-171450" fontAlgn="auto">
              <a:buFont typeface="Arial" panose="020B0604020202020204" pitchFamily="34" charset="0"/>
              <a:buChar char="•"/>
            </a:pP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HAI</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（工业控制系统安全数据集）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p>
          <a:p>
            <a:pPr marL="171450" indent="-171450" fontAlgn="auto">
              <a:buFont typeface="Arial" panose="020B0604020202020204" pitchFamily="34" charset="0"/>
              <a:buChar char="•"/>
            </a:pPr>
            <a:r>
              <a:rPr lang="en-US" sz="1200" kern="100" dirty="0" err="1">
                <a:latin typeface="微软雅黑" panose="020B0503020204020204" pitchFamily="34" charset="-122"/>
                <a:ea typeface="微软雅黑" panose="020B0503020204020204" pitchFamily="34" charset="-122"/>
                <a:cs typeface="Times New Roman" panose="02020603050405020304" pitchFamily="18" charset="0"/>
              </a:rPr>
              <a:t>SWaT</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（新加坡水处理系统攻击数据集）</a:t>
            </a:r>
            <a:endPar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endParaRPr>
          </a:p>
          <a:p>
            <a:pPr marL="171450" indent="-171450">
              <a:buFont typeface="Arial" panose="020B0604020202020204" pitchFamily="34" charset="0"/>
              <a:buChar char="•"/>
            </a:pP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BATADAL</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（水网络攻击检测竞赛数据集）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p>
          <a:p>
            <a:pPr marL="171450" indent="-171450" fontAlgn="auto">
              <a:buFont typeface="Arial" panose="020B0604020202020204" pitchFamily="34" charset="0"/>
              <a:buChar char="•"/>
            </a:pPr>
            <a:endParaRPr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 xmlns:a16="http://schemas.microsoft.com/office/drawing/2014/main" id="{F6AAEFBE-B2AD-C2DE-2393-B9F3B37ABFF1}"/>
              </a:ext>
            </a:extLst>
          </p:cNvPr>
          <p:cNvSpPr/>
          <p:nvPr/>
        </p:nvSpPr>
        <p:spPr>
          <a:xfrm>
            <a:off x="384242" y="3510740"/>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6" name="Table 5">
            <a:extLst>
              <a:ext uri="{FF2B5EF4-FFF2-40B4-BE49-F238E27FC236}">
                <a16:creationId xmlns="" xmlns:a16="http://schemas.microsoft.com/office/drawing/2014/main" id="{6E801FA0-CA10-A5C9-D00C-63EAE2E43C72}"/>
              </a:ext>
            </a:extLst>
          </p:cNvPr>
          <p:cNvGraphicFramePr>
            <a:graphicFrameLocks noGrp="1"/>
          </p:cNvGraphicFramePr>
          <p:nvPr>
            <p:extLst>
              <p:ext uri="{D42A27DB-BD31-4B8C-83A1-F6EECF244321}">
                <p14:modId xmlns:p14="http://schemas.microsoft.com/office/powerpoint/2010/main" val="3484517519"/>
              </p:ext>
            </p:extLst>
          </p:nvPr>
        </p:nvGraphicFramePr>
        <p:xfrm>
          <a:off x="457200" y="1334566"/>
          <a:ext cx="8229600" cy="917448"/>
        </p:xfrm>
        <a:graphic>
          <a:graphicData uri="http://schemas.openxmlformats.org/drawingml/2006/table">
            <a:tbl>
              <a:tblPr firstRow="1" firstCol="1" bandRow="1">
                <a:tableStyleId>{5C22544A-7EE6-4342-B048-85BDC9FD1C3A}</a:tableStyleId>
              </a:tblPr>
              <a:tblGrid>
                <a:gridCol w="2743200">
                  <a:extLst>
                    <a:ext uri="{9D8B030D-6E8A-4147-A177-3AD203B41FA5}">
                      <a16:colId xmlns="" xmlns:a16="http://schemas.microsoft.com/office/drawing/2014/main" val="920468471"/>
                    </a:ext>
                  </a:extLst>
                </a:gridCol>
                <a:gridCol w="2743200">
                  <a:extLst>
                    <a:ext uri="{9D8B030D-6E8A-4147-A177-3AD203B41FA5}">
                      <a16:colId xmlns="" xmlns:a16="http://schemas.microsoft.com/office/drawing/2014/main" val="2834399574"/>
                    </a:ext>
                  </a:extLst>
                </a:gridCol>
                <a:gridCol w="2743200">
                  <a:extLst>
                    <a:ext uri="{9D8B030D-6E8A-4147-A177-3AD203B41FA5}">
                      <a16:colId xmlns="" xmlns:a16="http://schemas.microsoft.com/office/drawing/2014/main" val="880512579"/>
                    </a:ext>
                  </a:extLst>
                </a:gridCol>
              </a:tblGrid>
              <a:tr h="0">
                <a:tc>
                  <a:txBody>
                    <a:bodyPr/>
                    <a:lstStyle/>
                    <a:p>
                      <a:pPr marL="0" marR="0" algn="ctr">
                        <a:lnSpc>
                          <a:spcPct val="115000"/>
                        </a:lnSpc>
                        <a:spcAft>
                          <a:spcPts val="800"/>
                        </a:spcAft>
                        <a:buNone/>
                      </a:pPr>
                      <a:r>
                        <a:rPr lang="zh-CN" sz="1200" kern="100">
                          <a:effectLst/>
                        </a:rPr>
                        <a:t>基线方法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简称</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604969681"/>
                  </a:ext>
                </a:extLst>
              </a:tr>
              <a:tr h="0">
                <a:tc>
                  <a:txBody>
                    <a:bodyPr/>
                    <a:lstStyle/>
                    <a:p>
                      <a:pPr marL="0" marR="0">
                        <a:lnSpc>
                          <a:spcPct val="115000"/>
                        </a:lnSpc>
                        <a:spcAft>
                          <a:spcPts val="800"/>
                        </a:spcAft>
                        <a:buNone/>
                      </a:pPr>
                      <a:r>
                        <a:rPr lang="zh-CN" sz="1200" kern="100">
                          <a:effectLst/>
                        </a:rPr>
                        <a:t>网络流量测量方法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Flow</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计算简单，高频攻击下阈值难设定</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4186584081"/>
                  </a:ext>
                </a:extLst>
              </a:tr>
              <a:tr h="0">
                <a:tc>
                  <a:txBody>
                    <a:bodyPr/>
                    <a:lstStyle/>
                    <a:p>
                      <a:pPr marL="0" marR="0">
                        <a:lnSpc>
                          <a:spcPct val="115000"/>
                        </a:lnSpc>
                        <a:spcAft>
                          <a:spcPts val="800"/>
                        </a:spcAft>
                        <a:buNone/>
                      </a:pPr>
                      <a:r>
                        <a:rPr lang="zh-CN" sz="1200" kern="100">
                          <a:effectLst/>
                        </a:rPr>
                        <a:t>统计阈值检测方法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Threshold</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固定阈值，误报与漏报难平衡</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215563507"/>
                  </a:ext>
                </a:extLst>
              </a:tr>
              <a:tr h="0">
                <a:tc>
                  <a:txBody>
                    <a:bodyPr/>
                    <a:lstStyle/>
                    <a:p>
                      <a:pPr marL="0" marR="0">
                        <a:lnSpc>
                          <a:spcPct val="115000"/>
                        </a:lnSpc>
                        <a:spcAft>
                          <a:spcPts val="800"/>
                        </a:spcAft>
                        <a:buNone/>
                      </a:pPr>
                      <a:r>
                        <a:rPr lang="zh-CN" sz="1200" kern="100">
                          <a:effectLst/>
                        </a:rPr>
                        <a:t>监督式机器学习分类</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ML-Cls</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精度高，需大量标注数据，实时性差</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954295033"/>
                  </a:ext>
                </a:extLst>
              </a:tr>
            </a:tbl>
          </a:graphicData>
        </a:graphic>
      </p:graphicFrame>
      <p:graphicFrame>
        <p:nvGraphicFramePr>
          <p:cNvPr id="7" name="Table 6">
            <a:extLst>
              <a:ext uri="{FF2B5EF4-FFF2-40B4-BE49-F238E27FC236}">
                <a16:creationId xmlns="" xmlns:a16="http://schemas.microsoft.com/office/drawing/2014/main" id="{4C648A8E-84A2-6C4B-DD3E-3C155E1678A3}"/>
              </a:ext>
            </a:extLst>
          </p:cNvPr>
          <p:cNvGraphicFramePr>
            <a:graphicFrameLocks noGrp="1"/>
          </p:cNvGraphicFramePr>
          <p:nvPr>
            <p:extLst>
              <p:ext uri="{D42A27DB-BD31-4B8C-83A1-F6EECF244321}">
                <p14:modId xmlns:p14="http://schemas.microsoft.com/office/powerpoint/2010/main" val="2833782621"/>
              </p:ext>
            </p:extLst>
          </p:nvPr>
        </p:nvGraphicFramePr>
        <p:xfrm>
          <a:off x="457200" y="3863841"/>
          <a:ext cx="8229600" cy="1146810"/>
        </p:xfrm>
        <a:graphic>
          <a:graphicData uri="http://schemas.openxmlformats.org/drawingml/2006/table">
            <a:tbl>
              <a:tblPr firstRow="1" firstCol="1" bandRow="1">
                <a:tableStyleId>{5C22544A-7EE6-4342-B048-85BDC9FD1C3A}</a:tableStyleId>
              </a:tblPr>
              <a:tblGrid>
                <a:gridCol w="3106688">
                  <a:extLst>
                    <a:ext uri="{9D8B030D-6E8A-4147-A177-3AD203B41FA5}">
                      <a16:colId xmlns="" xmlns:a16="http://schemas.microsoft.com/office/drawing/2014/main" val="585911591"/>
                    </a:ext>
                  </a:extLst>
                </a:gridCol>
                <a:gridCol w="5122912">
                  <a:extLst>
                    <a:ext uri="{9D8B030D-6E8A-4147-A177-3AD203B41FA5}">
                      <a16:colId xmlns="" xmlns:a16="http://schemas.microsoft.com/office/drawing/2014/main" val="1511630177"/>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13543796"/>
                  </a:ext>
                </a:extLst>
              </a:tr>
              <a:tr h="0">
                <a:tc>
                  <a:txBody>
                    <a:bodyPr/>
                    <a:lstStyle/>
                    <a:p>
                      <a:pPr marL="0" marR="0">
                        <a:lnSpc>
                          <a:spcPct val="115000"/>
                        </a:lnSpc>
                        <a:spcAft>
                          <a:spcPts val="800"/>
                        </a:spcAft>
                        <a:buNone/>
                      </a:pPr>
                      <a:r>
                        <a:rPr lang="zh-CN" sz="1200" kern="100">
                          <a:effectLst/>
                        </a:rPr>
                        <a:t>检测准确性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检测率</a:t>
                      </a:r>
                      <a:r>
                        <a:rPr lang="en-US" sz="1200" kern="100">
                          <a:effectLst/>
                        </a:rPr>
                        <a:t> DR</a:t>
                      </a:r>
                      <a:r>
                        <a:rPr lang="zh-CN" sz="1200" kern="100">
                          <a:effectLst/>
                        </a:rPr>
                        <a:t>、误报率</a:t>
                      </a:r>
                      <a:r>
                        <a:rPr lang="en-US" sz="1200" kern="100">
                          <a:effectLst/>
                        </a:rPr>
                        <a:t> FPR</a:t>
                      </a:r>
                      <a:r>
                        <a:rPr lang="zh-CN" sz="1200" kern="100">
                          <a:effectLst/>
                        </a:rPr>
                        <a:t>、</a:t>
                      </a:r>
                      <a:r>
                        <a:rPr lang="en-US" sz="1200" kern="100">
                          <a:effectLst/>
                        </a:rPr>
                        <a:t>F1</a:t>
                      </a:r>
                      <a:r>
                        <a:rPr lang="zh-CN" sz="1200" kern="100">
                          <a:effectLst/>
                        </a:rPr>
                        <a:t>分数</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727246573"/>
                  </a:ext>
                </a:extLst>
              </a:tr>
              <a:tr h="0">
                <a:tc>
                  <a:txBody>
                    <a:bodyPr/>
                    <a:lstStyle/>
                    <a:p>
                      <a:pPr marL="0" marR="0">
                        <a:lnSpc>
                          <a:spcPct val="115000"/>
                        </a:lnSpc>
                        <a:spcAft>
                          <a:spcPts val="800"/>
                        </a:spcAft>
                        <a:buNone/>
                      </a:pPr>
                      <a:r>
                        <a:rPr lang="zh-CN" sz="1200" kern="100">
                          <a:effectLst/>
                        </a:rPr>
                        <a:t>实时性能</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检测延迟（</a:t>
                      </a:r>
                      <a:r>
                        <a:rPr lang="en-US" sz="1200" kern="100">
                          <a:effectLst/>
                        </a:rPr>
                        <a:t>ms</a:t>
                      </a:r>
                      <a:r>
                        <a:rPr lang="zh-CN" sz="1200" kern="100">
                          <a:effectLst/>
                        </a:rPr>
                        <a:t>）、不同攻击频率下检测时间趋势</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215830129"/>
                  </a:ext>
                </a:extLst>
              </a:tr>
              <a:tr h="0">
                <a:tc>
                  <a:txBody>
                    <a:bodyPr/>
                    <a:lstStyle/>
                    <a:p>
                      <a:pPr marL="0" marR="0">
                        <a:lnSpc>
                          <a:spcPct val="115000"/>
                        </a:lnSpc>
                        <a:spcAft>
                          <a:spcPts val="800"/>
                        </a:spcAft>
                        <a:buNone/>
                      </a:pPr>
                      <a:r>
                        <a:rPr lang="zh-CN" sz="1200" kern="100">
                          <a:effectLst/>
                        </a:rPr>
                        <a:t>鲁棒性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不同攻击流量比例下检测率曲线、不同攻击类型下检测性能</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555022269"/>
                  </a:ext>
                </a:extLst>
              </a:tr>
              <a:tr h="0">
                <a:tc>
                  <a:txBody>
                    <a:bodyPr/>
                    <a:lstStyle/>
                    <a:p>
                      <a:pPr marL="0" marR="0">
                        <a:lnSpc>
                          <a:spcPct val="115000"/>
                        </a:lnSpc>
                        <a:spcAft>
                          <a:spcPts val="800"/>
                        </a:spcAft>
                        <a:buNone/>
                      </a:pPr>
                      <a:r>
                        <a:rPr lang="zh-CN" sz="1200" kern="100">
                          <a:effectLst/>
                        </a:rPr>
                        <a:t>系统稳定性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动态阈值自适应能力、智能体数量扩展性</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805579201"/>
                  </a:ext>
                </a:extLst>
              </a:tr>
            </a:tbl>
          </a:graphicData>
        </a:graphic>
      </p:graphicFrame>
    </p:spTree>
    <p:extLst>
      <p:ext uri="{BB962C8B-B14F-4D97-AF65-F5344CB8AC3E}">
        <p14:creationId xmlns:p14="http://schemas.microsoft.com/office/powerpoint/2010/main" val="2449205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C84A215-C9FC-D0CE-C533-303CC1F59FD7}"/>
            </a:ext>
          </a:extLst>
        </p:cNvPr>
        <p:cNvGrpSpPr/>
        <p:nvPr/>
      </p:nvGrpSpPr>
      <p:grpSpPr>
        <a:xfrm>
          <a:off x="0" y="0"/>
          <a:ext cx="0" cy="0"/>
          <a:chOff x="0" y="0"/>
          <a:chExt cx="0" cy="0"/>
        </a:xfrm>
      </p:grpSpPr>
      <p:sp>
        <p:nvSpPr>
          <p:cNvPr id="2" name="矩形 1">
            <a:extLst>
              <a:ext uri="{FF2B5EF4-FFF2-40B4-BE49-F238E27FC236}">
                <a16:creationId xmlns="" xmlns:a16="http://schemas.microsoft.com/office/drawing/2014/main" id="{2A3D686A-BE8F-1487-718D-3A183E723561}"/>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 xmlns:a16="http://schemas.microsoft.com/office/drawing/2014/main" id="{FB2929A9-BC34-CD5B-B09E-2872E50E948B}"/>
              </a:ext>
            </a:extLst>
          </p:cNvPr>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 xmlns:a16="http://schemas.microsoft.com/office/drawing/2014/main" id="{FD0AB72D-D4DB-5CDC-B33A-C0BB16475330}"/>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a:extLst>
              <a:ext uri="{FF2B5EF4-FFF2-40B4-BE49-F238E27FC236}">
                <a16:creationId xmlns="" xmlns:a16="http://schemas.microsoft.com/office/drawing/2014/main" id="{0B77BD6A-738E-3F06-464D-9174A76500D1}"/>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a:extLst>
              <a:ext uri="{FF2B5EF4-FFF2-40B4-BE49-F238E27FC236}">
                <a16:creationId xmlns="" xmlns:a16="http://schemas.microsoft.com/office/drawing/2014/main" id="{D69056FF-E19F-9FA1-CC84-DBB3471AE4F4}"/>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a:extLst>
              <a:ext uri="{FF2B5EF4-FFF2-40B4-BE49-F238E27FC236}">
                <a16:creationId xmlns="" xmlns:a16="http://schemas.microsoft.com/office/drawing/2014/main" id="{7F0745DA-9E9A-3D3E-A972-D27CCADF43C9}"/>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a:extLst>
              <a:ext uri="{FF2B5EF4-FFF2-40B4-BE49-F238E27FC236}">
                <a16:creationId xmlns="" xmlns:a16="http://schemas.microsoft.com/office/drawing/2014/main" id="{D5476CDB-A051-74B4-A9CA-B1DE681468AB}"/>
              </a:ext>
            </a:extLst>
          </p:cNvPr>
          <p:cNvSpPr/>
          <p:nvPr/>
        </p:nvSpPr>
        <p:spPr>
          <a:xfrm>
            <a:off x="107504" y="675430"/>
            <a:ext cx="4634602"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实验三：轻量化抗拜占庭异常智能体甄别验证</a:t>
            </a:r>
          </a:p>
        </p:txBody>
      </p:sp>
      <p:sp>
        <p:nvSpPr>
          <p:cNvPr id="8" name="矩形 5">
            <a:extLst>
              <a:ext uri="{FF2B5EF4-FFF2-40B4-BE49-F238E27FC236}">
                <a16:creationId xmlns="" xmlns:a16="http://schemas.microsoft.com/office/drawing/2014/main" id="{34C38CC7-8C7C-56CC-B8CF-996A6504353B}"/>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3" name="矩形 5">
            <a:extLst>
              <a:ext uri="{FF2B5EF4-FFF2-40B4-BE49-F238E27FC236}">
                <a16:creationId xmlns="" xmlns:a16="http://schemas.microsoft.com/office/drawing/2014/main" id="{4DF2ADA6-499F-9DF5-9631-26C6AA51AA04}"/>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 xmlns:a16="http://schemas.microsoft.com/office/drawing/2014/main" id="{369DB825-FED6-7940-73F2-A5424497391C}"/>
              </a:ext>
            </a:extLst>
          </p:cNvPr>
          <p:cNvSpPr/>
          <p:nvPr/>
        </p:nvSpPr>
        <p:spPr>
          <a:xfrm>
            <a:off x="369570" y="2684932"/>
            <a:ext cx="8317865" cy="461665"/>
          </a:xfrm>
          <a:prstGeom prst="rect">
            <a:avLst/>
          </a:prstGeom>
        </p:spPr>
        <p:txBody>
          <a:bodyPr wrap="square">
            <a:spAutoFit/>
          </a:bodyPr>
          <a:lstStyle/>
          <a:p>
            <a:pPr marL="171450" indent="-171450">
              <a:buFont typeface="Arial" panose="020B0604020202020204" pitchFamily="34" charset="0"/>
              <a:buChar char="•"/>
            </a:pP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仿真生成数据集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，自定义拜占庭攻击场景</a:t>
            </a:r>
            <a:endPar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endParaRPr>
          </a:p>
          <a:p>
            <a:pPr marL="171450" indent="-171450">
              <a:buFont typeface="Arial" panose="020B0604020202020204" pitchFamily="34" charset="0"/>
              <a:buChar char="•"/>
            </a:pP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BFT-Bench</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（分布式</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BFT</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协议）</a:t>
            </a:r>
            <a:endParaRPr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 xmlns:a16="http://schemas.microsoft.com/office/drawing/2014/main" id="{8F6EC15B-85D1-9A8C-DDC5-5AB07FD5EE88}"/>
              </a:ext>
            </a:extLst>
          </p:cNvPr>
          <p:cNvSpPr/>
          <p:nvPr/>
        </p:nvSpPr>
        <p:spPr>
          <a:xfrm>
            <a:off x="384242" y="3225828"/>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9" name="Table 8">
            <a:extLst>
              <a:ext uri="{FF2B5EF4-FFF2-40B4-BE49-F238E27FC236}">
                <a16:creationId xmlns="" xmlns:a16="http://schemas.microsoft.com/office/drawing/2014/main" id="{A39BB993-FE40-2E09-8B93-1AA3CB371754}"/>
              </a:ext>
            </a:extLst>
          </p:cNvPr>
          <p:cNvGraphicFramePr>
            <a:graphicFrameLocks noGrp="1"/>
          </p:cNvGraphicFramePr>
          <p:nvPr>
            <p:extLst>
              <p:ext uri="{D42A27DB-BD31-4B8C-83A1-F6EECF244321}">
                <p14:modId xmlns:p14="http://schemas.microsoft.com/office/powerpoint/2010/main" val="3464907717"/>
              </p:ext>
            </p:extLst>
          </p:nvPr>
        </p:nvGraphicFramePr>
        <p:xfrm>
          <a:off x="457200" y="1462714"/>
          <a:ext cx="8229600" cy="917448"/>
        </p:xfrm>
        <a:graphic>
          <a:graphicData uri="http://schemas.openxmlformats.org/drawingml/2006/table">
            <a:tbl>
              <a:tblPr firstRow="1" firstCol="1" bandRow="1">
                <a:tableStyleId>{5C22544A-7EE6-4342-B048-85BDC9FD1C3A}</a:tableStyleId>
              </a:tblPr>
              <a:tblGrid>
                <a:gridCol w="2743200">
                  <a:extLst>
                    <a:ext uri="{9D8B030D-6E8A-4147-A177-3AD203B41FA5}">
                      <a16:colId xmlns="" xmlns:a16="http://schemas.microsoft.com/office/drawing/2014/main" val="849589930"/>
                    </a:ext>
                  </a:extLst>
                </a:gridCol>
                <a:gridCol w="2743200">
                  <a:extLst>
                    <a:ext uri="{9D8B030D-6E8A-4147-A177-3AD203B41FA5}">
                      <a16:colId xmlns="" xmlns:a16="http://schemas.microsoft.com/office/drawing/2014/main" val="766940267"/>
                    </a:ext>
                  </a:extLst>
                </a:gridCol>
                <a:gridCol w="2743200">
                  <a:extLst>
                    <a:ext uri="{9D8B030D-6E8A-4147-A177-3AD203B41FA5}">
                      <a16:colId xmlns="" xmlns:a16="http://schemas.microsoft.com/office/drawing/2014/main" val="2166129193"/>
                    </a:ext>
                  </a:extLst>
                </a:gridCol>
              </a:tblGrid>
              <a:tr h="0">
                <a:tc>
                  <a:txBody>
                    <a:bodyPr/>
                    <a:lstStyle/>
                    <a:p>
                      <a:pPr marL="0" marR="0" algn="ctr">
                        <a:lnSpc>
                          <a:spcPct val="115000"/>
                        </a:lnSpc>
                        <a:spcAft>
                          <a:spcPts val="800"/>
                        </a:spcAft>
                        <a:buNone/>
                      </a:pPr>
                      <a:r>
                        <a:rPr lang="zh-CN" sz="1200" kern="100" dirty="0">
                          <a:effectLst/>
                        </a:rPr>
                        <a:t>基线方法</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简称</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919004642"/>
                  </a:ext>
                </a:extLst>
              </a:tr>
              <a:tr h="0">
                <a:tc>
                  <a:txBody>
                    <a:bodyPr/>
                    <a:lstStyle/>
                    <a:p>
                      <a:pPr marL="0" marR="0">
                        <a:lnSpc>
                          <a:spcPct val="115000"/>
                        </a:lnSpc>
                        <a:spcAft>
                          <a:spcPts val="800"/>
                        </a:spcAft>
                        <a:buNone/>
                      </a:pPr>
                      <a:r>
                        <a:rPr lang="zh-CN" sz="1200" kern="100">
                          <a:effectLst/>
                        </a:rPr>
                        <a:t>实用拜占庭容错协议</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PBFT</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全局一致性强，</a:t>
                      </a:r>
                      <a:r>
                        <a:rPr lang="en-US" sz="1200" kern="100" dirty="0">
                          <a:effectLst/>
                        </a:rPr>
                        <a:t>O(N</a:t>
                      </a:r>
                      <a:r>
                        <a:rPr lang="en-US" sz="1200" kern="100" baseline="30000" dirty="0">
                          <a:effectLst/>
                        </a:rPr>
                        <a:t>2</a:t>
                      </a:r>
                      <a:r>
                        <a:rPr lang="en-US" sz="1200" kern="100" dirty="0">
                          <a:effectLst/>
                        </a:rPr>
                        <a:t>)</a:t>
                      </a:r>
                      <a:r>
                        <a:rPr lang="zh-CN" sz="1200" kern="100" dirty="0">
                          <a:effectLst/>
                        </a:rPr>
                        <a:t>通信开销</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120636769"/>
                  </a:ext>
                </a:extLst>
              </a:tr>
              <a:tr h="0">
                <a:tc>
                  <a:txBody>
                    <a:bodyPr/>
                    <a:lstStyle/>
                    <a:p>
                      <a:pPr marL="0" marR="0">
                        <a:lnSpc>
                          <a:spcPct val="115000"/>
                        </a:lnSpc>
                        <a:spcAft>
                          <a:spcPts val="800"/>
                        </a:spcAft>
                        <a:buNone/>
                      </a:pPr>
                      <a:r>
                        <a:rPr lang="zh-CN" sz="1200" kern="100">
                          <a:effectLst/>
                        </a:rPr>
                        <a:t>基于领导者选举协议</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Raft</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dirty="0">
                          <a:effectLst/>
                        </a:rPr>
                        <a:t>O(N)</a:t>
                      </a:r>
                      <a:r>
                        <a:rPr lang="zh-CN" sz="1200" kern="100" dirty="0">
                          <a:effectLst/>
                        </a:rPr>
                        <a:t>效率高，不抵御拜占庭攻击</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715815234"/>
                  </a:ext>
                </a:extLst>
              </a:tr>
              <a:tr h="0">
                <a:tc>
                  <a:txBody>
                    <a:bodyPr/>
                    <a:lstStyle/>
                    <a:p>
                      <a:pPr marL="0" marR="0">
                        <a:lnSpc>
                          <a:spcPct val="115000"/>
                        </a:lnSpc>
                        <a:spcAft>
                          <a:spcPts val="800"/>
                        </a:spcAft>
                        <a:buNone/>
                      </a:pPr>
                      <a:r>
                        <a:rPr lang="zh-CN" sz="1200" kern="100">
                          <a:effectLst/>
                        </a:rPr>
                        <a:t>链式高效</a:t>
                      </a:r>
                      <a:r>
                        <a:rPr lang="en-US" sz="1200" kern="100">
                          <a:effectLst/>
                        </a:rPr>
                        <a:t>BFT</a:t>
                      </a:r>
                      <a:r>
                        <a:rPr lang="zh-CN" sz="1200" kern="100">
                          <a:effectLst/>
                        </a:rPr>
                        <a:t>协议</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HotStuff</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现代高效</a:t>
                      </a:r>
                      <a:r>
                        <a:rPr lang="en-US" sz="1200" kern="100" dirty="0">
                          <a:effectLst/>
                        </a:rPr>
                        <a:t>BFT</a:t>
                      </a:r>
                      <a:r>
                        <a:rPr lang="zh-CN" sz="1200" kern="100" dirty="0">
                          <a:effectLst/>
                        </a:rPr>
                        <a:t>，无时空验证机制</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029610919"/>
                  </a:ext>
                </a:extLst>
              </a:tr>
            </a:tbl>
          </a:graphicData>
        </a:graphic>
      </p:graphicFrame>
      <p:graphicFrame>
        <p:nvGraphicFramePr>
          <p:cNvPr id="11" name="Table 10">
            <a:extLst>
              <a:ext uri="{FF2B5EF4-FFF2-40B4-BE49-F238E27FC236}">
                <a16:creationId xmlns="" xmlns:a16="http://schemas.microsoft.com/office/drawing/2014/main" id="{7994B48E-91D4-6AD1-ACBC-169D5DC00337}"/>
              </a:ext>
            </a:extLst>
          </p:cNvPr>
          <p:cNvGraphicFramePr>
            <a:graphicFrameLocks noGrp="1"/>
          </p:cNvGraphicFramePr>
          <p:nvPr>
            <p:extLst>
              <p:ext uri="{D42A27DB-BD31-4B8C-83A1-F6EECF244321}">
                <p14:modId xmlns:p14="http://schemas.microsoft.com/office/powerpoint/2010/main" val="2343842775"/>
              </p:ext>
            </p:extLst>
          </p:nvPr>
        </p:nvGraphicFramePr>
        <p:xfrm>
          <a:off x="457200" y="3572238"/>
          <a:ext cx="8229600" cy="1146810"/>
        </p:xfrm>
        <a:graphic>
          <a:graphicData uri="http://schemas.openxmlformats.org/drawingml/2006/table">
            <a:tbl>
              <a:tblPr firstRow="1" firstCol="1" bandRow="1">
                <a:tableStyleId>{5C22544A-7EE6-4342-B048-85BDC9FD1C3A}</a:tableStyleId>
              </a:tblPr>
              <a:tblGrid>
                <a:gridCol w="3466728">
                  <a:extLst>
                    <a:ext uri="{9D8B030D-6E8A-4147-A177-3AD203B41FA5}">
                      <a16:colId xmlns="" xmlns:a16="http://schemas.microsoft.com/office/drawing/2014/main" val="3086872855"/>
                    </a:ext>
                  </a:extLst>
                </a:gridCol>
                <a:gridCol w="4762872">
                  <a:extLst>
                    <a:ext uri="{9D8B030D-6E8A-4147-A177-3AD203B41FA5}">
                      <a16:colId xmlns="" xmlns:a16="http://schemas.microsoft.com/office/drawing/2014/main" val="4253305198"/>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906177576"/>
                  </a:ext>
                </a:extLst>
              </a:tr>
              <a:tr h="0">
                <a:tc>
                  <a:txBody>
                    <a:bodyPr/>
                    <a:lstStyle/>
                    <a:p>
                      <a:pPr marL="0" marR="0">
                        <a:lnSpc>
                          <a:spcPct val="115000"/>
                        </a:lnSpc>
                        <a:spcAft>
                          <a:spcPts val="800"/>
                        </a:spcAft>
                        <a:buNone/>
                      </a:pPr>
                      <a:r>
                        <a:rPr lang="zh-CN" sz="1200" kern="100">
                          <a:effectLst/>
                        </a:rPr>
                        <a:t>安全性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拜占庭检测率</a:t>
                      </a:r>
                      <a:r>
                        <a:rPr lang="en-US" sz="1200" kern="100">
                          <a:effectLst/>
                        </a:rPr>
                        <a:t> BDR</a:t>
                      </a:r>
                      <a:r>
                        <a:rPr lang="zh-CN" sz="1200" kern="100">
                          <a:effectLst/>
                        </a:rPr>
                        <a:t>、协调成功率</a:t>
                      </a:r>
                      <a:r>
                        <a:rPr lang="en-US" sz="1200" kern="100">
                          <a:effectLst/>
                        </a:rPr>
                        <a:t> CSR</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580816523"/>
                  </a:ext>
                </a:extLst>
              </a:tr>
              <a:tr h="0">
                <a:tc>
                  <a:txBody>
                    <a:bodyPr/>
                    <a:lstStyle/>
                    <a:p>
                      <a:pPr marL="0" marR="0">
                        <a:lnSpc>
                          <a:spcPct val="115000"/>
                        </a:lnSpc>
                        <a:spcAft>
                          <a:spcPts val="800"/>
                        </a:spcAft>
                        <a:buNone/>
                      </a:pPr>
                      <a:r>
                        <a:rPr lang="zh-CN" sz="1200" kern="100">
                          <a:effectLst/>
                        </a:rPr>
                        <a:t>通信效率</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消息复杂度（条）、协调延迟（</a:t>
                      </a:r>
                      <a:r>
                        <a:rPr lang="en-US" sz="1200" kern="100">
                          <a:effectLst/>
                        </a:rPr>
                        <a:t>ms</a:t>
                      </a:r>
                      <a:r>
                        <a:rPr lang="zh-CN" sz="1200" kern="100">
                          <a:effectLst/>
                        </a:rPr>
                        <a:t>）</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605183178"/>
                  </a:ext>
                </a:extLst>
              </a:tr>
              <a:tr h="0">
                <a:tc>
                  <a:txBody>
                    <a:bodyPr/>
                    <a:lstStyle/>
                    <a:p>
                      <a:pPr marL="0" marR="0">
                        <a:lnSpc>
                          <a:spcPct val="115000"/>
                        </a:lnSpc>
                        <a:spcAft>
                          <a:spcPts val="800"/>
                        </a:spcAft>
                        <a:buNone/>
                      </a:pPr>
                      <a:r>
                        <a:rPr lang="zh-CN" sz="1200" kern="100">
                          <a:effectLst/>
                        </a:rPr>
                        <a:t>可扩展性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节点规模</a:t>
                      </a:r>
                      <a:r>
                        <a:rPr lang="en-US" sz="1200" kern="100">
                          <a:effectLst/>
                        </a:rPr>
                        <a:t> N </a:t>
                      </a:r>
                      <a:r>
                        <a:rPr lang="zh-CN" sz="1200" kern="100">
                          <a:effectLst/>
                        </a:rPr>
                        <a:t>增长时消息复杂度与延迟增长趋势</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284815571"/>
                  </a:ext>
                </a:extLst>
              </a:tr>
              <a:tr h="0">
                <a:tc>
                  <a:txBody>
                    <a:bodyPr/>
                    <a:lstStyle/>
                    <a:p>
                      <a:pPr marL="0" marR="0">
                        <a:lnSpc>
                          <a:spcPct val="115000"/>
                        </a:lnSpc>
                        <a:spcAft>
                          <a:spcPts val="800"/>
                        </a:spcAft>
                        <a:buNone/>
                      </a:pPr>
                      <a:r>
                        <a:rPr lang="zh-CN" sz="1200" kern="100">
                          <a:effectLst/>
                        </a:rPr>
                        <a:t>资源开销</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dirty="0">
                          <a:effectLst/>
                        </a:rPr>
                        <a:t>CPU</a:t>
                      </a:r>
                      <a:r>
                        <a:rPr lang="zh-CN" sz="1200" kern="100" dirty="0">
                          <a:effectLst/>
                        </a:rPr>
                        <a:t>占用率、内存占用</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9195785"/>
                  </a:ext>
                </a:extLst>
              </a:tr>
            </a:tbl>
          </a:graphicData>
        </a:graphic>
      </p:graphicFrame>
    </p:spTree>
    <p:extLst>
      <p:ext uri="{BB962C8B-B14F-4D97-AF65-F5344CB8AC3E}">
        <p14:creationId xmlns:p14="http://schemas.microsoft.com/office/powerpoint/2010/main" val="3839196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66235B8-8EA8-C977-A193-852C5B0972B1}"/>
            </a:ext>
          </a:extLst>
        </p:cNvPr>
        <p:cNvGrpSpPr/>
        <p:nvPr/>
      </p:nvGrpSpPr>
      <p:grpSpPr>
        <a:xfrm>
          <a:off x="0" y="0"/>
          <a:ext cx="0" cy="0"/>
          <a:chOff x="0" y="0"/>
          <a:chExt cx="0" cy="0"/>
        </a:xfrm>
      </p:grpSpPr>
      <p:sp>
        <p:nvSpPr>
          <p:cNvPr id="2" name="矩形 1">
            <a:extLst>
              <a:ext uri="{FF2B5EF4-FFF2-40B4-BE49-F238E27FC236}">
                <a16:creationId xmlns="" xmlns:a16="http://schemas.microsoft.com/office/drawing/2014/main" id="{729F11D1-DF8E-2478-7640-19D5681E120E}"/>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 xmlns:a16="http://schemas.microsoft.com/office/drawing/2014/main" id="{39E1912A-7359-17DD-B799-42CE9C3214FF}"/>
              </a:ext>
            </a:extLst>
          </p:cNvPr>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 xmlns:a16="http://schemas.microsoft.com/office/drawing/2014/main" id="{59F3B6AC-673C-6F35-4D30-10C13AFDD988}"/>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a:extLst>
              <a:ext uri="{FF2B5EF4-FFF2-40B4-BE49-F238E27FC236}">
                <a16:creationId xmlns="" xmlns:a16="http://schemas.microsoft.com/office/drawing/2014/main" id="{B4FD4497-F24B-5A05-8435-D9A415EE5D08}"/>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a:extLst>
              <a:ext uri="{FF2B5EF4-FFF2-40B4-BE49-F238E27FC236}">
                <a16:creationId xmlns="" xmlns:a16="http://schemas.microsoft.com/office/drawing/2014/main" id="{A59359BE-1CD9-55E3-546F-71C86F483B2E}"/>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a:extLst>
              <a:ext uri="{FF2B5EF4-FFF2-40B4-BE49-F238E27FC236}">
                <a16:creationId xmlns="" xmlns:a16="http://schemas.microsoft.com/office/drawing/2014/main" id="{1D1F6740-9873-4EE2-CEB0-C90FBAB4E9BD}"/>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a:extLst>
              <a:ext uri="{FF2B5EF4-FFF2-40B4-BE49-F238E27FC236}">
                <a16:creationId xmlns="" xmlns:a16="http://schemas.microsoft.com/office/drawing/2014/main" id="{CBCA88C8-DABE-DA7E-BAED-37CFBF3DD582}"/>
              </a:ext>
            </a:extLst>
          </p:cNvPr>
          <p:cNvSpPr/>
          <p:nvPr/>
        </p:nvSpPr>
        <p:spPr>
          <a:xfrm>
            <a:off x="107504" y="675430"/>
            <a:ext cx="3608680"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实验四：近优分段重调度算法验证</a:t>
            </a:r>
          </a:p>
        </p:txBody>
      </p:sp>
      <p:sp>
        <p:nvSpPr>
          <p:cNvPr id="8" name="矩形 5">
            <a:extLst>
              <a:ext uri="{FF2B5EF4-FFF2-40B4-BE49-F238E27FC236}">
                <a16:creationId xmlns="" xmlns:a16="http://schemas.microsoft.com/office/drawing/2014/main" id="{5FA5DA11-5B46-CEB1-CE17-661A969CB88B}"/>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3" name="矩形 5">
            <a:extLst>
              <a:ext uri="{FF2B5EF4-FFF2-40B4-BE49-F238E27FC236}">
                <a16:creationId xmlns="" xmlns:a16="http://schemas.microsoft.com/office/drawing/2014/main" id="{C48066F6-A6F3-AF05-26ED-709EB86EB8C2}"/>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 xmlns:a16="http://schemas.microsoft.com/office/drawing/2014/main" id="{1E4391C8-DBB5-9418-A4E3-ECC1933AAB84}"/>
              </a:ext>
            </a:extLst>
          </p:cNvPr>
          <p:cNvSpPr/>
          <p:nvPr/>
        </p:nvSpPr>
        <p:spPr>
          <a:xfrm>
            <a:off x="369570" y="2684932"/>
            <a:ext cx="8317865" cy="461665"/>
          </a:xfrm>
          <a:prstGeom prst="rect">
            <a:avLst/>
          </a:prstGeom>
        </p:spPr>
        <p:txBody>
          <a:bodyPr wrap="square">
            <a:spAutoFit/>
          </a:bodyPr>
          <a:lstStyle/>
          <a:p>
            <a:pPr marL="171450" indent="-171450">
              <a:buFont typeface="Arial" panose="020B0604020202020204" pitchFamily="34" charset="0"/>
              <a:buChar char="•"/>
            </a:pP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仿真生成数据集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，自定义动态扰动场景</a:t>
            </a:r>
            <a:endPar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endParaRPr>
          </a:p>
          <a:p>
            <a:pPr marL="171450" indent="-171450">
              <a:buFont typeface="Arial" panose="020B0604020202020204" pitchFamily="34" charset="0"/>
              <a:buChar char="•"/>
            </a:pPr>
            <a:r>
              <a:rPr lang="en-US" sz="1200" kern="100" dirty="0" err="1">
                <a:latin typeface="微软雅黑" panose="020B0503020204020204" pitchFamily="34" charset="-122"/>
                <a:ea typeface="微软雅黑" panose="020B0503020204020204" pitchFamily="34" charset="-122"/>
                <a:cs typeface="Times New Roman" panose="02020603050405020304" pitchFamily="18" charset="0"/>
              </a:rPr>
              <a:t>Taillard</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Benchmark</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（公开参考数据集 </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 xmlns:a16="http://schemas.microsoft.com/office/drawing/2014/main" id="{81ED8ABA-418F-6F9D-5E2C-76F2DD60B1A5}"/>
              </a:ext>
            </a:extLst>
          </p:cNvPr>
          <p:cNvSpPr/>
          <p:nvPr/>
        </p:nvSpPr>
        <p:spPr>
          <a:xfrm>
            <a:off x="384242" y="3225828"/>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6" name="Table 5">
            <a:extLst>
              <a:ext uri="{FF2B5EF4-FFF2-40B4-BE49-F238E27FC236}">
                <a16:creationId xmlns="" xmlns:a16="http://schemas.microsoft.com/office/drawing/2014/main" id="{9C95CE2A-0DE8-086C-9F25-5D6E49008529}"/>
              </a:ext>
            </a:extLst>
          </p:cNvPr>
          <p:cNvGraphicFramePr>
            <a:graphicFrameLocks noGrp="1"/>
          </p:cNvGraphicFramePr>
          <p:nvPr>
            <p:extLst>
              <p:ext uri="{D42A27DB-BD31-4B8C-83A1-F6EECF244321}">
                <p14:modId xmlns:p14="http://schemas.microsoft.com/office/powerpoint/2010/main" val="3358996900"/>
              </p:ext>
            </p:extLst>
          </p:nvPr>
        </p:nvGraphicFramePr>
        <p:xfrm>
          <a:off x="457200" y="1419308"/>
          <a:ext cx="8229600" cy="917448"/>
        </p:xfrm>
        <a:graphic>
          <a:graphicData uri="http://schemas.openxmlformats.org/drawingml/2006/table">
            <a:tbl>
              <a:tblPr firstRow="1" firstCol="1" bandRow="1">
                <a:tableStyleId>{5C22544A-7EE6-4342-B048-85BDC9FD1C3A}</a:tableStyleId>
              </a:tblPr>
              <a:tblGrid>
                <a:gridCol w="2743200">
                  <a:extLst>
                    <a:ext uri="{9D8B030D-6E8A-4147-A177-3AD203B41FA5}">
                      <a16:colId xmlns="" xmlns:a16="http://schemas.microsoft.com/office/drawing/2014/main" val="2224572617"/>
                    </a:ext>
                  </a:extLst>
                </a:gridCol>
                <a:gridCol w="2743200">
                  <a:extLst>
                    <a:ext uri="{9D8B030D-6E8A-4147-A177-3AD203B41FA5}">
                      <a16:colId xmlns="" xmlns:a16="http://schemas.microsoft.com/office/drawing/2014/main" val="2945581860"/>
                    </a:ext>
                  </a:extLst>
                </a:gridCol>
                <a:gridCol w="2743200">
                  <a:extLst>
                    <a:ext uri="{9D8B030D-6E8A-4147-A177-3AD203B41FA5}">
                      <a16:colId xmlns="" xmlns:a16="http://schemas.microsoft.com/office/drawing/2014/main" val="2653819318"/>
                    </a:ext>
                  </a:extLst>
                </a:gridCol>
              </a:tblGrid>
              <a:tr h="0">
                <a:tc>
                  <a:txBody>
                    <a:bodyPr/>
                    <a:lstStyle/>
                    <a:p>
                      <a:pPr marL="0" marR="0" algn="ctr">
                        <a:lnSpc>
                          <a:spcPct val="115000"/>
                        </a:lnSpc>
                        <a:spcAft>
                          <a:spcPts val="800"/>
                        </a:spcAft>
                        <a:buNone/>
                      </a:pPr>
                      <a:r>
                        <a:rPr lang="zh-CN" sz="1200" kern="100">
                          <a:effectLst/>
                        </a:rPr>
                        <a:t>基线方法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a:effectLst/>
                        </a:rPr>
                        <a:t>简称</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563878104"/>
                  </a:ext>
                </a:extLst>
              </a:tr>
              <a:tr h="0">
                <a:tc>
                  <a:txBody>
                    <a:bodyPr/>
                    <a:lstStyle/>
                    <a:p>
                      <a:pPr marL="0" marR="0">
                        <a:lnSpc>
                          <a:spcPct val="115000"/>
                        </a:lnSpc>
                        <a:spcAft>
                          <a:spcPts val="800"/>
                        </a:spcAft>
                        <a:buNone/>
                      </a:pPr>
                      <a:r>
                        <a:rPr lang="zh-CN" sz="1200" kern="100">
                          <a:effectLst/>
                        </a:rPr>
                        <a:t>全局</a:t>
                      </a:r>
                      <a:r>
                        <a:rPr lang="en-US" sz="1200" kern="100">
                          <a:effectLst/>
                        </a:rPr>
                        <a:t>MIP</a:t>
                      </a:r>
                      <a:r>
                        <a:rPr lang="zh-CN" sz="1200" kern="100">
                          <a:effectLst/>
                        </a:rPr>
                        <a:t>重调度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Global-MIP</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全局最优上界，大规模超时</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4057094531"/>
                  </a:ext>
                </a:extLst>
              </a:tr>
              <a:tr h="0">
                <a:tc>
                  <a:txBody>
                    <a:bodyPr/>
                    <a:lstStyle/>
                    <a:p>
                      <a:pPr marL="0" marR="0">
                        <a:lnSpc>
                          <a:spcPct val="115000"/>
                        </a:lnSpc>
                        <a:spcAft>
                          <a:spcPts val="800"/>
                        </a:spcAft>
                        <a:buNone/>
                      </a:pPr>
                      <a:r>
                        <a:rPr lang="zh-CN" sz="1200" kern="100">
                          <a:effectLst/>
                        </a:rPr>
                        <a:t>滚动时域重调度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RH</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效率较高，存在边界效应</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927381404"/>
                  </a:ext>
                </a:extLst>
              </a:tr>
              <a:tr h="0">
                <a:tc>
                  <a:txBody>
                    <a:bodyPr/>
                    <a:lstStyle/>
                    <a:p>
                      <a:pPr marL="0" marR="0">
                        <a:lnSpc>
                          <a:spcPct val="115000"/>
                        </a:lnSpc>
                        <a:spcAft>
                          <a:spcPts val="800"/>
                        </a:spcAft>
                        <a:buNone/>
                      </a:pPr>
                      <a:r>
                        <a:rPr lang="zh-CN" sz="1200" kern="100">
                          <a:effectLst/>
                        </a:rPr>
                        <a:t>最短处理时间优先</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SPT</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响应快，</a:t>
                      </a:r>
                      <a:r>
                        <a:rPr lang="en-US" sz="1200" kern="100" dirty="0">
                          <a:effectLst/>
                        </a:rPr>
                        <a:t>10~20%</a:t>
                      </a:r>
                      <a:r>
                        <a:rPr lang="zh-CN" sz="1200" kern="100" dirty="0">
                          <a:effectLst/>
                        </a:rPr>
                        <a:t>次优解</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206988646"/>
                  </a:ext>
                </a:extLst>
              </a:tr>
            </a:tbl>
          </a:graphicData>
        </a:graphic>
      </p:graphicFrame>
      <p:graphicFrame>
        <p:nvGraphicFramePr>
          <p:cNvPr id="7" name="Table 6">
            <a:extLst>
              <a:ext uri="{FF2B5EF4-FFF2-40B4-BE49-F238E27FC236}">
                <a16:creationId xmlns="" xmlns:a16="http://schemas.microsoft.com/office/drawing/2014/main" id="{DE28F4BB-9466-87B1-0B69-3FACE35BFF57}"/>
              </a:ext>
            </a:extLst>
          </p:cNvPr>
          <p:cNvGraphicFramePr>
            <a:graphicFrameLocks noGrp="1"/>
          </p:cNvGraphicFramePr>
          <p:nvPr>
            <p:extLst>
              <p:ext uri="{D42A27DB-BD31-4B8C-83A1-F6EECF244321}">
                <p14:modId xmlns:p14="http://schemas.microsoft.com/office/powerpoint/2010/main" val="1912209283"/>
              </p:ext>
            </p:extLst>
          </p:nvPr>
        </p:nvGraphicFramePr>
        <p:xfrm>
          <a:off x="457200" y="3624841"/>
          <a:ext cx="8229600" cy="1181862"/>
        </p:xfrm>
        <a:graphic>
          <a:graphicData uri="http://schemas.openxmlformats.org/drawingml/2006/table">
            <a:tbl>
              <a:tblPr firstRow="1" firstCol="1" bandRow="1">
                <a:tableStyleId>{5C22544A-7EE6-4342-B048-85BDC9FD1C3A}</a:tableStyleId>
              </a:tblPr>
              <a:tblGrid>
                <a:gridCol w="3106688">
                  <a:extLst>
                    <a:ext uri="{9D8B030D-6E8A-4147-A177-3AD203B41FA5}">
                      <a16:colId xmlns="" xmlns:a16="http://schemas.microsoft.com/office/drawing/2014/main" val="365646870"/>
                    </a:ext>
                  </a:extLst>
                </a:gridCol>
                <a:gridCol w="5122912">
                  <a:extLst>
                    <a:ext uri="{9D8B030D-6E8A-4147-A177-3AD203B41FA5}">
                      <a16:colId xmlns="" xmlns:a16="http://schemas.microsoft.com/office/drawing/2014/main" val="3857886227"/>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192856029"/>
                  </a:ext>
                </a:extLst>
              </a:tr>
              <a:tr h="0">
                <a:tc>
                  <a:txBody>
                    <a:bodyPr/>
                    <a:lstStyle/>
                    <a:p>
                      <a:pPr marL="0" marR="0">
                        <a:lnSpc>
                          <a:spcPct val="115000"/>
                        </a:lnSpc>
                        <a:spcAft>
                          <a:spcPts val="800"/>
                        </a:spcAft>
                        <a:buNone/>
                      </a:pPr>
                      <a:r>
                        <a:rPr lang="zh-CN" sz="1200" kern="100">
                          <a:effectLst/>
                        </a:rPr>
                        <a:t>调度质量</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zh-CN" sz="1200" kern="100" dirty="0">
                          <a:effectLst/>
                        </a:rPr>
                        <a:t>总加权完工时间</a:t>
                      </a:r>
                      <a:r>
                        <a:rPr lang="en-US" sz="1200" kern="100" dirty="0">
                          <a:effectLst/>
                        </a:rPr>
                        <a:t> </a:t>
                      </a:r>
                      <a:r>
                        <a:rPr lang="en-US" sz="1200" kern="1200" dirty="0" err="1">
                          <a:solidFill>
                            <a:schemeClr val="dk1"/>
                          </a:solidFill>
                          <a:effectLst/>
                          <a:latin typeface="+mn-lt"/>
                          <a:ea typeface="+mn-ea"/>
                          <a:cs typeface="+mn-cs"/>
                        </a:rPr>
                        <a:t>C</a:t>
                      </a:r>
                      <a:r>
                        <a:rPr lang="en-US" sz="1200" kern="1200" baseline="-25000" dirty="0" err="1">
                          <a:solidFill>
                            <a:schemeClr val="dk1"/>
                          </a:solidFill>
                          <a:effectLst/>
                          <a:latin typeface="+mn-lt"/>
                          <a:ea typeface="+mn-ea"/>
                          <a:cs typeface="+mn-cs"/>
                        </a:rPr>
                        <a:t>max</a:t>
                      </a:r>
                      <a:r>
                        <a:rPr lang="zh-CN" sz="1200" kern="100" dirty="0">
                          <a:effectLst/>
                        </a:rPr>
                        <a:t>、与最优解差距</a:t>
                      </a:r>
                      <a:r>
                        <a:rPr lang="en-US" sz="1200" kern="100" dirty="0">
                          <a:effectLst/>
                        </a:rPr>
                        <a:t> Gap</a:t>
                      </a:r>
                      <a:r>
                        <a:rPr lang="zh-CN" sz="1200" kern="100" dirty="0">
                          <a:effectLst/>
                        </a:rPr>
                        <a:t>、准时完成率</a:t>
                      </a:r>
                      <a:r>
                        <a:rPr lang="en-US" sz="1200" kern="100" dirty="0">
                          <a:effectLst/>
                        </a:rPr>
                        <a:t> OTR</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137276311"/>
                  </a:ext>
                </a:extLst>
              </a:tr>
              <a:tr h="0">
                <a:tc>
                  <a:txBody>
                    <a:bodyPr/>
                    <a:lstStyle/>
                    <a:p>
                      <a:pPr marL="0" marR="0">
                        <a:lnSpc>
                          <a:spcPct val="115000"/>
                        </a:lnSpc>
                        <a:spcAft>
                          <a:spcPts val="800"/>
                        </a:spcAft>
                        <a:buNone/>
                      </a:pPr>
                      <a:r>
                        <a:rPr lang="zh-CN" sz="1200" kern="100">
                          <a:effectLst/>
                        </a:rPr>
                        <a:t>计算效率</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算法求解时间（</a:t>
                      </a:r>
                      <a:r>
                        <a:rPr lang="en-US" sz="1200" kern="100" dirty="0">
                          <a:effectLst/>
                        </a:rPr>
                        <a:t>s</a:t>
                      </a:r>
                      <a:r>
                        <a:rPr lang="zh-CN" sz="1200" kern="100" dirty="0">
                          <a:effectLst/>
                        </a:rPr>
                        <a:t>）、时限内成功率、时间复杂度增长趋势</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609926784"/>
                  </a:ext>
                </a:extLst>
              </a:tr>
              <a:tr h="0">
                <a:tc>
                  <a:txBody>
                    <a:bodyPr/>
                    <a:lstStyle/>
                    <a:p>
                      <a:pPr marL="0" marR="0">
                        <a:lnSpc>
                          <a:spcPct val="115000"/>
                        </a:lnSpc>
                        <a:spcAft>
                          <a:spcPts val="800"/>
                        </a:spcAft>
                        <a:buNone/>
                      </a:pPr>
                      <a:r>
                        <a:rPr lang="zh-CN" sz="1200" kern="100">
                          <a:effectLst/>
                        </a:rPr>
                        <a:t>可扩展性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任务规模扩展性、智能体数量扩展性、依赖密度</a:t>
                      </a:r>
                      <a:r>
                        <a:rPr lang="en-US" sz="1200" kern="100" dirty="0">
                          <a:effectLst/>
                        </a:rPr>
                        <a:t> </a:t>
                      </a:r>
                      <a:r>
                        <a:rPr lang="en-US" sz="1200" b="0" i="1" kern="1200" dirty="0">
                          <a:solidFill>
                            <a:schemeClr val="dk1"/>
                          </a:solidFill>
                          <a:effectLst/>
                          <a:latin typeface="+mn-lt"/>
                          <a:ea typeface="+mn-ea"/>
                          <a:cs typeface="+mn-cs"/>
                        </a:rPr>
                        <a:t>ρ</a:t>
                      </a:r>
                      <a:r>
                        <a:rPr lang="zh-CN" sz="1200" kern="100" dirty="0">
                          <a:effectLst/>
                        </a:rPr>
                        <a:t>敏感性</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2440922786"/>
                  </a:ext>
                </a:extLst>
              </a:tr>
              <a:tr h="0">
                <a:tc>
                  <a:txBody>
                    <a:bodyPr/>
                    <a:lstStyle/>
                    <a:p>
                      <a:pPr marL="0" marR="0">
                        <a:lnSpc>
                          <a:spcPct val="115000"/>
                        </a:lnSpc>
                        <a:spcAft>
                          <a:spcPts val="800"/>
                        </a:spcAft>
                        <a:buNone/>
                      </a:pPr>
                      <a:r>
                        <a:rPr lang="zh-CN" sz="1200" kern="100">
                          <a:effectLst/>
                        </a:rPr>
                        <a:t>鲁棒性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扰动强度</a:t>
                      </a:r>
                      <a:r>
                        <a:rPr lang="en-US" sz="1400" b="0" i="1" kern="1200" dirty="0">
                          <a:solidFill>
                            <a:schemeClr val="dk1"/>
                          </a:solidFill>
                          <a:effectLst/>
                          <a:latin typeface="+mn-lt"/>
                          <a:ea typeface="+mn-ea"/>
                          <a:cs typeface="+mn-cs"/>
                        </a:rPr>
                        <a:t>δ</a:t>
                      </a:r>
                      <a:r>
                        <a:rPr lang="en-US" sz="1050" kern="100" dirty="0">
                          <a:effectLst/>
                        </a:rPr>
                        <a:t> </a:t>
                      </a:r>
                      <a:r>
                        <a:rPr lang="zh-CN" sz="1200" kern="100" dirty="0">
                          <a:effectLst/>
                        </a:rPr>
                        <a:t>敏感性、临时</a:t>
                      </a:r>
                      <a:r>
                        <a:rPr lang="en-US" sz="1200" kern="100" dirty="0">
                          <a:effectLst/>
                        </a:rPr>
                        <a:t>/</a:t>
                      </a:r>
                      <a:r>
                        <a:rPr lang="zh-CN" sz="1200" kern="100" dirty="0">
                          <a:effectLst/>
                        </a:rPr>
                        <a:t>永久扰动场景性能对比</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 xmlns:a16="http://schemas.microsoft.com/office/drawing/2014/main" val="3269900895"/>
                  </a:ext>
                </a:extLst>
              </a:tr>
            </a:tbl>
          </a:graphicData>
        </a:graphic>
      </p:graphicFrame>
    </p:spTree>
    <p:extLst>
      <p:ext uri="{BB962C8B-B14F-4D97-AF65-F5344CB8AC3E}">
        <p14:creationId xmlns:p14="http://schemas.microsoft.com/office/powerpoint/2010/main" val="17649776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1" y="1997869"/>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3"/>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dirty="0">
                <a:solidFill>
                  <a:schemeClr val="bg1"/>
                </a:solidFill>
                <a:latin typeface="Impact" panose="020B0806030902050204" pitchFamily="34" charset="0"/>
              </a:rPr>
              <a:t>4</a:t>
            </a:r>
            <a:endParaRPr lang="zh-CN" altLang="en-US" sz="8600" dirty="0">
              <a:solidFill>
                <a:schemeClr val="bg1"/>
              </a:solidFill>
              <a:latin typeface="Impact" panose="020B0806030902050204" pitchFamily="34" charset="0"/>
            </a:endParaRPr>
          </a:p>
        </p:txBody>
      </p:sp>
      <p:sp>
        <p:nvSpPr>
          <p:cNvPr id="5" name="文本框 4"/>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6" name="矩形 5"/>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6"/>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8" name="文本框 7"/>
          <p:cNvSpPr txBox="1">
            <a:spLocks noChangeArrowheads="1"/>
          </p:cNvSpPr>
          <p:nvPr/>
        </p:nvSpPr>
        <p:spPr bwMode="auto">
          <a:xfrm>
            <a:off x="4690083" y="2720348"/>
            <a:ext cx="4295775" cy="6232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预期成果与进度安排</a:t>
            </a:r>
          </a:p>
        </p:txBody>
      </p:sp>
    </p:spTree>
  </p:cSld>
  <p:clrMapOvr>
    <a:masterClrMapping/>
  </p:clrMapOvr>
  <p:transition spd="slow">
    <p:push di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预期成果</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与进度安排</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04</a:t>
            </a:r>
            <a:endParaRPr lang="zh-CN" altLang="en-US" sz="2400" dirty="0">
              <a:solidFill>
                <a:schemeClr val="bg2">
                  <a:lumMod val="25000"/>
                </a:schemeClr>
              </a:solidFill>
              <a:latin typeface="Impact" panose="020B0806030902050204" pitchFamily="34" charset="0"/>
            </a:endParaRPr>
          </a:p>
        </p:txBody>
      </p:sp>
      <p:sp>
        <p:nvSpPr>
          <p:cNvPr id="9" name="矩形 8"/>
          <p:cNvSpPr/>
          <p:nvPr/>
        </p:nvSpPr>
        <p:spPr>
          <a:xfrm>
            <a:off x="251520" y="430077"/>
            <a:ext cx="7248525" cy="991297"/>
          </a:xfrm>
          <a:prstGeom prst="rect">
            <a:avLst/>
          </a:prstGeom>
        </p:spPr>
        <p:txBody>
          <a:bodyPr wrap="square" lIns="68580" tIns="34290" rIns="68580" bIns="34290">
            <a:spAutoFit/>
          </a:bodyPr>
          <a:lstStyle/>
          <a:p>
            <a:pPr marL="800100" lvl="1" indent="-342900" algn="just">
              <a:lnSpc>
                <a:spcPct val="173000"/>
              </a:lnSpc>
              <a:spcBef>
                <a:spcPts val="975"/>
              </a:spcBef>
              <a:spcAft>
                <a:spcPts val="975"/>
              </a:spcAft>
              <a:buFont typeface="Wingdings" panose="05000000000000000000" pitchFamily="2" charset="2"/>
              <a:buChar char="l"/>
            </a:pPr>
            <a:r>
              <a:rPr lang="zh-CN" altLang="zh-CN" sz="1400" b="1" kern="100" dirty="0">
                <a:latin typeface="微软雅黑" panose="020B0503020204020204" pitchFamily="34" charset="-122"/>
                <a:ea typeface="微软雅黑" panose="020B0503020204020204" pitchFamily="34" charset="-122"/>
                <a:cs typeface="Times New Roman" panose="02020603050405020304" pitchFamily="18" charset="0"/>
              </a:rPr>
              <a:t>理论成果</a:t>
            </a:r>
          </a:p>
          <a:p>
            <a:pPr lvl="1" algn="just">
              <a:lnSpc>
                <a:spcPct val="173000"/>
              </a:lnSpc>
              <a:spcBef>
                <a:spcPts val="975"/>
              </a:spcBef>
              <a:spcAft>
                <a:spcPts val="975"/>
              </a:spcAft>
            </a:pPr>
            <a:endParaRPr lang="zh-CN" altLang="zh-CN" sz="11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0" name="矩形 9"/>
          <p:cNvSpPr/>
          <p:nvPr/>
        </p:nvSpPr>
        <p:spPr>
          <a:xfrm>
            <a:off x="917203" y="771550"/>
            <a:ext cx="8448735" cy="307777"/>
          </a:xfrm>
          <a:prstGeom prst="rect">
            <a:avLst/>
          </a:prstGeom>
        </p:spPr>
        <p:txBody>
          <a:bodyPr wrap="square">
            <a:spAutoFit/>
          </a:bodyPr>
          <a:lstStyle/>
          <a:p>
            <a:r>
              <a:rPr sz="1400" dirty="0">
                <a:latin typeface="微软雅黑" panose="020B0503020204020204" pitchFamily="34" charset="-122"/>
                <a:ea typeface="微软雅黑" panose="020B0503020204020204" pitchFamily="34" charset="-122"/>
              </a:rPr>
              <a:t>（1）</a:t>
            </a:r>
            <a:r>
              <a:rPr lang="zh-CN" altLang="en-US" sz="1400" dirty="0">
                <a:latin typeface="微软雅黑" panose="020B0503020204020204" pitchFamily="34" charset="-122"/>
                <a:ea typeface="微软雅黑" panose="020B0503020204020204" pitchFamily="34" charset="-122"/>
              </a:rPr>
              <a:t>基于时空约束和混合动态规划的移动</a:t>
            </a:r>
            <a:r>
              <a:rPr lang="en-US"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固定多智能体协同调度</a:t>
            </a:r>
            <a:endParaRPr lang="en-US" altLang="zh-CN" sz="1400" dirty="0">
              <a:latin typeface="微软雅黑" panose="020B0503020204020204" pitchFamily="34" charset="-122"/>
              <a:ea typeface="微软雅黑" panose="020B0503020204020204" pitchFamily="34" charset="-122"/>
            </a:endParaRPr>
          </a:p>
        </p:txBody>
      </p:sp>
      <p:sp>
        <p:nvSpPr>
          <p:cNvPr id="11" name="矩形 10"/>
          <p:cNvSpPr/>
          <p:nvPr/>
        </p:nvSpPr>
        <p:spPr>
          <a:xfrm>
            <a:off x="251773" y="3502207"/>
            <a:ext cx="7248525" cy="391517"/>
          </a:xfrm>
          <a:prstGeom prst="rect">
            <a:avLst/>
          </a:prstGeom>
        </p:spPr>
        <p:txBody>
          <a:bodyPr wrap="square" lIns="68580" tIns="34290" rIns="68580" bIns="34290">
            <a:spAutoFit/>
          </a:bodyPr>
          <a:lstStyle/>
          <a:p>
            <a:pPr marL="800100" lvl="1" indent="-342900" algn="just">
              <a:lnSpc>
                <a:spcPct val="173000"/>
              </a:lnSpc>
              <a:spcBef>
                <a:spcPts val="975"/>
              </a:spcBef>
              <a:spcAft>
                <a:spcPts val="975"/>
              </a:spcAft>
              <a:buFont typeface="Wingdings" panose="05000000000000000000" pitchFamily="2" charset="2"/>
              <a:buChar char="l"/>
            </a:pPr>
            <a:r>
              <a:rPr lang="zh-CN" altLang="en-US" sz="1400" b="1" kern="100" dirty="0">
                <a:latin typeface="微软雅黑" panose="020B0503020204020204" pitchFamily="34" charset="-122"/>
                <a:ea typeface="微软雅黑" panose="020B0503020204020204" pitchFamily="34" charset="-122"/>
                <a:cs typeface="Times New Roman" panose="02020603050405020304" pitchFamily="18" charset="0"/>
              </a:rPr>
              <a:t>系统成果</a:t>
            </a:r>
            <a:endParaRPr lang="zh-CN" altLang="zh-CN" sz="11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2" name="矩形 11"/>
          <p:cNvSpPr/>
          <p:nvPr/>
        </p:nvSpPr>
        <p:spPr>
          <a:xfrm>
            <a:off x="647309" y="3848149"/>
            <a:ext cx="7597352" cy="307777"/>
          </a:xfrm>
          <a:prstGeom prst="rect">
            <a:avLst/>
          </a:prstGeom>
        </p:spPr>
        <p:txBody>
          <a:bodyPr wrap="square">
            <a:spAutoFit/>
          </a:bodyPr>
          <a:lstStyle/>
          <a:p>
            <a:pPr indent="457200"/>
            <a:r>
              <a:rPr lang="zh-CN" altLang="en-US" sz="1400" dirty="0">
                <a:latin typeface="微软雅黑" panose="020B0503020204020204" pitchFamily="34" charset="-122"/>
                <a:ea typeface="微软雅黑" panose="020B0503020204020204" pitchFamily="34" charset="-122"/>
              </a:rPr>
              <a:t>基于上述方法创新，开发：“工业互联网环境下移动</a:t>
            </a:r>
            <a:r>
              <a:rPr lang="en-US"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固定多智能体协同调度系统”。</a:t>
            </a:r>
          </a:p>
        </p:txBody>
      </p:sp>
      <p:sp>
        <p:nvSpPr>
          <p:cNvPr id="13" name="矩形 12"/>
          <p:cNvSpPr/>
          <p:nvPr/>
        </p:nvSpPr>
        <p:spPr>
          <a:xfrm>
            <a:off x="251773" y="4075379"/>
            <a:ext cx="7248525" cy="391517"/>
          </a:xfrm>
          <a:prstGeom prst="rect">
            <a:avLst/>
          </a:prstGeom>
        </p:spPr>
        <p:txBody>
          <a:bodyPr wrap="square" lIns="68580" tIns="34290" rIns="68580" bIns="34290">
            <a:spAutoFit/>
          </a:bodyPr>
          <a:lstStyle/>
          <a:p>
            <a:pPr marL="800100" lvl="1" indent="-342900" algn="just">
              <a:lnSpc>
                <a:spcPct val="173000"/>
              </a:lnSpc>
              <a:spcBef>
                <a:spcPts val="975"/>
              </a:spcBef>
              <a:spcAft>
                <a:spcPts val="975"/>
              </a:spcAft>
              <a:buFont typeface="Wingdings" panose="05000000000000000000" pitchFamily="2" charset="2"/>
              <a:buChar char="l"/>
            </a:pPr>
            <a:r>
              <a:rPr lang="zh-CN" altLang="en-US" sz="1400" b="1" kern="100" dirty="0">
                <a:latin typeface="微软雅黑" panose="020B0503020204020204" pitchFamily="34" charset="-122"/>
                <a:ea typeface="微软雅黑" panose="020B0503020204020204" pitchFamily="34" charset="-122"/>
                <a:cs typeface="Times New Roman" panose="02020603050405020304" pitchFamily="18" charset="0"/>
              </a:rPr>
              <a:t>成果形式</a:t>
            </a:r>
            <a:endParaRPr lang="zh-CN" altLang="zh-CN" sz="11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4" name="矩形 13"/>
          <p:cNvSpPr/>
          <p:nvPr/>
        </p:nvSpPr>
        <p:spPr>
          <a:xfrm>
            <a:off x="453540" y="4404836"/>
            <a:ext cx="7812360" cy="738664"/>
          </a:xfrm>
          <a:prstGeom prst="rect">
            <a:avLst/>
          </a:prstGeom>
        </p:spPr>
        <p:txBody>
          <a:bodyPr wrap="square">
            <a:spAutoFit/>
          </a:bodyPr>
          <a:lstStyle/>
          <a:p>
            <a:pPr indent="457200"/>
            <a:r>
              <a:rPr sz="1400" dirty="0">
                <a:latin typeface="微软雅黑" panose="020B0503020204020204" pitchFamily="34" charset="-122"/>
                <a:ea typeface="微软雅黑" panose="020B0503020204020204" pitchFamily="34" charset="-122"/>
              </a:rPr>
              <a:t>（1）</a:t>
            </a:r>
            <a:r>
              <a:rPr lang="zh-CN" altLang="en-US" sz="1400" dirty="0">
                <a:latin typeface="微软雅黑" panose="020B0503020204020204" pitchFamily="34" charset="-122"/>
                <a:ea typeface="微软雅黑" panose="020B0503020204020204" pitchFamily="34" charset="-122"/>
              </a:rPr>
              <a:t>发表</a:t>
            </a:r>
            <a:r>
              <a:rPr lang="en-US" sz="1400" dirty="0">
                <a:latin typeface="微软雅黑" panose="020B0503020204020204" pitchFamily="34" charset="-122"/>
                <a:ea typeface="微软雅黑" panose="020B0503020204020204" pitchFamily="34" charset="-122"/>
              </a:rPr>
              <a:t>SCI/EI</a:t>
            </a:r>
            <a:r>
              <a:rPr lang="zh-CN" altLang="en-US" sz="1400" dirty="0">
                <a:latin typeface="微软雅黑" panose="020B0503020204020204" pitchFamily="34" charset="-122"/>
                <a:ea typeface="微软雅黑" panose="020B0503020204020204" pitchFamily="34" charset="-122"/>
              </a:rPr>
              <a:t>论文</a:t>
            </a:r>
            <a:r>
              <a:rPr lang="en-US" sz="1400" dirty="0">
                <a:latin typeface="微软雅黑" panose="020B0503020204020204" pitchFamily="34" charset="-122"/>
                <a:ea typeface="微软雅黑" panose="020B0503020204020204" pitchFamily="34" charset="-122"/>
              </a:rPr>
              <a:t>2~4</a:t>
            </a:r>
            <a:r>
              <a:rPr lang="zh-CN" altLang="en-US" sz="1400" dirty="0">
                <a:latin typeface="微软雅黑" panose="020B0503020204020204" pitchFamily="34" charset="-122"/>
                <a:ea typeface="微软雅黑" panose="020B0503020204020204" pitchFamily="34" charset="-122"/>
              </a:rPr>
              <a:t>篇</a:t>
            </a:r>
            <a:r>
              <a:rPr sz="1400" dirty="0">
                <a:latin typeface="微软雅黑" panose="020B0503020204020204" pitchFamily="34" charset="-122"/>
                <a:ea typeface="微软雅黑" panose="020B0503020204020204" pitchFamily="34" charset="-122"/>
              </a:rPr>
              <a:t>；</a:t>
            </a:r>
          </a:p>
          <a:p>
            <a:pPr indent="457200"/>
            <a:r>
              <a:rPr sz="1400" dirty="0">
                <a:latin typeface="微软雅黑" panose="020B0503020204020204" pitchFamily="34" charset="-122"/>
                <a:ea typeface="微软雅黑" panose="020B0503020204020204" pitchFamily="34" charset="-122"/>
              </a:rPr>
              <a:t>（2）</a:t>
            </a:r>
            <a:r>
              <a:rPr lang="zh-CN" altLang="en-US" sz="1400" dirty="0">
                <a:latin typeface="微软雅黑" panose="020B0503020204020204" pitchFamily="34" charset="-122"/>
                <a:ea typeface="微软雅黑" panose="020B0503020204020204" pitchFamily="34" charset="-122"/>
              </a:rPr>
              <a:t>开发完成“工业互联网环境下移动</a:t>
            </a:r>
            <a:r>
              <a:rPr lang="en-US"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固定多智能体协同调度系统”原型系统；</a:t>
            </a:r>
            <a:endParaRPr lang="en-US" altLang="zh-CN" sz="1400" dirty="0">
              <a:latin typeface="微软雅黑" panose="020B0503020204020204" pitchFamily="34" charset="-122"/>
              <a:ea typeface="微软雅黑" panose="020B0503020204020204" pitchFamily="34" charset="-122"/>
            </a:endParaRPr>
          </a:p>
          <a:p>
            <a:pPr indent="457200"/>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3</a:t>
            </a:r>
            <a:r>
              <a:rPr lang="zh-CN" altLang="en-US" sz="1400" dirty="0">
                <a:latin typeface="微软雅黑" panose="020B0503020204020204" pitchFamily="34" charset="-122"/>
                <a:ea typeface="微软雅黑" panose="020B0503020204020204" pitchFamily="34" charset="-122"/>
              </a:rPr>
              <a:t>）申请发明专利</a:t>
            </a:r>
            <a:r>
              <a:rPr lang="en-US" sz="1400" dirty="0">
                <a:latin typeface="微软雅黑" panose="020B0503020204020204" pitchFamily="34" charset="-122"/>
                <a:ea typeface="微软雅黑" panose="020B0503020204020204" pitchFamily="34" charset="-122"/>
              </a:rPr>
              <a:t>1-2</a:t>
            </a:r>
            <a:r>
              <a:rPr lang="zh-CN" altLang="en-US" sz="1400" dirty="0">
                <a:latin typeface="微软雅黑" panose="020B0503020204020204" pitchFamily="34" charset="-122"/>
                <a:ea typeface="微软雅黑" panose="020B0503020204020204" pitchFamily="34" charset="-122"/>
              </a:rPr>
              <a:t>项；</a:t>
            </a:r>
            <a:endParaRPr sz="1400" dirty="0">
              <a:latin typeface="微软雅黑" panose="020B0503020204020204" pitchFamily="34" charset="-122"/>
              <a:ea typeface="微软雅黑" panose="020B0503020204020204" pitchFamily="34" charset="-122"/>
            </a:endParaRP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26</a:t>
            </a:fld>
            <a:endParaRPr lang="zh-CN" altLang="en-US" dirty="0"/>
          </a:p>
        </p:txBody>
      </p:sp>
      <p:sp>
        <p:nvSpPr>
          <p:cNvPr id="6" name="TextBox 5">
            <a:extLst>
              <a:ext uri="{FF2B5EF4-FFF2-40B4-BE49-F238E27FC236}">
                <a16:creationId xmlns="" xmlns:a16="http://schemas.microsoft.com/office/drawing/2014/main" id="{B2DF8BFE-5A66-764F-C93E-41CC7FA6C09E}"/>
              </a:ext>
            </a:extLst>
          </p:cNvPr>
          <p:cNvSpPr txBox="1"/>
          <p:nvPr/>
        </p:nvSpPr>
        <p:spPr>
          <a:xfrm>
            <a:off x="1115616" y="1029149"/>
            <a:ext cx="8027993" cy="600164"/>
          </a:xfrm>
          <a:prstGeom prst="rect">
            <a:avLst/>
          </a:prstGeom>
          <a:noFill/>
        </p:spPr>
        <p:txBody>
          <a:bodyPr wrap="square">
            <a:spAutoFit/>
          </a:bodyPr>
          <a:lstStyle/>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"Optimizing Task Allocation in Heterogeneous Agent Manufacturing Systems." </a:t>
            </a:r>
            <a:r>
              <a:rPr lang="en-US" sz="1100" b="1" kern="100" dirty="0">
                <a:latin typeface="Aptos" panose="020B0004020202020204" pitchFamily="34" charset="0"/>
                <a:ea typeface="DengXian" panose="02010600030101010101" pitchFamily="2" charset="-122"/>
                <a:cs typeface="Times New Roman" panose="02020603050405020304" pitchFamily="18" charset="0"/>
              </a:rPr>
              <a:t>[PDCAT 2024, Published]</a:t>
            </a:r>
            <a:endParaRPr lang="en-US" sz="1100" kern="100" dirty="0">
              <a:effectLst/>
              <a:latin typeface="Aptos" panose="020B0004020202020204" pitchFamily="34" charset="0"/>
              <a:ea typeface="DengXian" panose="02010600030101010101" pitchFamily="2" charset="-122"/>
              <a:cs typeface="Times New Roman" panose="02020603050405020304" pitchFamily="18" charset="0"/>
            </a:endParaRPr>
          </a:p>
          <a:p>
            <a:pPr marR="0"/>
            <a:r>
              <a:rPr lang="en-US" sz="1100" dirty="0"/>
              <a:t>•</a:t>
            </a:r>
            <a:r>
              <a:rPr lang="en-US" sz="1100" kern="100" dirty="0">
                <a:effectLst/>
                <a:latin typeface="Aptos" panose="020B0004020202020204" pitchFamily="34" charset="0"/>
                <a:ea typeface="DengXian" panose="02010600030101010101" pitchFamily="2" charset="-122"/>
                <a:cs typeface="Times New Roman" panose="02020603050405020304" pitchFamily="18" charset="0"/>
              </a:rPr>
              <a:t>“Coordinated Scheduling of Continuous–Discrete Hybrid Agent Systems via Spatiotemporal Logic and Hybrid Dynamic Programming. ” </a:t>
            </a:r>
            <a:r>
              <a:rPr lang="en-US" sz="1100" i="1" kern="100" dirty="0">
                <a:effectLst/>
                <a:latin typeface="Aptos" panose="020B0004020202020204" pitchFamily="34" charset="0"/>
                <a:ea typeface="DengXian" panose="02010600030101010101" pitchFamily="2" charset="-122"/>
                <a:cs typeface="Times New Roman" panose="02020603050405020304" pitchFamily="18" charset="0"/>
              </a:rPr>
              <a:t>ACM –</a:t>
            </a:r>
            <a:r>
              <a:rPr lang="en-US" altLang="zh-CN" sz="1100" i="1" kern="100" dirty="0">
                <a:effectLst/>
                <a:latin typeface="Aptos" panose="020B0004020202020204" pitchFamily="34" charset="0"/>
                <a:ea typeface="DengXian" panose="02010600030101010101" pitchFamily="2" charset="-122"/>
                <a:cs typeface="Times New Roman" panose="02020603050405020304" pitchFamily="18" charset="0"/>
              </a:rPr>
              <a:t>TIST </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effectLst/>
                <a:latin typeface="Aptos" panose="020B0004020202020204" pitchFamily="34" charset="0"/>
                <a:ea typeface="DengXian" panose="02010600030101010101" pitchFamily="2" charset="-122"/>
                <a:cs typeface="Times New Roman" panose="02020603050405020304" pitchFamily="18" charset="0"/>
              </a:rPr>
              <a:t>大修二审中</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p:txBody>
      </p:sp>
      <p:sp>
        <p:nvSpPr>
          <p:cNvPr id="8" name="矩形 9">
            <a:extLst>
              <a:ext uri="{FF2B5EF4-FFF2-40B4-BE49-F238E27FC236}">
                <a16:creationId xmlns="" xmlns:a16="http://schemas.microsoft.com/office/drawing/2014/main" id="{31739824-4A63-C3A9-200D-86C57182EFCB}"/>
              </a:ext>
            </a:extLst>
          </p:cNvPr>
          <p:cNvSpPr/>
          <p:nvPr/>
        </p:nvSpPr>
        <p:spPr>
          <a:xfrm>
            <a:off x="917201" y="1524329"/>
            <a:ext cx="8448735" cy="307777"/>
          </a:xfrm>
          <a:prstGeom prst="rect">
            <a:avLst/>
          </a:prstGeom>
        </p:spPr>
        <p:txBody>
          <a:bodyPr wrap="square">
            <a:spAutoFit/>
          </a:bodyPr>
          <a:lstStyle/>
          <a:p>
            <a:r>
              <a:rPr sz="1400" dirty="0">
                <a:latin typeface="微软雅黑" panose="020B0503020204020204" pitchFamily="34" charset="-122"/>
                <a:ea typeface="微软雅黑" panose="020B0503020204020204" pitchFamily="34" charset="-122"/>
              </a:rPr>
              <a:t>（2）</a:t>
            </a:r>
            <a:r>
              <a:rPr lang="zh-CN" altLang="en-US" sz="1400" dirty="0">
                <a:latin typeface="微软雅黑" panose="020B0503020204020204" pitchFamily="34" charset="-122"/>
                <a:ea typeface="微软雅黑" panose="020B0503020204020204" pitchFamily="34" charset="-122"/>
              </a:rPr>
              <a:t>基于状态预测和动态阈值的工业多智能体系统数据注入检测</a:t>
            </a:r>
            <a:endParaRPr lang="en-US" altLang="zh-CN" sz="1400" dirty="0">
              <a:latin typeface="微软雅黑" panose="020B0503020204020204" pitchFamily="34" charset="-122"/>
              <a:ea typeface="微软雅黑" panose="020B0503020204020204" pitchFamily="34" charset="-122"/>
            </a:endParaRPr>
          </a:p>
        </p:txBody>
      </p:sp>
      <p:sp>
        <p:nvSpPr>
          <p:cNvPr id="16" name="矩形 9">
            <a:extLst>
              <a:ext uri="{FF2B5EF4-FFF2-40B4-BE49-F238E27FC236}">
                <a16:creationId xmlns="" xmlns:a16="http://schemas.microsoft.com/office/drawing/2014/main" id="{3D15BA58-FA51-34FD-B479-966AD73D4B36}"/>
              </a:ext>
            </a:extLst>
          </p:cNvPr>
          <p:cNvSpPr/>
          <p:nvPr/>
        </p:nvSpPr>
        <p:spPr>
          <a:xfrm>
            <a:off x="917202" y="2211710"/>
            <a:ext cx="8448735" cy="307777"/>
          </a:xfrm>
          <a:prstGeom prst="rect">
            <a:avLst/>
          </a:prstGeom>
        </p:spPr>
        <p:txBody>
          <a:bodyPr wrap="square">
            <a:spAutoFit/>
          </a:bodyPr>
          <a:lstStyle/>
          <a:p>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3</a:t>
            </a:r>
            <a:r>
              <a:rPr lang="zh-CN" altLang="en-US" sz="1400" dirty="0">
                <a:latin typeface="微软雅黑" panose="020B0503020204020204" pitchFamily="34" charset="-122"/>
                <a:ea typeface="微软雅黑" panose="020B0503020204020204" pitchFamily="34" charset="-122"/>
              </a:rPr>
              <a:t>）基于轻量化抗拜占庭协调协议的异常智能体甄别</a:t>
            </a:r>
            <a:endParaRPr lang="en-US" altLang="zh-CN" sz="1400" dirty="0">
              <a:latin typeface="微软雅黑" panose="020B0503020204020204" pitchFamily="34" charset="-122"/>
              <a:ea typeface="微软雅黑" panose="020B0503020204020204" pitchFamily="34" charset="-122"/>
            </a:endParaRPr>
          </a:p>
        </p:txBody>
      </p:sp>
      <p:sp>
        <p:nvSpPr>
          <p:cNvPr id="17" name="矩形 9">
            <a:extLst>
              <a:ext uri="{FF2B5EF4-FFF2-40B4-BE49-F238E27FC236}">
                <a16:creationId xmlns="" xmlns:a16="http://schemas.microsoft.com/office/drawing/2014/main" id="{A562FB36-5900-0319-5592-7F5BF47337A0}"/>
              </a:ext>
            </a:extLst>
          </p:cNvPr>
          <p:cNvSpPr/>
          <p:nvPr/>
        </p:nvSpPr>
        <p:spPr>
          <a:xfrm>
            <a:off x="917202" y="2787774"/>
            <a:ext cx="8448735" cy="307777"/>
          </a:xfrm>
          <a:prstGeom prst="rect">
            <a:avLst/>
          </a:prstGeom>
        </p:spPr>
        <p:txBody>
          <a:bodyPr wrap="square">
            <a:spAutoFit/>
          </a:bodyPr>
          <a:lstStyle/>
          <a:p>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4</a:t>
            </a:r>
            <a:r>
              <a:rPr lang="zh-CN" altLang="en-US" sz="1400" dirty="0">
                <a:latin typeface="微软雅黑" panose="020B0503020204020204" pitchFamily="34" charset="-122"/>
                <a:ea typeface="微软雅黑" panose="020B0503020204020204" pitchFamily="34" charset="-122"/>
              </a:rPr>
              <a:t>）基于状态感知分解的近优重调度算法</a:t>
            </a:r>
            <a:endParaRPr sz="1400" dirty="0">
              <a:latin typeface="微软雅黑" panose="020B0503020204020204" pitchFamily="34" charset="-122"/>
              <a:ea typeface="微软雅黑" panose="020B0503020204020204" pitchFamily="34" charset="-122"/>
            </a:endParaRPr>
          </a:p>
        </p:txBody>
      </p:sp>
      <p:sp>
        <p:nvSpPr>
          <p:cNvPr id="19" name="TextBox 18">
            <a:extLst>
              <a:ext uri="{FF2B5EF4-FFF2-40B4-BE49-F238E27FC236}">
                <a16:creationId xmlns="" xmlns:a16="http://schemas.microsoft.com/office/drawing/2014/main" id="{0CBFF678-1812-FD1A-2E18-67230977CA93}"/>
              </a:ext>
            </a:extLst>
          </p:cNvPr>
          <p:cNvSpPr txBox="1"/>
          <p:nvPr/>
        </p:nvSpPr>
        <p:spPr>
          <a:xfrm>
            <a:off x="1115616" y="1814753"/>
            <a:ext cx="8028384" cy="430887"/>
          </a:xfrm>
          <a:prstGeom prst="rect">
            <a:avLst/>
          </a:prstGeom>
          <a:noFill/>
        </p:spPr>
        <p:txBody>
          <a:bodyPr wrap="square">
            <a:spAutoFit/>
          </a:bodyPr>
          <a:lstStyle/>
          <a:p>
            <a:pPr marR="0"/>
            <a:r>
              <a:rPr lang="en-US" sz="1100" dirty="0"/>
              <a:t>•</a:t>
            </a:r>
            <a:r>
              <a:rPr lang="en-US" sz="1100" kern="100" dirty="0">
                <a:effectLst/>
                <a:latin typeface="Aptos" panose="020B0004020202020204" pitchFamily="34" charset="0"/>
                <a:ea typeface="DengXian" panose="02010600030101010101" pitchFamily="2" charset="-122"/>
                <a:cs typeface="Times New Roman" panose="02020603050405020304" pitchFamily="18" charset="0"/>
              </a:rPr>
              <a:t>"Optimizing Task Allocation in Heterogeneous Agent Manufacturing Systems." </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[PDCAT 2025, </a:t>
            </a:r>
            <a:r>
              <a:rPr lang="en-US" sz="1100" b="1" kern="100" dirty="0" err="1" smtClean="0">
                <a:effectLst/>
                <a:latin typeface="Aptos" panose="020B0004020202020204" pitchFamily="34" charset="0"/>
                <a:ea typeface="DengXian" panose="02010600030101010101" pitchFamily="2" charset="-122"/>
                <a:cs typeface="Times New Roman" panose="02020603050405020304" pitchFamily="18" charset="0"/>
              </a:rPr>
              <a:t>Pubished</a:t>
            </a:r>
            <a:r>
              <a:rPr lang="en-US" sz="1100" b="1" kern="100" dirty="0" smtClean="0">
                <a:effectLst/>
                <a:latin typeface="Aptos" panose="020B0004020202020204" pitchFamily="34" charset="0"/>
                <a:ea typeface="DengXian" panose="02010600030101010101" pitchFamily="2" charset="-122"/>
                <a:cs typeface="Times New Roman" panose="02020603050405020304" pitchFamily="18" charset="0"/>
              </a:rPr>
              <a:t>]</a:t>
            </a:r>
            <a:endParaRPr lang="en-US" sz="1100" b="1" kern="100" dirty="0">
              <a:effectLst/>
              <a:latin typeface="Aptos" panose="020B0004020202020204" pitchFamily="34" charset="0"/>
              <a:ea typeface="DengXian" panose="02010600030101010101" pitchFamily="2" charset="-122"/>
              <a:cs typeface="Times New Roman" panose="02020603050405020304" pitchFamily="18" charset="0"/>
            </a:endParaRPr>
          </a:p>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kern="100" dirty="0">
                <a:latin typeface="Aptos" panose="020B0004020202020204" pitchFamily="34" charset="0"/>
                <a:ea typeface="DengXian" panose="02010600030101010101" pitchFamily="2" charset="-122"/>
                <a:cs typeface="Times New Roman" panose="02020603050405020304" pitchFamily="18" charset="0"/>
              </a:rPr>
              <a:t>一种基于状态预测与自适应阈值的工业系统数据注入攻击检测方法</a:t>
            </a:r>
            <a:r>
              <a:rPr lang="en-US" sz="1100" kern="100" dirty="0">
                <a:latin typeface="Aptos" panose="020B0004020202020204" pitchFamily="34" charset="0"/>
                <a:ea typeface="DengXian" panose="02010600030101010101" pitchFamily="2" charset="-122"/>
                <a:cs typeface="Times New Roman" panose="02020603050405020304" pitchFamily="18" charset="0"/>
              </a:rPr>
              <a:t>”  </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latin typeface="Aptos" panose="020B0004020202020204" pitchFamily="34" charset="0"/>
                <a:ea typeface="DengXian" panose="02010600030101010101" pitchFamily="2" charset="-122"/>
                <a:cs typeface="Times New Roman" panose="02020603050405020304" pitchFamily="18" charset="0"/>
              </a:rPr>
              <a:t>专利代理事务所已受理</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p>
        </p:txBody>
      </p:sp>
      <p:sp>
        <p:nvSpPr>
          <p:cNvPr id="20" name="TextBox 19">
            <a:extLst>
              <a:ext uri="{FF2B5EF4-FFF2-40B4-BE49-F238E27FC236}">
                <a16:creationId xmlns="" xmlns:a16="http://schemas.microsoft.com/office/drawing/2014/main" id="{7F2D41AF-9AA8-9607-44CE-ED53A78570DE}"/>
              </a:ext>
            </a:extLst>
          </p:cNvPr>
          <p:cNvSpPr txBox="1"/>
          <p:nvPr/>
        </p:nvSpPr>
        <p:spPr>
          <a:xfrm>
            <a:off x="1115223" y="2429666"/>
            <a:ext cx="8028385" cy="471732"/>
          </a:xfrm>
          <a:prstGeom prst="rect">
            <a:avLst/>
          </a:prstGeom>
          <a:noFill/>
        </p:spPr>
        <p:txBody>
          <a:bodyPr wrap="square">
            <a:spAutoFit/>
          </a:bodyPr>
          <a:lstStyle/>
          <a:p>
            <a:pPr>
              <a:lnSpc>
                <a:spcPct val="115000"/>
              </a:lnSpc>
              <a:spcAft>
                <a:spcPts val="800"/>
              </a:spcAft>
            </a:pPr>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“STLC: Spatiotemporal Localized Consensus with Adaptive Trust for Scalable Byzantine Fault Tolerance in Industrial Cyber-Physical Systems.”  T-ASE.</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effectLst/>
                <a:latin typeface="Aptos" panose="020B0004020202020204" pitchFamily="34" charset="0"/>
                <a:ea typeface="DengXian" panose="02010600030101010101" pitchFamily="2" charset="-122"/>
                <a:cs typeface="Times New Roman" panose="02020603050405020304" pitchFamily="18" charset="0"/>
              </a:rPr>
              <a:t>已投稿</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p:txBody>
      </p:sp>
      <p:sp>
        <p:nvSpPr>
          <p:cNvPr id="21" name="TextBox 20">
            <a:extLst>
              <a:ext uri="{FF2B5EF4-FFF2-40B4-BE49-F238E27FC236}">
                <a16:creationId xmlns="" xmlns:a16="http://schemas.microsoft.com/office/drawing/2014/main" id="{BE290288-5077-0D95-82E6-BAC2D0A4F743}"/>
              </a:ext>
            </a:extLst>
          </p:cNvPr>
          <p:cNvSpPr txBox="1"/>
          <p:nvPr/>
        </p:nvSpPr>
        <p:spPr>
          <a:xfrm>
            <a:off x="1115270" y="3058914"/>
            <a:ext cx="8028729" cy="600164"/>
          </a:xfrm>
          <a:prstGeom prst="rect">
            <a:avLst/>
          </a:prstGeom>
          <a:noFill/>
        </p:spPr>
        <p:txBody>
          <a:bodyPr wrap="square">
            <a:spAutoFit/>
          </a:bodyPr>
          <a:lstStyle/>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“Near-Optimal Segmented Rescheduling for Dynamic Multi-Agent Systems: A State-Aware Decomposition Framework with Bounded Suboptimality” </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smtClean="0">
                <a:latin typeface="Aptos" panose="020B0004020202020204" pitchFamily="34" charset="0"/>
                <a:ea typeface="DengXian" panose="02010600030101010101" pitchFamily="2" charset="-122"/>
                <a:cs typeface="Times New Roman" panose="02020603050405020304" pitchFamily="18" charset="0"/>
              </a:rPr>
              <a:t>初稿</a:t>
            </a:r>
            <a:r>
              <a:rPr lang="zh-CN" altLang="en-US" sz="1100" b="1" kern="100" dirty="0">
                <a:latin typeface="Aptos" panose="020B0004020202020204" pitchFamily="34" charset="0"/>
                <a:ea typeface="DengXian" panose="02010600030101010101" pitchFamily="2" charset="-122"/>
                <a:cs typeface="Times New Roman" panose="02020603050405020304" pitchFamily="18" charset="0"/>
              </a:rPr>
              <a:t>已</a:t>
            </a:r>
            <a:r>
              <a:rPr lang="zh-CN" altLang="en-US" sz="1100" b="1" kern="100" dirty="0" smtClean="0">
                <a:latin typeface="Aptos" panose="020B0004020202020204" pitchFamily="34" charset="0"/>
                <a:ea typeface="DengXian" panose="02010600030101010101" pitchFamily="2" charset="-122"/>
                <a:cs typeface="Times New Roman" panose="02020603050405020304" pitchFamily="18" charset="0"/>
              </a:rPr>
              <a:t>完成</a:t>
            </a:r>
            <a:r>
              <a:rPr lang="en-US" sz="1100" b="1" kern="100" dirty="0" smtClean="0">
                <a:effectLst/>
                <a:latin typeface="Aptos" panose="020B0004020202020204" pitchFamily="34" charset="0"/>
                <a:ea typeface="DengXian" panose="02010600030101010101" pitchFamily="2" charset="-122"/>
                <a:cs typeface="Times New Roman" panose="02020603050405020304" pitchFamily="18" charset="0"/>
              </a:rPr>
              <a:t>]</a:t>
            </a:r>
            <a:endParaRPr lang="en-US" sz="1100" b="1" kern="100" dirty="0">
              <a:effectLst/>
              <a:latin typeface="Aptos" panose="020B0004020202020204" pitchFamily="34" charset="0"/>
              <a:ea typeface="DengXian" panose="02010600030101010101" pitchFamily="2" charset="-122"/>
              <a:cs typeface="Times New Roman" panose="02020603050405020304" pitchFamily="18" charset="0"/>
            </a:endParaRPr>
          </a:p>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kern="100" dirty="0">
                <a:latin typeface="Aptos" panose="020B0004020202020204" pitchFamily="34" charset="0"/>
                <a:ea typeface="DengXian" panose="02010600030101010101" pitchFamily="2" charset="-122"/>
                <a:cs typeface="Times New Roman" panose="02020603050405020304" pitchFamily="18" charset="0"/>
              </a:rPr>
              <a:t>一种基于影响边界的多智能体任务动态重调度方法及系统</a:t>
            </a:r>
            <a:r>
              <a:rPr lang="en-US" sz="1100" kern="100" dirty="0">
                <a:latin typeface="Aptos" panose="020B0004020202020204" pitchFamily="34" charset="0"/>
                <a:ea typeface="DengXian" panose="02010600030101010101" pitchFamily="2" charset="-122"/>
                <a:cs typeface="Times New Roman" panose="02020603050405020304" pitchFamily="18" charset="0"/>
              </a:rPr>
              <a:t>”  </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latin typeface="Aptos" panose="020B0004020202020204" pitchFamily="34" charset="0"/>
                <a:ea typeface="DengXian" panose="02010600030101010101" pitchFamily="2" charset="-122"/>
                <a:cs typeface="Times New Roman" panose="02020603050405020304" pitchFamily="18" charset="0"/>
              </a:rPr>
              <a:t>专利代理事务所已受理</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预期成果与</a:t>
            </a:r>
            <a:r>
              <a:rPr lang="zh-CN" altLang="en-US" sz="2000" b="1" dirty="0">
                <a:solidFill>
                  <a:srgbClr val="044875"/>
                </a:solidFill>
                <a:latin typeface="微软雅黑" panose="020B0503020204020204" pitchFamily="34" charset="-122"/>
                <a:ea typeface="微软雅黑" panose="020B0503020204020204" pitchFamily="34" charset="-122"/>
              </a:rPr>
              <a:t>进度安排</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04</a:t>
            </a:r>
            <a:endParaRPr lang="zh-CN" altLang="en-US" sz="2400" dirty="0">
              <a:solidFill>
                <a:schemeClr val="bg2">
                  <a:lumMod val="25000"/>
                </a:schemeClr>
              </a:solidFill>
              <a:latin typeface="Impact" panose="020B0806030902050204" pitchFamily="34" charset="0"/>
            </a:endParaRPr>
          </a:p>
        </p:txBody>
      </p:sp>
      <p:sp>
        <p:nvSpPr>
          <p:cNvPr id="6" name="矩形 5"/>
          <p:cNvSpPr/>
          <p:nvPr/>
        </p:nvSpPr>
        <p:spPr>
          <a:xfrm>
            <a:off x="228600" y="812515"/>
            <a:ext cx="1164422" cy="377026"/>
          </a:xfrm>
          <a:prstGeom prst="rect">
            <a:avLst/>
          </a:prstGeom>
        </p:spPr>
        <p:txBody>
          <a:bodyPr wrap="none" lIns="68580" tIns="34290" rIns="68580" bIns="34290">
            <a:spAutoFit/>
          </a:bodyPr>
          <a:lstStyle/>
          <a:p>
            <a:pPr algn="ctr"/>
            <a:r>
              <a:rPr lang="zh-CN" altLang="en-US" sz="2000" b="1" dirty="0">
                <a:latin typeface="微软雅黑" panose="020B0503020204020204" pitchFamily="34" charset="-122"/>
                <a:ea typeface="微软雅黑" panose="020B0503020204020204" pitchFamily="34" charset="-122"/>
              </a:rPr>
              <a:t>进度安排</a:t>
            </a:r>
          </a:p>
        </p:txBody>
      </p:sp>
      <p:sp>
        <p:nvSpPr>
          <p:cNvPr id="7" name="矩形 6"/>
          <p:cNvSpPr/>
          <p:nvPr/>
        </p:nvSpPr>
        <p:spPr>
          <a:xfrm>
            <a:off x="503548" y="1447944"/>
            <a:ext cx="8136904" cy="1993238"/>
          </a:xfrm>
          <a:prstGeom prst="rect">
            <a:avLst/>
          </a:prstGeom>
        </p:spPr>
        <p:txBody>
          <a:bodyPr wrap="square">
            <a:spAutoFit/>
          </a:bodyPr>
          <a:lstStyle/>
          <a:p>
            <a:pPr>
              <a:lnSpc>
                <a:spcPct val="150000"/>
              </a:lnSpc>
            </a:pPr>
            <a:r>
              <a:rPr lang="en-US" sz="1400" dirty="0">
                <a:latin typeface="微软雅黑" panose="020B0503020204020204" pitchFamily="34" charset="-122"/>
                <a:ea typeface="微软雅黑" panose="020B0503020204020204" pitchFamily="34" charset="-122"/>
              </a:rPr>
              <a:t>2025.07~2025.12</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完成文献调研，综述已有的学术方法，做好理论基础</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2026.01~2026.06</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研究基于时空约束和混合动态规划的移动</a:t>
            </a:r>
            <a:r>
              <a:rPr lang="en-US" altLang="zh-CN"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固定多智能体协同调度 </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2026.07~2026.12</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研究基于状态预测和动态阈值的工业多智能体系统数据注入检测 </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2027.01~2027.06</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研究基于轻量化抗拜占庭协调协议的异常智能体甄别 </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2027.07~2027.12</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研究基于状态感知分解的近优重调度算法 </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2028.01~2028.06</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系统验证、部署应用，博士论文撰写</a:t>
            </a:r>
            <a:r>
              <a:rPr sz="1400" dirty="0">
                <a:latin typeface="微软雅黑" panose="020B0503020204020204" pitchFamily="34" charset="-122"/>
                <a:ea typeface="微软雅黑" panose="020B0503020204020204" pitchFamily="34" charset="-122"/>
              </a:rPr>
              <a:t>；</a:t>
            </a:r>
          </a:p>
        </p:txBody>
      </p:sp>
      <p:sp>
        <p:nvSpPr>
          <p:cNvPr id="8" name="灯片编号占位符 7"/>
          <p:cNvSpPr>
            <a:spLocks noGrp="1"/>
          </p:cNvSpPr>
          <p:nvPr>
            <p:ph type="sldNum" sz="quarter" idx="12"/>
            <p:custDataLst>
              <p:tags r:id="rId1"/>
            </p:custDataLst>
          </p:nvPr>
        </p:nvSpPr>
        <p:spPr/>
        <p:txBody>
          <a:bodyPr/>
          <a:lstStyle/>
          <a:p>
            <a:fld id="{0C913308-F349-4B6D-A68A-DD1791B4A57B}" type="slidenum">
              <a:rPr lang="zh-CN" altLang="en-US" smtClean="0"/>
              <a:t>27</a:t>
            </a:fld>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文本框 24"/>
          <p:cNvSpPr txBox="1"/>
          <p:nvPr/>
        </p:nvSpPr>
        <p:spPr>
          <a:xfrm>
            <a:off x="1494830" y="2286562"/>
            <a:ext cx="6128147" cy="577081"/>
          </a:xfrm>
          <a:prstGeom prst="rect">
            <a:avLst/>
          </a:prstGeom>
          <a:noFill/>
        </p:spPr>
        <p:txBody>
          <a:bodyPr lIns="68580" tIns="34290" rIns="68580" bIns="34290">
            <a:spAutoFit/>
          </a:bodyPr>
          <a:lstStyle/>
          <a:p>
            <a:pPr algn="ctr"/>
            <a:r>
              <a:rPr lang="zh-CN" altLang="en-US" sz="3300" b="1" dirty="0">
                <a:solidFill>
                  <a:schemeClr val="tx1">
                    <a:lumMod val="85000"/>
                    <a:lumOff val="15000"/>
                  </a:schemeClr>
                </a:solidFill>
                <a:latin typeface="微软雅黑" panose="020B0503020204020204" pitchFamily="34" charset="-122"/>
                <a:ea typeface="微软雅黑" panose="020B0503020204020204" pitchFamily="34" charset="-122"/>
              </a:rPr>
              <a:t>感谢各位老师指导！</a:t>
            </a:r>
            <a:endParaRPr lang="en-US" altLang="zh-CN" sz="33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33" name="矩形 32"/>
          <p:cNvSpPr/>
          <p:nvPr/>
        </p:nvSpPr>
        <p:spPr>
          <a:xfrm>
            <a:off x="1200151" y="1693069"/>
            <a:ext cx="6717506" cy="1787129"/>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grpSp>
        <p:nvGrpSpPr>
          <p:cNvPr id="34" name="组合 33"/>
          <p:cNvGrpSpPr/>
          <p:nvPr/>
        </p:nvGrpSpPr>
        <p:grpSpPr bwMode="auto">
          <a:xfrm>
            <a:off x="7717633" y="3244454"/>
            <a:ext cx="832247" cy="847725"/>
            <a:chOff x="2666985" y="682103"/>
            <a:chExt cx="1109138" cy="1131217"/>
          </a:xfrm>
        </p:grpSpPr>
        <p:sp>
          <p:nvSpPr>
            <p:cNvPr id="35" name="矩形 34"/>
            <p:cNvSpPr/>
            <p:nvPr/>
          </p:nvSpPr>
          <p:spPr>
            <a:xfrm>
              <a:off x="2841527" y="858458"/>
              <a:ext cx="769574" cy="768973"/>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36" name="矩形 35"/>
            <p:cNvSpPr/>
            <p:nvPr/>
          </p:nvSpPr>
          <p:spPr>
            <a:xfrm>
              <a:off x="2666985" y="682103"/>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37" name="矩形 36"/>
            <p:cNvSpPr/>
            <p:nvPr/>
          </p:nvSpPr>
          <p:spPr>
            <a:xfrm>
              <a:off x="3217587" y="1254067"/>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grpSp>
        <p:nvGrpSpPr>
          <p:cNvPr id="38" name="组合 37"/>
          <p:cNvGrpSpPr/>
          <p:nvPr/>
        </p:nvGrpSpPr>
        <p:grpSpPr bwMode="auto">
          <a:xfrm>
            <a:off x="594123" y="1096568"/>
            <a:ext cx="832247" cy="848915"/>
            <a:chOff x="2666985" y="682103"/>
            <a:chExt cx="1109138" cy="1131217"/>
          </a:xfrm>
        </p:grpSpPr>
        <p:sp>
          <p:nvSpPr>
            <p:cNvPr id="39" name="矩形 38"/>
            <p:cNvSpPr/>
            <p:nvPr/>
          </p:nvSpPr>
          <p:spPr>
            <a:xfrm>
              <a:off x="2841528" y="858211"/>
              <a:ext cx="769573" cy="76948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0" name="矩形 39"/>
            <p:cNvSpPr/>
            <p:nvPr/>
          </p:nvSpPr>
          <p:spPr>
            <a:xfrm>
              <a:off x="2666985" y="682103"/>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1" name="矩形 40"/>
            <p:cNvSpPr/>
            <p:nvPr/>
          </p:nvSpPr>
          <p:spPr>
            <a:xfrm>
              <a:off x="3217587" y="1254851"/>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sp>
        <p:nvSpPr>
          <p:cNvPr id="42" name="矩形 41"/>
          <p:cNvSpPr/>
          <p:nvPr/>
        </p:nvSpPr>
        <p:spPr>
          <a:xfrm>
            <a:off x="0" y="-9525"/>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3" name="矩形 42"/>
          <p:cNvSpPr/>
          <p:nvPr/>
        </p:nvSpPr>
        <p:spPr>
          <a:xfrm>
            <a:off x="8674894" y="4892278"/>
            <a:ext cx="469106" cy="25122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4" name="矩形 43"/>
          <p:cNvSpPr/>
          <p:nvPr/>
        </p:nvSpPr>
        <p:spPr>
          <a:xfrm>
            <a:off x="0" y="4892278"/>
            <a:ext cx="8737899" cy="25122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6" name="文本框 45"/>
          <p:cNvSpPr txBox="1"/>
          <p:nvPr/>
        </p:nvSpPr>
        <p:spPr>
          <a:xfrm>
            <a:off x="1507734" y="1543670"/>
            <a:ext cx="6304626" cy="315471"/>
          </a:xfrm>
          <a:prstGeom prst="rect">
            <a:avLst/>
          </a:prstGeom>
          <a:blipFill dpi="0" rotWithShape="1">
            <a:blip r:embed="rId3" cstate="screen"/>
            <a:srcRect/>
            <a:stretch>
              <a:fillRect/>
            </a:stretch>
          </a:blipFill>
        </p:spPr>
        <p:txBody>
          <a:bodyPr wrap="square" lIns="68580" tIns="34290" rIns="68580" bIns="34290">
            <a:spAutoFit/>
          </a:bodyPr>
          <a:lstStyle/>
          <a:p>
            <a:pPr algn="ctr">
              <a:defRPr/>
            </a:pPr>
            <a:r>
              <a:rPr lang="zh-CN" altLang="en-US" sz="1600" b="1" spc="225" dirty="0">
                <a:solidFill>
                  <a:srgbClr val="044875"/>
                </a:solidFill>
                <a:latin typeface="微软雅黑" panose="020B0503020204020204" pitchFamily="34" charset="-122"/>
                <a:ea typeface="微软雅黑" panose="020B0503020204020204" pitchFamily="34" charset="-122"/>
              </a:rPr>
              <a:t>工业互联网环境下移动</a:t>
            </a:r>
            <a:r>
              <a:rPr lang="en-US" altLang="zh-CN" sz="1600" b="1" spc="225" dirty="0">
                <a:solidFill>
                  <a:srgbClr val="044875"/>
                </a:solidFill>
                <a:latin typeface="微软雅黑" panose="020B0503020204020204" pitchFamily="34" charset="-122"/>
                <a:ea typeface="微软雅黑" panose="020B0503020204020204" pitchFamily="34" charset="-122"/>
              </a:rPr>
              <a:t>-</a:t>
            </a:r>
            <a:r>
              <a:rPr lang="zh-CN" altLang="en-US" sz="1600" b="1" spc="225" dirty="0">
                <a:solidFill>
                  <a:srgbClr val="044875"/>
                </a:solidFill>
                <a:latin typeface="微软雅黑" panose="020B0503020204020204" pitchFamily="34" charset="-122"/>
                <a:ea typeface="微软雅黑" panose="020B0503020204020204" pitchFamily="34" charset="-122"/>
              </a:rPr>
              <a:t>固定多智能体协同调度及抗扰性研究</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1000"/>
                                        <p:tgtEl>
                                          <p:spTgt spid="25"/>
                                        </p:tgtEl>
                                      </p:cBhvr>
                                    </p:animEffect>
                                    <p:anim calcmode="lin" valueType="num">
                                      <p:cBhvr>
                                        <p:cTn id="8" dur="1000" fill="hold"/>
                                        <p:tgtEl>
                                          <p:spTgt spid="25"/>
                                        </p:tgtEl>
                                        <p:attrNameLst>
                                          <p:attrName>ppt_x</p:attrName>
                                        </p:attrNameLst>
                                      </p:cBhvr>
                                      <p:tavLst>
                                        <p:tav tm="0">
                                          <p:val>
                                            <p:strVal val="#ppt_x"/>
                                          </p:val>
                                        </p:tav>
                                        <p:tav tm="100000">
                                          <p:val>
                                            <p:strVal val="#ppt_x"/>
                                          </p:val>
                                        </p:tav>
                                      </p:tavLst>
                                    </p:anim>
                                    <p:anim calcmode="lin" valueType="num">
                                      <p:cBhvr>
                                        <p:cTn id="9" dur="1000" fill="hold"/>
                                        <p:tgtEl>
                                          <p:spTgt spid="2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1000"/>
                                        <p:tgtEl>
                                          <p:spTgt spid="33"/>
                                        </p:tgtEl>
                                      </p:cBhvr>
                                    </p:animEffect>
                                    <p:anim calcmode="lin" valueType="num">
                                      <p:cBhvr>
                                        <p:cTn id="13" dur="1000" fill="hold"/>
                                        <p:tgtEl>
                                          <p:spTgt spid="33"/>
                                        </p:tgtEl>
                                        <p:attrNameLst>
                                          <p:attrName>ppt_x</p:attrName>
                                        </p:attrNameLst>
                                      </p:cBhvr>
                                      <p:tavLst>
                                        <p:tav tm="0">
                                          <p:val>
                                            <p:strVal val="#ppt_x"/>
                                          </p:val>
                                        </p:tav>
                                        <p:tav tm="100000">
                                          <p:val>
                                            <p:strVal val="#ppt_x"/>
                                          </p:val>
                                        </p:tav>
                                      </p:tavLst>
                                    </p:anim>
                                    <p:anim calcmode="lin" valueType="num">
                                      <p:cBhvr>
                                        <p:cTn id="14" dur="1000" fill="hold"/>
                                        <p:tgtEl>
                                          <p:spTgt spid="33"/>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1000"/>
                                        <p:tgtEl>
                                          <p:spTgt spid="34"/>
                                        </p:tgtEl>
                                      </p:cBhvr>
                                    </p:animEffect>
                                    <p:anim calcmode="lin" valueType="num">
                                      <p:cBhvr>
                                        <p:cTn id="18" dur="1000" fill="hold"/>
                                        <p:tgtEl>
                                          <p:spTgt spid="34"/>
                                        </p:tgtEl>
                                        <p:attrNameLst>
                                          <p:attrName>ppt_x</p:attrName>
                                        </p:attrNameLst>
                                      </p:cBhvr>
                                      <p:tavLst>
                                        <p:tav tm="0">
                                          <p:val>
                                            <p:strVal val="#ppt_x"/>
                                          </p:val>
                                        </p:tav>
                                        <p:tav tm="100000">
                                          <p:val>
                                            <p:strVal val="#ppt_x"/>
                                          </p:val>
                                        </p:tav>
                                      </p:tavLst>
                                    </p:anim>
                                    <p:anim calcmode="lin" valueType="num">
                                      <p:cBhvr>
                                        <p:cTn id="19" dur="1000" fill="hold"/>
                                        <p:tgtEl>
                                          <p:spTgt spid="34"/>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anim calcmode="lin" valueType="num">
                                      <p:cBhvr>
                                        <p:cTn id="23" dur="1000" fill="hold"/>
                                        <p:tgtEl>
                                          <p:spTgt spid="38"/>
                                        </p:tgtEl>
                                        <p:attrNameLst>
                                          <p:attrName>ppt_x</p:attrName>
                                        </p:attrNameLst>
                                      </p:cBhvr>
                                      <p:tavLst>
                                        <p:tav tm="0">
                                          <p:val>
                                            <p:strVal val="#ppt_x"/>
                                          </p:val>
                                        </p:tav>
                                        <p:tav tm="100000">
                                          <p:val>
                                            <p:strVal val="#ppt_x"/>
                                          </p:val>
                                        </p:tav>
                                      </p:tavLst>
                                    </p:anim>
                                    <p:anim calcmode="lin" valueType="num">
                                      <p:cBhvr>
                                        <p:cTn id="24" dur="1000" fill="hold"/>
                                        <p:tgtEl>
                                          <p:spTgt spid="3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1000"/>
                                        <p:tgtEl>
                                          <p:spTgt spid="42"/>
                                        </p:tgtEl>
                                      </p:cBhvr>
                                    </p:animEffect>
                                    <p:anim calcmode="lin" valueType="num">
                                      <p:cBhvr>
                                        <p:cTn id="28" dur="1000" fill="hold"/>
                                        <p:tgtEl>
                                          <p:spTgt spid="42"/>
                                        </p:tgtEl>
                                        <p:attrNameLst>
                                          <p:attrName>ppt_x</p:attrName>
                                        </p:attrNameLst>
                                      </p:cBhvr>
                                      <p:tavLst>
                                        <p:tav tm="0">
                                          <p:val>
                                            <p:strVal val="#ppt_x"/>
                                          </p:val>
                                        </p:tav>
                                        <p:tav tm="100000">
                                          <p:val>
                                            <p:strVal val="#ppt_x"/>
                                          </p:val>
                                        </p:tav>
                                      </p:tavLst>
                                    </p:anim>
                                    <p:anim calcmode="lin" valueType="num">
                                      <p:cBhvr>
                                        <p:cTn id="29" dur="1000" fill="hold"/>
                                        <p:tgtEl>
                                          <p:spTgt spid="42"/>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1000"/>
                                        <p:tgtEl>
                                          <p:spTgt spid="43"/>
                                        </p:tgtEl>
                                      </p:cBhvr>
                                    </p:animEffect>
                                    <p:anim calcmode="lin" valueType="num">
                                      <p:cBhvr>
                                        <p:cTn id="33" dur="1000" fill="hold"/>
                                        <p:tgtEl>
                                          <p:spTgt spid="43"/>
                                        </p:tgtEl>
                                        <p:attrNameLst>
                                          <p:attrName>ppt_x</p:attrName>
                                        </p:attrNameLst>
                                      </p:cBhvr>
                                      <p:tavLst>
                                        <p:tav tm="0">
                                          <p:val>
                                            <p:strVal val="#ppt_x"/>
                                          </p:val>
                                        </p:tav>
                                        <p:tav tm="100000">
                                          <p:val>
                                            <p:strVal val="#ppt_x"/>
                                          </p:val>
                                        </p:tav>
                                      </p:tavLst>
                                    </p:anim>
                                    <p:anim calcmode="lin" valueType="num">
                                      <p:cBhvr>
                                        <p:cTn id="34" dur="1000" fill="hold"/>
                                        <p:tgtEl>
                                          <p:spTgt spid="43"/>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1000"/>
                                        <p:tgtEl>
                                          <p:spTgt spid="44"/>
                                        </p:tgtEl>
                                      </p:cBhvr>
                                    </p:animEffect>
                                    <p:anim calcmode="lin" valueType="num">
                                      <p:cBhvr>
                                        <p:cTn id="38" dur="1000" fill="hold"/>
                                        <p:tgtEl>
                                          <p:spTgt spid="44"/>
                                        </p:tgtEl>
                                        <p:attrNameLst>
                                          <p:attrName>ppt_x</p:attrName>
                                        </p:attrNameLst>
                                      </p:cBhvr>
                                      <p:tavLst>
                                        <p:tav tm="0">
                                          <p:val>
                                            <p:strVal val="#ppt_x"/>
                                          </p:val>
                                        </p:tav>
                                        <p:tav tm="100000">
                                          <p:val>
                                            <p:strVal val="#ppt_x"/>
                                          </p:val>
                                        </p:tav>
                                      </p:tavLst>
                                    </p:anim>
                                    <p:anim calcmode="lin" valueType="num">
                                      <p:cBhvr>
                                        <p:cTn id="39" dur="1000" fill="hold"/>
                                        <p:tgtEl>
                                          <p:spTgt spid="44"/>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1000"/>
                                        <p:tgtEl>
                                          <p:spTgt spid="46"/>
                                        </p:tgtEl>
                                      </p:cBhvr>
                                    </p:animEffect>
                                    <p:anim calcmode="lin" valueType="num">
                                      <p:cBhvr>
                                        <p:cTn id="43" dur="1000" fill="hold"/>
                                        <p:tgtEl>
                                          <p:spTgt spid="46"/>
                                        </p:tgtEl>
                                        <p:attrNameLst>
                                          <p:attrName>ppt_x</p:attrName>
                                        </p:attrNameLst>
                                      </p:cBhvr>
                                      <p:tavLst>
                                        <p:tav tm="0">
                                          <p:val>
                                            <p:strVal val="#ppt_x"/>
                                          </p:val>
                                        </p:tav>
                                        <p:tav tm="100000">
                                          <p:val>
                                            <p:strVal val="#ppt_x"/>
                                          </p:val>
                                        </p:tav>
                                      </p:tavLst>
                                    </p:anim>
                                    <p:anim calcmode="lin" valueType="num">
                                      <p:cBhvr>
                                        <p:cTn id="44" dur="1000" fill="hold"/>
                                        <p:tgtEl>
                                          <p:spTgt spid="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33" grpId="0" animBg="1"/>
      <p:bldP spid="42" grpId="0" animBg="1"/>
      <p:bldP spid="43" grpId="0" animBg="1"/>
      <p:bldP spid="44" grpId="0" animBg="1"/>
      <p:bldP spid="46" grpId="0" bldLvl="0" animBg="1"/>
    </p:bldLst>
  </p:timing>
</p:sld>
</file>

<file path=ppt/tags/tag1.xml><?xml version="1.0" encoding="utf-8"?>
<p:tagLst xmlns:a="http://schemas.openxmlformats.org/drawingml/2006/main" xmlns:r="http://schemas.openxmlformats.org/officeDocument/2006/relationships" xmlns:p="http://schemas.openxmlformats.org/presentationml/2006/main">
  <p:tag name="KSO_WPP_MARK_KEY" val="7c0f68f1-9cd8-47f2-8cdd-930112b61297"/>
  <p:tag name="COMMONDATA" val="eyJoZGlkIjoiYTNiNTIyM2NiNGI4ZWQ1OWYxNGUyMTVkODkzYmViMmEifQ=="/>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95</TotalTime>
  <Words>3022</Words>
  <Application>Microsoft Office PowerPoint</Application>
  <PresentationFormat>全屏显示(16:9)</PresentationFormat>
  <Paragraphs>445</Paragraphs>
  <Slides>28</Slides>
  <Notes>28</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28</vt:i4>
      </vt:variant>
    </vt:vector>
  </HeadingPairs>
  <TitlesOfParts>
    <vt:vector size="43" baseType="lpstr">
      <vt:lpstr>Aptos</vt:lpstr>
      <vt:lpstr>Aptos Narrow</vt:lpstr>
      <vt:lpstr>DengXian</vt:lpstr>
      <vt:lpstr>华文楷体</vt:lpstr>
      <vt:lpstr>宋体</vt:lpstr>
      <vt:lpstr>宋体</vt:lpstr>
      <vt:lpstr>微软雅黑</vt:lpstr>
      <vt:lpstr>Arial</vt:lpstr>
      <vt:lpstr>Calibri</vt:lpstr>
      <vt:lpstr>Cambria Math</vt:lpstr>
      <vt:lpstr>Impact</vt:lpstr>
      <vt:lpstr>Symbol</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朱业胜</dc:creator>
  <cp:lastModifiedBy>Windows User</cp:lastModifiedBy>
  <cp:revision>2219</cp:revision>
  <dcterms:created xsi:type="dcterms:W3CDTF">2019-01-14T01:48:00Z</dcterms:created>
  <dcterms:modified xsi:type="dcterms:W3CDTF">2026-08-10T09:21:44Z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RubyTemplateID">
    <vt:lpwstr>8</vt:lpwstr>
  </property>
  <property fmtid="{D5CDD505-2E9C-101B-9397-08002B2CF9AE}" pid="3" name="KSOProductBuildVer">
    <vt:lpwstr>2052-11.1.0.14309</vt:lpwstr>
  </property>
  <property fmtid="{D5CDD505-2E9C-101B-9397-08002B2CF9AE}" pid="4" name="ICV">
    <vt:lpwstr>94CD94A97A7840249ED07DBF3937F014</vt:lpwstr>
  </property>
</Properties>
</file>