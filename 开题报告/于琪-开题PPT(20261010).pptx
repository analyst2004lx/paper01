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7" r:id="rId2"/>
    <p:sldId id="281" r:id="rId3"/>
    <p:sldId id="259" r:id="rId4"/>
    <p:sldId id="384" r:id="rId5"/>
    <p:sldId id="340" r:id="rId6"/>
    <p:sldId id="341" r:id="rId7"/>
    <p:sldId id="316" r:id="rId8"/>
    <p:sldId id="270" r:id="rId9"/>
    <p:sldId id="271" r:id="rId10"/>
    <p:sldId id="272" r:id="rId11"/>
    <p:sldId id="343" r:id="rId12"/>
    <p:sldId id="274" r:id="rId13"/>
    <p:sldId id="280" r:id="rId14"/>
    <p:sldId id="365" r:id="rId15"/>
    <p:sldId id="308" r:id="rId16"/>
    <p:sldId id="371" r:id="rId17"/>
    <p:sldId id="282" r:id="rId18"/>
    <p:sldId id="454" r:id="rId19"/>
    <p:sldId id="455" r:id="rId20"/>
    <p:sldId id="456" r:id="rId21"/>
    <p:sldId id="453" r:id="rId22"/>
    <p:sldId id="457" r:id="rId23"/>
    <p:sldId id="458" r:id="rId24"/>
    <p:sldId id="459" r:id="rId25"/>
    <p:sldId id="275" r:id="rId26"/>
    <p:sldId id="276" r:id="rId27"/>
    <p:sldId id="278" r:id="rId28"/>
    <p:sldId id="279" r:id="rId29"/>
  </p:sldIdLst>
  <p:sldSz cx="9144000" cy="5143500" type="screen16x9"/>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5" userDrawn="1">
          <p15:clr>
            <a:srgbClr val="A4A3A4"/>
          </p15:clr>
        </p15:guide>
        <p15:guide id="2" pos="295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0344" initials="1"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6B9B8"/>
    <a:srgbClr val="95B3D7"/>
    <a:srgbClr val="43F5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93" autoAdjust="0"/>
  </p:normalViewPr>
  <p:slideViewPr>
    <p:cSldViewPr showGuides="1">
      <p:cViewPr>
        <p:scale>
          <a:sx n="125" d="100"/>
          <a:sy n="125" d="100"/>
        </p:scale>
        <p:origin x="2814" y="144"/>
      </p:cViewPr>
      <p:guideLst>
        <p:guide orient="horz" pos="1665"/>
        <p:guide pos="2953"/>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 Type="http://schemas.openxmlformats.org/officeDocument/2006/relationships/slide" Target="slides/slide2.xml"/><Relationship Id="rId30" Type="http://schemas.openxmlformats.org/officeDocument/2006/relationships/notesMaster" Target="notesMasters/notesMaster1.xml"/><Relationship Id="rId31" Type="http://schemas.openxmlformats.org/officeDocument/2006/relationships/tags" Target="tags/tag1.xml"/><Relationship Id="rId32" Type="http://schemas.openxmlformats.org/officeDocument/2006/relationships/commentAuthors" Target="commentAuthors.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150AE-BE8D-4426-9D1B-FC5D65E95960}" type="datetimeFigureOut">
              <a:rPr lang="zh-CN" altLang="en-US" smtClean="0"/>
              <a:t>2026/10/10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FC1DC4-F08E-440F-8C26-6612988CA39B}" type="slidenum">
              <a:rPr lang="zh-CN" altLang="en-US" smtClean="0"/>
              <a:t>‹#›</a:t>
            </a:fld>
            <a:endParaRPr lang="zh-CN" altLang="en-US"/>
          </a:p>
        </p:txBody>
      </p:sp>
    </p:spTree>
    <p:extLst>
      <p:ext uri="{BB962C8B-B14F-4D97-AF65-F5344CB8AC3E}">
        <p14:creationId xmlns:p14="http://schemas.microsoft.com/office/powerpoint/2010/main" val="123032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a:t>
            </a:fld>
            <a:endParaRPr lang="zh-CN" altLang="en-US"/>
          </a:p>
        </p:txBody>
      </p:sp>
    </p:spTree>
    <p:extLst>
      <p:ext uri="{BB962C8B-B14F-4D97-AF65-F5344CB8AC3E}">
        <p14:creationId xmlns:p14="http://schemas.microsoft.com/office/powerpoint/2010/main" val="1625937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a:t>
            </a:fld>
            <a:endParaRPr lang="zh-CN" altLang="en-US"/>
          </a:p>
        </p:txBody>
      </p:sp>
    </p:spTree>
    <p:extLst>
      <p:ext uri="{BB962C8B-B14F-4D97-AF65-F5344CB8AC3E}">
        <p14:creationId xmlns:p14="http://schemas.microsoft.com/office/powerpoint/2010/main" val="853056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3</a:t>
            </a:fld>
            <a:endParaRPr lang="zh-CN" altLang="en-US"/>
          </a:p>
        </p:txBody>
      </p:sp>
    </p:spTree>
    <p:extLst>
      <p:ext uri="{BB962C8B-B14F-4D97-AF65-F5344CB8AC3E}">
        <p14:creationId xmlns:p14="http://schemas.microsoft.com/office/powerpoint/2010/main" val="4148606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pPr>
            <a:endParaRPr lang="zh-CN" altLang="en-US" sz="1200" b="1" dirty="0">
              <a:ln w="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4</a:t>
            </a:fld>
            <a:endParaRPr lang="zh-CN" altLang="en-US"/>
          </a:p>
        </p:txBody>
      </p:sp>
    </p:spTree>
    <p:extLst>
      <p:ext uri="{BB962C8B-B14F-4D97-AF65-F5344CB8AC3E}">
        <p14:creationId xmlns:p14="http://schemas.microsoft.com/office/powerpoint/2010/main" val="1711899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5</a:t>
            </a:fld>
            <a:endParaRPr lang="zh-CN" altLang="en-US"/>
          </a:p>
        </p:txBody>
      </p:sp>
    </p:spTree>
    <p:extLst>
      <p:ext uri="{BB962C8B-B14F-4D97-AF65-F5344CB8AC3E}">
        <p14:creationId xmlns:p14="http://schemas.microsoft.com/office/powerpoint/2010/main" val="4079453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6</a:t>
            </a:fld>
            <a:endParaRPr lang="zh-CN" altLang="en-US"/>
          </a:p>
        </p:txBody>
      </p:sp>
    </p:spTree>
    <p:extLst>
      <p:ext uri="{BB962C8B-B14F-4D97-AF65-F5344CB8AC3E}">
        <p14:creationId xmlns:p14="http://schemas.microsoft.com/office/powerpoint/2010/main" val="974955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7</a:t>
            </a:fld>
            <a:endParaRPr lang="zh-CN" altLang="en-US"/>
          </a:p>
        </p:txBody>
      </p:sp>
    </p:spTree>
    <p:extLst>
      <p:ext uri="{BB962C8B-B14F-4D97-AF65-F5344CB8AC3E}">
        <p14:creationId xmlns:p14="http://schemas.microsoft.com/office/powerpoint/2010/main" val="3206422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8</a:t>
            </a:fld>
            <a:endParaRPr lang="zh-CN" altLang="en-US"/>
          </a:p>
        </p:txBody>
      </p:sp>
    </p:spTree>
    <p:extLst>
      <p:ext uri="{BB962C8B-B14F-4D97-AF65-F5344CB8AC3E}">
        <p14:creationId xmlns:p14="http://schemas.microsoft.com/office/powerpoint/2010/main" val="3370229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9</a:t>
            </a:fld>
            <a:endParaRPr lang="zh-CN" altLang="en-US"/>
          </a:p>
        </p:txBody>
      </p:sp>
    </p:spTree>
    <p:extLst>
      <p:ext uri="{BB962C8B-B14F-4D97-AF65-F5344CB8AC3E}">
        <p14:creationId xmlns:p14="http://schemas.microsoft.com/office/powerpoint/2010/main" val="1166498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gn="l"/>
            <a:endParaRPr lang="en-US" altLang="zh-CN" u="none" dirty="0">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10</a:t>
            </a:fld>
            <a:endParaRPr lang="zh-CN" altLang="en-US"/>
          </a:p>
        </p:txBody>
      </p:sp>
    </p:spTree>
    <p:extLst>
      <p:ext uri="{BB962C8B-B14F-4D97-AF65-F5344CB8AC3E}">
        <p14:creationId xmlns:p14="http://schemas.microsoft.com/office/powerpoint/2010/main" val="3930353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endParaRPr lang="zh-CN"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92FC1DC4-F08E-440F-8C26-6612988CA39B}" type="slidenum">
              <a:rPr lang="zh-CN" altLang="en-US" smtClean="0"/>
              <a:t>11</a:t>
            </a:fld>
            <a:endParaRPr lang="zh-CN" altLang="en-US"/>
          </a:p>
        </p:txBody>
      </p:sp>
    </p:spTree>
    <p:extLst>
      <p:ext uri="{BB962C8B-B14F-4D97-AF65-F5344CB8AC3E}">
        <p14:creationId xmlns:p14="http://schemas.microsoft.com/office/powerpoint/2010/main" val="4121839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12</a:t>
            </a:fld>
            <a:endParaRPr lang="zh-CN" altLang="en-US"/>
          </a:p>
        </p:txBody>
      </p:sp>
    </p:spTree>
    <p:extLst>
      <p:ext uri="{BB962C8B-B14F-4D97-AF65-F5344CB8AC3E}">
        <p14:creationId xmlns:p14="http://schemas.microsoft.com/office/powerpoint/2010/main" val="2007009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13</a:t>
            </a:fld>
            <a:endParaRPr lang="zh-CN" altLang="en-US"/>
          </a:p>
        </p:txBody>
      </p:sp>
    </p:spTree>
    <p:extLst>
      <p:ext uri="{BB962C8B-B14F-4D97-AF65-F5344CB8AC3E}">
        <p14:creationId xmlns:p14="http://schemas.microsoft.com/office/powerpoint/2010/main" val="3335383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14</a:t>
            </a:fld>
            <a:endParaRPr lang="zh-CN" altLang="en-US"/>
          </a:p>
        </p:txBody>
      </p:sp>
    </p:spTree>
    <p:extLst>
      <p:ext uri="{BB962C8B-B14F-4D97-AF65-F5344CB8AC3E}">
        <p14:creationId xmlns:p14="http://schemas.microsoft.com/office/powerpoint/2010/main" val="1778924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sym typeface="+mn-ea"/>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latin typeface="微软雅黑" panose="020B0503020204020204" pitchFamily="34" charset="-122"/>
              <a:ea typeface="微软雅黑" panose="020B0503020204020204" pitchFamily="34" charset="-122"/>
            </a:endParaRPr>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15</a:t>
            </a:fld>
            <a:endParaRPr lang="zh-CN" altLang="en-US"/>
          </a:p>
        </p:txBody>
      </p:sp>
    </p:spTree>
    <p:extLst>
      <p:ext uri="{BB962C8B-B14F-4D97-AF65-F5344CB8AC3E}">
        <p14:creationId xmlns:p14="http://schemas.microsoft.com/office/powerpoint/2010/main" val="1014376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16</a:t>
            </a:fld>
            <a:endParaRPr lang="zh-CN" altLang="en-US"/>
          </a:p>
        </p:txBody>
      </p:sp>
    </p:spTree>
    <p:extLst>
      <p:ext uri="{BB962C8B-B14F-4D97-AF65-F5344CB8AC3E}">
        <p14:creationId xmlns:p14="http://schemas.microsoft.com/office/powerpoint/2010/main" val="2401722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0"/>
          </p:nvPr>
        </p:nvSpPr>
        <p:spPr/>
        <p:txBody>
          <a:bodyPr/>
          <a:lstStyle/>
          <a:p>
            <a:fld id="{D96642B7-71B7-4C3E-9855-0D0DE388A056}" type="slidenum">
              <a:rPr lang="zh-CN" altLang="en-US" smtClean="0"/>
              <a:t>17</a:t>
            </a:fld>
            <a:endParaRPr lang="zh-CN" altLang="en-US"/>
          </a:p>
        </p:txBody>
      </p:sp>
    </p:spTree>
    <p:extLst>
      <p:ext uri="{BB962C8B-B14F-4D97-AF65-F5344CB8AC3E}">
        <p14:creationId xmlns:p14="http://schemas.microsoft.com/office/powerpoint/2010/main" val="7258703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BE56581-B324-1CDB-8DF4-9E261B6C57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2D444830-BA78-1CD7-FDDB-D92BA4D299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7469A4A5-C9C1-83CE-52AB-0520D18945D8}"/>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a16="http://schemas.microsoft.com/office/drawing/2014/main" xmlns="" id="{F338DF29-DD0C-CF2A-A9C5-8BFC4A015344}"/>
              </a:ext>
            </a:extLst>
          </p:cNvPr>
          <p:cNvSpPr>
            <a:spLocks noGrp="1"/>
          </p:cNvSpPr>
          <p:nvPr>
            <p:ph type="sldNum" sz="quarter" idx="10"/>
          </p:nvPr>
        </p:nvSpPr>
        <p:spPr/>
        <p:txBody>
          <a:bodyPr/>
          <a:lstStyle/>
          <a:p>
            <a:fld id="{D96642B7-71B7-4C3E-9855-0D0DE388A056}" type="slidenum">
              <a:rPr lang="zh-CN" altLang="en-US" smtClean="0"/>
              <a:t>18</a:t>
            </a:fld>
            <a:endParaRPr lang="zh-CN" altLang="en-US"/>
          </a:p>
        </p:txBody>
      </p:sp>
    </p:spTree>
    <p:extLst>
      <p:ext uri="{BB962C8B-B14F-4D97-AF65-F5344CB8AC3E}">
        <p14:creationId xmlns:p14="http://schemas.microsoft.com/office/powerpoint/2010/main" val="2804650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C313052-C8BF-76DC-39DF-6A1D7A4CE5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3BDBECFE-92E9-6936-D675-D8A0C5913C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C445F9F4-1F11-A50A-E429-97A66FB7322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sz="1200" dirty="0">
              <a:latin typeface="华文楷体" panose="02010600040101010101" pitchFamily="2" charset="-122"/>
              <a:ea typeface="华文楷体" panose="02010600040101010101" pitchFamily="2" charset="-122"/>
            </a:endParaRPr>
          </a:p>
        </p:txBody>
      </p:sp>
      <p:sp>
        <p:nvSpPr>
          <p:cNvPr id="4" name="灯片编号占位符 3">
            <a:extLst>
              <a:ext uri="{FF2B5EF4-FFF2-40B4-BE49-F238E27FC236}">
                <a16:creationId xmlns:a16="http://schemas.microsoft.com/office/drawing/2014/main" xmlns="" id="{32D18AEB-9D89-F929-837F-350907E70D8C}"/>
              </a:ext>
            </a:extLst>
          </p:cNvPr>
          <p:cNvSpPr>
            <a:spLocks noGrp="1"/>
          </p:cNvSpPr>
          <p:nvPr>
            <p:ph type="sldNum" sz="quarter" idx="10"/>
          </p:nvPr>
        </p:nvSpPr>
        <p:spPr/>
        <p:txBody>
          <a:bodyPr/>
          <a:lstStyle/>
          <a:p>
            <a:fld id="{D96642B7-71B7-4C3E-9855-0D0DE388A056}" type="slidenum">
              <a:rPr lang="zh-CN" altLang="en-US" smtClean="0"/>
              <a:t>19</a:t>
            </a:fld>
            <a:endParaRPr lang="zh-CN" altLang="en-US"/>
          </a:p>
        </p:txBody>
      </p:sp>
    </p:spTree>
    <p:extLst>
      <p:ext uri="{BB962C8B-B14F-4D97-AF65-F5344CB8AC3E}">
        <p14:creationId xmlns:p14="http://schemas.microsoft.com/office/powerpoint/2010/main" val="2529073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0A14B2-7840-26D5-ECC6-2C24946397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611279E3-0234-D703-167D-57EBB530F27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B7CDA78B-AAC0-027F-B983-B8E458B34763}"/>
              </a:ext>
            </a:extLst>
          </p:cNvPr>
          <p:cNvSpPr>
            <a:spLocks noGrp="1"/>
          </p:cNvSpPr>
          <p:nvPr>
            <p:ph type="body" idx="1"/>
          </p:nvPr>
        </p:nvSpPr>
        <p:spPr/>
        <p:txBody>
          <a:bodyPr/>
          <a:lstStyle/>
          <a:p>
            <a:endParaRPr lang="zh-CN" dirty="0"/>
          </a:p>
          <a:p>
            <a:endParaRPr lang="zh-CN" dirty="0"/>
          </a:p>
          <a:p>
            <a:endParaRPr lang="zh-CN" dirty="0"/>
          </a:p>
          <a:p>
            <a:endParaRPr lang="zh-CN" dirty="0"/>
          </a:p>
        </p:txBody>
      </p:sp>
      <p:sp>
        <p:nvSpPr>
          <p:cNvPr id="4" name="灯片编号占位符 3">
            <a:extLst>
              <a:ext uri="{FF2B5EF4-FFF2-40B4-BE49-F238E27FC236}">
                <a16:creationId xmlns:a16="http://schemas.microsoft.com/office/drawing/2014/main" xmlns="" id="{0EBAA1AC-6D2C-34B8-2A22-9E6C251B63C0}"/>
              </a:ext>
            </a:extLst>
          </p:cNvPr>
          <p:cNvSpPr>
            <a:spLocks noGrp="1"/>
          </p:cNvSpPr>
          <p:nvPr>
            <p:ph type="sldNum" sz="quarter" idx="10"/>
          </p:nvPr>
        </p:nvSpPr>
        <p:spPr/>
        <p:txBody>
          <a:bodyPr/>
          <a:lstStyle/>
          <a:p>
            <a:fld id="{D96642B7-71B7-4C3E-9855-0D0DE388A056}" type="slidenum">
              <a:rPr lang="zh-CN" altLang="en-US" smtClean="0"/>
              <a:t>20</a:t>
            </a:fld>
            <a:endParaRPr lang="zh-CN" altLang="en-US"/>
          </a:p>
        </p:txBody>
      </p:sp>
    </p:spTree>
    <p:extLst>
      <p:ext uri="{BB962C8B-B14F-4D97-AF65-F5344CB8AC3E}">
        <p14:creationId xmlns:p14="http://schemas.microsoft.com/office/powerpoint/2010/main" val="1886580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10"/>
          </p:nvPr>
        </p:nvSpPr>
        <p:spPr/>
        <p:txBody>
          <a:bodyPr/>
          <a:lstStyle/>
          <a:p>
            <a:fld id="{D96642B7-71B7-4C3E-9855-0D0DE388A056}" type="slidenum">
              <a:rPr lang="zh-CN" altLang="en-US" smtClean="0"/>
              <a:t>21</a:t>
            </a:fld>
            <a:endParaRPr lang="zh-CN" altLang="en-US"/>
          </a:p>
        </p:txBody>
      </p:sp>
    </p:spTree>
    <p:extLst>
      <p:ext uri="{BB962C8B-B14F-4D97-AF65-F5344CB8AC3E}">
        <p14:creationId xmlns:p14="http://schemas.microsoft.com/office/powerpoint/2010/main" val="1131541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69E56C8-E57A-3BDC-BAAA-4D6E0B3AC8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D90D4530-AF9E-6C31-19EB-A19698040B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BFE4FDD0-5FA1-780F-FBE6-A44A9B14961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06991240-3D91-1AAD-4FFD-7C2BA53CA6FA}"/>
              </a:ext>
            </a:extLst>
          </p:cNvPr>
          <p:cNvSpPr>
            <a:spLocks noGrp="1"/>
          </p:cNvSpPr>
          <p:nvPr>
            <p:ph type="sldNum" sz="quarter" idx="10"/>
          </p:nvPr>
        </p:nvSpPr>
        <p:spPr/>
        <p:txBody>
          <a:bodyPr/>
          <a:lstStyle/>
          <a:p>
            <a:fld id="{D96642B7-71B7-4C3E-9855-0D0DE388A056}" type="slidenum">
              <a:rPr lang="zh-CN" altLang="en-US" smtClean="0"/>
              <a:t>22</a:t>
            </a:fld>
            <a:endParaRPr lang="zh-CN" altLang="en-US"/>
          </a:p>
        </p:txBody>
      </p:sp>
    </p:spTree>
    <p:extLst>
      <p:ext uri="{BB962C8B-B14F-4D97-AF65-F5344CB8AC3E}">
        <p14:creationId xmlns:p14="http://schemas.microsoft.com/office/powerpoint/2010/main" val="2422442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D2B53E3-1F39-1549-E122-48DF2D3C44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0BA0B599-49F2-8CA4-D009-ACAE0E07AC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FF3687F8-A292-CF71-DE05-C1CAAE11E44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57D8FAA8-1649-0101-A37B-B5C6F7312860}"/>
              </a:ext>
            </a:extLst>
          </p:cNvPr>
          <p:cNvSpPr>
            <a:spLocks noGrp="1"/>
          </p:cNvSpPr>
          <p:nvPr>
            <p:ph type="sldNum" sz="quarter" idx="10"/>
          </p:nvPr>
        </p:nvSpPr>
        <p:spPr/>
        <p:txBody>
          <a:bodyPr/>
          <a:lstStyle/>
          <a:p>
            <a:fld id="{D96642B7-71B7-4C3E-9855-0D0DE388A056}" type="slidenum">
              <a:rPr lang="zh-CN" altLang="en-US" smtClean="0"/>
              <a:t>23</a:t>
            </a:fld>
            <a:endParaRPr lang="zh-CN" altLang="en-US"/>
          </a:p>
        </p:txBody>
      </p:sp>
    </p:spTree>
    <p:extLst>
      <p:ext uri="{BB962C8B-B14F-4D97-AF65-F5344CB8AC3E}">
        <p14:creationId xmlns:p14="http://schemas.microsoft.com/office/powerpoint/2010/main" val="42433255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76DEFC-CEB7-857E-0424-3F332B2665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xmlns="" id="{D3B91689-A2E5-0031-14CC-1E41420260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xmlns="" id="{3A1A81B0-C988-C9AB-128B-57102918C8A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a:extLst>
              <a:ext uri="{FF2B5EF4-FFF2-40B4-BE49-F238E27FC236}">
                <a16:creationId xmlns:a16="http://schemas.microsoft.com/office/drawing/2014/main" xmlns="" id="{D82D57CA-49D3-C70F-2A74-7D7444A2C217}"/>
              </a:ext>
            </a:extLst>
          </p:cNvPr>
          <p:cNvSpPr>
            <a:spLocks noGrp="1"/>
          </p:cNvSpPr>
          <p:nvPr>
            <p:ph type="sldNum" sz="quarter" idx="10"/>
          </p:nvPr>
        </p:nvSpPr>
        <p:spPr/>
        <p:txBody>
          <a:bodyPr/>
          <a:lstStyle/>
          <a:p>
            <a:fld id="{D96642B7-71B7-4C3E-9855-0D0DE388A056}" type="slidenum">
              <a:rPr lang="zh-CN" altLang="en-US" smtClean="0"/>
              <a:t>24</a:t>
            </a:fld>
            <a:endParaRPr lang="zh-CN" altLang="en-US"/>
          </a:p>
        </p:txBody>
      </p:sp>
    </p:spTree>
    <p:extLst>
      <p:ext uri="{BB962C8B-B14F-4D97-AF65-F5344CB8AC3E}">
        <p14:creationId xmlns:p14="http://schemas.microsoft.com/office/powerpoint/2010/main" val="3976301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25</a:t>
            </a:fld>
            <a:endParaRPr lang="zh-CN" altLang="en-US"/>
          </a:p>
        </p:txBody>
      </p:sp>
    </p:spTree>
    <p:extLst>
      <p:ext uri="{BB962C8B-B14F-4D97-AF65-F5344CB8AC3E}">
        <p14:creationId xmlns:p14="http://schemas.microsoft.com/office/powerpoint/2010/main" val="3508779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26</a:t>
            </a:fld>
            <a:endParaRPr lang="zh-CN" altLang="en-US"/>
          </a:p>
        </p:txBody>
      </p:sp>
    </p:spTree>
    <p:extLst>
      <p:ext uri="{BB962C8B-B14F-4D97-AF65-F5344CB8AC3E}">
        <p14:creationId xmlns:p14="http://schemas.microsoft.com/office/powerpoint/2010/main" val="24004422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27</a:t>
            </a:fld>
            <a:endParaRPr lang="zh-CN" altLang="en-US"/>
          </a:p>
        </p:txBody>
      </p:sp>
    </p:spTree>
    <p:extLst>
      <p:ext uri="{BB962C8B-B14F-4D97-AF65-F5344CB8AC3E}">
        <p14:creationId xmlns:p14="http://schemas.microsoft.com/office/powerpoint/2010/main" val="1328552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2FC1DC4-F08E-440F-8C26-6612988CA39B}" type="slidenum">
              <a:rPr lang="zh-CN" altLang="en-US" smtClean="0"/>
              <a:t>28</a:t>
            </a:fld>
            <a:endParaRPr lang="zh-CN" altLang="en-US"/>
          </a:p>
        </p:txBody>
      </p:sp>
    </p:spTree>
    <p:extLst>
      <p:ext uri="{BB962C8B-B14F-4D97-AF65-F5344CB8AC3E}">
        <p14:creationId xmlns:p14="http://schemas.microsoft.com/office/powerpoint/2010/main" val="263266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2026/10/10</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7.xml"/><Relationship Id="rId3" Type="http://schemas.openxmlformats.org/officeDocument/2006/relationships/notesSlide" Target="../notesSlides/notesSlide1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7.xml"/><Relationship Id="rId3" Type="http://schemas.openxmlformats.org/officeDocument/2006/relationships/notesSlide" Target="../notesSlides/notesSlide13.xml"/><Relationship Id="rId4" Type="http://schemas.openxmlformats.org/officeDocument/2006/relationships/image" Target="../media/image6.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7.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7.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7.xml"/><Relationship Id="rId3" Type="http://schemas.openxmlformats.org/officeDocument/2006/relationships/notesSlide" Target="../notesSlides/notesSlide19.xml"/><Relationship Id="rId4" Type="http://schemas.openxmlformats.org/officeDocument/2006/relationships/image" Target="../media/image13.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7.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7.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1416155" y="1676952"/>
            <a:ext cx="6330459" cy="899160"/>
          </a:xfrm>
          <a:prstGeom prst="rect">
            <a:avLst/>
          </a:prstGeom>
          <a:noFill/>
        </p:spPr>
        <p:txBody>
          <a:bodyPr wrap="square" lIns="68580" tIns="34290" rIns="68580" bIns="34290">
            <a:spAutoFit/>
          </a:bodyPr>
          <a:lstStyle/>
          <a:p>
            <a:pPr algn="ctr">
              <a:defRPr/>
            </a:pPr>
            <a:r>
              <a:rPr lang="zh-CN" altLang="en-US" sz="2700" b="1" spc="225" dirty="0">
                <a:solidFill>
                  <a:srgbClr val="044875"/>
                </a:solidFill>
                <a:latin typeface="微软雅黑" panose="020B0503020204020204" pitchFamily="34" charset="-122"/>
                <a:ea typeface="微软雅黑" panose="020B0503020204020204" pitchFamily="34" charset="-122"/>
              </a:rPr>
              <a:t>工业互联网中考虑无冲突运输的柔性作业车间调度及安全韧性研究</a:t>
            </a:r>
          </a:p>
        </p:txBody>
      </p:sp>
      <p:sp>
        <p:nvSpPr>
          <p:cNvPr id="9" name="矩形 8"/>
          <p:cNvSpPr/>
          <p:nvPr/>
        </p:nvSpPr>
        <p:spPr>
          <a:xfrm>
            <a:off x="1189936" y="1233512"/>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43" name="组合 42"/>
          <p:cNvGrpSpPr/>
          <p:nvPr/>
        </p:nvGrpSpPr>
        <p:grpSpPr bwMode="auto">
          <a:xfrm>
            <a:off x="7707418" y="2784897"/>
            <a:ext cx="832247" cy="847725"/>
            <a:chOff x="2666985" y="682103"/>
            <a:chExt cx="1109138" cy="1131217"/>
          </a:xfrm>
        </p:grpSpPr>
        <p:sp>
          <p:nvSpPr>
            <p:cNvPr id="40" name="矩形 39"/>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2" name="矩形 41"/>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44" name="组合 43"/>
          <p:cNvGrpSpPr/>
          <p:nvPr/>
        </p:nvGrpSpPr>
        <p:grpSpPr bwMode="auto">
          <a:xfrm>
            <a:off x="583908" y="637012"/>
            <a:ext cx="832247" cy="848915"/>
            <a:chOff x="2666985" y="682103"/>
            <a:chExt cx="1109138" cy="1131217"/>
          </a:xfrm>
        </p:grpSpPr>
        <p:sp>
          <p:nvSpPr>
            <p:cNvPr id="45" name="矩形 44"/>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矩形 45"/>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7" name="矩形 46"/>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9" name="矩形 48"/>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0" name="文本框 9"/>
          <p:cNvSpPr txBox="1"/>
          <p:nvPr/>
        </p:nvSpPr>
        <p:spPr>
          <a:xfrm>
            <a:off x="3251738" y="992973"/>
            <a:ext cx="2640524" cy="346249"/>
          </a:xfrm>
          <a:prstGeom prst="rect">
            <a:avLst/>
          </a:prstGeom>
          <a:blipFill dpi="0" rotWithShape="1">
            <a:blip r:embed="rId3" cstate="screen"/>
            <a:srcRect/>
            <a:stretch>
              <a:fillRect/>
            </a:stretch>
          </a:blipFill>
        </p:spPr>
        <p:txBody>
          <a:bodyPr wrap="square" lIns="68580" tIns="34290" rIns="68580" bIns="34290">
            <a:spAutoFit/>
          </a:bodyPr>
          <a:lstStyle/>
          <a:p>
            <a:r>
              <a:rPr lang="zh-CN" altLang="en-US" b="1" dirty="0">
                <a:solidFill>
                  <a:srgbClr val="3B3838"/>
                </a:solidFill>
                <a:latin typeface="微软雅黑" panose="020B0503020204020204" pitchFamily="34" charset="-122"/>
                <a:ea typeface="微软雅黑" panose="020B0503020204020204" pitchFamily="34" charset="-122"/>
              </a:rPr>
              <a:t>博士学位论文开题报告</a:t>
            </a:r>
          </a:p>
        </p:txBody>
      </p:sp>
      <p:sp>
        <p:nvSpPr>
          <p:cNvPr id="30" name="矩形 29"/>
          <p:cNvSpPr/>
          <p:nvPr/>
        </p:nvSpPr>
        <p:spPr>
          <a:xfrm>
            <a:off x="0" y="4863703"/>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1" name="矩形 30"/>
          <p:cNvSpPr/>
          <p:nvPr/>
        </p:nvSpPr>
        <p:spPr>
          <a:xfrm>
            <a:off x="2307339" y="3069893"/>
            <a:ext cx="4282676" cy="851323"/>
          </a:xfrm>
          <a:prstGeom prst="rect">
            <a:avLst/>
          </a:prstGeom>
        </p:spPr>
        <p:txBody>
          <a:bodyPr wrap="square" lIns="68580" tIns="34290" rIns="68580" bIns="34290">
            <a:spAutoFit/>
          </a:bodyPr>
          <a:lstStyle/>
          <a:p>
            <a:pPr algn="ctr">
              <a:lnSpc>
                <a:spcPct val="150000"/>
              </a:lnSpc>
            </a:pP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博士</a:t>
            </a:r>
            <a:r>
              <a:rPr lang="zh-CN" altLang="zh-CN"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研究生：</a:t>
            </a:r>
            <a:r>
              <a:rPr lang="zh-CN" altLang="en-US" b="1"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于琪</a:t>
            </a:r>
            <a:endParaRPr lang="zh-CN" altLang="zh-CN" kern="100"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50000"/>
              </a:lnSpc>
            </a:pP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指导教师：</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杨明教授 李伟</a:t>
            </a:r>
            <a:r>
              <a:rPr lang="zh-CN"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教授</a:t>
            </a:r>
            <a:endParaRPr lang="zh-CN" altLang="en-US" dirty="0">
              <a:solidFill>
                <a:srgbClr val="3B3838"/>
              </a:solidFill>
              <a:latin typeface="微软雅黑" panose="020B0503020204020204" pitchFamily="34" charset="-122"/>
              <a:ea typeface="微软雅黑" panose="020B0503020204020204" pitchFamily="34" charset="-122"/>
            </a:endParaRPr>
          </a:p>
        </p:txBody>
      </p:sp>
      <p:sp>
        <p:nvSpPr>
          <p:cNvPr id="32" name="矩形 31"/>
          <p:cNvSpPr/>
          <p:nvPr/>
        </p:nvSpPr>
        <p:spPr>
          <a:xfrm>
            <a:off x="3728499" y="4078597"/>
            <a:ext cx="1829668" cy="346249"/>
          </a:xfrm>
          <a:prstGeom prst="rect">
            <a:avLst/>
          </a:prstGeom>
        </p:spPr>
        <p:txBody>
          <a:bodyPr wrap="none" lIns="68580" tIns="34290" rIns="68580" bIns="34290">
            <a:spAutoFit/>
          </a:bodyPr>
          <a:lstStyle/>
          <a:p>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2026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29</a:t>
            </a:r>
            <a:r>
              <a:rPr lang="zh-CN" altLang="en-US" b="1" dirty="0">
                <a:solidFill>
                  <a:srgbClr val="3B3838"/>
                </a:solidFill>
                <a:latin typeface="微软雅黑" panose="020B0503020204020204" pitchFamily="34" charset="-122"/>
                <a:ea typeface="微软雅黑" panose="020B0503020204020204" pitchFamily="34" charset="-122"/>
                <a:cs typeface="Times New Roman" panose="02020603050405020304" pitchFamily="18" charset="0"/>
              </a:rPr>
              <a:t>日</a:t>
            </a:r>
            <a:endParaRPr lang="zh-CN" altLang="en-US" b="1" dirty="0">
              <a:solidFill>
                <a:srgbClr val="3B3838"/>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83514" y="3203052"/>
            <a:ext cx="614086" cy="617940"/>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cxnSp>
        <p:nvCxnSpPr>
          <p:cNvPr id="108" name="直接连接符 107"/>
          <p:cNvCxnSpPr/>
          <p:nvPr/>
        </p:nvCxnSpPr>
        <p:spPr>
          <a:xfrm flipH="1">
            <a:off x="150055" y="884292"/>
            <a:ext cx="990230" cy="1"/>
          </a:xfrm>
          <a:prstGeom prst="line">
            <a:avLst/>
          </a:prstGeom>
          <a:ln w="19050">
            <a:solidFill>
              <a:schemeClr val="bg2">
                <a:lumMod val="25000"/>
              </a:schemeClr>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18129" y="363193"/>
            <a:ext cx="907941" cy="530915"/>
          </a:xfrm>
          <a:prstGeom prst="rect">
            <a:avLst/>
          </a:prstGeom>
        </p:spPr>
        <p:txBody>
          <a:bodyPr wrap="none" lIns="68580" tIns="34290" rIns="68580" bIns="34290">
            <a:spAutoFit/>
          </a:bodyPr>
          <a:lstStyle/>
          <a:p>
            <a:r>
              <a:rPr lang="zh-CN" altLang="en-US" sz="3000" b="1" dirty="0">
                <a:solidFill>
                  <a:srgbClr val="044875"/>
                </a:solidFill>
                <a:latin typeface="微软雅黑" panose="020B0503020204020204" pitchFamily="34" charset="-122"/>
                <a:ea typeface="微软雅黑" panose="020B0503020204020204" pitchFamily="34" charset="-122"/>
              </a:rPr>
              <a:t>目录</a:t>
            </a:r>
          </a:p>
        </p:txBody>
      </p:sp>
      <p:grpSp>
        <p:nvGrpSpPr>
          <p:cNvPr id="10" name="组合 9"/>
          <p:cNvGrpSpPr/>
          <p:nvPr/>
        </p:nvGrpSpPr>
        <p:grpSpPr>
          <a:xfrm>
            <a:off x="1853723" y="907827"/>
            <a:ext cx="5110329" cy="737730"/>
            <a:chOff x="2471630" y="1210436"/>
            <a:chExt cx="6813772" cy="983640"/>
          </a:xfrm>
        </p:grpSpPr>
        <p:sp>
          <p:nvSpPr>
            <p:cNvPr id="4156" name="文本框 20"/>
            <p:cNvSpPr txBox="1">
              <a:spLocks noChangeArrowheads="1"/>
            </p:cNvSpPr>
            <p:nvPr/>
          </p:nvSpPr>
          <p:spPr bwMode="auto">
            <a:xfrm>
              <a:off x="4815477" y="1449495"/>
              <a:ext cx="3734224"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研究背景与研究现状</a:t>
              </a:r>
            </a:p>
          </p:txBody>
        </p:sp>
        <p:sp>
          <p:nvSpPr>
            <p:cNvPr id="18" name="矩形 17"/>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23" name="直接连接符 22"/>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4159" name="组合 68"/>
            <p:cNvGrpSpPr/>
            <p:nvPr/>
          </p:nvGrpSpPr>
          <p:grpSpPr bwMode="auto">
            <a:xfrm>
              <a:off x="2471630" y="1331575"/>
              <a:ext cx="919442" cy="712788"/>
              <a:chOff x="6191369" y="1397569"/>
              <a:chExt cx="919239" cy="712882"/>
            </a:xfrm>
          </p:grpSpPr>
          <p:sp>
            <p:nvSpPr>
              <p:cNvPr id="68" name="矩形 67"/>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61"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a:solidFill>
                      <a:srgbClr val="044875"/>
                    </a:solidFill>
                    <a:latin typeface="Impact" panose="020B0806030902050204" pitchFamily="34" charset="0"/>
                  </a:rPr>
                  <a:t>01</a:t>
                </a:r>
                <a:endParaRPr lang="zh-CN" altLang="en-US" sz="2700">
                  <a:solidFill>
                    <a:srgbClr val="044875"/>
                  </a:solidFill>
                  <a:latin typeface="Impact" panose="020B0806030902050204" pitchFamily="34" charset="0"/>
                </a:endParaRPr>
              </a:p>
            </p:txBody>
          </p:sp>
        </p:grpSp>
        <p:pic>
          <p:nvPicPr>
            <p:cNvPr id="69" name="图片 6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7256" y="1210436"/>
              <a:ext cx="983640" cy="983640"/>
            </a:xfrm>
            <a:prstGeom prst="rect">
              <a:avLst/>
            </a:prstGeom>
          </p:spPr>
        </p:pic>
      </p:grpSp>
      <p:grpSp>
        <p:nvGrpSpPr>
          <p:cNvPr id="94" name="组合 93"/>
          <p:cNvGrpSpPr/>
          <p:nvPr/>
        </p:nvGrpSpPr>
        <p:grpSpPr>
          <a:xfrm>
            <a:off x="1853725" y="2088686"/>
            <a:ext cx="5110329" cy="534591"/>
            <a:chOff x="2471630" y="1331575"/>
            <a:chExt cx="6813772" cy="712788"/>
          </a:xfrm>
        </p:grpSpPr>
        <p:sp>
          <p:nvSpPr>
            <p:cNvPr id="95"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研究目标与研究内容</a:t>
              </a:r>
            </a:p>
          </p:txBody>
        </p:sp>
        <p:sp>
          <p:nvSpPr>
            <p:cNvPr id="96" name="矩形 95"/>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97" name="直接连接符 96"/>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98" name="组合 68"/>
            <p:cNvGrpSpPr/>
            <p:nvPr/>
          </p:nvGrpSpPr>
          <p:grpSpPr bwMode="auto">
            <a:xfrm>
              <a:off x="2471630" y="1331575"/>
              <a:ext cx="919442" cy="712788"/>
              <a:chOff x="6191369" y="1397569"/>
              <a:chExt cx="919239" cy="712882"/>
            </a:xfrm>
          </p:grpSpPr>
          <p:sp>
            <p:nvSpPr>
              <p:cNvPr id="99" name="矩形 98"/>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0"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02</a:t>
                </a:r>
                <a:endParaRPr lang="zh-CN" altLang="en-US" sz="2700" dirty="0">
                  <a:solidFill>
                    <a:srgbClr val="044875"/>
                  </a:solidFill>
                  <a:latin typeface="Impact" panose="020B0806030902050204" pitchFamily="34" charset="0"/>
                </a:endParaRPr>
              </a:p>
            </p:txBody>
          </p:sp>
        </p:grpSp>
      </p:grpSp>
      <p:sp>
        <p:nvSpPr>
          <p:cNvPr id="101" name="Freeform 306"/>
          <p:cNvSpPr>
            <a:spLocks noEditPoints="1"/>
          </p:cNvSpPr>
          <p:nvPr/>
        </p:nvSpPr>
        <p:spPr bwMode="auto">
          <a:xfrm>
            <a:off x="2639403" y="2140626"/>
            <a:ext cx="404813" cy="402431"/>
          </a:xfrm>
          <a:custGeom>
            <a:avLst/>
            <a:gdLst>
              <a:gd name="T0" fmla="*/ 60 w 99"/>
              <a:gd name="T1" fmla="*/ 9 h 99"/>
              <a:gd name="T2" fmla="*/ 81 w 99"/>
              <a:gd name="T3" fmla="*/ 10 h 99"/>
              <a:gd name="T4" fmla="*/ 79 w 99"/>
              <a:gd name="T5" fmla="*/ 20 h 99"/>
              <a:gd name="T6" fmla="*/ 96 w 99"/>
              <a:gd name="T7" fmla="*/ 31 h 99"/>
              <a:gd name="T8" fmla="*/ 90 w 99"/>
              <a:gd name="T9" fmla="*/ 38 h 99"/>
              <a:gd name="T10" fmla="*/ 99 w 99"/>
              <a:gd name="T11" fmla="*/ 57 h 99"/>
              <a:gd name="T12" fmla="*/ 90 w 99"/>
              <a:gd name="T13" fmla="*/ 60 h 99"/>
              <a:gd name="T14" fmla="*/ 89 w 99"/>
              <a:gd name="T15" fmla="*/ 81 h 99"/>
              <a:gd name="T16" fmla="*/ 80 w 99"/>
              <a:gd name="T17" fmla="*/ 79 h 99"/>
              <a:gd name="T18" fmla="*/ 68 w 99"/>
              <a:gd name="T19" fmla="*/ 97 h 99"/>
              <a:gd name="T20" fmla="*/ 61 w 99"/>
              <a:gd name="T21" fmla="*/ 90 h 99"/>
              <a:gd name="T22" fmla="*/ 42 w 99"/>
              <a:gd name="T23" fmla="*/ 99 h 99"/>
              <a:gd name="T24" fmla="*/ 39 w 99"/>
              <a:gd name="T25" fmla="*/ 91 h 99"/>
              <a:gd name="T26" fmla="*/ 18 w 99"/>
              <a:gd name="T27" fmla="*/ 89 h 99"/>
              <a:gd name="T28" fmla="*/ 20 w 99"/>
              <a:gd name="T29" fmla="*/ 80 h 99"/>
              <a:gd name="T30" fmla="*/ 3 w 99"/>
              <a:gd name="T31" fmla="*/ 68 h 99"/>
              <a:gd name="T32" fmla="*/ 9 w 99"/>
              <a:gd name="T33" fmla="*/ 61 h 99"/>
              <a:gd name="T34" fmla="*/ 0 w 99"/>
              <a:gd name="T35" fmla="*/ 42 h 99"/>
              <a:gd name="T36" fmla="*/ 9 w 99"/>
              <a:gd name="T37" fmla="*/ 39 h 99"/>
              <a:gd name="T38" fmla="*/ 10 w 99"/>
              <a:gd name="T39" fmla="*/ 18 h 99"/>
              <a:gd name="T40" fmla="*/ 19 w 99"/>
              <a:gd name="T41" fmla="*/ 20 h 99"/>
              <a:gd name="T42" fmla="*/ 31 w 99"/>
              <a:gd name="T43" fmla="*/ 3 h 99"/>
              <a:gd name="T44" fmla="*/ 38 w 99"/>
              <a:gd name="T45" fmla="*/ 9 h 99"/>
              <a:gd name="T46" fmla="*/ 57 w 99"/>
              <a:gd name="T47" fmla="*/ 0 h 99"/>
              <a:gd name="T48" fmla="*/ 36 w 99"/>
              <a:gd name="T49" fmla="*/ 58 h 99"/>
              <a:gd name="T50" fmla="*/ 45 w 99"/>
              <a:gd name="T51" fmla="*/ 47 h 99"/>
              <a:gd name="T52" fmla="*/ 58 w 99"/>
              <a:gd name="T53" fmla="*/ 55 h 99"/>
              <a:gd name="T54" fmla="*/ 64 w 99"/>
              <a:gd name="T55" fmla="*/ 56 h 99"/>
              <a:gd name="T56" fmla="*/ 54 w 99"/>
              <a:gd name="T57" fmla="*/ 54 h 99"/>
              <a:gd name="T58" fmla="*/ 58 w 99"/>
              <a:gd name="T59" fmla="*/ 69 h 99"/>
              <a:gd name="T60" fmla="*/ 71 w 99"/>
              <a:gd name="T61" fmla="*/ 71 h 99"/>
              <a:gd name="T62" fmla="*/ 71 w 99"/>
              <a:gd name="T63" fmla="*/ 28 h 99"/>
              <a:gd name="T64" fmla="*/ 28 w 99"/>
              <a:gd name="T65" fmla="*/ 28 h 99"/>
              <a:gd name="T66" fmla="*/ 28 w 99"/>
              <a:gd name="T67" fmla="*/ 71 h 99"/>
              <a:gd name="T68" fmla="*/ 55 w 99"/>
              <a:gd name="T69" fmla="*/ 79 h 99"/>
              <a:gd name="T70" fmla="*/ 48 w 99"/>
              <a:gd name="T71" fmla="*/ 66 h 99"/>
              <a:gd name="T72" fmla="*/ 35 w 99"/>
              <a:gd name="T73" fmla="*/ 75 h 99"/>
              <a:gd name="T74" fmla="*/ 42 w 99"/>
              <a:gd name="T75" fmla="*/ 71 h 99"/>
              <a:gd name="T76" fmla="*/ 45 w 99"/>
              <a:gd name="T77" fmla="*/ 52 h 99"/>
              <a:gd name="T78" fmla="*/ 38 w 99"/>
              <a:gd name="T79" fmla="*/ 59 h 99"/>
              <a:gd name="T80" fmla="*/ 51 w 99"/>
              <a:gd name="T81" fmla="*/ 37 h 99"/>
              <a:gd name="T82" fmla="*/ 51 w 99"/>
              <a:gd name="T83" fmla="*/ 46 h 99"/>
              <a:gd name="T84" fmla="*/ 51 w 99"/>
              <a:gd name="T85" fmla="*/ 3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99">
                <a:moveTo>
                  <a:pt x="59" y="8"/>
                </a:moveTo>
                <a:cubicBezTo>
                  <a:pt x="59" y="9"/>
                  <a:pt x="60" y="9"/>
                  <a:pt x="60" y="9"/>
                </a:cubicBezTo>
                <a:cubicBezTo>
                  <a:pt x="66" y="2"/>
                  <a:pt x="66" y="2"/>
                  <a:pt x="66" y="2"/>
                </a:cubicBezTo>
                <a:cubicBezTo>
                  <a:pt x="81" y="10"/>
                  <a:pt x="81" y="10"/>
                  <a:pt x="81" y="10"/>
                </a:cubicBezTo>
                <a:cubicBezTo>
                  <a:pt x="78" y="19"/>
                  <a:pt x="78" y="19"/>
                  <a:pt x="78" y="19"/>
                </a:cubicBezTo>
                <a:cubicBezTo>
                  <a:pt x="78" y="19"/>
                  <a:pt x="79" y="19"/>
                  <a:pt x="79" y="20"/>
                </a:cubicBezTo>
                <a:cubicBezTo>
                  <a:pt x="88" y="17"/>
                  <a:pt x="88" y="17"/>
                  <a:pt x="88" y="17"/>
                </a:cubicBezTo>
                <a:cubicBezTo>
                  <a:pt x="96" y="31"/>
                  <a:pt x="96" y="31"/>
                  <a:pt x="96" y="31"/>
                </a:cubicBezTo>
                <a:cubicBezTo>
                  <a:pt x="90" y="37"/>
                  <a:pt x="90" y="37"/>
                  <a:pt x="90" y="37"/>
                </a:cubicBezTo>
                <a:cubicBezTo>
                  <a:pt x="90" y="38"/>
                  <a:pt x="90" y="38"/>
                  <a:pt x="90" y="38"/>
                </a:cubicBezTo>
                <a:cubicBezTo>
                  <a:pt x="99" y="40"/>
                  <a:pt x="99" y="40"/>
                  <a:pt x="99" y="40"/>
                </a:cubicBezTo>
                <a:cubicBezTo>
                  <a:pt x="99" y="57"/>
                  <a:pt x="99" y="57"/>
                  <a:pt x="99" y="57"/>
                </a:cubicBezTo>
                <a:cubicBezTo>
                  <a:pt x="91" y="59"/>
                  <a:pt x="91" y="59"/>
                  <a:pt x="91" y="59"/>
                </a:cubicBezTo>
                <a:cubicBezTo>
                  <a:pt x="91" y="59"/>
                  <a:pt x="90" y="60"/>
                  <a:pt x="90" y="60"/>
                </a:cubicBezTo>
                <a:cubicBezTo>
                  <a:pt x="97" y="67"/>
                  <a:pt x="97" y="67"/>
                  <a:pt x="97" y="67"/>
                </a:cubicBezTo>
                <a:cubicBezTo>
                  <a:pt x="89" y="81"/>
                  <a:pt x="89" y="81"/>
                  <a:pt x="89" y="81"/>
                </a:cubicBezTo>
                <a:cubicBezTo>
                  <a:pt x="80" y="78"/>
                  <a:pt x="80" y="78"/>
                  <a:pt x="80" y="78"/>
                </a:cubicBezTo>
                <a:cubicBezTo>
                  <a:pt x="80" y="79"/>
                  <a:pt x="80" y="79"/>
                  <a:pt x="80" y="79"/>
                </a:cubicBezTo>
                <a:cubicBezTo>
                  <a:pt x="82" y="88"/>
                  <a:pt x="82" y="88"/>
                  <a:pt x="82" y="88"/>
                </a:cubicBezTo>
                <a:cubicBezTo>
                  <a:pt x="68" y="97"/>
                  <a:pt x="68" y="97"/>
                  <a:pt x="68" y="97"/>
                </a:cubicBezTo>
                <a:cubicBezTo>
                  <a:pt x="62" y="90"/>
                  <a:pt x="62" y="90"/>
                  <a:pt x="62" y="90"/>
                </a:cubicBezTo>
                <a:cubicBezTo>
                  <a:pt x="62" y="90"/>
                  <a:pt x="61" y="90"/>
                  <a:pt x="61" y="90"/>
                </a:cubicBezTo>
                <a:cubicBezTo>
                  <a:pt x="59" y="99"/>
                  <a:pt x="59" y="99"/>
                  <a:pt x="59" y="99"/>
                </a:cubicBezTo>
                <a:cubicBezTo>
                  <a:pt x="42" y="99"/>
                  <a:pt x="42" y="99"/>
                  <a:pt x="42" y="99"/>
                </a:cubicBezTo>
                <a:cubicBezTo>
                  <a:pt x="40" y="91"/>
                  <a:pt x="40" y="91"/>
                  <a:pt x="40" y="91"/>
                </a:cubicBezTo>
                <a:cubicBezTo>
                  <a:pt x="40" y="91"/>
                  <a:pt x="39" y="91"/>
                  <a:pt x="39" y="91"/>
                </a:cubicBezTo>
                <a:cubicBezTo>
                  <a:pt x="33" y="97"/>
                  <a:pt x="33" y="97"/>
                  <a:pt x="33" y="97"/>
                </a:cubicBezTo>
                <a:cubicBezTo>
                  <a:pt x="18" y="89"/>
                  <a:pt x="18" y="89"/>
                  <a:pt x="18" y="89"/>
                </a:cubicBezTo>
                <a:cubicBezTo>
                  <a:pt x="21" y="81"/>
                  <a:pt x="21" y="81"/>
                  <a:pt x="21" y="81"/>
                </a:cubicBezTo>
                <a:cubicBezTo>
                  <a:pt x="20" y="80"/>
                  <a:pt x="20" y="80"/>
                  <a:pt x="20" y="80"/>
                </a:cubicBezTo>
                <a:cubicBezTo>
                  <a:pt x="11" y="83"/>
                  <a:pt x="11" y="83"/>
                  <a:pt x="11" y="83"/>
                </a:cubicBezTo>
                <a:cubicBezTo>
                  <a:pt x="3" y="68"/>
                  <a:pt x="3" y="68"/>
                  <a:pt x="3" y="68"/>
                </a:cubicBezTo>
                <a:cubicBezTo>
                  <a:pt x="9" y="62"/>
                  <a:pt x="9" y="62"/>
                  <a:pt x="9" y="62"/>
                </a:cubicBezTo>
                <a:cubicBezTo>
                  <a:pt x="9" y="62"/>
                  <a:pt x="9" y="61"/>
                  <a:pt x="9" y="61"/>
                </a:cubicBezTo>
                <a:cubicBezTo>
                  <a:pt x="0" y="59"/>
                  <a:pt x="0" y="59"/>
                  <a:pt x="0" y="59"/>
                </a:cubicBezTo>
                <a:cubicBezTo>
                  <a:pt x="0" y="42"/>
                  <a:pt x="0" y="42"/>
                  <a:pt x="0" y="42"/>
                </a:cubicBezTo>
                <a:cubicBezTo>
                  <a:pt x="8" y="40"/>
                  <a:pt x="8" y="40"/>
                  <a:pt x="8" y="40"/>
                </a:cubicBezTo>
                <a:cubicBezTo>
                  <a:pt x="8" y="40"/>
                  <a:pt x="8" y="39"/>
                  <a:pt x="9" y="39"/>
                </a:cubicBezTo>
                <a:cubicBezTo>
                  <a:pt x="2" y="33"/>
                  <a:pt x="2" y="33"/>
                  <a:pt x="2" y="33"/>
                </a:cubicBezTo>
                <a:cubicBezTo>
                  <a:pt x="10" y="18"/>
                  <a:pt x="10" y="18"/>
                  <a:pt x="10" y="18"/>
                </a:cubicBezTo>
                <a:cubicBezTo>
                  <a:pt x="18" y="21"/>
                  <a:pt x="18" y="21"/>
                  <a:pt x="18" y="21"/>
                </a:cubicBezTo>
                <a:cubicBezTo>
                  <a:pt x="19" y="21"/>
                  <a:pt x="19" y="20"/>
                  <a:pt x="19" y="20"/>
                </a:cubicBezTo>
                <a:cubicBezTo>
                  <a:pt x="17" y="11"/>
                  <a:pt x="17" y="11"/>
                  <a:pt x="17" y="11"/>
                </a:cubicBezTo>
                <a:cubicBezTo>
                  <a:pt x="31" y="3"/>
                  <a:pt x="31" y="3"/>
                  <a:pt x="31" y="3"/>
                </a:cubicBezTo>
                <a:cubicBezTo>
                  <a:pt x="37" y="9"/>
                  <a:pt x="37" y="9"/>
                  <a:pt x="37" y="9"/>
                </a:cubicBezTo>
                <a:cubicBezTo>
                  <a:pt x="37" y="9"/>
                  <a:pt x="38" y="9"/>
                  <a:pt x="38" y="9"/>
                </a:cubicBezTo>
                <a:cubicBezTo>
                  <a:pt x="40" y="0"/>
                  <a:pt x="40" y="0"/>
                  <a:pt x="40" y="0"/>
                </a:cubicBezTo>
                <a:cubicBezTo>
                  <a:pt x="57" y="0"/>
                  <a:pt x="57" y="0"/>
                  <a:pt x="57" y="0"/>
                </a:cubicBezTo>
                <a:cubicBezTo>
                  <a:pt x="59" y="8"/>
                  <a:pt x="59" y="8"/>
                  <a:pt x="59" y="8"/>
                </a:cubicBezTo>
                <a:close/>
                <a:moveTo>
                  <a:pt x="36" y="58"/>
                </a:moveTo>
                <a:cubicBezTo>
                  <a:pt x="37" y="52"/>
                  <a:pt x="37" y="52"/>
                  <a:pt x="37" y="52"/>
                </a:cubicBezTo>
                <a:cubicBezTo>
                  <a:pt x="45" y="47"/>
                  <a:pt x="45" y="47"/>
                  <a:pt x="45" y="47"/>
                </a:cubicBezTo>
                <a:cubicBezTo>
                  <a:pt x="56" y="47"/>
                  <a:pt x="56" y="47"/>
                  <a:pt x="56" y="47"/>
                </a:cubicBezTo>
                <a:cubicBezTo>
                  <a:pt x="58" y="55"/>
                  <a:pt x="58" y="55"/>
                  <a:pt x="58" y="55"/>
                </a:cubicBezTo>
                <a:cubicBezTo>
                  <a:pt x="64" y="55"/>
                  <a:pt x="64" y="55"/>
                  <a:pt x="64" y="55"/>
                </a:cubicBezTo>
                <a:cubicBezTo>
                  <a:pt x="64" y="56"/>
                  <a:pt x="64" y="56"/>
                  <a:pt x="64" y="56"/>
                </a:cubicBezTo>
                <a:cubicBezTo>
                  <a:pt x="56" y="58"/>
                  <a:pt x="56" y="58"/>
                  <a:pt x="56" y="58"/>
                </a:cubicBezTo>
                <a:cubicBezTo>
                  <a:pt x="54" y="54"/>
                  <a:pt x="54" y="54"/>
                  <a:pt x="54" y="54"/>
                </a:cubicBezTo>
                <a:cubicBezTo>
                  <a:pt x="52" y="62"/>
                  <a:pt x="52" y="62"/>
                  <a:pt x="52" y="62"/>
                </a:cubicBezTo>
                <a:cubicBezTo>
                  <a:pt x="58" y="69"/>
                  <a:pt x="58" y="69"/>
                  <a:pt x="58" y="69"/>
                </a:cubicBezTo>
                <a:cubicBezTo>
                  <a:pt x="58" y="79"/>
                  <a:pt x="58" y="79"/>
                  <a:pt x="58" y="79"/>
                </a:cubicBezTo>
                <a:cubicBezTo>
                  <a:pt x="63" y="77"/>
                  <a:pt x="67" y="74"/>
                  <a:pt x="71" y="71"/>
                </a:cubicBezTo>
                <a:cubicBezTo>
                  <a:pt x="76" y="66"/>
                  <a:pt x="80" y="58"/>
                  <a:pt x="80" y="50"/>
                </a:cubicBezTo>
                <a:cubicBezTo>
                  <a:pt x="80" y="41"/>
                  <a:pt x="76" y="34"/>
                  <a:pt x="71" y="28"/>
                </a:cubicBezTo>
                <a:cubicBezTo>
                  <a:pt x="65" y="23"/>
                  <a:pt x="58" y="19"/>
                  <a:pt x="49" y="19"/>
                </a:cubicBezTo>
                <a:cubicBezTo>
                  <a:pt x="41" y="19"/>
                  <a:pt x="34" y="23"/>
                  <a:pt x="28" y="28"/>
                </a:cubicBezTo>
                <a:cubicBezTo>
                  <a:pt x="23" y="34"/>
                  <a:pt x="19" y="41"/>
                  <a:pt x="19" y="50"/>
                </a:cubicBezTo>
                <a:cubicBezTo>
                  <a:pt x="19" y="58"/>
                  <a:pt x="23" y="66"/>
                  <a:pt x="28" y="71"/>
                </a:cubicBezTo>
                <a:cubicBezTo>
                  <a:pt x="34" y="76"/>
                  <a:pt x="41" y="80"/>
                  <a:pt x="49" y="80"/>
                </a:cubicBezTo>
                <a:cubicBezTo>
                  <a:pt x="52" y="80"/>
                  <a:pt x="54" y="80"/>
                  <a:pt x="55" y="79"/>
                </a:cubicBezTo>
                <a:cubicBezTo>
                  <a:pt x="53" y="70"/>
                  <a:pt x="53" y="70"/>
                  <a:pt x="53" y="70"/>
                </a:cubicBezTo>
                <a:cubicBezTo>
                  <a:pt x="48" y="66"/>
                  <a:pt x="48" y="66"/>
                  <a:pt x="48" y="66"/>
                </a:cubicBezTo>
                <a:cubicBezTo>
                  <a:pt x="47" y="69"/>
                  <a:pt x="45" y="73"/>
                  <a:pt x="45" y="73"/>
                </a:cubicBezTo>
                <a:cubicBezTo>
                  <a:pt x="35" y="75"/>
                  <a:pt x="35" y="75"/>
                  <a:pt x="35" y="75"/>
                </a:cubicBezTo>
                <a:cubicBezTo>
                  <a:pt x="35" y="73"/>
                  <a:pt x="35" y="73"/>
                  <a:pt x="35" y="73"/>
                </a:cubicBezTo>
                <a:cubicBezTo>
                  <a:pt x="42" y="71"/>
                  <a:pt x="42" y="71"/>
                  <a:pt x="42" y="71"/>
                </a:cubicBezTo>
                <a:cubicBezTo>
                  <a:pt x="44" y="61"/>
                  <a:pt x="44" y="61"/>
                  <a:pt x="44" y="61"/>
                </a:cubicBezTo>
                <a:cubicBezTo>
                  <a:pt x="45" y="52"/>
                  <a:pt x="45" y="52"/>
                  <a:pt x="45" y="52"/>
                </a:cubicBezTo>
                <a:cubicBezTo>
                  <a:pt x="41" y="54"/>
                  <a:pt x="41" y="54"/>
                  <a:pt x="41" y="54"/>
                </a:cubicBezTo>
                <a:cubicBezTo>
                  <a:pt x="38" y="59"/>
                  <a:pt x="38" y="59"/>
                  <a:pt x="38" y="59"/>
                </a:cubicBezTo>
                <a:cubicBezTo>
                  <a:pt x="36" y="58"/>
                  <a:pt x="36" y="58"/>
                  <a:pt x="36" y="58"/>
                </a:cubicBezTo>
                <a:close/>
                <a:moveTo>
                  <a:pt x="51" y="37"/>
                </a:moveTo>
                <a:cubicBezTo>
                  <a:pt x="48" y="37"/>
                  <a:pt x="46" y="39"/>
                  <a:pt x="46" y="41"/>
                </a:cubicBezTo>
                <a:cubicBezTo>
                  <a:pt x="46" y="44"/>
                  <a:pt x="48" y="46"/>
                  <a:pt x="51" y="46"/>
                </a:cubicBezTo>
                <a:cubicBezTo>
                  <a:pt x="53" y="46"/>
                  <a:pt x="55" y="44"/>
                  <a:pt x="55" y="41"/>
                </a:cubicBezTo>
                <a:cubicBezTo>
                  <a:pt x="55" y="39"/>
                  <a:pt x="53" y="37"/>
                  <a:pt x="51" y="37"/>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02" name="组合 101"/>
          <p:cNvGrpSpPr/>
          <p:nvPr/>
        </p:nvGrpSpPr>
        <p:grpSpPr>
          <a:xfrm>
            <a:off x="1853723" y="3139110"/>
            <a:ext cx="5110329" cy="534591"/>
            <a:chOff x="2471630" y="1331575"/>
            <a:chExt cx="6813772" cy="712788"/>
          </a:xfrm>
        </p:grpSpPr>
        <p:sp>
          <p:nvSpPr>
            <p:cNvPr id="103"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技术路线与实验验证</a:t>
              </a:r>
            </a:p>
          </p:txBody>
        </p:sp>
        <p:sp>
          <p:nvSpPr>
            <p:cNvPr id="104" name="矩形 103"/>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05" name="直接连接符 104"/>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06" name="组合 68"/>
            <p:cNvGrpSpPr/>
            <p:nvPr/>
          </p:nvGrpSpPr>
          <p:grpSpPr bwMode="auto">
            <a:xfrm>
              <a:off x="2471630" y="1331575"/>
              <a:ext cx="919442" cy="712788"/>
              <a:chOff x="6191369" y="1397569"/>
              <a:chExt cx="919239" cy="712882"/>
            </a:xfrm>
          </p:grpSpPr>
          <p:sp>
            <p:nvSpPr>
              <p:cNvPr id="107" name="矩形 106"/>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9"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03</a:t>
                </a:r>
                <a:endParaRPr lang="zh-CN" altLang="en-US" sz="2700" dirty="0">
                  <a:solidFill>
                    <a:srgbClr val="044875"/>
                  </a:solidFill>
                  <a:latin typeface="Impact" panose="020B0806030902050204" pitchFamily="34" charset="0"/>
                </a:endParaRPr>
              </a:p>
            </p:txBody>
          </p:sp>
        </p:grpSp>
      </p:grpSp>
      <p:sp>
        <p:nvSpPr>
          <p:cNvPr id="110" name="Freeform 59"/>
          <p:cNvSpPr>
            <a:spLocks noEditPoints="1"/>
          </p:cNvSpPr>
          <p:nvPr/>
        </p:nvSpPr>
        <p:spPr bwMode="auto">
          <a:xfrm>
            <a:off x="2612747" y="3215044"/>
            <a:ext cx="454819" cy="342900"/>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grpSp>
        <p:nvGrpSpPr>
          <p:cNvPr id="111" name="组合 110"/>
          <p:cNvGrpSpPr/>
          <p:nvPr/>
        </p:nvGrpSpPr>
        <p:grpSpPr>
          <a:xfrm>
            <a:off x="1853723" y="4137082"/>
            <a:ext cx="5110329" cy="534591"/>
            <a:chOff x="2471630" y="1331575"/>
            <a:chExt cx="6813772" cy="712788"/>
          </a:xfrm>
        </p:grpSpPr>
        <p:sp>
          <p:nvSpPr>
            <p:cNvPr id="112" name="文本框 20"/>
            <p:cNvSpPr txBox="1">
              <a:spLocks noChangeArrowheads="1"/>
            </p:cNvSpPr>
            <p:nvPr/>
          </p:nvSpPr>
          <p:spPr bwMode="auto">
            <a:xfrm>
              <a:off x="4852773" y="1454602"/>
              <a:ext cx="3659632" cy="53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预期成果与进度安排</a:t>
              </a:r>
            </a:p>
          </p:txBody>
        </p:sp>
        <p:sp>
          <p:nvSpPr>
            <p:cNvPr id="113" name="矩形 112"/>
            <p:cNvSpPr/>
            <p:nvPr/>
          </p:nvSpPr>
          <p:spPr bwMode="auto">
            <a:xfrm>
              <a:off x="3354280" y="1331575"/>
              <a:ext cx="5931122" cy="712788"/>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114" name="直接连接符 113"/>
            <p:cNvCxnSpPr/>
            <p:nvPr/>
          </p:nvCxnSpPr>
          <p:spPr bwMode="auto">
            <a:xfrm flipH="1">
              <a:off x="4219468" y="1331575"/>
              <a:ext cx="12700" cy="712788"/>
            </a:xfrm>
            <a:prstGeom prst="line">
              <a:avLst/>
            </a:prstGeom>
            <a:ln w="25400">
              <a:solidFill>
                <a:srgbClr val="044875"/>
              </a:solidFill>
              <a:prstDash val="dash"/>
            </a:ln>
          </p:spPr>
          <p:style>
            <a:lnRef idx="1">
              <a:schemeClr val="accent1"/>
            </a:lnRef>
            <a:fillRef idx="0">
              <a:schemeClr val="accent1"/>
            </a:fillRef>
            <a:effectRef idx="0">
              <a:schemeClr val="accent1"/>
            </a:effectRef>
            <a:fontRef idx="minor">
              <a:schemeClr val="tx1"/>
            </a:fontRef>
          </p:style>
        </p:cxnSp>
        <p:grpSp>
          <p:nvGrpSpPr>
            <p:cNvPr id="115" name="组合 68"/>
            <p:cNvGrpSpPr/>
            <p:nvPr/>
          </p:nvGrpSpPr>
          <p:grpSpPr bwMode="auto">
            <a:xfrm>
              <a:off x="2471630" y="1331575"/>
              <a:ext cx="919442" cy="712788"/>
              <a:chOff x="6191369" y="1397569"/>
              <a:chExt cx="919239" cy="712882"/>
            </a:xfrm>
          </p:grpSpPr>
          <p:sp>
            <p:nvSpPr>
              <p:cNvPr id="116" name="矩形 115"/>
              <p:cNvSpPr/>
              <p:nvPr/>
            </p:nvSpPr>
            <p:spPr>
              <a:xfrm>
                <a:off x="6294533" y="1397569"/>
                <a:ext cx="712631" cy="712882"/>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7" name="文本框 18"/>
              <p:cNvSpPr txBox="1">
                <a:spLocks noChangeArrowheads="1"/>
              </p:cNvSpPr>
              <p:nvPr/>
            </p:nvSpPr>
            <p:spPr bwMode="auto">
              <a:xfrm>
                <a:off x="6191369" y="1397569"/>
                <a:ext cx="919239" cy="677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2700" dirty="0">
                    <a:solidFill>
                      <a:srgbClr val="044875"/>
                    </a:solidFill>
                    <a:latin typeface="Impact" panose="020B0806030902050204" pitchFamily="34" charset="0"/>
                  </a:rPr>
                  <a:t>04</a:t>
                </a:r>
                <a:endParaRPr lang="zh-CN" altLang="en-US" sz="2700" dirty="0">
                  <a:solidFill>
                    <a:srgbClr val="044875"/>
                  </a:solidFill>
                  <a:latin typeface="Impact" panose="020B0806030902050204" pitchFamily="34" charset="0"/>
                </a:endParaRPr>
              </a:p>
            </p:txBody>
          </p:sp>
        </p:grpSp>
      </p:grpSp>
      <p:sp>
        <p:nvSpPr>
          <p:cNvPr id="118" name="Freeform 71"/>
          <p:cNvSpPr>
            <a:spLocks noEditPoints="1"/>
          </p:cNvSpPr>
          <p:nvPr/>
        </p:nvSpPr>
        <p:spPr bwMode="auto">
          <a:xfrm>
            <a:off x="2639401" y="4201375"/>
            <a:ext cx="383381" cy="406004"/>
          </a:xfrm>
          <a:custGeom>
            <a:avLst/>
            <a:gdLst>
              <a:gd name="T0" fmla="*/ 170 w 222"/>
              <a:gd name="T1" fmla="*/ 29 h 235"/>
              <a:gd name="T2" fmla="*/ 182 w 222"/>
              <a:gd name="T3" fmla="*/ 7 h 235"/>
              <a:gd name="T4" fmla="*/ 151 w 222"/>
              <a:gd name="T5" fmla="*/ 19 h 235"/>
              <a:gd name="T6" fmla="*/ 7 w 222"/>
              <a:gd name="T7" fmla="*/ 159 h 235"/>
              <a:gd name="T8" fmla="*/ 31 w 222"/>
              <a:gd name="T9" fmla="*/ 223 h 235"/>
              <a:gd name="T10" fmla="*/ 31 w 222"/>
              <a:gd name="T11" fmla="*/ 171 h 235"/>
              <a:gd name="T12" fmla="*/ 109 w 222"/>
              <a:gd name="T13" fmla="*/ 114 h 235"/>
              <a:gd name="T14" fmla="*/ 116 w 222"/>
              <a:gd name="T15" fmla="*/ 93 h 235"/>
              <a:gd name="T16" fmla="*/ 87 w 222"/>
              <a:gd name="T17" fmla="*/ 104 h 235"/>
              <a:gd name="T18" fmla="*/ 76 w 222"/>
              <a:gd name="T19" fmla="*/ 100 h 235"/>
              <a:gd name="T20" fmla="*/ 116 w 222"/>
              <a:gd name="T21" fmla="*/ 83 h 235"/>
              <a:gd name="T22" fmla="*/ 132 w 222"/>
              <a:gd name="T23" fmla="*/ 90 h 235"/>
              <a:gd name="T24" fmla="*/ 132 w 222"/>
              <a:gd name="T25" fmla="*/ 19 h 235"/>
              <a:gd name="T26" fmla="*/ 180 w 222"/>
              <a:gd name="T27" fmla="*/ 0 h 235"/>
              <a:gd name="T28" fmla="*/ 182 w 222"/>
              <a:gd name="T29" fmla="*/ 0 h 235"/>
              <a:gd name="T30" fmla="*/ 222 w 222"/>
              <a:gd name="T31" fmla="*/ 19 h 235"/>
              <a:gd name="T32" fmla="*/ 173 w 222"/>
              <a:gd name="T33" fmla="*/ 187 h 235"/>
              <a:gd name="T34" fmla="*/ 158 w 222"/>
              <a:gd name="T35" fmla="*/ 180 h 235"/>
              <a:gd name="T36" fmla="*/ 106 w 222"/>
              <a:gd name="T37" fmla="*/ 211 h 235"/>
              <a:gd name="T38" fmla="*/ 90 w 222"/>
              <a:gd name="T39" fmla="*/ 201 h 235"/>
              <a:gd name="T40" fmla="*/ 38 w 222"/>
              <a:gd name="T41" fmla="*/ 235 h 235"/>
              <a:gd name="T42" fmla="*/ 2 w 222"/>
              <a:gd name="T43" fmla="*/ 218 h 235"/>
              <a:gd name="T44" fmla="*/ 0 w 222"/>
              <a:gd name="T45" fmla="*/ 213 h 235"/>
              <a:gd name="T46" fmla="*/ 0 w 222"/>
              <a:gd name="T47" fmla="*/ 147 h 235"/>
              <a:gd name="T48" fmla="*/ 47 w 222"/>
              <a:gd name="T49" fmla="*/ 128 h 235"/>
              <a:gd name="T50" fmla="*/ 50 w 222"/>
              <a:gd name="T51" fmla="*/ 128 h 235"/>
              <a:gd name="T52" fmla="*/ 90 w 222"/>
              <a:gd name="T53" fmla="*/ 147 h 235"/>
              <a:gd name="T54" fmla="*/ 99 w 222"/>
              <a:gd name="T55" fmla="*/ 199 h 235"/>
              <a:gd name="T56" fmla="*/ 76 w 222"/>
              <a:gd name="T57" fmla="*/ 114 h 235"/>
              <a:gd name="T58" fmla="*/ 68 w 222"/>
              <a:gd name="T59" fmla="*/ 138 h 235"/>
              <a:gd name="T60" fmla="*/ 68 w 222"/>
              <a:gd name="T61" fmla="*/ 102 h 235"/>
              <a:gd name="T62" fmla="*/ 139 w 222"/>
              <a:gd name="T63" fmla="*/ 95 h 235"/>
              <a:gd name="T64" fmla="*/ 158 w 222"/>
              <a:gd name="T65" fmla="*/ 102 h 235"/>
              <a:gd name="T66" fmla="*/ 165 w 222"/>
              <a:gd name="T67" fmla="*/ 175 h 235"/>
              <a:gd name="T68" fmla="*/ 139 w 222"/>
              <a:gd name="T69" fmla="*/ 31 h 235"/>
              <a:gd name="T70" fmla="*/ 139 w 222"/>
              <a:gd name="T71" fmla="*/ 95 h 235"/>
              <a:gd name="T72" fmla="*/ 38 w 222"/>
              <a:gd name="T73" fmla="*/ 159 h 235"/>
              <a:gd name="T74" fmla="*/ 47 w 222"/>
              <a:gd name="T75" fmla="*/ 138 h 235"/>
              <a:gd name="T76" fmla="*/ 19 w 222"/>
              <a:gd name="T77" fmla="*/ 149 h 235"/>
              <a:gd name="T78" fmla="*/ 173 w 222"/>
              <a:gd name="T79" fmla="*/ 36 h 235"/>
              <a:gd name="T80" fmla="*/ 173 w 222"/>
              <a:gd name="T81" fmla="*/ 3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chemeClr val="bg2">
              <a:lumMod val="25000"/>
            </a:schemeClr>
          </a:solidFill>
          <a:ln>
            <a:noFill/>
          </a:ln>
        </p:spPr>
        <p:txBody>
          <a:bodyPr lIns="68580" tIns="34290" rIns="68580" bIns="34290"/>
          <a:lstStyle/>
          <a:p>
            <a:pPr>
              <a:defRPr/>
            </a:pPr>
            <a:endParaRPr lang="zh-CN" altLang="en-US">
              <a:solidFill>
                <a:prstClr val="black"/>
              </a:solidFill>
              <a:latin typeface="+mn-lt"/>
              <a:ea typeface="+mn-ea"/>
            </a:endParaRP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 name="文本框 7"/>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a:solidFill>
                  <a:schemeClr val="bg1"/>
                </a:solidFill>
                <a:latin typeface="Impact" panose="020B0806030902050204" pitchFamily="34" charset="0"/>
              </a:rPr>
              <a:t>1</a:t>
            </a:r>
            <a:endParaRPr lang="zh-CN" altLang="en-US" sz="8600">
              <a:solidFill>
                <a:schemeClr val="bg1"/>
              </a:solidFill>
              <a:latin typeface="Impact" panose="020B0806030902050204" pitchFamily="34" charset="0"/>
            </a:endParaRPr>
          </a:p>
        </p:txBody>
      </p:sp>
      <p:sp>
        <p:nvSpPr>
          <p:cNvPr id="9" name="文本框 8"/>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10" name="矩形 9"/>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1" name="文本框 10"/>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12" name="文本框 11"/>
          <p:cNvSpPr txBox="1">
            <a:spLocks noChangeArrowheads="1"/>
          </p:cNvSpPr>
          <p:nvPr/>
        </p:nvSpPr>
        <p:spPr bwMode="auto">
          <a:xfrm>
            <a:off x="4716016" y="2724499"/>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研究背景与研究现状</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6" name="矩形 5"/>
          <p:cNvSpPr/>
          <p:nvPr/>
        </p:nvSpPr>
        <p:spPr>
          <a:xfrm>
            <a:off x="3239344"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7" name="文本框 20"/>
          <p:cNvSpPr txBox="1">
            <a:spLocks noChangeArrowheads="1"/>
          </p:cNvSpPr>
          <p:nvPr/>
        </p:nvSpPr>
        <p:spPr bwMode="auto">
          <a:xfrm>
            <a:off x="457200" y="67826"/>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微软雅黑" panose="020B0503020204020204" pitchFamily="34" charset="-122"/>
                <a:ea typeface="微软雅黑" panose="020B0503020204020204" pitchFamily="34" charset="-122"/>
              </a:rPr>
              <a:t>01</a:t>
            </a:r>
            <a:endParaRPr lang="zh-CN" altLang="en-US" sz="2400"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12"/>
            <p:custDataLst>
              <p:tags r:id="rId1"/>
            </p:custDataLst>
          </p:nvPr>
        </p:nvSpPr>
        <p:spPr/>
        <p:txBody>
          <a:bodyPr/>
          <a:lstStyle/>
          <a:p>
            <a:fld id="{0C913308-F349-4B6D-A68A-DD1791B4A57B}" type="slidenum">
              <a:rPr lang="zh-CN" altLang="en-US" smtClean="0"/>
              <a:t>4</a:t>
            </a:fld>
            <a:endParaRPr lang="zh-CN" altLang="en-US" dirty="0"/>
          </a:p>
        </p:txBody>
      </p:sp>
      <p:sp>
        <p:nvSpPr>
          <p:cNvPr id="3" name="淘宝-想搞设计PPT(倒卖必究)-3">
            <a:extLst>
              <a:ext uri="{FF2B5EF4-FFF2-40B4-BE49-F238E27FC236}">
                <a16:creationId xmlns:a16="http://schemas.microsoft.com/office/drawing/2014/main" xmlns="" id="{90ECB1AC-F476-8EDF-F839-33E155C70E82}"/>
              </a:ext>
            </a:extLst>
          </p:cNvPr>
          <p:cNvSpPr/>
          <p:nvPr/>
        </p:nvSpPr>
        <p:spPr>
          <a:xfrm>
            <a:off x="179512" y="625368"/>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工业背景</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淘宝-想搞设计PPT(倒卖必究)-3">
            <a:extLst>
              <a:ext uri="{FF2B5EF4-FFF2-40B4-BE49-F238E27FC236}">
                <a16:creationId xmlns:a16="http://schemas.microsoft.com/office/drawing/2014/main" xmlns="" id="{20779FF0-93DC-089F-FC58-F01448FA6CB4}"/>
              </a:ext>
            </a:extLst>
          </p:cNvPr>
          <p:cNvSpPr/>
          <p:nvPr/>
        </p:nvSpPr>
        <p:spPr>
          <a:xfrm>
            <a:off x="179513" y="989158"/>
            <a:ext cx="8784975" cy="1231106"/>
          </a:xfrm>
          <a:prstGeom prst="rect">
            <a:avLst/>
          </a:prstGeom>
        </p:spPr>
        <p:txBody>
          <a:bodyPr wrap="square" lIns="0" rIns="0">
            <a:spAutoFit/>
          </a:bodyPr>
          <a:lstStyle/>
          <a:p>
            <a:pPr marL="285750" lvl="0" indent="-285750">
              <a:spcBef>
                <a:spcPts val="600"/>
              </a:spcBef>
              <a:spcAft>
                <a:spcPts val="600"/>
              </a:spcAft>
              <a:buFont typeface="Arial" panose="020B0604020202020204" pitchFamily="34" charset="0"/>
              <a:buChar char="•"/>
            </a:pP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中国制造</a:t>
            </a:r>
            <a:r>
              <a:rPr lang="en-US" sz="1600" dirty="0">
                <a:latin typeface="微软雅黑" panose="020B0503020204020204" pitchFamily="34" charset="-122"/>
                <a:ea typeface="微软雅黑" panose="020B0503020204020204" pitchFamily="34" charset="-122"/>
              </a:rPr>
              <a:t>2025</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、智能制造 等战略推进，柔性作业车间（</a:t>
            </a:r>
            <a:r>
              <a:rPr lang="en-US" sz="1600" dirty="0">
                <a:latin typeface="微软雅黑" panose="020B0503020204020204" pitchFamily="34" charset="-122"/>
                <a:ea typeface="微软雅黑" panose="020B0503020204020204" pitchFamily="34" charset="-122"/>
              </a:rPr>
              <a:t>Flexible Job Shop）</a:t>
            </a:r>
            <a:r>
              <a:rPr lang="zh-CN" altLang="en-US" sz="1600" dirty="0">
                <a:latin typeface="微软雅黑" panose="020B0503020204020204" pitchFamily="34" charset="-122"/>
                <a:ea typeface="微软雅黑" panose="020B0503020204020204" pitchFamily="34" charset="-122"/>
              </a:rPr>
              <a:t>中「异构加工资源 </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自主搬运」已成为智能制造的典型形态</a:t>
            </a:r>
            <a:endParaRPr lang="en-US" altLang="zh-CN" sz="1600" dirty="0">
              <a:latin typeface="微软雅黑" panose="020B0503020204020204" pitchFamily="34" charset="-122"/>
              <a:ea typeface="微软雅黑" panose="020B0503020204020204" pitchFamily="34" charset="-122"/>
            </a:endParaRPr>
          </a:p>
          <a:p>
            <a:pPr marL="285750" lvl="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加工设备与</a:t>
            </a:r>
            <a:r>
              <a:rPr lang="en-US" altLang="zh-CN" sz="1600" dirty="0">
                <a:latin typeface="微软雅黑" panose="020B0503020204020204" pitchFamily="34" charset="-122"/>
                <a:ea typeface="微软雅黑" panose="020B0503020204020204" pitchFamily="34" charset="-122"/>
              </a:rPr>
              <a:t>AGV</a:t>
            </a:r>
            <a:r>
              <a:rPr lang="zh-CN" altLang="en-US" sz="1600" dirty="0">
                <a:latin typeface="微软雅黑" panose="020B0503020204020204" pitchFamily="34" charset="-122"/>
                <a:ea typeface="微软雅黑" panose="020B0503020204020204" pitchFamily="34" charset="-122"/>
              </a:rPr>
              <a:t>二者分工协作：运输时间由多车在共享走廊上的无冲突路由决定，而非常数；二者并非彼此独立的两个优化问题，而是通过到达时刻、开工窗口与路径占用紧密耦合，共同决定系统完工时间等全局指标</a:t>
            </a:r>
            <a:endParaRPr lang="en-US" sz="1600" dirty="0">
              <a:latin typeface="微软雅黑" panose="020B0503020204020204" pitchFamily="34" charset="-122"/>
              <a:ea typeface="微软雅黑" panose="020B0503020204020204" pitchFamily="34" charset="-122"/>
            </a:endParaRPr>
          </a:p>
        </p:txBody>
      </p:sp>
      <p:sp>
        <p:nvSpPr>
          <p:cNvPr id="9" name="淘宝-想搞设计PPT(倒卖必究)-3">
            <a:extLst>
              <a:ext uri="{FF2B5EF4-FFF2-40B4-BE49-F238E27FC236}">
                <a16:creationId xmlns:a16="http://schemas.microsoft.com/office/drawing/2014/main" xmlns="" id="{9B1B81C8-7C21-5760-32A9-1359543A6B44}"/>
              </a:ext>
            </a:extLst>
          </p:cNvPr>
          <p:cNvSpPr/>
          <p:nvPr/>
        </p:nvSpPr>
        <p:spPr>
          <a:xfrm>
            <a:off x="179512" y="2247060"/>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系统架构（双层）</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Table 9">
            <a:extLst>
              <a:ext uri="{FF2B5EF4-FFF2-40B4-BE49-F238E27FC236}">
                <a16:creationId xmlns:a16="http://schemas.microsoft.com/office/drawing/2014/main" xmlns="" id="{BC8D8633-87CE-F2CC-A1F2-D46F5429BCE8}"/>
              </a:ext>
            </a:extLst>
          </p:cNvPr>
          <p:cNvGraphicFramePr>
            <a:graphicFrameLocks noGrp="1"/>
          </p:cNvGraphicFramePr>
          <p:nvPr>
            <p:extLst>
              <p:ext uri="{D42A27DB-BD31-4B8C-83A1-F6EECF244321}">
                <p14:modId xmlns:p14="http://schemas.microsoft.com/office/powerpoint/2010/main" val="4008938171"/>
              </p:ext>
            </p:extLst>
          </p:nvPr>
        </p:nvGraphicFramePr>
        <p:xfrm>
          <a:off x="179511" y="2584054"/>
          <a:ext cx="4608513" cy="2497328"/>
        </p:xfrm>
        <a:graphic>
          <a:graphicData uri="http://schemas.openxmlformats.org/drawingml/2006/table">
            <a:tbl>
              <a:tblPr firstRow="1" bandRow="1">
                <a:tableStyleId>{00A15C55-8517-42AA-B614-E9B94910E393}</a:tableStyleId>
              </a:tblPr>
              <a:tblGrid>
                <a:gridCol w="1737636">
                  <a:extLst>
                    <a:ext uri="{9D8B030D-6E8A-4147-A177-3AD203B41FA5}">
                      <a16:colId xmlns:a16="http://schemas.microsoft.com/office/drawing/2014/main" xmlns="" val="1142861759"/>
                    </a:ext>
                  </a:extLst>
                </a:gridCol>
                <a:gridCol w="2870877">
                  <a:extLst>
                    <a:ext uri="{9D8B030D-6E8A-4147-A177-3AD203B41FA5}">
                      <a16:colId xmlns:a16="http://schemas.microsoft.com/office/drawing/2014/main" xmlns="" val="473110948"/>
                    </a:ext>
                  </a:extLst>
                </a:gridCol>
              </a:tblGrid>
              <a:tr h="370840">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层级</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gn="ctr">
                        <a:lnSpc>
                          <a:spcPct val="115000"/>
                        </a:lnSpc>
                        <a:spcAft>
                          <a:spcPts val="800"/>
                        </a:spcAft>
                        <a:buNone/>
                      </a:pPr>
                      <a:r>
                        <a:rPr lang="zh-CN" altLang="en-US" sz="1600" kern="1200" dirty="0">
                          <a:solidFill>
                            <a:schemeClr val="bg1"/>
                          </a:solidFill>
                          <a:latin typeface="微软雅黑" panose="020B0503020204020204" pitchFamily="34" charset="-122"/>
                          <a:ea typeface="微软雅黑" panose="020B0503020204020204" pitchFamily="34" charset="-122"/>
                          <a:cs typeface="+mn-cs"/>
                        </a:rPr>
                        <a:t>功能</a:t>
                      </a:r>
                      <a:endParaRPr lang="en-US" sz="1600" kern="1200" dirty="0">
                        <a:solidFill>
                          <a:schemeClr val="bg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4263651850"/>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集中式任务分配层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全局近优任务规划、指令下发</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3090417641"/>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现场执行与无冲突通行层</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现场执行层由异构加工设备与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AGV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等资源构成，是调度方案的具体落实单元。</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1756568696"/>
                  </a:ext>
                </a:extLst>
              </a:tr>
              <a:tr h="370840">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规划与执行之间的双向强耦合</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tc>
                  <a:txBody>
                    <a:bodyPr/>
                    <a:lstStyle/>
                    <a:p>
                      <a:pPr marL="0" marR="0">
                        <a:lnSpc>
                          <a:spcPct val="115000"/>
                        </a:lnSpc>
                        <a:spcAft>
                          <a:spcPts val="800"/>
                        </a:spcAft>
                        <a:buNone/>
                      </a:pPr>
                      <a:r>
                        <a:rPr lang="zh-CN" altLang="en-US" sz="1400" kern="1200" dirty="0">
                          <a:solidFill>
                            <a:schemeClr val="tx1"/>
                          </a:solidFill>
                          <a:latin typeface="微软雅黑" panose="020B0503020204020204" pitchFamily="34" charset="-122"/>
                          <a:ea typeface="微软雅黑" panose="020B0503020204020204" pitchFamily="34" charset="-122"/>
                          <a:cs typeface="+mn-cs"/>
                        </a:rPr>
                        <a:t>规划层依据全局优化目标持续下发指派与时序；各执行单元上报的自身状态等信息直接约束规划层的下一轮决策。</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marL="9525" marR="9525" marT="9525" marB="9525" anchor="ctr"/>
                </a:tc>
                <a:extLst>
                  <a:ext uri="{0D108BD9-81ED-4DB2-BD59-A6C34878D82A}">
                    <a16:rowId xmlns:a16="http://schemas.microsoft.com/office/drawing/2014/main" xmlns="" val="2886293465"/>
                  </a:ext>
                </a:extLst>
              </a:tr>
            </a:tbl>
          </a:graphicData>
        </a:graphic>
      </p:graphicFrame>
      <p:pic>
        <p:nvPicPr>
          <p:cNvPr id="11" name="Picture 10">
            <a:extLst>
              <a:ext uri="{FF2B5EF4-FFF2-40B4-BE49-F238E27FC236}">
                <a16:creationId xmlns:a16="http://schemas.microsoft.com/office/drawing/2014/main" xmlns="" id="{54850EF1-9048-6213-D39F-871439A8FD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0032" y="2217741"/>
            <a:ext cx="4293259" cy="2413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3" name="淘宝-想搞设计PPT(倒卖必究)-3">
            <a:extLst>
              <a:ext uri="{FF2B5EF4-FFF2-40B4-BE49-F238E27FC236}">
                <a16:creationId xmlns:a16="http://schemas.microsoft.com/office/drawing/2014/main" xmlns="" id="{7D1CD056-93FF-51CB-8E05-FB8BF32FB3AD}"/>
              </a:ext>
            </a:extLst>
          </p:cNvPr>
          <p:cNvSpPr/>
          <p:nvPr/>
        </p:nvSpPr>
        <p:spPr>
          <a:xfrm>
            <a:off x="378533" y="515888"/>
            <a:ext cx="711045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工业现场主流应用方法（</a:t>
            </a:r>
            <a:r>
              <a:rPr lang="en-US" altLang="zh-CN" b="1" dirty="0">
                <a:ln w="0"/>
                <a:latin typeface="微软雅黑" panose="020B0503020204020204" pitchFamily="34" charset="-122"/>
                <a:ea typeface="微软雅黑" panose="020B0503020204020204" pitchFamily="34" charset="-122"/>
                <a:cs typeface="Times New Roman" panose="02020603050405020304" pitchFamily="18" charset="0"/>
              </a:rPr>
              <a:t>FCFS</a:t>
            </a:r>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，先来先服务）的局限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淘宝-想搞设计PPT(倒卖必究)-3">
            <a:extLst>
              <a:ext uri="{FF2B5EF4-FFF2-40B4-BE49-F238E27FC236}">
                <a16:creationId xmlns:a16="http://schemas.microsoft.com/office/drawing/2014/main" xmlns="" id="{90BB3829-D5F4-1122-6E91-DD9AB86E3E3A}"/>
              </a:ext>
            </a:extLst>
          </p:cNvPr>
          <p:cNvSpPr/>
          <p:nvPr/>
        </p:nvSpPr>
        <p:spPr>
          <a:xfrm>
            <a:off x="517161" y="879678"/>
            <a:ext cx="8303311" cy="73866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优点</a:t>
            </a:r>
            <a:r>
              <a:rPr lang="zh-CN" altLang="en-US" sz="1600" dirty="0">
                <a:latin typeface="微软雅黑" panose="020B0503020204020204" pitchFamily="34" charset="-122"/>
                <a:ea typeface="微软雅黑" panose="020B0503020204020204" pitchFamily="34" charset="-122"/>
              </a:rPr>
              <a:t>：逻辑</a:t>
            </a:r>
            <a:r>
              <a:rPr lang="zh-CN" altLang="en-US" sz="1600" b="1" dirty="0">
                <a:latin typeface="微软雅黑" panose="020B0503020204020204" pitchFamily="34" charset="-122"/>
                <a:ea typeface="微软雅黑" panose="020B0503020204020204" pitchFamily="34" charset="-122"/>
              </a:rPr>
              <a:t>简单</a:t>
            </a:r>
            <a:r>
              <a:rPr lang="zh-CN" altLang="en-US" sz="1600" dirty="0">
                <a:latin typeface="微软雅黑" panose="020B0503020204020204" pitchFamily="34" charset="-122"/>
                <a:ea typeface="微软雅黑" panose="020B0503020204020204" pitchFamily="34" charset="-122"/>
              </a:rPr>
              <a:t>、响应</a:t>
            </a:r>
            <a:r>
              <a:rPr lang="zh-CN" altLang="en-US" sz="1600" b="1" dirty="0">
                <a:latin typeface="微软雅黑" panose="020B0503020204020204" pitchFamily="34" charset="-122"/>
                <a:ea typeface="微软雅黑" panose="020B0503020204020204" pitchFamily="34" charset="-122"/>
              </a:rPr>
              <a:t>快</a:t>
            </a:r>
            <a:endParaRPr lang="en-US" altLang="zh-CN" sz="1600" b="1"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缺点：仅按任务到达顺序分配，调度效率偏低</a:t>
            </a:r>
            <a:endParaRPr lang="en-US" sz="1600" b="1" dirty="0">
              <a:latin typeface="微软雅黑" panose="020B0503020204020204" pitchFamily="34" charset="-122"/>
              <a:ea typeface="微软雅黑" panose="020B0503020204020204" pitchFamily="34" charset="-122"/>
            </a:endParaRPr>
          </a:p>
        </p:txBody>
      </p:sp>
      <p:sp>
        <p:nvSpPr>
          <p:cNvPr id="13" name="淘宝-想搞设计PPT(倒卖必究)-3">
            <a:extLst>
              <a:ext uri="{FF2B5EF4-FFF2-40B4-BE49-F238E27FC236}">
                <a16:creationId xmlns:a16="http://schemas.microsoft.com/office/drawing/2014/main" xmlns="" id="{B2D0C359-00F3-DA56-8405-84481FC580EC}"/>
              </a:ext>
            </a:extLst>
          </p:cNvPr>
          <p:cNvSpPr/>
          <p:nvPr/>
        </p:nvSpPr>
        <p:spPr>
          <a:xfrm>
            <a:off x="376157" y="1603323"/>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其它学界方法的局限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淘宝-想搞设计PPT(倒卖必究)-3">
            <a:extLst>
              <a:ext uri="{FF2B5EF4-FFF2-40B4-BE49-F238E27FC236}">
                <a16:creationId xmlns:a16="http://schemas.microsoft.com/office/drawing/2014/main" xmlns="" id="{46777E22-7D61-EB33-5B7B-3791FE5F4180}"/>
              </a:ext>
            </a:extLst>
          </p:cNvPr>
          <p:cNvSpPr/>
          <p:nvPr/>
        </p:nvSpPr>
        <p:spPr>
          <a:xfrm>
            <a:off x="517161" y="1993558"/>
            <a:ext cx="8626839" cy="338554"/>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现有优化算法（MIP、强化学习等）多以“状态可信、执行按计划推进”为前提，安全韧性不足</a:t>
            </a:r>
            <a:endParaRPr lang="en-US" altLang="zh-CN" sz="1600" b="1" dirty="0">
              <a:latin typeface="微软雅黑" panose="020B0503020204020204" pitchFamily="34" charset="-122"/>
              <a:ea typeface="微软雅黑" panose="020B0503020204020204" pitchFamily="34" charset="-122"/>
            </a:endParaRPr>
          </a:p>
        </p:txBody>
      </p:sp>
      <p:sp>
        <p:nvSpPr>
          <p:cNvPr id="17" name="淘宝-想搞设计PPT(倒卖必究)-3">
            <a:extLst>
              <a:ext uri="{FF2B5EF4-FFF2-40B4-BE49-F238E27FC236}">
                <a16:creationId xmlns:a16="http://schemas.microsoft.com/office/drawing/2014/main" xmlns="" id="{5883D2BE-3027-3EC4-E701-BDFEA86B7C1B}"/>
              </a:ext>
            </a:extLst>
          </p:cNvPr>
          <p:cNvSpPr/>
          <p:nvPr/>
        </p:nvSpPr>
        <p:spPr>
          <a:xfrm>
            <a:off x="413147" y="2548322"/>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工业扰动的两大来源</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淘宝-想搞设计PPT(倒卖必究)-3">
            <a:extLst>
              <a:ext uri="{FF2B5EF4-FFF2-40B4-BE49-F238E27FC236}">
                <a16:creationId xmlns:a16="http://schemas.microsoft.com/office/drawing/2014/main" xmlns="" id="{27462B26-93BF-CC67-E89E-019A77F80C25}"/>
              </a:ext>
            </a:extLst>
          </p:cNvPr>
          <p:cNvSpPr/>
          <p:nvPr/>
        </p:nvSpPr>
        <p:spPr>
          <a:xfrm>
            <a:off x="517161" y="2948432"/>
            <a:ext cx="6432279" cy="1846659"/>
          </a:xfrm>
          <a:prstGeom prst="rect">
            <a:avLst/>
          </a:prstGeom>
        </p:spPr>
        <p:txBody>
          <a:bodyPr wrap="square" lIns="0" rIns="0">
            <a:spAutoFit/>
          </a:bodyPr>
          <a:lstStyle/>
          <a:p>
            <a:r>
              <a:rPr lang="en-US" sz="1600" dirty="0">
                <a:solidFill>
                  <a:schemeClr val="bg1">
                    <a:lumMod val="50000"/>
                  </a:schemeClr>
                </a:solidFill>
              </a:rPr>
              <a:t>🔧 </a:t>
            </a:r>
            <a:r>
              <a:rPr lang="zh-CN" altLang="en-US" sz="1600" b="1" dirty="0">
                <a:solidFill>
                  <a:schemeClr val="bg1">
                    <a:lumMod val="50000"/>
                  </a:schemeClr>
                </a:solidFill>
              </a:rPr>
              <a:t>内部扰动（物理扰动：设备故障、走廊阻断等）</a:t>
            </a:r>
            <a:endParaRPr lang="en-US" sz="1600" dirty="0">
              <a:solidFill>
                <a:schemeClr val="bg1">
                  <a:lumMod val="50000"/>
                </a:schemeClr>
              </a:solidFill>
            </a:endParaRPr>
          </a:p>
          <a:p>
            <a:pPr marL="285750" lvl="0" indent="-285750">
              <a:buFont typeface="Arial" panose="020B0604020202020204" pitchFamily="34" charset="0"/>
              <a:buChar char="•"/>
            </a:pPr>
            <a:r>
              <a:rPr lang="zh-CN" altLang="en-US" sz="1600" dirty="0"/>
              <a:t>硬件异常（车/加工设备故障）</a:t>
            </a:r>
            <a:endParaRPr lang="en-US" altLang="zh-CN" sz="1600" dirty="0"/>
          </a:p>
          <a:p>
            <a:pPr marL="285750" lvl="0" indent="-285750">
              <a:buFont typeface="Arial" panose="020B0604020202020204" pitchFamily="34" charset="0"/>
              <a:buChar char="•"/>
            </a:pPr>
            <a:r>
              <a:rPr lang="zh-CN" altLang="en-US" sz="1600" dirty="0"/>
              <a:t>软件异常</a:t>
            </a:r>
            <a:endParaRPr lang="en-US" sz="1600" dirty="0"/>
          </a:p>
          <a:p>
            <a:pPr marL="285750" lvl="0" indent="-285750">
              <a:buFont typeface="Arial" panose="020B0604020202020204" pitchFamily="34" charset="0"/>
              <a:buChar char="•"/>
            </a:pPr>
            <a:r>
              <a:rPr lang="zh-CN" altLang="en-US" sz="1600" dirty="0"/>
              <a:t>通信中断、走廊阻断/降速</a:t>
            </a:r>
            <a:endParaRPr lang="en-US" sz="1600" dirty="0"/>
          </a:p>
          <a:p>
            <a:r>
              <a:rPr lang="en-US" sz="1600" dirty="0">
                <a:solidFill>
                  <a:schemeClr val="bg1">
                    <a:lumMod val="50000"/>
                  </a:schemeClr>
                </a:solidFill>
              </a:rPr>
              <a:t>🛡️ </a:t>
            </a:r>
            <a:r>
              <a:rPr lang="zh-CN" altLang="en-US" sz="1600" b="1" dirty="0">
                <a:solidFill>
                  <a:schemeClr val="bg1">
                    <a:lumMod val="50000"/>
                  </a:schemeClr>
                </a:solidFill>
              </a:rPr>
              <a:t>外部扰动（信息攻击：网络安全威胁）</a:t>
            </a:r>
            <a:endParaRPr lang="en-US" sz="1600" dirty="0">
              <a:solidFill>
                <a:schemeClr val="bg1">
                  <a:lumMod val="50000"/>
                </a:schemeClr>
              </a:solidFill>
            </a:endParaRPr>
          </a:p>
          <a:p>
            <a:pPr marL="285750" lvl="0" indent="-285750">
              <a:buFont typeface="Arial" panose="020B0604020202020204" pitchFamily="34" charset="0"/>
              <a:buChar char="•"/>
            </a:pPr>
            <a:r>
              <a:rPr lang="zh-CN" altLang="en-US" sz="1600" dirty="0"/>
              <a:t>数据注入攻击</a:t>
            </a:r>
            <a:endParaRPr lang="en-US" altLang="zh-CN" sz="1600" dirty="0"/>
          </a:p>
          <a:p>
            <a:pPr marL="285750" lvl="0" indent="-285750">
              <a:buFont typeface="Arial" panose="020B0604020202020204" pitchFamily="34" charset="0"/>
              <a:buChar char="•"/>
            </a:pPr>
            <a:r>
              <a:rPr lang="zh-CN" altLang="en-US" sz="1600" dirty="0"/>
              <a:t>恶意软件劫持</a:t>
            </a:r>
            <a:endParaRPr lang="en-US" sz="1600" dirty="0"/>
          </a:p>
        </p:txBody>
      </p:sp>
      <p:sp>
        <p:nvSpPr>
          <p:cNvPr id="19" name="Arrow: Right 18">
            <a:extLst>
              <a:ext uri="{FF2B5EF4-FFF2-40B4-BE49-F238E27FC236}">
                <a16:creationId xmlns:a16="http://schemas.microsoft.com/office/drawing/2014/main" xmlns="" id="{40163572-9C23-997C-294C-C07E0BB6756B}"/>
              </a:ext>
            </a:extLst>
          </p:cNvPr>
          <p:cNvSpPr/>
          <p:nvPr/>
        </p:nvSpPr>
        <p:spPr>
          <a:xfrm>
            <a:off x="5148064" y="2924934"/>
            <a:ext cx="502920" cy="37338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淘宝-想搞设计PPT(倒卖必究)-3">
            <a:extLst>
              <a:ext uri="{FF2B5EF4-FFF2-40B4-BE49-F238E27FC236}">
                <a16:creationId xmlns:a16="http://schemas.microsoft.com/office/drawing/2014/main" xmlns="" id="{19456DA4-6F78-5D13-C689-E4B6C1F2CF06}"/>
              </a:ext>
            </a:extLst>
          </p:cNvPr>
          <p:cNvSpPr/>
          <p:nvPr/>
        </p:nvSpPr>
        <p:spPr>
          <a:xfrm>
            <a:off x="5803090" y="2930593"/>
            <a:ext cx="3521439" cy="307777"/>
          </a:xfrm>
          <a:prstGeom prst="rect">
            <a:avLst/>
          </a:prstGeom>
        </p:spPr>
        <p:txBody>
          <a:bodyPr wrap="square" lIns="0" rIns="0">
            <a:spAutoFit/>
          </a:bodyPr>
          <a:lstStyle/>
          <a:p>
            <a:r>
              <a:rPr lang="zh-CN" altLang="en-US" sz="1400" spc="100" dirty="0">
                <a:solidFill>
                  <a:schemeClr val="bg1">
                    <a:lumMod val="50000"/>
                  </a:schemeClr>
                </a:solidFill>
              </a:rPr>
              <a:t>存在物理实体，</a:t>
            </a:r>
            <a:r>
              <a:rPr lang="zh-CN" altLang="en-US" sz="1400" dirty="0">
                <a:solidFill>
                  <a:schemeClr val="bg1">
                    <a:lumMod val="50000"/>
                  </a:schemeClr>
                </a:solidFill>
              </a:rPr>
              <a:t>状态数据具有真实性</a:t>
            </a:r>
            <a:endParaRPr lang="en-US" altLang="zh-CN" sz="1400" spc="100" dirty="0">
              <a:solidFill>
                <a:schemeClr val="bg1">
                  <a:lumMod val="50000"/>
                </a:schemeClr>
              </a:solidFill>
            </a:endParaRPr>
          </a:p>
        </p:txBody>
      </p:sp>
      <p:sp>
        <p:nvSpPr>
          <p:cNvPr id="21" name="Arrow: Right 20">
            <a:extLst>
              <a:ext uri="{FF2B5EF4-FFF2-40B4-BE49-F238E27FC236}">
                <a16:creationId xmlns:a16="http://schemas.microsoft.com/office/drawing/2014/main" xmlns="" id="{631BF064-C578-5B5D-6888-07343E124AC3}"/>
              </a:ext>
            </a:extLst>
          </p:cNvPr>
          <p:cNvSpPr/>
          <p:nvPr/>
        </p:nvSpPr>
        <p:spPr>
          <a:xfrm>
            <a:off x="2308512" y="4273331"/>
            <a:ext cx="1903448"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淘宝-想搞设计PPT(倒卖必究)-3">
            <a:extLst>
              <a:ext uri="{FF2B5EF4-FFF2-40B4-BE49-F238E27FC236}">
                <a16:creationId xmlns:a16="http://schemas.microsoft.com/office/drawing/2014/main" xmlns="" id="{08549643-C0C5-3826-2697-384C0C5690FB}"/>
              </a:ext>
            </a:extLst>
          </p:cNvPr>
          <p:cNvSpPr/>
          <p:nvPr/>
        </p:nvSpPr>
        <p:spPr>
          <a:xfrm>
            <a:off x="4382499" y="4001044"/>
            <a:ext cx="4640928" cy="523220"/>
          </a:xfrm>
          <a:prstGeom prst="rect">
            <a:avLst/>
          </a:prstGeom>
        </p:spPr>
        <p:txBody>
          <a:bodyPr wrap="square" lIns="0" rIns="0">
            <a:spAutoFit/>
          </a:bodyPr>
          <a:lstStyle/>
          <a:p>
            <a:r>
              <a:rPr lang="zh-CN" altLang="en-US" sz="1400" spc="100" dirty="0">
                <a:solidFill>
                  <a:schemeClr val="bg1">
                    <a:lumMod val="50000"/>
                  </a:schemeClr>
                </a:solidFill>
              </a:rPr>
              <a:t>不依赖物理实体，</a:t>
            </a:r>
            <a:r>
              <a:rPr lang="zh-CN" altLang="en-US" sz="1400" dirty="0">
                <a:solidFill>
                  <a:schemeClr val="bg1">
                    <a:lumMod val="50000"/>
                  </a:schemeClr>
                </a:solidFill>
              </a:rPr>
              <a:t>仅需</a:t>
            </a:r>
            <a:r>
              <a:rPr lang="zh-CN" altLang="en-US" sz="1400" spc="100" dirty="0">
                <a:solidFill>
                  <a:schemeClr val="bg1">
                    <a:lumMod val="50000"/>
                  </a:schemeClr>
                </a:solidFill>
              </a:rPr>
              <a:t>注入报文，</a:t>
            </a:r>
            <a:r>
              <a:rPr lang="en-US" sz="1400" spc="100" dirty="0">
                <a:solidFill>
                  <a:schemeClr val="bg1">
                    <a:lumMod val="50000"/>
                  </a:schemeClr>
                </a:solidFill>
              </a:rPr>
              <a:t>“</a:t>
            </a:r>
            <a:r>
              <a:rPr lang="zh-CN" altLang="en-US" sz="1400" spc="100" dirty="0">
                <a:solidFill>
                  <a:schemeClr val="bg1">
                    <a:lumMod val="50000"/>
                  </a:schemeClr>
                </a:solidFill>
              </a:rPr>
              <a:t>伪造</a:t>
            </a:r>
            <a:r>
              <a:rPr lang="en-US" sz="1400" spc="100" dirty="0">
                <a:solidFill>
                  <a:schemeClr val="bg1">
                    <a:lumMod val="50000"/>
                  </a:schemeClr>
                </a:solidFill>
              </a:rPr>
              <a:t>”</a:t>
            </a:r>
            <a:r>
              <a:rPr lang="zh-CN" altLang="en-US" sz="1400" spc="100" dirty="0">
                <a:solidFill>
                  <a:schemeClr val="bg1">
                    <a:lumMod val="50000"/>
                  </a:schemeClr>
                </a:solidFill>
              </a:rPr>
              <a:t>出一个或多个虚假设备的身份与状态</a:t>
            </a:r>
            <a:endParaRPr lang="en-US" altLang="zh-CN" sz="1400" spc="100" dirty="0">
              <a:solidFill>
                <a:schemeClr val="bg1">
                  <a:lumMod val="50000"/>
                </a:schemeClr>
              </a:solidFill>
            </a:endParaRPr>
          </a:p>
        </p:txBody>
      </p:sp>
      <p:sp>
        <p:nvSpPr>
          <p:cNvPr id="24" name="淘宝-想搞设计PPT(倒卖必究)-3">
            <a:extLst>
              <a:ext uri="{FF2B5EF4-FFF2-40B4-BE49-F238E27FC236}">
                <a16:creationId xmlns:a16="http://schemas.microsoft.com/office/drawing/2014/main" xmlns="" id="{4BF9E72F-8193-EF1F-E828-F441CD1A0109}"/>
              </a:ext>
            </a:extLst>
          </p:cNvPr>
          <p:cNvSpPr/>
          <p:nvPr/>
        </p:nvSpPr>
        <p:spPr>
          <a:xfrm>
            <a:off x="4266509" y="4568810"/>
            <a:ext cx="4872907" cy="523220"/>
          </a:xfrm>
          <a:prstGeom prst="rect">
            <a:avLst/>
          </a:prstGeom>
        </p:spPr>
        <p:txBody>
          <a:bodyPr wrap="square" lIns="0" rIns="0">
            <a:spAutoFit/>
          </a:bodyPr>
          <a:lstStyle/>
          <a:p>
            <a:r>
              <a:rPr lang="zh-CN" altLang="en-US" sz="1400" spc="100" dirty="0">
                <a:solidFill>
                  <a:schemeClr val="bg1">
                    <a:lumMod val="50000"/>
                  </a:schemeClr>
                </a:solidFill>
              </a:rPr>
              <a:t>存在（劫持了）物理实体，位置等设备</a:t>
            </a:r>
            <a:r>
              <a:rPr lang="zh-CN" altLang="en-US" sz="1400" dirty="0">
                <a:solidFill>
                  <a:schemeClr val="bg1">
                    <a:lumMod val="50000"/>
                  </a:schemeClr>
                </a:solidFill>
              </a:rPr>
              <a:t>状态数据往往具有真实性，但设备的可用性与任务状态等信息可能被伪报</a:t>
            </a:r>
            <a:endParaRPr lang="en-US" altLang="zh-CN" sz="1400" spc="100" dirty="0">
              <a:solidFill>
                <a:schemeClr val="bg1">
                  <a:lumMod val="50000"/>
                </a:schemeClr>
              </a:solidFill>
            </a:endParaRPr>
          </a:p>
        </p:txBody>
      </p:sp>
      <p:sp>
        <p:nvSpPr>
          <p:cNvPr id="27" name="Arrow: Right 26">
            <a:extLst>
              <a:ext uri="{FF2B5EF4-FFF2-40B4-BE49-F238E27FC236}">
                <a16:creationId xmlns:a16="http://schemas.microsoft.com/office/drawing/2014/main" xmlns="" id="{F36F1E49-4C34-A3C9-0896-7C7F4D569C5A}"/>
              </a:ext>
            </a:extLst>
          </p:cNvPr>
          <p:cNvSpPr/>
          <p:nvPr/>
        </p:nvSpPr>
        <p:spPr>
          <a:xfrm>
            <a:off x="2308512" y="4582726"/>
            <a:ext cx="1903448" cy="151464"/>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6" name="矩形 5"/>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研究背景</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与研究现状</a:t>
            </a:r>
          </a:p>
        </p:txBody>
      </p:sp>
      <p:sp>
        <p:nvSpPr>
          <p:cNvPr id="8"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1" name="淘宝-想搞设计PPT(倒卖必究)-3">
            <a:extLst>
              <a:ext uri="{FF2B5EF4-FFF2-40B4-BE49-F238E27FC236}">
                <a16:creationId xmlns:a16="http://schemas.microsoft.com/office/drawing/2014/main" xmlns="" id="{202259F8-7A74-60B6-88F1-AD3990BCA53F}"/>
              </a:ext>
            </a:extLst>
          </p:cNvPr>
          <p:cNvSpPr/>
          <p:nvPr/>
        </p:nvSpPr>
        <p:spPr>
          <a:xfrm>
            <a:off x="251521" y="578797"/>
            <a:ext cx="5380719" cy="369332"/>
          </a:xfrm>
          <a:prstGeom prst="rect">
            <a:avLst/>
          </a:prstGeom>
        </p:spPr>
        <p:txBody>
          <a:bodyPr wrap="square" lIns="0" rIns="0">
            <a:spAutoFit/>
          </a:bodyPr>
          <a:lstStyle/>
          <a:p>
            <a:r>
              <a:rPr lang="zh-CN" altLang="en-US" b="1" dirty="0">
                <a:ln w="0"/>
                <a:latin typeface="微软雅黑" panose="020B0503020204020204" pitchFamily="34" charset="-122"/>
                <a:ea typeface="微软雅黑" panose="020B0503020204020204" pitchFamily="34" charset="-122"/>
                <a:cs typeface="Times New Roman" panose="02020603050405020304" pitchFamily="18" charset="0"/>
              </a:rPr>
              <a:t>四大核心问题</a:t>
            </a:r>
            <a:endParaRPr lang="en-US" altLang="zh-CN" b="1" dirty="0">
              <a:ln w="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2" name="Table 21">
            <a:extLst>
              <a:ext uri="{FF2B5EF4-FFF2-40B4-BE49-F238E27FC236}">
                <a16:creationId xmlns:a16="http://schemas.microsoft.com/office/drawing/2014/main" xmlns="" id="{1108729A-F6B7-DA36-904F-65B9D30EDC91}"/>
              </a:ext>
            </a:extLst>
          </p:cNvPr>
          <p:cNvGraphicFramePr>
            <a:graphicFrameLocks noGrp="1"/>
          </p:cNvGraphicFramePr>
          <p:nvPr>
            <p:extLst>
              <p:ext uri="{D42A27DB-BD31-4B8C-83A1-F6EECF244321}">
                <p14:modId xmlns:p14="http://schemas.microsoft.com/office/powerpoint/2010/main" val="1814322791"/>
              </p:ext>
            </p:extLst>
          </p:nvPr>
        </p:nvGraphicFramePr>
        <p:xfrm>
          <a:off x="251520" y="1059685"/>
          <a:ext cx="8784976" cy="2115820"/>
        </p:xfrm>
        <a:graphic>
          <a:graphicData uri="http://schemas.openxmlformats.org/drawingml/2006/table">
            <a:tbl>
              <a:tblPr firstRow="1" bandRow="1">
                <a:tableStyleId>{00A15C55-8517-42AA-B614-E9B94910E393}</a:tableStyleId>
              </a:tblPr>
              <a:tblGrid>
                <a:gridCol w="2160240">
                  <a:extLst>
                    <a:ext uri="{9D8B030D-6E8A-4147-A177-3AD203B41FA5}">
                      <a16:colId xmlns:a16="http://schemas.microsoft.com/office/drawing/2014/main" xmlns="" val="1142861759"/>
                    </a:ext>
                  </a:extLst>
                </a:gridCol>
                <a:gridCol w="6624736">
                  <a:extLst>
                    <a:ext uri="{9D8B030D-6E8A-4147-A177-3AD203B41FA5}">
                      <a16:colId xmlns:a16="http://schemas.microsoft.com/office/drawing/2014/main" xmlns="" val="473110948"/>
                    </a:ext>
                  </a:extLst>
                </a:gridCol>
              </a:tblGrid>
              <a:tr h="370840">
                <a:tc>
                  <a:txBody>
                    <a:bodyPr/>
                    <a:lstStyle/>
                    <a:p>
                      <a:pPr marL="0" marR="0" algn="ctr">
                        <a:lnSpc>
                          <a:spcPct val="115000"/>
                        </a:lnSpc>
                        <a:spcAft>
                          <a:spcPts val="800"/>
                        </a:spcAft>
                        <a:buNone/>
                      </a:pPr>
                      <a:r>
                        <a:rPr lang="zh-CN" sz="1600" b="1" kern="100">
                          <a:effectLst/>
                          <a:latin typeface="Aptos" panose="020B0004020202020204" pitchFamily="34" charset="0"/>
                          <a:ea typeface="DengXian" panose="02010600030101010101" pitchFamily="2" charset="-122"/>
                          <a:cs typeface="Times New Roman" panose="02020603050405020304" pitchFamily="18" charset="0"/>
                        </a:rPr>
                        <a:t>问题</a:t>
                      </a:r>
                      <a:endParaRPr lang="en-US" sz="16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600" b="1" kern="100" dirty="0">
                          <a:effectLst/>
                          <a:latin typeface="Aptos" panose="020B0004020202020204" pitchFamily="34" charset="0"/>
                          <a:ea typeface="DengXian" panose="02010600030101010101" pitchFamily="2" charset="-122"/>
                          <a:cs typeface="Times New Roman" panose="02020603050405020304" pitchFamily="18" charset="0"/>
                        </a:rPr>
                        <a:t>核心难点</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4263651850"/>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① 无冲突运输调度</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可选加工设备柔性与走廊争用耦合下，如何让拥堵进入闭环评价、派车感知预约表，且计算开销在算力预算内可负担</a:t>
                      </a:r>
                    </a:p>
                  </a:txBody>
                  <a:tcPr marL="9525" marR="9525" marT="9525" marB="0" anchor="ctr"/>
                </a:tc>
                <a:extLst>
                  <a:ext uri="{0D108BD9-81ED-4DB2-BD59-A6C34878D82A}">
                    <a16:rowId xmlns:a16="http://schemas.microsoft.com/office/drawing/2014/main" xmlns="" val="3090417641"/>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② 注入攻击检测</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资源受限下，对注入或重放的虚假状态（含标签合法、仅提前上报的伪造）做轻量、误报可控的实时检测，保障调度输入可信</a:t>
                      </a:r>
                    </a:p>
                  </a:txBody>
                  <a:tcPr marL="9525" marR="9525" marT="9525" marB="0" anchor="ctr"/>
                </a:tc>
                <a:extLst>
                  <a:ext uri="{0D108BD9-81ED-4DB2-BD59-A6C34878D82A}">
                    <a16:rowId xmlns:a16="http://schemas.microsoft.com/office/drawing/2014/main" xmlns="" val="1756568696"/>
                  </a:ext>
                </a:extLst>
              </a:tr>
              <a:tr h="370840">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③ 被劫持设备甄别</a:t>
                      </a:r>
                    </a:p>
                  </a:txBody>
                  <a:tcPr marL="9525" marR="9525" marT="9525" marB="0" anchor="ctr"/>
                </a:tc>
                <a:tc>
                  <a:txBody>
                    <a:bodyPr/>
                    <a:lstStyle/>
                    <a:p>
                      <a:pPr algn="l" fontAlgn="ctr">
                        <a:buNone/>
                      </a:pPr>
                      <a:r>
                        <a:rPr lang="zh-CN" sz="1400" b="0" i="0" u="none" strike="noStrike">
                          <a:solidFill>
                            <a:srgbClr val="141414"/>
                          </a:solidFill>
                          <a:effectLst/>
                          <a:latin typeface="Segoe UI" panose="020B0502040204020203" pitchFamily="34" charset="0"/>
                          <a:ea typeface="等线" panose="02010600030101010101" pitchFamily="2" charset="-122"/>
                        </a:rPr>
                        <a:t>被劫持设备位置报得真、只伪报完成/空闲：由任务图上的对端设备互证否证，冻结派工、保障状态视图可信</a:t>
                      </a:r>
                    </a:p>
                  </a:txBody>
                  <a:tcPr marL="9525" marR="9525" marT="9525" marB="0" anchor="ctr"/>
                </a:tc>
                <a:extLst>
                  <a:ext uri="{0D108BD9-81ED-4DB2-BD59-A6C34878D82A}">
                    <a16:rowId xmlns:a16="http://schemas.microsoft.com/office/drawing/2014/main" xmlns="" val="2886293465"/>
                  </a:ext>
                </a:extLst>
              </a:tr>
              <a:tr h="370840">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④ 扰动后局部重调度</a:t>
                      </a:r>
                    </a:p>
                  </a:txBody>
                  <a:tcPr marL="9525" marR="9525" marT="9525" marB="0" anchor="ctr"/>
                </a:tc>
                <a:tc>
                  <a:txBody>
                    <a:bodyPr/>
                    <a:lstStyle/>
                    <a:p>
                      <a:pPr algn="l" fontAlgn="ctr">
                        <a:buNone/>
                      </a:pPr>
                      <a:r>
                        <a:rPr lang="zh-CN" sz="1400" b="0" i="0" u="none" strike="noStrike" dirty="0">
                          <a:solidFill>
                            <a:srgbClr val="141414"/>
                          </a:solidFill>
                          <a:effectLst/>
                          <a:latin typeface="Segoe UI" panose="020B0502040204020203" pitchFamily="34" charset="0"/>
                          <a:ea typeface="等线" panose="02010600030101010101" pitchFamily="2" charset="-122"/>
                        </a:rPr>
                        <a:t>真实扰动造成预约表级联损坏（含任务图漏报）时，有界时间内局部恢复可行，并与全局重解互补</a:t>
                      </a:r>
                    </a:p>
                  </a:txBody>
                  <a:tcPr marL="9525" marR="9525" marT="9525" marB="0" anchor="ctr"/>
                </a:tc>
                <a:extLst>
                  <a:ext uri="{0D108BD9-81ED-4DB2-BD59-A6C34878D82A}">
                    <a16:rowId xmlns:a16="http://schemas.microsoft.com/office/drawing/2014/main" xmlns="" val="1696131995"/>
                  </a:ext>
                </a:extLst>
              </a:tr>
            </a:tbl>
          </a:graphicData>
        </a:graphic>
      </p:graphicFrame>
      <p:sp>
        <p:nvSpPr>
          <p:cNvPr id="26" name="淘宝-想搞设计PPT(倒卖必究)-3">
            <a:extLst>
              <a:ext uri="{FF2B5EF4-FFF2-40B4-BE49-F238E27FC236}">
                <a16:creationId xmlns:a16="http://schemas.microsoft.com/office/drawing/2014/main" xmlns="" id="{B9D23FF6-EC74-B30F-E7E9-229D0EF877CE}"/>
              </a:ext>
            </a:extLst>
          </p:cNvPr>
          <p:cNvSpPr/>
          <p:nvPr/>
        </p:nvSpPr>
        <p:spPr>
          <a:xfrm>
            <a:off x="56711" y="3198339"/>
            <a:ext cx="8784976" cy="984885"/>
          </a:xfrm>
          <a:prstGeom prst="rect">
            <a:avLst/>
          </a:prstGeom>
        </p:spPr>
        <p:txBody>
          <a:bodyPr wrap="square" lIns="0" rIns="0">
            <a:spAutoFit/>
          </a:bodyPr>
          <a:lstStyle/>
          <a:p>
            <a:pPr marL="285750" indent="-285750">
              <a:spcBef>
                <a:spcPts val="600"/>
              </a:spcBef>
              <a:spcAft>
                <a:spcPts val="600"/>
              </a:spcAft>
              <a:buFont typeface="Arial" panose="020B0604020202020204" pitchFamily="34" charset="0"/>
              <a:buChar char="•"/>
            </a:pPr>
            <a:r>
              <a:rPr lang="zh-CN" altLang="en-US" sz="1600" b="1" dirty="0">
                <a:latin typeface="微软雅黑" panose="020B0503020204020204" pitchFamily="34" charset="-122"/>
                <a:ea typeface="微软雅黑" panose="020B0503020204020204" pitchFamily="34" charset="-122"/>
              </a:rPr>
              <a:t>调度效率的提升与系统安全韧性的保障</a:t>
            </a:r>
            <a:r>
              <a:rPr lang="zh-CN" altLang="en-US" sz="1600"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并非两个相互独立的问题</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spcBef>
                <a:spcPts val="600"/>
              </a:spcBef>
              <a:spcAft>
                <a:spcPts val="600"/>
              </a:spcAft>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若要</a:t>
            </a:r>
            <a:r>
              <a:rPr lang="zh-CN" altLang="en-US" sz="1600" b="1" dirty="0">
                <a:latin typeface="微软雅黑" panose="020B0503020204020204" pitchFamily="34" charset="-122"/>
                <a:ea typeface="微软雅黑" panose="020B0503020204020204" pitchFamily="34" charset="-122"/>
              </a:rPr>
              <a:t>实现高效的调度算法，必须同步建立相应的安全韧性机制</a:t>
            </a:r>
            <a:r>
              <a:rPr lang="zh-CN" altLang="en-US" sz="1600" dirty="0">
                <a:latin typeface="微软雅黑" panose="020B0503020204020204" pitchFamily="34" charset="-122"/>
                <a:ea typeface="微软雅黑" panose="020B0503020204020204" pitchFamily="34" charset="-122"/>
              </a:rPr>
              <a:t>：伪造的状态要识别并拒绝，真实的损坏要快速修复，否则复杂算法在扰动下的脆弱性将抵消其效率优势。</a:t>
            </a:r>
            <a:endParaRPr lang="en-US" altLang="zh-CN"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矩形 79"/>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1" name="矩形 80"/>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82"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83"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7" name="灯片编号占位符 6"/>
          <p:cNvSpPr>
            <a:spLocks noGrp="1"/>
          </p:cNvSpPr>
          <p:nvPr>
            <p:ph type="sldNum" sz="quarter" idx="12"/>
            <p:custDataLst>
              <p:tags r:id="rId1"/>
            </p:custDataLst>
          </p:nvPr>
        </p:nvSpPr>
        <p:spPr>
          <a:xfrm>
            <a:off x="6553199" y="4236139"/>
            <a:ext cx="2133600" cy="273844"/>
          </a:xfrm>
        </p:spPr>
        <p:txBody>
          <a:bodyPr/>
          <a:lstStyle/>
          <a:p>
            <a:fld id="{0C913308-F349-4B6D-A68A-DD1791B4A57B}" type="slidenum">
              <a:rPr lang="zh-CN" altLang="en-US" smtClean="0"/>
              <a:t>7</a:t>
            </a:fld>
            <a:endParaRPr lang="zh-CN" altLang="en-US"/>
          </a:p>
        </p:txBody>
      </p:sp>
      <p:graphicFrame>
        <p:nvGraphicFramePr>
          <p:cNvPr id="5" name="Table 4">
            <a:extLst>
              <a:ext uri="{FF2B5EF4-FFF2-40B4-BE49-F238E27FC236}">
                <a16:creationId xmlns:a16="http://schemas.microsoft.com/office/drawing/2014/main" xmlns="" id="{CA2288CC-9E95-D30F-B374-21B6E55FF577}"/>
              </a:ext>
            </a:extLst>
          </p:cNvPr>
          <p:cNvGraphicFramePr>
            <a:graphicFrameLocks noGrp="1"/>
          </p:cNvGraphicFramePr>
          <p:nvPr>
            <p:extLst>
              <p:ext uri="{D42A27DB-BD31-4B8C-83A1-F6EECF244321}">
                <p14:modId xmlns:p14="http://schemas.microsoft.com/office/powerpoint/2010/main" val="288431164"/>
              </p:ext>
            </p:extLst>
          </p:nvPr>
        </p:nvGraphicFramePr>
        <p:xfrm>
          <a:off x="251521" y="443932"/>
          <a:ext cx="8640957" cy="4541520"/>
        </p:xfrm>
        <a:graphic>
          <a:graphicData uri="http://schemas.openxmlformats.org/drawingml/2006/table">
            <a:tbl>
              <a:tblPr firstRow="1" bandRow="1">
                <a:tableStyleId>{5C22544A-7EE6-4342-B048-85BDC9FD1C3A}</a:tableStyleId>
              </a:tblPr>
              <a:tblGrid>
                <a:gridCol w="1080119">
                  <a:extLst>
                    <a:ext uri="{9D8B030D-6E8A-4147-A177-3AD203B41FA5}">
                      <a16:colId xmlns:a16="http://schemas.microsoft.com/office/drawing/2014/main" xmlns="" val="3133072510"/>
                    </a:ext>
                  </a:extLst>
                </a:gridCol>
                <a:gridCol w="4536504">
                  <a:extLst>
                    <a:ext uri="{9D8B030D-6E8A-4147-A177-3AD203B41FA5}">
                      <a16:colId xmlns:a16="http://schemas.microsoft.com/office/drawing/2014/main" xmlns="" val="1687284556"/>
                    </a:ext>
                  </a:extLst>
                </a:gridCol>
                <a:gridCol w="3024334">
                  <a:extLst>
                    <a:ext uri="{9D8B030D-6E8A-4147-A177-3AD203B41FA5}">
                      <a16:colId xmlns:a16="http://schemas.microsoft.com/office/drawing/2014/main" xmlns="" val="3434043508"/>
                    </a:ext>
                  </a:extLst>
                </a:gridCol>
              </a:tblGrid>
              <a:tr h="0">
                <a:tc gridSpan="3">
                  <a:txBody>
                    <a:bodyPr/>
                    <a:lstStyle/>
                    <a:p>
                      <a:pPr algn="ct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研究现状总览（</a:t>
                      </a:r>
                      <a:r>
                        <a:rPr lang="en-US" altLang="zh-CN"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2.1 ~ 2.4</a:t>
                      </a:r>
                      <a:r>
                        <a:rPr lang="zh-CN" alt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sz="1800" b="1" kern="1200" dirty="0">
                        <a:ln w="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xmlns="" val="406415979"/>
                  </a:ext>
                </a:extLst>
              </a:tr>
              <a:tr h="135597">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研究聚焦</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代表性方法</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600" b="1" kern="1200" dirty="0">
                          <a:solidFill>
                            <a:schemeClr val="tx1"/>
                          </a:solidFill>
                          <a:latin typeface="微软雅黑" panose="020B0503020204020204" pitchFamily="34" charset="-122"/>
                          <a:ea typeface="微软雅黑" panose="020B0503020204020204" pitchFamily="34" charset="-122"/>
                          <a:cs typeface="+mn-cs"/>
                        </a:rPr>
                        <a:t>不足</a:t>
                      </a:r>
                      <a:endParaRPr lang="en-US" sz="1600" b="1"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187922548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2.1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考虑运输的柔性作业车间调度</a:t>
                      </a:r>
                    </a:p>
                    <a:p>
                      <a:endParaRPr lang="en-US" dirty="0"/>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形式化方法（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STL / LTL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数学规划（</a:t>
                      </a:r>
                      <a:r>
                        <a:rPr lang="en-US" altLang="zh-CN" sz="1400" kern="1200" dirty="0">
                          <a:solidFill>
                            <a:schemeClr val="tx1"/>
                          </a:solidFill>
                          <a:latin typeface="微软雅黑" panose="020B0503020204020204" pitchFamily="34" charset="-122"/>
                          <a:ea typeface="微软雅黑" panose="020B0503020204020204" pitchFamily="34" charset="-122"/>
                          <a:cs typeface="+mn-cs"/>
                        </a:rPr>
                        <a:t>MIP / CP</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分布式协调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多机器人任务分配框架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智能优化（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多用常数运输矩阵或开环两阶段</a:t>
                      </a:r>
                      <a:endParaRPr lang="en-US" altLang="zh-CN" sz="1400" kern="1200" dirty="0">
                        <a:solidFill>
                          <a:schemeClr val="tx1"/>
                        </a:solidFill>
                        <a:latin typeface="微软雅黑" panose="020B0503020204020204" pitchFamily="34" charset="-122"/>
                        <a:ea typeface="微软雅黑" panose="020B0503020204020204" pitchFamily="34" charset="-122"/>
                        <a:cs typeface="+mn-cs"/>
                      </a:endParaRPr>
                    </a:p>
                    <a:p>
                      <a:pPr marL="285750" indent="-285750">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走廊拥堵难以回馈指派与排序</a:t>
                      </a:r>
                    </a:p>
                    <a:p>
                      <a:endParaRPr lang="en-US" sz="1600" dirty="0"/>
                    </a:p>
                  </a:txBody>
                  <a:tcPr/>
                </a:tc>
                <a:extLst>
                  <a:ext uri="{0D108BD9-81ED-4DB2-BD59-A6C34878D82A}">
                    <a16:rowId xmlns:a16="http://schemas.microsoft.com/office/drawing/2014/main" xmlns="" val="1616225758"/>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2.2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注入攻击与异常检测</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状态估计检测（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FDI</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检测）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网络流量分析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阈值检测（固定</a:t>
                      </a:r>
                      <a:r>
                        <a:rPr lang="en-US" altLang="zh-CN" sz="1400" kern="1200" dirty="0">
                          <a:solidFill>
                            <a:schemeClr val="tx1"/>
                          </a:solidFill>
                          <a:latin typeface="微软雅黑" panose="020B0503020204020204" pitchFamily="34" charset="-122"/>
                          <a:ea typeface="微软雅黑" panose="020B0503020204020204" pitchFamily="34" charset="-122"/>
                          <a:cs typeface="+mn-cs"/>
                        </a:rPr>
                        <a: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机器学习检测（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DL/RL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概率模型</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实时性与准确性难以兼顾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无法区分“未见”与“不允许”，难以识别仅提前上报的伪造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1063751039"/>
                  </a:ext>
                </a:extLst>
              </a:tr>
              <a:tr h="552061">
                <a:tc>
                  <a:txBody>
                    <a:bodyPr/>
                    <a:lstStyle/>
                    <a:p>
                      <a:r>
                        <a:rPr lang="en-US" dirty="0"/>
                        <a:t>2.</a:t>
                      </a:r>
                      <a:r>
                        <a:rPr lang="en-US" sz="1600" kern="1200" dirty="0">
                          <a:solidFill>
                            <a:schemeClr val="tx1"/>
                          </a:solidFill>
                          <a:latin typeface="微软雅黑" panose="020B0503020204020204" pitchFamily="34" charset="-122"/>
                          <a:ea typeface="微软雅黑" panose="020B0503020204020204" pitchFamily="34" charset="-122"/>
                          <a:cs typeface="+mn-cs"/>
                        </a:rPr>
                        <a:t>3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被劫持设备甄别</a:t>
                      </a: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经典</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轻量化</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Reli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CheapBFT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改进型</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         </a:t>
                      </a:r>
                    </a:p>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区块链共识（</a:t>
                      </a:r>
                      <a:r>
                        <a:rPr lang="en-US" altLang="zh-CN" sz="1400" kern="1200" dirty="0">
                          <a:solidFill>
                            <a:schemeClr val="tx1"/>
                          </a:solidFill>
                          <a:latin typeface="微软雅黑" panose="020B0503020204020204" pitchFamily="34" charset="-122"/>
                          <a:ea typeface="微软雅黑" panose="020B0503020204020204" pitchFamily="34" charset="-122"/>
                          <a:cs typeface="+mn-cs"/>
                        </a:rPr>
                        <a:t>PoW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PoS</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 </a:t>
                      </a:r>
                      <a:r>
                        <a:rPr lang="en-US" altLang="zh-CN" sz="1400" kern="1200" dirty="0" err="1">
                          <a:solidFill>
                            <a:schemeClr val="tx1"/>
                          </a:solidFill>
                          <a:latin typeface="微软雅黑" panose="020B0503020204020204" pitchFamily="34" charset="-122"/>
                          <a:ea typeface="微软雅黑" panose="020B0503020204020204" pitchFamily="34" charset="-122"/>
                          <a:cs typeface="+mn-cs"/>
                        </a:rPr>
                        <a:t>PoA</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自适应</a:t>
                      </a:r>
                      <a:r>
                        <a:rPr lang="en-US" altLang="zh-CN" sz="1400" kern="1200" dirty="0">
                          <a:solidFill>
                            <a:schemeClr val="tx1"/>
                          </a:solidFill>
                          <a:latin typeface="微软雅黑" panose="020B0503020204020204" pitchFamily="34" charset="-122"/>
                          <a:ea typeface="微软雅黑" panose="020B0503020204020204" pitchFamily="34" charset="-122"/>
                          <a:cs typeface="+mn-cs"/>
                        </a:rPr>
                        <a:t>BFT</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机制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通信开销大</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，扩展性差  </a:t>
                      </a:r>
                    </a:p>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无法否证位置真实、仅伪报完成的声明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3497000097"/>
                  </a:ext>
                </a:extLst>
              </a:tr>
              <a:tr h="552061">
                <a:tc>
                  <a:txBody>
                    <a:bodyPr/>
                    <a:lstStyle/>
                    <a:p>
                      <a:pPr marL="0" indent="0" algn="l" defTabSz="914400" rtl="0" eaLnBrk="1" latinLnBrk="0" hangingPunct="1">
                        <a:buFont typeface="Wingdings" panose="05000000000000000000" pitchFamily="2" charset="2"/>
                        <a:buNone/>
                      </a:pPr>
                      <a:r>
                        <a:rPr lang="en-US" altLang="zh-CN" sz="1600" kern="1200" dirty="0">
                          <a:solidFill>
                            <a:schemeClr val="tx1"/>
                          </a:solidFill>
                          <a:latin typeface="微软雅黑" panose="020B0503020204020204" pitchFamily="34" charset="-122"/>
                          <a:ea typeface="微软雅黑" panose="020B0503020204020204" pitchFamily="34" charset="-122"/>
                          <a:cs typeface="+mn-cs"/>
                        </a:rPr>
                        <a:t>2.4  </a:t>
                      </a:r>
                      <a:r>
                        <a:rPr lang="zh-CN" altLang="en-US" sz="1600" kern="1200" dirty="0">
                          <a:solidFill>
                            <a:schemeClr val="tx1"/>
                          </a:solidFill>
                          <a:latin typeface="微软雅黑" panose="020B0503020204020204" pitchFamily="34" charset="-122"/>
                          <a:ea typeface="微软雅黑" panose="020B0503020204020204" pitchFamily="34" charset="-122"/>
                          <a:cs typeface="+mn-cs"/>
                        </a:rPr>
                        <a:t>动态重调度</a:t>
                      </a:r>
                    </a:p>
                    <a:p>
                      <a:pPr marL="0" indent="0" algn="l" defTabSz="914400" rtl="0" eaLnBrk="1" latinLnBrk="0" hangingPunct="1">
                        <a:buFont typeface="Wingdings" panose="05000000000000000000" pitchFamily="2" charset="2"/>
                        <a:buNone/>
                      </a:pPr>
                      <a:endParaRPr lang="en-US" sz="16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0" indent="0" algn="l" defTabSz="914400" rtl="0" eaLnBrk="1" latinLnBrk="0" hangingPunct="1">
                        <a:buFont typeface="Wingdings" panose="05000000000000000000" pitchFamily="2" charset="2"/>
                        <a:buNone/>
                      </a:pP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滚动时域重调度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事件驱动重调度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启发式算法（</a:t>
                      </a:r>
                      <a:r>
                        <a:rPr lang="en-US" altLang="zh-CN" sz="1400" kern="1200" dirty="0">
                          <a:solidFill>
                            <a:schemeClr val="tx1"/>
                          </a:solidFill>
                          <a:latin typeface="微软雅黑" panose="020B0503020204020204" pitchFamily="34" charset="-122"/>
                          <a:ea typeface="微软雅黑" panose="020B0503020204020204" pitchFamily="34" charset="-122"/>
                          <a:cs typeface="+mn-cs"/>
                        </a:rPr>
                        <a:t>GA / PSO</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深度强化学习（</a:t>
                      </a:r>
                      <a:r>
                        <a:rPr lang="en-US" altLang="zh-CN" sz="1400" kern="1200" dirty="0">
                          <a:solidFill>
                            <a:schemeClr val="tx1"/>
                          </a:solidFill>
                          <a:latin typeface="微软雅黑" panose="020B0503020204020204" pitchFamily="34" charset="-122"/>
                          <a:ea typeface="微软雅黑" panose="020B0503020204020204" pitchFamily="34" charset="-122"/>
                          <a:cs typeface="+mn-cs"/>
                        </a:rPr>
                        <a:t>DRL</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时空约束重调度 </a:t>
                      </a:r>
                      <a:r>
                        <a:rPr lang="en-US" altLang="zh-CN" sz="1400" kern="1200" dirty="0">
                          <a:solidFill>
                            <a:schemeClr val="tx1"/>
                          </a:solidFill>
                          <a:latin typeface="微软雅黑" panose="020B0503020204020204" pitchFamily="34" charset="-122"/>
                          <a:ea typeface="微软雅黑" panose="020B0503020204020204" pitchFamily="34" charset="-122"/>
                          <a:cs typeface="+mn-cs"/>
                        </a:rPr>
                        <a:t>• </a:t>
                      </a:r>
                      <a:r>
                        <a:rPr lang="zh-CN" altLang="en-US" sz="1400" kern="1200" dirty="0">
                          <a:solidFill>
                            <a:schemeClr val="tx1"/>
                          </a:solidFill>
                          <a:latin typeface="微软雅黑" panose="020B0503020204020204" pitchFamily="34" charset="-122"/>
                          <a:ea typeface="微软雅黑" panose="020B0503020204020204" pitchFamily="34" charset="-122"/>
                          <a:cs typeface="+mn-cs"/>
                        </a:rPr>
                        <a:t>分布式协同重调度</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marL="285750" indent="-285750" algn="l" defTabSz="914400" rtl="0" eaLnBrk="1" latinLnBrk="0" hangingPunct="1">
                        <a:buFont typeface="Wingdings" panose="05000000000000000000" pitchFamily="2" charset="2"/>
                        <a:buChar char="Ø"/>
                      </a:pPr>
                      <a:r>
                        <a:rPr lang="zh-CN" altLang="en-US" sz="1400" kern="1200" dirty="0">
                          <a:solidFill>
                            <a:schemeClr val="tx1"/>
                          </a:solidFill>
                          <a:latin typeface="微软雅黑" panose="020B0503020204020204" pitchFamily="34" charset="-122"/>
                          <a:ea typeface="微软雅黑" panose="020B0503020204020204" pitchFamily="34" charset="-122"/>
                          <a:cs typeface="+mn-cs"/>
                        </a:rPr>
                        <a:t>影响域多在任务依赖图上划定  </a:t>
                      </a:r>
                    </a:p>
                    <a:p>
                      <a:pPr marL="285750" indent="-285750" algn="l" defTabSz="914400" rtl="0" eaLnBrk="1" latinLnBrk="0" hangingPunct="1">
                        <a:buFont typeface="Wingdings" panose="05000000000000000000" pitchFamily="2" charset="2"/>
                        <a:buChar char="Ø"/>
                      </a:pPr>
                      <a:r>
                        <a:rPr lang="zh-CN" altLang="en-US" sz="1400" b="1" kern="1200" dirty="0">
                          <a:solidFill>
                            <a:schemeClr val="tx1"/>
                          </a:solidFill>
                          <a:latin typeface="微软雅黑" panose="020B0503020204020204" pitchFamily="34" charset="-122"/>
                          <a:ea typeface="微软雅黑" panose="020B0503020204020204" pitchFamily="34" charset="-122"/>
                          <a:cs typeface="+mn-cs"/>
                        </a:rPr>
                        <a:t>对走廊阻断等预约级联损坏存在漏报</a:t>
                      </a:r>
                      <a:r>
                        <a:rPr lang="zh-CN" altLang="en-US" sz="1400" kern="1200" dirty="0">
                          <a:solidFill>
                            <a:schemeClr val="tx1"/>
                          </a:solidFill>
                          <a:latin typeface="微软雅黑" panose="020B0503020204020204" pitchFamily="34" charset="-122"/>
                          <a:ea typeface="微软雅黑" panose="020B0503020204020204" pitchFamily="34" charset="-122"/>
                          <a:cs typeface="+mn-cs"/>
                        </a:rPr>
                        <a:t> </a:t>
                      </a:r>
                      <a:endParaRPr lang="en-US" sz="1400" kern="1200" dirty="0">
                        <a:solidFill>
                          <a:schemeClr val="tx1"/>
                        </a:solidFill>
                        <a:latin typeface="微软雅黑" panose="020B0503020204020204" pitchFamily="34" charset="-122"/>
                        <a:ea typeface="微软雅黑" panose="020B0503020204020204" pitchFamily="34" charset="-122"/>
                        <a:cs typeface="+mn-cs"/>
                      </a:endParaRPr>
                    </a:p>
                  </a:txBody>
                  <a:tcPr/>
                </a:tc>
                <a:extLst>
                  <a:ext uri="{0D108BD9-81ED-4DB2-BD59-A6C34878D82A}">
                    <a16:rowId xmlns:a16="http://schemas.microsoft.com/office/drawing/2014/main" xmlns="" val="419430456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bwMode="auto">
          <a:xfrm>
            <a:off x="164601" y="648510"/>
            <a:ext cx="5251546" cy="400110"/>
          </a:xfrm>
          <a:prstGeom prst="rect">
            <a:avLst/>
          </a:prstGeom>
          <a:noFill/>
        </p:spPr>
        <p:txBody>
          <a:bodyPr wrap="square">
            <a:spAutoFit/>
          </a:bodyPr>
          <a:lstStyle/>
          <a:p>
            <a:pPr>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研究现状总结</a:t>
            </a:r>
          </a:p>
        </p:txBody>
      </p:sp>
      <p:sp>
        <p:nvSpPr>
          <p:cNvPr id="11" name="矩形 10"/>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2" name="矩形 11"/>
          <p:cNvSpPr/>
          <p:nvPr/>
        </p:nvSpPr>
        <p:spPr>
          <a:xfrm>
            <a:off x="3419873" y="191906"/>
            <a:ext cx="5904656" cy="177190"/>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13" name="文本框 20"/>
          <p:cNvSpPr txBox="1">
            <a:spLocks noChangeArrowheads="1"/>
          </p:cNvSpPr>
          <p:nvPr/>
        </p:nvSpPr>
        <p:spPr bwMode="auto">
          <a:xfrm>
            <a:off x="457200" y="83591"/>
            <a:ext cx="325070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研究背景与</a:t>
            </a:r>
            <a:r>
              <a:rPr lang="zh-CN" altLang="en-US" sz="2000" b="1" dirty="0">
                <a:solidFill>
                  <a:srgbClr val="0070C0"/>
                </a:solidFill>
                <a:latin typeface="微软雅黑" panose="020B0503020204020204" pitchFamily="34" charset="-122"/>
                <a:ea typeface="微软雅黑" panose="020B0503020204020204" pitchFamily="34" charset="-122"/>
              </a:rPr>
              <a:t>研究现状</a:t>
            </a:r>
          </a:p>
        </p:txBody>
      </p:sp>
      <p:sp>
        <p:nvSpPr>
          <p:cNvPr id="14"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01</a:t>
            </a:r>
            <a:endParaRPr lang="zh-CN" altLang="en-US" sz="2400" dirty="0">
              <a:solidFill>
                <a:schemeClr val="bg2">
                  <a:lumMod val="25000"/>
                </a:schemeClr>
              </a:solidFill>
              <a:latin typeface="Impact" panose="020B0806030902050204" pitchFamily="34" charset="0"/>
            </a:endParaRPr>
          </a:p>
        </p:txBody>
      </p:sp>
      <p:sp>
        <p:nvSpPr>
          <p:cNvPr id="2" name="箭头: 右 1"/>
          <p:cNvSpPr/>
          <p:nvPr/>
        </p:nvSpPr>
        <p:spPr>
          <a:xfrm>
            <a:off x="5300562" y="2389600"/>
            <a:ext cx="943448" cy="1056003"/>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矩形 14"/>
          <p:cNvSpPr/>
          <p:nvPr/>
        </p:nvSpPr>
        <p:spPr>
          <a:xfrm>
            <a:off x="6372201" y="1807775"/>
            <a:ext cx="2664296" cy="20162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微软雅黑" panose="020B0503020204020204" pitchFamily="34" charset="-122"/>
                <a:ea typeface="微软雅黑" panose="020B0503020204020204" pitchFamily="34" charset="-122"/>
              </a:rPr>
              <a:t>现有研究在</a:t>
            </a:r>
            <a:r>
              <a:rPr lang="zh-CN" altLang="en-US" b="1" dirty="0">
                <a:solidFill>
                  <a:schemeClr val="tx1"/>
                </a:solidFill>
                <a:latin typeface="微软雅黑" panose="020B0503020204020204" pitchFamily="34" charset="-122"/>
                <a:ea typeface="微软雅黑" panose="020B0503020204020204" pitchFamily="34" charset="-122"/>
              </a:rPr>
              <a:t>考虑无冲突运输的闭环调度、注入攻击检测、被劫持设备甄别与预约级联局部重调度</a:t>
            </a:r>
            <a:r>
              <a:rPr lang="zh-CN" altLang="en-US" dirty="0">
                <a:solidFill>
                  <a:schemeClr val="tx1"/>
                </a:solidFill>
                <a:latin typeface="微软雅黑" panose="020B0503020204020204" pitchFamily="34" charset="-122"/>
                <a:ea typeface="微软雅黑" panose="020B0503020204020204" pitchFamily="34" charset="-122"/>
              </a:rPr>
              <a:t>等方面仍存在不足，难以支撑调度系统的安全韧性。</a:t>
            </a:r>
          </a:p>
        </p:txBody>
      </p:sp>
      <p:grpSp>
        <p:nvGrpSpPr>
          <p:cNvPr id="9" name="组合 8"/>
          <p:cNvGrpSpPr/>
          <p:nvPr/>
        </p:nvGrpSpPr>
        <p:grpSpPr>
          <a:xfrm>
            <a:off x="308610" y="1081302"/>
            <a:ext cx="4695190" cy="812799"/>
            <a:chOff x="164860" y="3219822"/>
            <a:chExt cx="4695171" cy="1803940"/>
          </a:xfrm>
        </p:grpSpPr>
        <p:sp>
          <p:nvSpPr>
            <p:cNvPr id="10" name="矩形 9"/>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6" name="矩形 5"/>
            <p:cNvSpPr/>
            <p:nvPr/>
          </p:nvSpPr>
          <p:spPr>
            <a:xfrm>
              <a:off x="181369" y="3358296"/>
              <a:ext cx="4572000" cy="1434478"/>
            </a:xfrm>
            <a:prstGeom prst="rect">
              <a:avLst/>
            </a:prstGeom>
          </p:spPr>
          <p:txBody>
            <a:bodyPr>
              <a:spAutoFit/>
            </a:bodyPr>
            <a:lstStyle/>
            <a:p>
              <a:r>
                <a:rPr lang="zh-CN" altLang="en-US" b="1" dirty="0"/>
                <a:t>考虑无冲突运输的柔性作业车间闭环调度仍不完善</a:t>
              </a:r>
              <a:endParaRPr lang="zh-CN" altLang="en-US" dirty="0">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325120" y="2104803"/>
            <a:ext cx="4662170" cy="812799"/>
            <a:chOff x="181589" y="1250749"/>
            <a:chExt cx="4662243" cy="1291851"/>
          </a:xfrm>
        </p:grpSpPr>
        <p:sp>
          <p:nvSpPr>
            <p:cNvPr id="8" name="矩形 7"/>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3" name="矩形 2"/>
            <p:cNvSpPr/>
            <p:nvPr/>
          </p:nvSpPr>
          <p:spPr>
            <a:xfrm>
              <a:off x="241280" y="1383038"/>
              <a:ext cx="4512399" cy="1027269"/>
            </a:xfrm>
            <a:prstGeom prst="rect">
              <a:avLst/>
            </a:prstGeom>
          </p:spPr>
          <p:txBody>
            <a:bodyPr wrap="square">
              <a:spAutoFit/>
            </a:bodyPr>
            <a:lstStyle/>
            <a:p>
              <a:r>
                <a:rPr lang="zh-CN" altLang="en-US" b="1" dirty="0"/>
                <a:t>面向调度状态的注入攻击检测难以兼顾实时性与准确性</a:t>
              </a:r>
              <a:endParaRPr lang="zh-CN" altLang="en-US" dirty="0">
                <a:latin typeface="微软雅黑" panose="020B0503020204020204" pitchFamily="34" charset="-122"/>
                <a:ea typeface="微软雅黑" panose="020B0503020204020204" pitchFamily="34" charset="-122"/>
              </a:endParaRPr>
            </a:p>
          </p:txBody>
        </p:sp>
      </p:grpSp>
      <p:sp>
        <p:nvSpPr>
          <p:cNvPr id="7" name="灯片编号占位符 6"/>
          <p:cNvSpPr>
            <a:spLocks noGrp="1"/>
          </p:cNvSpPr>
          <p:nvPr>
            <p:ph type="sldNum" sz="quarter" idx="12"/>
            <p:custDataLst>
              <p:tags r:id="rId1"/>
            </p:custDataLst>
          </p:nvPr>
        </p:nvSpPr>
        <p:spPr>
          <a:xfrm>
            <a:off x="6553200" y="4674170"/>
            <a:ext cx="2133600" cy="273844"/>
          </a:xfrm>
        </p:spPr>
        <p:txBody>
          <a:bodyPr/>
          <a:lstStyle/>
          <a:p>
            <a:fld id="{0C913308-F349-4B6D-A68A-DD1791B4A57B}" type="slidenum">
              <a:rPr lang="zh-CN" altLang="en-US" smtClean="0"/>
              <a:t>8</a:t>
            </a:fld>
            <a:endParaRPr lang="zh-CN" altLang="en-US"/>
          </a:p>
        </p:txBody>
      </p:sp>
      <p:grpSp>
        <p:nvGrpSpPr>
          <p:cNvPr id="17" name="组合 8">
            <a:extLst>
              <a:ext uri="{FF2B5EF4-FFF2-40B4-BE49-F238E27FC236}">
                <a16:creationId xmlns:a16="http://schemas.microsoft.com/office/drawing/2014/main" xmlns="" id="{8E58FFA6-3C6A-027A-3F74-3C1AC84575F7}"/>
              </a:ext>
            </a:extLst>
          </p:cNvPr>
          <p:cNvGrpSpPr/>
          <p:nvPr/>
        </p:nvGrpSpPr>
        <p:grpSpPr>
          <a:xfrm>
            <a:off x="308610" y="3073013"/>
            <a:ext cx="4695190" cy="812799"/>
            <a:chOff x="164860" y="3219822"/>
            <a:chExt cx="4695171" cy="1803940"/>
          </a:xfrm>
        </p:grpSpPr>
        <p:sp>
          <p:nvSpPr>
            <p:cNvPr id="18" name="矩形 9">
              <a:extLst>
                <a:ext uri="{FF2B5EF4-FFF2-40B4-BE49-F238E27FC236}">
                  <a16:creationId xmlns:a16="http://schemas.microsoft.com/office/drawing/2014/main" xmlns="" id="{04EB26EE-7B39-322E-1F7C-537257322EC7}"/>
                </a:ext>
              </a:extLst>
            </p:cNvPr>
            <p:cNvSpPr/>
            <p:nvPr/>
          </p:nvSpPr>
          <p:spPr>
            <a:xfrm>
              <a:off x="164860" y="3219822"/>
              <a:ext cx="4695171" cy="1803940"/>
            </a:xfrm>
            <a:prstGeom prst="rect">
              <a:avLst/>
            </a:prstGeom>
            <a:solidFill>
              <a:srgbClr val="FDDC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19" name="矩形 5">
              <a:extLst>
                <a:ext uri="{FF2B5EF4-FFF2-40B4-BE49-F238E27FC236}">
                  <a16:creationId xmlns:a16="http://schemas.microsoft.com/office/drawing/2014/main" xmlns="" id="{F3B04437-2406-9B1E-C580-D208843959F6}"/>
                </a:ext>
              </a:extLst>
            </p:cNvPr>
            <p:cNvSpPr/>
            <p:nvPr/>
          </p:nvSpPr>
          <p:spPr>
            <a:xfrm>
              <a:off x="181369" y="3358296"/>
              <a:ext cx="4572000" cy="1434478"/>
            </a:xfrm>
            <a:prstGeom prst="rect">
              <a:avLst/>
            </a:prstGeom>
          </p:spPr>
          <p:txBody>
            <a:bodyPr>
              <a:spAutoFit/>
            </a:bodyPr>
            <a:lstStyle/>
            <a:p>
              <a:r>
                <a:rPr lang="zh-CN" altLang="en-US" b="1" dirty="0"/>
                <a:t>现有机制难以否证被劫持设备的任务状态伪造</a:t>
              </a:r>
              <a:endParaRPr lang="zh-CN" altLang="en-US" dirty="0">
                <a:latin typeface="微软雅黑" panose="020B0503020204020204" pitchFamily="34" charset="-122"/>
                <a:ea typeface="微软雅黑" panose="020B0503020204020204" pitchFamily="34" charset="-122"/>
              </a:endParaRPr>
            </a:p>
          </p:txBody>
        </p:sp>
      </p:grpSp>
      <p:grpSp>
        <p:nvGrpSpPr>
          <p:cNvPr id="21" name="组合 3">
            <a:extLst>
              <a:ext uri="{FF2B5EF4-FFF2-40B4-BE49-F238E27FC236}">
                <a16:creationId xmlns:a16="http://schemas.microsoft.com/office/drawing/2014/main" xmlns="" id="{61348E64-F66F-312C-049C-60E52BA53622}"/>
              </a:ext>
            </a:extLst>
          </p:cNvPr>
          <p:cNvGrpSpPr/>
          <p:nvPr/>
        </p:nvGrpSpPr>
        <p:grpSpPr>
          <a:xfrm>
            <a:off x="325120" y="4091838"/>
            <a:ext cx="4662170" cy="812799"/>
            <a:chOff x="181589" y="1250749"/>
            <a:chExt cx="4662243" cy="1291851"/>
          </a:xfrm>
        </p:grpSpPr>
        <p:sp>
          <p:nvSpPr>
            <p:cNvPr id="22" name="矩形 7">
              <a:extLst>
                <a:ext uri="{FF2B5EF4-FFF2-40B4-BE49-F238E27FC236}">
                  <a16:creationId xmlns:a16="http://schemas.microsoft.com/office/drawing/2014/main" xmlns="" id="{454BADA0-BFD9-D75F-45D0-DB304366E87B}"/>
                </a:ext>
              </a:extLst>
            </p:cNvPr>
            <p:cNvSpPr/>
            <p:nvPr/>
          </p:nvSpPr>
          <p:spPr>
            <a:xfrm>
              <a:off x="181589" y="1250749"/>
              <a:ext cx="4662243" cy="12918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chemeClr val="tx1"/>
                </a:solidFill>
                <a:latin typeface="微软雅黑" panose="020B0503020204020204" pitchFamily="34" charset="-122"/>
                <a:ea typeface="微软雅黑" panose="020B0503020204020204" pitchFamily="34" charset="-122"/>
              </a:endParaRPr>
            </a:p>
          </p:txBody>
        </p:sp>
        <p:sp>
          <p:nvSpPr>
            <p:cNvPr id="23" name="矩形 2">
              <a:extLst>
                <a:ext uri="{FF2B5EF4-FFF2-40B4-BE49-F238E27FC236}">
                  <a16:creationId xmlns:a16="http://schemas.microsoft.com/office/drawing/2014/main" xmlns="" id="{FE246C74-0DCF-AAA4-9D7C-A13DD95EA0AB}"/>
                </a:ext>
              </a:extLst>
            </p:cNvPr>
            <p:cNvSpPr/>
            <p:nvPr/>
          </p:nvSpPr>
          <p:spPr>
            <a:xfrm>
              <a:off x="241280" y="1383038"/>
              <a:ext cx="4512399" cy="1027269"/>
            </a:xfrm>
            <a:prstGeom prst="rect">
              <a:avLst/>
            </a:prstGeom>
          </p:spPr>
          <p:txBody>
            <a:bodyPr wrap="square">
              <a:spAutoFit/>
            </a:bodyPr>
            <a:lstStyle/>
            <a:p>
              <a:r>
                <a:rPr lang="zh-CN" altLang="en-US" b="1" dirty="0"/>
                <a:t>现有动态重调度对预约表级联损坏的影响边界刻画不足</a:t>
              </a:r>
              <a:endParaRPr lang="zh-CN" altLang="en-US"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2</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762697"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研究目标与研究内容</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研究目标</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8" name="文本框 7"/>
          <p:cNvSpPr txBox="1"/>
          <p:nvPr/>
        </p:nvSpPr>
        <p:spPr bwMode="auto">
          <a:xfrm>
            <a:off x="27891" y="656001"/>
            <a:ext cx="1313435" cy="398780"/>
          </a:xfrm>
          <a:prstGeom prst="rect">
            <a:avLst/>
          </a:prstGeom>
          <a:noFill/>
        </p:spPr>
        <p:txBody>
          <a:bodyPr wrap="square">
            <a:spAutoFit/>
          </a:bodyPr>
          <a:lstStyle/>
          <a:p>
            <a:pPr indent="0" algn="r">
              <a:buFont typeface="Wingdings" panose="05000000000000000000" pitchFamily="2" charset="2"/>
              <a:buNone/>
              <a:defRPr/>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 研究目标</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10</a:t>
            </a:fld>
            <a:endParaRPr lang="zh-CN" altLang="en-US"/>
          </a:p>
        </p:txBody>
      </p:sp>
      <p:sp>
        <p:nvSpPr>
          <p:cNvPr id="20" name="TextBox 19">
            <a:extLst>
              <a:ext uri="{FF2B5EF4-FFF2-40B4-BE49-F238E27FC236}">
                <a16:creationId xmlns:a16="http://schemas.microsoft.com/office/drawing/2014/main" xmlns="" id="{B463265E-52CA-8331-C429-A514361321C9}"/>
              </a:ext>
            </a:extLst>
          </p:cNvPr>
          <p:cNvSpPr txBox="1"/>
          <p:nvPr/>
        </p:nvSpPr>
        <p:spPr>
          <a:xfrm>
            <a:off x="274245" y="1341686"/>
            <a:ext cx="8407325" cy="2120902"/>
          </a:xfrm>
          <a:prstGeom prst="rect">
            <a:avLst/>
          </a:prstGeom>
          <a:noFill/>
        </p:spPr>
        <p:txBody>
          <a:bodyPr wrap="square">
            <a:spAutoFit/>
          </a:bodyPr>
          <a:lstStyle/>
          <a:p>
            <a:pPr indent="457200">
              <a:lnSpc>
                <a:spcPct val="150000"/>
              </a:lnSpc>
              <a:spcBef>
                <a:spcPts val="600"/>
              </a:spcBef>
              <a:spcAft>
                <a:spcPts val="600"/>
              </a:spcAft>
            </a:pPr>
            <a:r>
              <a:rPr lang="zh-CN" altLang="en-US" dirty="0">
                <a:latin typeface="微软雅黑" panose="020B0503020204020204" pitchFamily="34" charset="-122"/>
                <a:ea typeface="微软雅黑" panose="020B0503020204020204" pitchFamily="34" charset="-122"/>
              </a:rPr>
              <a:t>针对考虑无冲突运输的柔性作业车间在调度效率与安全韧性方面存在的： </a:t>
            </a:r>
            <a:r>
              <a:rPr lang="zh-CN" altLang="en-US" dirty="0">
                <a:solidFill>
                  <a:srgbClr val="FF0000"/>
                </a:solidFill>
                <a:latin typeface="微软雅黑" panose="020B0503020204020204" pitchFamily="34" charset="-122"/>
                <a:ea typeface="微软雅黑" panose="020B0503020204020204" pitchFamily="34" charset="-122"/>
              </a:rPr>
              <a:t>闭环调度联合优化难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注入攻击检测的准确性与实时性兼顾难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被劫持设备任务状态伪造甄别难</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局部重调度在正确划界与有界时间内恢复可行难</a:t>
            </a:r>
            <a:r>
              <a:rPr lang="zh-CN" altLang="en-US" dirty="0">
                <a:latin typeface="微软雅黑" panose="020B0503020204020204" pitchFamily="34" charset="-122"/>
                <a:ea typeface="微软雅黑" panose="020B0503020204020204" pitchFamily="34" charset="-122"/>
              </a:rPr>
              <a:t>，建立工业互联网中</a:t>
            </a:r>
            <a:r>
              <a:rPr lang="zh-CN" altLang="en-US" dirty="0">
                <a:solidFill>
                  <a:schemeClr val="accent1"/>
                </a:solidFill>
                <a:latin typeface="微软雅黑" panose="020B0503020204020204" pitchFamily="34" charset="-122"/>
                <a:ea typeface="微软雅黑" panose="020B0503020204020204" pitchFamily="34" charset="-122"/>
              </a:rPr>
              <a:t>考虑无冲突运输的柔性作业车间调度及安全韧性</a:t>
            </a:r>
            <a:r>
              <a:rPr lang="zh-CN" altLang="en-US" dirty="0">
                <a:latin typeface="微软雅黑" panose="020B0503020204020204" pitchFamily="34" charset="-122"/>
                <a:ea typeface="微软雅黑" panose="020B0503020204020204" pitchFamily="34" charset="-122"/>
              </a:rPr>
              <a:t>综合方法，实现无冲突运输调度、注入攻击检测、被劫持设备甄别与局部重调度的协同：先生成高质量的无冲突排程，再在执行期拒绝伪造状态、修复真实损坏。</a:t>
            </a:r>
            <a:endParaRPr 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4" y="196468"/>
            <a:ext cx="5842427"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73224" y="94269"/>
            <a:ext cx="311228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研究目标与</a:t>
            </a:r>
            <a:r>
              <a:rPr lang="zh-CN" altLang="en-US" sz="2000" b="1" dirty="0">
                <a:solidFill>
                  <a:schemeClr val="accent1">
                    <a:lumMod val="75000"/>
                  </a:schemeClr>
                </a:solidFill>
                <a:latin typeface="微软雅黑" panose="020B0503020204020204" pitchFamily="34" charset="-122"/>
                <a:ea typeface="微软雅黑" panose="020B0503020204020204" pitchFamily="34" charset="-122"/>
              </a:rPr>
              <a:t>研究内容</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02</a:t>
            </a:r>
            <a:endParaRPr lang="zh-CN" altLang="en-US" sz="2400" dirty="0">
              <a:solidFill>
                <a:schemeClr val="bg2">
                  <a:lumMod val="25000"/>
                </a:schemeClr>
              </a:solidFill>
              <a:latin typeface="Impact" panose="020B0806030902050204" pitchFamily="34" charset="0"/>
            </a:endParaRPr>
          </a:p>
        </p:txBody>
      </p:sp>
      <p:sp>
        <p:nvSpPr>
          <p:cNvPr id="6" name="灯片编号占位符 5"/>
          <p:cNvSpPr>
            <a:spLocks noGrp="1"/>
          </p:cNvSpPr>
          <p:nvPr>
            <p:ph type="sldNum" sz="quarter" idx="12"/>
            <p:custDataLst>
              <p:tags r:id="rId1"/>
            </p:custDataLst>
          </p:nvPr>
        </p:nvSpPr>
        <p:spPr/>
        <p:txBody>
          <a:bodyPr/>
          <a:lstStyle/>
          <a:p>
            <a:fld id="{0C913308-F349-4B6D-A68A-DD1791B4A57B}" type="slidenum">
              <a:rPr lang="zh-CN" altLang="en-US" smtClean="0"/>
              <a:t>11</a:t>
            </a:fld>
            <a:endParaRPr lang="zh-CN" altLang="en-US"/>
          </a:p>
        </p:txBody>
      </p:sp>
      <p:pic>
        <p:nvPicPr>
          <p:cNvPr id="9" name="Picture 8">
            <a:extLst>
              <a:ext uri="{FF2B5EF4-FFF2-40B4-BE49-F238E27FC236}">
                <a16:creationId xmlns:a16="http://schemas.microsoft.com/office/drawing/2014/main" xmlns="" id="{91682C3C-243E-DD02-5AB1-80EF1E7BD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713" y="712953"/>
            <a:ext cx="8728573" cy="415547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56554" y="2022872"/>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3</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65878" y="2719387"/>
            <a:ext cx="429577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技术路线与实验验证</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964488"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研究内容一：基于预约表感知的无冲突运输柔性作业车间调度</a:t>
            </a:r>
          </a:p>
        </p:txBody>
      </p:sp>
      <p:sp>
        <p:nvSpPr>
          <p:cNvPr id="11" name="矩形 10"/>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2" name="矩形 11"/>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3" name="TextBox 7"/>
          <p:cNvSpPr txBox="1"/>
          <p:nvPr/>
        </p:nvSpPr>
        <p:spPr>
          <a:xfrm>
            <a:off x="457200" y="1556651"/>
            <a:ext cx="7797165" cy="502285"/>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sym typeface="+mn-ea"/>
              </a:rPr>
              <a:t>如何在工业互联网环境下，对异构加工设备上的柔性加工与 </a:t>
            </a:r>
            <a:r>
              <a:rPr lang="en-US" altLang="zh-CN" sz="1600" dirty="0">
                <a:latin typeface="微软雅黑" panose="020B0503020204020204" pitchFamily="34" charset="-122"/>
                <a:ea typeface="微软雅黑" panose="020B0503020204020204" pitchFamily="34" charset="-122"/>
                <a:sym typeface="+mn-ea"/>
              </a:rPr>
              <a:t>AGV </a:t>
            </a:r>
            <a:r>
              <a:rPr lang="zh-CN" altLang="en-US" sz="1600" dirty="0">
                <a:latin typeface="微软雅黑" panose="020B0503020204020204" pitchFamily="34" charset="-122"/>
                <a:ea typeface="微软雅黑" panose="020B0503020204020204" pitchFamily="34" charset="-122"/>
                <a:sym typeface="+mn-ea"/>
              </a:rPr>
              <a:t>走廊无冲突运输进行</a:t>
            </a:r>
            <a:r>
              <a:rPr lang="zh-CN" altLang="en-US" sz="1600" dirty="0">
                <a:solidFill>
                  <a:schemeClr val="accent1"/>
                </a:solidFill>
                <a:latin typeface="微软雅黑" panose="020B0503020204020204" pitchFamily="34" charset="-122"/>
                <a:ea typeface="微软雅黑" panose="020B0503020204020204" pitchFamily="34" charset="-122"/>
                <a:sym typeface="+mn-ea"/>
              </a:rPr>
              <a:t>联合建模</a:t>
            </a:r>
            <a:r>
              <a:rPr lang="zh-CN" altLang="en-US" sz="1600" dirty="0">
                <a:latin typeface="微软雅黑" panose="020B0503020204020204" pitchFamily="34" charset="-122"/>
                <a:ea typeface="微软雅黑" panose="020B0503020204020204" pitchFamily="34" charset="-122"/>
                <a:sym typeface="+mn-ea"/>
              </a:rPr>
              <a:t>，以最小化系统完工时间为目标，</a:t>
            </a:r>
            <a:r>
              <a:rPr lang="zh-CN" altLang="en-US" sz="1600" dirty="0">
                <a:solidFill>
                  <a:schemeClr val="accent1"/>
                </a:solidFill>
                <a:latin typeface="微软雅黑" panose="020B0503020204020204" pitchFamily="34" charset="-122"/>
                <a:ea typeface="微软雅黑" panose="020B0503020204020204" pitchFamily="34" charset="-122"/>
                <a:sym typeface="+mn-ea"/>
              </a:rPr>
              <a:t>使真实拥堵进入候选方案评价</a:t>
            </a:r>
            <a:r>
              <a:rPr lang="zh-CN" altLang="en-US" sz="1600" dirty="0">
                <a:latin typeface="微软雅黑" panose="020B0503020204020204" pitchFamily="34" charset="-122"/>
                <a:ea typeface="微软雅黑" panose="020B0503020204020204" pitchFamily="34" charset="-122"/>
                <a:sym typeface="+mn-ea"/>
              </a:rPr>
              <a:t>，并让车辆指派感知预约表？</a:t>
            </a:r>
            <a:endParaRPr lang="zh-CN" altLang="en-US" sz="16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13</a:t>
            </a:fld>
            <a:endParaRPr lang="zh-CN" altLang="en-US"/>
          </a:p>
        </p:txBody>
      </p:sp>
      <p:sp>
        <p:nvSpPr>
          <p:cNvPr id="16" name="矩形 15"/>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异构加工设备（柔性加工）+ AGV（无冲突走廊运输</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rPr>
              <a:t>目标：最小化系统完工时间</a:t>
            </a:r>
            <a:r>
              <a:rPr lang="en-US" altLang="zh-CN" i="1" dirty="0" err="1">
                <a:solidFill>
                  <a:schemeClr val="tx1"/>
                </a:solidFill>
              </a:rPr>
              <a:t>C</a:t>
            </a:r>
            <a:r>
              <a:rPr lang="en-US" altLang="zh-CN" baseline="-25000" dirty="0" err="1">
                <a:solidFill>
                  <a:schemeClr val="tx1"/>
                </a:solidFill>
              </a:rPr>
              <a:t>max</a:t>
            </a:r>
            <a:r>
              <a:rPr lang="en-US" altLang="zh-CN" dirty="0">
                <a:solidFill>
                  <a:schemeClr val="tx1"/>
                </a:solidFill>
              </a:rPr>
              <a:t>​</a:t>
            </a:r>
            <a:endParaRPr lang="en-US" sz="1600" dirty="0">
              <a:solidFill>
                <a:schemeClr val="tx1"/>
              </a:solidFill>
            </a:endParaRPr>
          </a:p>
        </p:txBody>
      </p:sp>
      <mc:AlternateContent xmlns:mc="http://schemas.openxmlformats.org/markup-compatibility/2006" xmlns:a14="http://schemas.microsoft.com/office/drawing/2010/main">
        <mc:Choice Requires="a14">
          <p:sp>
            <p:nvSpPr>
              <p:cNvPr id="17" name="矩形 16"/>
              <p:cNvSpPr/>
              <p:nvPr/>
            </p:nvSpPr>
            <p:spPr>
              <a:xfrm>
                <a:off x="2537011" y="3076995"/>
                <a:ext cx="4166144"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solidFill>
                      <a:schemeClr val="tx1"/>
                    </a:solidFill>
                    <a:latin typeface="华文楷体" panose="02010600040101010101" pitchFamily="2" charset="-122"/>
                    <a:ea typeface="华文楷体" panose="02010600040101010101" pitchFamily="2" charset="-122"/>
                  </a:rPr>
                  <a:t>闭环双层框架（评价通路 + 决策通路）</a:t>
                </a:r>
                <a:endParaRPr lang="en-US" altLang="zh-CN" sz="16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上层：模因搜索</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机器指派</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𝑥</m:t>
                    </m:r>
                  </m:oMath>
                </a14:m>
                <a:r>
                  <a:rPr lang="zh-CN" altLang="zh-CN" sz="1400" dirty="0">
                    <a:solidFill>
                      <a:schemeClr val="tx1"/>
                    </a:solidFill>
                    <a:latin typeface="华文楷体" panose="02010600040101010101" pitchFamily="2" charset="-122"/>
                    <a:ea typeface="华文楷体" panose="02010600040101010101" pitchFamily="2" charset="-122"/>
                  </a:rPr>
                  <a:t>、工序排序</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r>
                      <a:rPr lang="zh-CN" altLang="en-US" sz="1400">
                        <a:solidFill>
                          <a:schemeClr val="tx1"/>
                        </a:solidFill>
                        <a:latin typeface="Cambria Math" panose="02040503050406030204" pitchFamily="18" charset="0"/>
                        <a:ea typeface="华文楷体" panose="02010600040101010101" pitchFamily="2" charset="-122"/>
                      </a:rPr>
                      <m:t>𝜋</m:t>
                    </m:r>
                  </m:oMath>
                </a14:m>
                <a:endParaRPr lang="zh-CN" altLang="zh-CN" sz="1400" dirty="0">
                  <a:solidFill>
                    <a:schemeClr val="tx1"/>
                  </a:solidFill>
                  <a:latin typeface="华文楷体" panose="02010600040101010101" pitchFamily="2" charset="-122"/>
                  <a:ea typeface="华文楷体" panose="02010600040101010101" pitchFamily="2" charset="-122"/>
                </a:endParaRPr>
              </a:p>
              <a:p>
                <a:pPr marL="285750" lvl="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下层：时间窗预约路由</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无冲突路径与预约表</a:t>
                </a:r>
                <a:r>
                  <a:rPr lang="en-US" altLang="zh-CN" sz="1400" dirty="0">
                    <a:solidFill>
                      <a:schemeClr val="tx1"/>
                    </a:solidFill>
                    <a:latin typeface="华文楷体" panose="02010600040101010101" pitchFamily="2" charset="-122"/>
                    <a:ea typeface="华文楷体" panose="02010600040101010101" pitchFamily="2" charset="-122"/>
                  </a:rPr>
                  <a:t> </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通路一：真实</a:t>
                </a:r>
                <a:r>
                  <a:rPr lang="en-US" altLang="zh-CN" sz="14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400" i="1">
                            <a:solidFill>
                              <a:schemeClr val="tx1"/>
                            </a:solidFill>
                            <a:latin typeface="Cambria Math" panose="02040503050406030204" pitchFamily="18" charset="0"/>
                            <a:ea typeface="华文楷体" panose="02010600040101010101" pitchFamily="2" charset="-122"/>
                          </a:rPr>
                        </m:ctrlPr>
                      </m:sSubPr>
                      <m:e>
                        <m:r>
                          <a:rPr lang="zh-CN" altLang="en-US" sz="1400">
                            <a:solidFill>
                              <a:schemeClr val="tx1"/>
                            </a:solidFill>
                            <a:latin typeface="Cambria Math" panose="02040503050406030204" pitchFamily="18" charset="0"/>
                            <a:ea typeface="华文楷体" panose="02010600040101010101" pitchFamily="2" charset="-122"/>
                          </a:rPr>
                          <m:t>𝐶</m:t>
                        </m:r>
                      </m:e>
                      <m:sub>
                        <m:r>
                          <a:rPr lang="zh-CN" altLang="en-US" sz="1400">
                            <a:solidFill>
                              <a:schemeClr val="tx1"/>
                            </a:solidFill>
                            <a:latin typeface="Cambria Math" panose="02040503050406030204" pitchFamily="18" charset="0"/>
                            <a:ea typeface="华文楷体" panose="02010600040101010101" pitchFamily="2" charset="-122"/>
                          </a:rPr>
                          <m:t>𝑚𝑎𝑥</m:t>
                        </m:r>
                      </m:sub>
                    </m:sSub>
                  </m:oMath>
                </a14:m>
                <a:r>
                  <a:rPr lang="en-US" altLang="zh-CN" sz="1400" dirty="0">
                    <a:solidFill>
                      <a:schemeClr val="tx1"/>
                    </a:solidFill>
                    <a:latin typeface="华文楷体" panose="02010600040101010101" pitchFamily="2" charset="-122"/>
                    <a:ea typeface="华文楷体" panose="02010600040101010101" pitchFamily="2" charset="-122"/>
                  </a:rPr>
                  <a:t> </a:t>
                </a:r>
                <a:r>
                  <a:rPr lang="zh-CN" altLang="zh-CN" sz="1400" dirty="0">
                    <a:solidFill>
                      <a:schemeClr val="tx1"/>
                    </a:solidFill>
                    <a:latin typeface="华文楷体" panose="02010600040101010101" pitchFamily="2" charset="-122"/>
                    <a:ea typeface="华文楷体" panose="02010600040101010101" pitchFamily="2" charset="-122"/>
                  </a:rPr>
                  <a:t>回传为适应度（每候选一次）</a:t>
                </a:r>
              </a:p>
              <a:p>
                <a:pPr marL="285750" indent="-285750">
                  <a:buFont typeface="Arial" panose="020B0604020202020204" pitchFamily="34" charset="0"/>
                  <a:buChar char="•"/>
                </a:pPr>
                <a:r>
                  <a:rPr lang="zh-CN" altLang="zh-CN" sz="1400" dirty="0">
                    <a:solidFill>
                      <a:schemeClr val="tx1"/>
                    </a:solidFill>
                    <a:latin typeface="华文楷体" panose="02010600040101010101" pitchFamily="2" charset="-122"/>
                    <a:ea typeface="华文楷体" panose="02010600040101010101" pitchFamily="2" charset="-122"/>
                  </a:rPr>
                  <a:t>通路二：预约表试探派车</a:t>
                </a:r>
                <a:r>
                  <a:rPr lang="en-US" altLang="zh-CN" sz="1400" dirty="0">
                    <a:solidFill>
                      <a:schemeClr val="tx1"/>
                    </a:solidFill>
                    <a:latin typeface="华文楷体" panose="02010600040101010101" pitchFamily="2" charset="-122"/>
                    <a:ea typeface="华文楷体" panose="02010600040101010101" pitchFamily="2" charset="-122"/>
                  </a:rPr>
                  <a:t> + </a:t>
                </a:r>
                <a:r>
                  <a:rPr lang="zh-CN" altLang="zh-CN" sz="1400" dirty="0">
                    <a:solidFill>
                      <a:schemeClr val="tx1"/>
                    </a:solidFill>
                    <a:latin typeface="华文楷体" panose="02010600040101010101" pitchFamily="2" charset="-122"/>
                    <a:ea typeface="华文楷体" panose="02010600040101010101" pitchFamily="2" charset="-122"/>
                  </a:rPr>
                  <a:t>可证等价降本（每运输任务一次）同挂钟预算下迭代搜索，直至预算用尽</a:t>
                </a:r>
                <a:endParaRPr 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7" name="矩形 16"/>
              <p:cNvSpPr>
                <a:spLocks noRot="1" noChangeAspect="1" noMove="1" noResize="1" noEditPoints="1" noAdjustHandles="1" noChangeArrowheads="1" noChangeShapeType="1" noTextEdit="1"/>
              </p:cNvSpPr>
              <p:nvPr/>
            </p:nvSpPr>
            <p:spPr>
              <a:xfrm>
                <a:off x="2537011" y="3076995"/>
                <a:ext cx="4166144" cy="1690268"/>
              </a:xfrm>
              <a:prstGeom prst="rect">
                <a:avLst/>
              </a:prstGeom>
              <a:blipFill>
                <a:blip r:embed="rId4"/>
                <a:stretch>
                  <a:fillRect l="-146" r="-4678" b="-1444"/>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p:cNvSpPr/>
              <p:nvPr/>
            </p:nvSpPr>
            <p:spPr>
              <a:xfrm>
                <a:off x="7007500" y="3076995"/>
                <a:ext cx="213360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华文楷体" panose="02010600040101010101" pitchFamily="2" charset="-122"/>
                    <a:ea typeface="华文楷体" panose="02010600040101010101" pitchFamily="2" charset="-122"/>
                  </a:rPr>
                  <a:t> 输出结果</a:t>
                </a:r>
                <a:endParaRPr lang="en-US" altLang="zh-CN" sz="1600" dirty="0">
                  <a:solidFill>
                    <a:schemeClr val="tx1"/>
                  </a:solidFill>
                  <a:latin typeface="华文楷体" panose="02010600040101010101" pitchFamily="2" charset="-122"/>
                  <a:ea typeface="华文楷体" panose="02010600040101010101" pitchFamily="2" charset="-122"/>
                </a:endParaRPr>
              </a:p>
              <a:p>
                <a:pPr algn="ctr"/>
                <a:r>
                  <a:rPr lang="zh-CN" altLang="en-US" sz="1600" dirty="0">
                    <a:solidFill>
                      <a:schemeClr val="tx1"/>
                    </a:solidFill>
                    <a:latin typeface="华文楷体" panose="02010600040101010101" pitchFamily="2" charset="-122"/>
                    <a:ea typeface="华文楷体" panose="02010600040101010101" pitchFamily="2" charset="-122"/>
                  </a:rPr>
                  <a:t>             </a:t>
                </a:r>
              </a:p>
              <a:p>
                <a:r>
                  <a:rPr lang="zh-CN" altLang="zh-CN" sz="1600" dirty="0">
                    <a:solidFill>
                      <a:schemeClr val="tx1"/>
                    </a:solidFill>
                    <a:latin typeface="华文楷体" panose="02010600040101010101" pitchFamily="2" charset="-122"/>
                    <a:ea typeface="华文楷体" panose="02010600040101010101" pitchFamily="2" charset="-122"/>
                  </a:rPr>
                  <a:t>近优指派</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𝑥</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排序</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𝜋</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派车</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𝑦</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走廊预约表</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𝑅</m:t>
                        </m:r>
                      </m:e>
                      <m:sup>
                        <m:r>
                          <a:rPr lang="zh-CN" altLang="en-US" sz="1600">
                            <a:solidFill>
                              <a:schemeClr val="tx1"/>
                            </a:solidFill>
                            <a:latin typeface="Cambria Math" panose="02040503050406030204" pitchFamily="18" charset="0"/>
                            <a:ea typeface="华文楷体" panose="02010600040101010101" pitchFamily="2" charset="-122"/>
                          </a:rPr>
                          <m:t>∗</m:t>
                        </m:r>
                      </m:sup>
                    </m:sSup>
                  </m:oMath>
                </a14:m>
                <a:endParaRPr lang="zh-CN" altLang="zh-CN" sz="1600" dirty="0">
                  <a:solidFill>
                    <a:schemeClr val="tx1"/>
                  </a:solidFill>
                  <a:latin typeface="华文楷体" panose="02010600040101010101" pitchFamily="2" charset="-122"/>
                  <a:ea typeface="华文楷体" panose="02010600040101010101" pitchFamily="2" charset="-122"/>
                </a:endParaRPr>
              </a:p>
            </p:txBody>
          </p:sp>
        </mc:Choice>
        <mc:Fallback xmlns="">
          <p:sp>
            <p:nvSpPr>
              <p:cNvPr id="18" name="矩形 17"/>
              <p:cNvSpPr>
                <a:spLocks noRot="1" noChangeAspect="1" noMove="1" noResize="1" noEditPoints="1" noAdjustHandles="1" noChangeArrowheads="1" noChangeShapeType="1" noTextEdit="1"/>
              </p:cNvSpPr>
              <p:nvPr/>
            </p:nvSpPr>
            <p:spPr>
              <a:xfrm>
                <a:off x="7007500" y="3076995"/>
                <a:ext cx="2133600" cy="1690268"/>
              </a:xfrm>
              <a:prstGeom prst="rect">
                <a:avLst/>
              </a:prstGeom>
              <a:blipFill>
                <a:blip r:embed="rId5"/>
                <a:stretch>
                  <a:fillRect l="-1714"/>
                </a:stretch>
              </a:blipFill>
              <a:ln>
                <a:noFill/>
              </a:ln>
            </p:spPr>
            <p:txBody>
              <a:bodyPr/>
              <a:lstStyle/>
              <a:p>
                <a:r>
                  <a:rPr lang="zh-CN" altLang="en-US">
                    <a:noFill/>
                  </a:rPr>
                  <a:t> </a:t>
                </a:r>
              </a:p>
            </p:txBody>
          </p:sp>
        </mc:Fallback>
      </mc:AlternateContent>
      <p:sp>
        <p:nvSpPr>
          <p:cNvPr id="22" name="右箭头 21"/>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右箭头 22"/>
          <p:cNvSpPr/>
          <p:nvPr/>
        </p:nvSpPr>
        <p:spPr>
          <a:xfrm>
            <a:off x="6703154"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7F78C04A-886D-CC57-54B4-9E1EEFF37E71}"/>
              </a:ext>
            </a:extLst>
          </p:cNvPr>
          <p:cNvPicPr>
            <a:picLocks noChangeAspect="1"/>
          </p:cNvPicPr>
          <p:nvPr/>
        </p:nvPicPr>
        <p:blipFill>
          <a:blip r:embed="rId3"/>
          <a:stretch>
            <a:fillRect/>
          </a:stretch>
        </p:blipFill>
        <p:spPr>
          <a:xfrm>
            <a:off x="3485286" y="655649"/>
            <a:ext cx="5658714" cy="1974922"/>
          </a:xfrm>
          <a:prstGeom prst="rect">
            <a:avLst/>
          </a:prstGeom>
        </p:spPr>
      </p:pic>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7740352" y="190123"/>
            <a:ext cx="1403648" cy="19405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42010" y="103505"/>
            <a:ext cx="7037011"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latin typeface="微软雅黑" panose="020B0503020204020204" pitchFamily="34" charset="-122"/>
                <a:ea typeface="微软雅黑" panose="020B0503020204020204" pitchFamily="34" charset="-122"/>
              </a:rPr>
              <a:t>基于预约表感知的无冲突运输柔性作业车间调度</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19" name="矩形 10">
            <a:extLst>
              <a:ext uri="{FF2B5EF4-FFF2-40B4-BE49-F238E27FC236}">
                <a16:creationId xmlns:a16="http://schemas.microsoft.com/office/drawing/2014/main" xmlns=""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传统方法：</a:t>
            </a:r>
            <a:endParaRPr lang="zh-CN" altLang="en-US" sz="1600" dirty="0">
              <a:latin typeface="微软雅黑" panose="020B0503020204020204" pitchFamily="34" charset="-122"/>
              <a:ea typeface="微软雅黑" panose="020B0503020204020204" pitchFamily="34" charset="-122"/>
            </a:endParaRPr>
          </a:p>
        </p:txBody>
      </p:sp>
      <p:sp>
        <p:nvSpPr>
          <p:cNvPr id="20" name="矩形 11">
            <a:extLst>
              <a:ext uri="{FF2B5EF4-FFF2-40B4-BE49-F238E27FC236}">
                <a16:creationId xmlns:a16="http://schemas.microsoft.com/office/drawing/2014/main" xmlns="" id="{4B83D5F3-D8C6-A650-836A-E3274EDD7B90}"/>
              </a:ext>
            </a:extLst>
          </p:cNvPr>
          <p:cNvSpPr/>
          <p:nvPr/>
        </p:nvSpPr>
        <p:spPr>
          <a:xfrm>
            <a:off x="146127" y="2292017"/>
            <a:ext cx="1351652"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新方法：</a:t>
            </a:r>
            <a:endParaRPr lang="zh-CN" altLang="en-US" sz="1600" b="1" dirty="0">
              <a:latin typeface="微软雅黑" panose="020B0503020204020204" pitchFamily="34" charset="-122"/>
              <a:ea typeface="微软雅黑" panose="020B0503020204020204" pitchFamily="34" charset="-122"/>
            </a:endParaRPr>
          </a:p>
        </p:txBody>
      </p:sp>
      <p:sp>
        <p:nvSpPr>
          <p:cNvPr id="23" name="TextBox 22">
            <a:extLst>
              <a:ext uri="{FF2B5EF4-FFF2-40B4-BE49-F238E27FC236}">
                <a16:creationId xmlns:a16="http://schemas.microsoft.com/office/drawing/2014/main" xmlns="" id="{A200EEA4-3B4D-8DA6-FAF7-1DD72D7FBF63}"/>
              </a:ext>
            </a:extLst>
          </p:cNvPr>
          <p:cNvSpPr txBox="1"/>
          <p:nvPr/>
        </p:nvSpPr>
        <p:spPr>
          <a:xfrm>
            <a:off x="323528" y="775037"/>
            <a:ext cx="3600400" cy="1077218"/>
          </a:xfrm>
          <a:prstGeom prst="rect">
            <a:avLst/>
          </a:prstGeom>
          <a:noFill/>
        </p:spPr>
        <p:txBody>
          <a:bodyPr wrap="square">
            <a:spAutoFit/>
          </a:bodyPr>
          <a:lstStyle/>
          <a:p>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开环/两阶段将“排产”与“无冲突通行”单向截断，拥堵只改变到达时刻，难以回馈机器指派与工序排序，系统层面易显著次优。</a:t>
            </a:r>
            <a:endParaRPr lang="en-US"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xmlns="" id="{895E8596-0FCF-8A83-373F-8E6314542606}"/>
                  </a:ext>
                </a:extLst>
              </p:cNvPr>
              <p:cNvSpPr txBox="1"/>
              <p:nvPr/>
            </p:nvSpPr>
            <p:spPr>
              <a:xfrm>
                <a:off x="251521" y="2290905"/>
                <a:ext cx="2664296" cy="1569660"/>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闭环双层</a:t>
                </a:r>
                <a:r>
                  <a:rPr lang="en-US" altLang="zh-CN" sz="1600" dirty="0">
                    <a:latin typeface="微软雅黑" panose="020B0503020204020204" pitchFamily="34" charset="-122"/>
                    <a:ea typeface="微软雅黑" panose="020B0503020204020204" pitchFamily="34" charset="-122"/>
                  </a:rPr>
                  <a:t>——</a:t>
                </a:r>
                <a:r>
                  <a:rPr lang="zh-CN" altLang="zh-CN" sz="1600" dirty="0">
                    <a:latin typeface="微软雅黑" panose="020B0503020204020204" pitchFamily="34" charset="-122"/>
                    <a:ea typeface="微软雅黑" panose="020B0503020204020204" pitchFamily="34" charset="-122"/>
                  </a:rPr>
                  <a:t>评价通路（真实</a:t>
                </a:r>
                <a:r>
                  <a:rPr lang="en-US" altLang="zh-CN" sz="16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1600" i="1">
                            <a:latin typeface="Cambria Math" panose="02040503050406030204" pitchFamily="18" charset="0"/>
                            <a:ea typeface="微软雅黑" panose="020B0503020204020204" pitchFamily="34" charset="-122"/>
                          </a:rPr>
                        </m:ctrlPr>
                      </m:sSubPr>
                      <m:e>
                        <m:r>
                          <a:rPr lang="zh-CN" altLang="en-US" sz="1600">
                            <a:latin typeface="Cambria Math" panose="02040503050406030204" pitchFamily="18" charset="0"/>
                            <a:ea typeface="微软雅黑" panose="020B0503020204020204" pitchFamily="34" charset="-122"/>
                          </a:rPr>
                          <m:t>𝐶</m:t>
                        </m:r>
                      </m:e>
                      <m:sub>
                        <m:r>
                          <a:rPr lang="zh-CN" altLang="en-US" sz="1600">
                            <a:latin typeface="Cambria Math" panose="02040503050406030204" pitchFamily="18" charset="0"/>
                            <a:ea typeface="微软雅黑" panose="020B0503020204020204" pitchFamily="34" charset="-122"/>
                          </a:rPr>
                          <m:t>𝑚𝑎𝑥</m:t>
                        </m:r>
                      </m:sub>
                    </m:sSub>
                  </m:oMath>
                </a14:m>
                <a:r>
                  <a:rPr lang="zh-CN" altLang="zh-CN"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 </a:t>
                </a:r>
                <a:r>
                  <a:rPr lang="zh-CN" altLang="zh-CN" sz="1600" dirty="0">
                    <a:latin typeface="微软雅黑" panose="020B0503020204020204" pitchFamily="34" charset="-122"/>
                    <a:ea typeface="微软雅黑" panose="020B0503020204020204" pitchFamily="34" charset="-122"/>
                  </a:rPr>
                  <a:t>决策通路（预约表感知派车），使拥堵进入搜索目标并作用于派车。</a:t>
                </a:r>
              </a:p>
              <a:p>
                <a:endParaRPr lang="en-US" sz="1600" dirty="0">
                  <a:latin typeface="微软雅黑" panose="020B0503020204020204" pitchFamily="34" charset="-122"/>
                  <a:ea typeface="微软雅黑" panose="020B0503020204020204" pitchFamily="34" charset="-122"/>
                </a:endParaRPr>
              </a:p>
            </p:txBody>
          </p:sp>
        </mc:Choice>
        <mc:Fallback xmlns="">
          <p:sp>
            <p:nvSpPr>
              <p:cNvPr id="24" name="TextBox 23">
                <a:extLst>
                  <a:ext uri="{FF2B5EF4-FFF2-40B4-BE49-F238E27FC236}">
                    <a16:creationId xmlns:a16="http://schemas.microsoft.com/office/drawing/2014/main" id="{895E8596-0FCF-8A83-373F-8E6314542606}"/>
                  </a:ext>
                </a:extLst>
              </p:cNvPr>
              <p:cNvSpPr txBox="1">
                <a:spLocks noRot="1" noChangeAspect="1" noMove="1" noResize="1" noEditPoints="1" noAdjustHandles="1" noChangeArrowheads="1" noChangeShapeType="1" noTextEdit="1"/>
              </p:cNvSpPr>
              <p:nvPr/>
            </p:nvSpPr>
            <p:spPr>
              <a:xfrm>
                <a:off x="251521" y="2290905"/>
                <a:ext cx="2664296" cy="1569660"/>
              </a:xfrm>
              <a:prstGeom prst="rect">
                <a:avLst/>
              </a:prstGeom>
              <a:blipFill>
                <a:blip r:embed="rId4"/>
                <a:stretch>
                  <a:fillRect l="-1144" t="-1167" r="-7323"/>
                </a:stretch>
              </a:blipFill>
            </p:spPr>
            <p:txBody>
              <a:bodyPr/>
              <a:lstStyle/>
              <a:p>
                <a:r>
                  <a:rPr lang="zh-CN" altLang="en-US">
                    <a:noFill/>
                  </a:rPr>
                  <a:t> </a:t>
                </a:r>
              </a:p>
            </p:txBody>
          </p:sp>
        </mc:Fallback>
      </mc:AlternateContent>
      <p:pic>
        <p:nvPicPr>
          <p:cNvPr id="15" name="图片 14">
            <a:extLst>
              <a:ext uri="{FF2B5EF4-FFF2-40B4-BE49-F238E27FC236}">
                <a16:creationId xmlns:a16="http://schemas.microsoft.com/office/drawing/2014/main" xmlns="" id="{8C177F16-7FEC-0616-407B-6EBC79651D58}"/>
              </a:ext>
            </a:extLst>
          </p:cNvPr>
          <p:cNvPicPr>
            <a:picLocks noChangeAspect="1"/>
          </p:cNvPicPr>
          <p:nvPr/>
        </p:nvPicPr>
        <p:blipFill>
          <a:blip r:embed="rId5"/>
          <a:stretch>
            <a:fillRect/>
          </a:stretch>
        </p:blipFill>
        <p:spPr>
          <a:xfrm>
            <a:off x="3031509" y="2638415"/>
            <a:ext cx="5658714" cy="25012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44" name="矩形 43"/>
          <p:cNvSpPr/>
          <p:nvPr/>
        </p:nvSpPr>
        <p:spPr>
          <a:xfrm>
            <a:off x="0" y="661670"/>
            <a:ext cx="8820472" cy="707886"/>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研究内容二</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基于时序半马尔可夫与参考模型可行性约束的注入攻击检测方法</a:t>
            </a:r>
          </a:p>
        </p:txBody>
      </p:sp>
      <p:sp>
        <p:nvSpPr>
          <p:cNvPr id="7" name="灯片编号占位符 6"/>
          <p:cNvSpPr>
            <a:spLocks noGrp="1"/>
          </p:cNvSpPr>
          <p:nvPr>
            <p:ph type="sldNum" sz="quarter" idx="12"/>
            <p:custDataLst>
              <p:tags r:id="rId1"/>
            </p:custDataLst>
          </p:nvPr>
        </p:nvSpPr>
        <p:spPr>
          <a:xfrm>
            <a:off x="6553200" y="4839018"/>
            <a:ext cx="2133600" cy="273844"/>
          </a:xfrm>
        </p:spPr>
        <p:txBody>
          <a:bodyPr/>
          <a:lstStyle/>
          <a:p>
            <a:fld id="{0C913308-F349-4B6D-A68A-DD1791B4A57B}" type="slidenum">
              <a:rPr lang="zh-CN" altLang="en-US" smtClean="0"/>
              <a:t>15</a:t>
            </a:fld>
            <a:endParaRPr lang="zh-CN" altLang="en-US"/>
          </a:p>
        </p:txBody>
      </p:sp>
      <p:sp>
        <p:nvSpPr>
          <p:cNvPr id="10" name="矩形 10">
            <a:extLst>
              <a:ext uri="{FF2B5EF4-FFF2-40B4-BE49-F238E27FC236}">
                <ns4:creationId xmlns="" xmlns:ns2="http://schemas.microsoft.com/office/drawing/2010/main" xmlns:ns4="http://schemas.microsoft.com/office/drawing/2014/main" id="{CD0B42CA-8CB7-804D-5241-1F1E2778AE41}"/>
              </a:ext>
            </a:extLst>
          </p:cNvPr>
          <p:cNvSpPr/>
          <p:nvPr/>
        </p:nvSpPr>
        <p:spPr>
          <a:xfrm>
            <a:off x="146127" y="1426721"/>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15" name="矩形 11">
            <a:extLst>
              <a:ext uri="{FF2B5EF4-FFF2-40B4-BE49-F238E27FC236}">
                <ns4:creationId xmlns="" xmlns:ns2="http://schemas.microsoft.com/office/drawing/2010/main" xmlns:ns4="http://schemas.microsoft.com/office/drawing/2014/main" id="{4A703DAD-7FEB-879B-47FE-F61D2140B2A6}"/>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21" name="TextBox 7">
            <a:extLst>
              <a:ext uri="{FF2B5EF4-FFF2-40B4-BE49-F238E27FC236}">
                <ns4:creationId xmlns="" xmlns:ns2="http://schemas.microsoft.com/office/drawing/2010/main" xmlns:ns4="http://schemas.microsoft.com/office/drawing/2014/main" id="{31154B70-F08D-5359-62A2-63A5F4902493}"/>
              </a:ext>
            </a:extLst>
          </p:cNvPr>
          <p:cNvSpPr txBox="1"/>
          <p:nvPr/>
        </p:nvSpPr>
        <p:spPr>
          <a:xfrm>
            <a:off x="457200" y="1798295"/>
            <a:ext cx="7797165" cy="502285"/>
          </a:xfrm>
          <a:prstGeom prst="rect">
            <a:avLst/>
          </a:prstGeom>
          <a:noFill/>
          <a:ln>
            <a:noFill/>
          </a:ln>
        </p:spPr>
        <p:txBody>
          <a:bodyPr wrap="square" rtlCol="0">
            <a:noAutofit/>
          </a:bodyPr>
          <a:lstStyle/>
          <a:p>
            <a:pPr indent="457200" fontAlgn="auto">
              <a:lnSpc>
                <a:spcPct val="125000"/>
              </a:lnSpc>
            </a:pPr>
            <a:r>
              <a:rPr lang="zh-CN" altLang="en-US" sz="1450" b="0" dirty="0">
                <a:solidFill>
                  <a:srgbClr val="222222"/>
                </a:solidFill>
                <a:latin typeface="Microsoft YaHei" panose="020B0503020204020204" pitchFamily="34" charset="-122"/>
                <a:ea typeface="Microsoft YaHei" panose="020B0503020204020204" pitchFamily="34" charset="-122"/>
                <a:sym typeface="+mn-ea"/>
              </a:rPr>
              <a:t>设备向调度器上报状态后，调度器才派发下一道工序。如何在这些上报进入决策之前，按给定误报预算轻量识别注入或重放，避免依据虚假状态派工？</a:t>
            </a:r>
            <a:endParaRPr lang="zh-CN" altLang="en-US" sz="1600" dirty="0">
              <a:latin typeface="微软雅黑" panose="020B0503020204020204" pitchFamily="34" charset="-122"/>
              <a:ea typeface="微软雅黑" panose="020B0503020204020204" pitchFamily="34" charset="-122"/>
            </a:endParaRPr>
          </a:p>
        </p:txBody>
      </p:sp>
      <p:sp>
        <p:nvSpPr>
          <p:cNvPr id="25" name="矩形 15">
            <a:extLst>
              <a:ext uri="{FF2B5EF4-FFF2-40B4-BE49-F238E27FC236}">
                <ns4:creationId xmlns="" xmlns:ns2="http://schemas.microsoft.com/office/drawing/2010/main" xmlns:ns4="http://schemas.microsoft.com/office/drawing/2014/main" id="{F719B801-ED16-F8F9-B3FA-9BCD302179FA}"/>
              </a:ext>
            </a:extLst>
          </p:cNvPr>
          <p:cNvSpPr/>
          <p:nvPr/>
        </p:nvSpPr>
        <p:spPr>
          <a:xfrm>
            <a:off x="1" y="3077629"/>
            <a:ext cx="2264410" cy="16884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smtClean="0">
                <a:solidFill>
                  <a:srgbClr val="222222"/>
                </a:solidFill>
                <a:latin typeface="Microsoft YaHei" panose="02010600040101010101" pitchFamily="2" charset="-122"/>
                <a:ea typeface="Microsoft YaHei" panose="02010600040101010101" pitchFamily="2" charset="-122"/>
              </a:rPr>
              <a:t>搬运车仍在途中，攻击者重放一条旧的「工件已到工位」消息。调度器据此判定工件已到位，提前将下一道工序派发至该工位。</a:t>
            </a:r>
            <a:endParaRPr lang="en-US" sz="1600" b="1" dirty="0">
              <a:solidFill>
                <a:schemeClr val="tx1"/>
              </a:solidFill>
            </a:endParaRPr>
          </a:p>
          <a:p>
            <a:r>
              <a:rPr sz="1300" b="0" dirty="0" err="1">
                <a:solidFill>
                  <a:srgbClr val="222222"/>
                </a:solidFill>
                <a:latin typeface="Microsoft YaHei"/>
                <a:ea typeface="Microsoft YaHei"/>
              </a:rPr>
              <a:t>已有方法无法区分「日志中未曾观测」与「工艺上不允许」。</a:t>
            </a:r>
          </a:p>
        </p:txBody>
      </p:sp>
      <p:sp>
        <p:nvSpPr>
          <p:cNvPr id="26" name="矩形 16">
            <a:extLst>
              <a:ext uri="{FF2B5EF4-FFF2-40B4-BE49-F238E27FC236}">
                <ns4:creationId xmlns="" xmlns:ns2="http://schemas.microsoft.com/office/drawing/2010/main" xmlns:ns4="http://schemas.microsoft.com/office/drawing/2014/main" id="{A766754D-A161-FC7B-0309-BD33A23321F9}"/>
              </a:ext>
            </a:extLst>
          </p:cNvPr>
          <p:cNvSpPr/>
          <p:nvPr/>
        </p:nvSpPr>
        <p:spPr>
          <a:xfrm>
            <a:off x="2593585" y="3076995"/>
            <a:ext cx="3778615"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硬约束层：以可行性清单对照刚下发的命令，拒绝物理上不可能的上报。</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时序：为每道工序的停留时长建立分布模型。同向小幅提前上报单次仍与正常波动难以区分；CUSUM 将这些残差逐条累加，累积到门限后告警。</a:t>
            </a:r>
          </a:p>
          <a:p>
            <a:pPr marL="285750" indent="-285750">
              <a:buFont typeface="Arial" panose="020B0604020202020204" pitchFamily="34" charset="0"/>
              <a:buChar char="•"/>
            </a:pPr>
            <a:r>
              <a:rPr lang="zh-CN" altLang="en-US" sz="1300" b="0" dirty="0">
                <a:solidFill>
                  <a:srgbClr val="222222"/>
                </a:solidFill>
                <a:latin typeface="Microsoft YaHei" panose="02010600040101010101" pitchFamily="2" charset="-122"/>
                <a:ea typeface="Microsoft YaHei" panose="02010600040101010101" pitchFamily="2" charset="-122"/>
              </a:rPr>
              <a:t>结构：检查该工件的这一转移在正常运行中是否常见；共形预测约束误报预算。</a:t>
            </a:r>
          </a:p>
        </p:txBody>
      </p:sp>
      <p:sp>
        <p:nvSpPr>
          <p:cNvPr id="27" name="矩形 17">
            <a:extLst>
              <a:ext uri="{FF2B5EF4-FFF2-40B4-BE49-F238E27FC236}">
                <ns4:creationId xmlns="" xmlns:ns2="http://schemas.microsoft.com/office/drawing/2010/main" xmlns:ns4="http://schemas.microsoft.com/office/drawing/2014/main" id="{D2110BA3-CA83-937F-E77C-2F8AED1CFA58}"/>
              </a:ext>
            </a:extLst>
          </p:cNvPr>
          <p:cNvSpPr/>
          <p:nvPr/>
        </p:nvSpPr>
        <p:spPr>
          <a:xfrm>
            <a:off x="6730460" y="3076995"/>
            <a:ext cx="2410640" cy="169026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panose="02010600040101010101" pitchFamily="2" charset="-122"/>
                <a:ea typeface="Microsoft YaHei" panose="02010600040101010101" pitchFamily="2" charset="-122"/>
              </a:rPr>
              <a:t>输出：告警后，虚假状态直接丢弃，既不进入研究内容一的决策，也不触发重调度。位置上报真实、仅伪报「已完成」的，交研究内容三。</a:t>
            </a:r>
            <a:endParaRPr lang="en-US" altLang="zh-CN" sz="1600" dirty="0">
              <a:solidFill>
                <a:schemeClr val="tx1"/>
              </a:solidFill>
              <a:latin typeface="华文楷体" panose="02010600040101010101" pitchFamily="2" charset="-122"/>
              <a:ea typeface="华文楷体" panose="02010600040101010101" pitchFamily="2" charset="-122"/>
            </a:endParaRPr>
          </a:p>
        </p:txBody>
      </p:sp>
      <p:sp>
        <p:nvSpPr>
          <p:cNvPr id="28" name="右箭头 21">
            <a:extLst>
              <a:ext uri="{FF2B5EF4-FFF2-40B4-BE49-F238E27FC236}">
                <ns4:creationId xmlns="" xmlns:ns2="http://schemas.microsoft.com/office/drawing/2010/main" xmlns:ns4="http://schemas.microsoft.com/office/drawing/2014/main" id="{D8B8B683-A4B6-BA44-DFAA-C2FC006E9FDF}"/>
              </a:ext>
            </a:extLst>
          </p:cNvPr>
          <p:cNvSpPr/>
          <p:nvPr/>
        </p:nvSpPr>
        <p:spPr>
          <a:xfrm>
            <a:off x="2291900" y="3699469"/>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右箭头 22">
            <a:extLst>
              <a:ext uri="{FF2B5EF4-FFF2-40B4-BE49-F238E27FC236}">
                <ns4:creationId xmlns="" xmlns:ns2="http://schemas.microsoft.com/office/drawing/2010/main" xmlns:ns4="http://schemas.microsoft.com/office/drawing/2014/main" id="{09D718F2-0D21-4490-89D8-71E437948539}"/>
              </a:ext>
            </a:extLst>
          </p:cNvPr>
          <p:cNvSpPr/>
          <p:nvPr/>
        </p:nvSpPr>
        <p:spPr>
          <a:xfrm>
            <a:off x="6428775" y="3699468"/>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8964488" y="190500"/>
            <a:ext cx="179512"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827584" y="106492"/>
            <a:ext cx="869727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1950" b="1" dirty="0">
                <a:latin typeface="微软雅黑" panose="020B0503020204020204" pitchFamily="34" charset="-122"/>
                <a:ea typeface="微软雅黑" panose="020B0503020204020204" pitchFamily="34" charset="-122"/>
              </a:rPr>
              <a:t>基于时序半马尔可夫与参考模型可行性约束的注入攻击检测方法</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8" name="矩形 10">
            <a:extLst>
              <a:ext uri="{FF2B5EF4-FFF2-40B4-BE49-F238E27FC236}">
                <ns3:creationId xmlns="" xmlns:ns2="http://schemas.microsoft.com/office/drawing/2010/main" xmlns:ns3="http://schemas.microsoft.com/office/drawing/2014/main" xmlns:ns4="http://schemas.openxmlformats.org/officeDocument/2006/math"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已</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有方法：</a:t>
            </a:r>
            <a:endParaRPr lang="zh-CN" altLang="en-US" sz="1600" b="1"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3:creationId xmlns="" xmlns:ns2="http://schemas.microsoft.com/office/drawing/2010/main" xmlns:ns3="http://schemas.microsoft.com/office/drawing/2014/main" xmlns:ns4="http://schemas.openxmlformats.org/officeDocument/2006/math" id="{A200EEA4-3B4D-8DA6-FAF7-1DD72D7FBF63}"/>
              </a:ext>
            </a:extLst>
          </p:cNvPr>
          <p:cNvSpPr txBox="1"/>
          <p:nvPr/>
        </p:nvSpPr>
        <p:spPr>
          <a:xfrm>
            <a:off x="413147" y="1118811"/>
            <a:ext cx="3600400" cy="1077218"/>
          </a:xfrm>
          <a:prstGeom prst="rect">
            <a:avLst/>
          </a:prstGeom>
          <a:noFill/>
        </p:spPr>
        <p:txBody>
          <a:bodyPr wrap="square">
            <a:spAutoFit/>
          </a:bodyPr>
          <a:lstStyle/>
          <a:p>
            <a:r>
              <a:rPr lang="en-US" altLang="zh-CN" sz="1350" b="0" dirty="0">
                <a:solidFill>
                  <a:srgbClr val="222222"/>
                </a:solidFill>
                <a:latin typeface="Microsoft YaHei" panose="020B0503020204020204" pitchFamily="34" charset="-122"/>
                <a:ea typeface="Microsoft YaHei" panose="020B0503020204020204" pitchFamily="34" charset="-122"/>
              </a:rPr>
              <a:t>计时自动机不检查跨设备的可行性。</a:t>
            </a:r>
            <a:endParaRPr lang="en-US" sz="1600" dirty="0">
              <a:latin typeface="微软雅黑" panose="020B0503020204020204" pitchFamily="34" charset="-122"/>
              <a:ea typeface="微软雅黑" panose="020B0503020204020204" pitchFamily="34" charset="-122"/>
            </a:endParaRPr>
          </a:p>
          <a:p>
            <a:r>
              <a:rPr sz="1350" b="0">
                <a:solidFill>
                  <a:srgbClr val="222222"/>
                </a:solidFill>
                <a:latin typeface="Microsoft YaHei"/>
                <a:ea typeface="Microsoft YaHei"/>
              </a:rPr>
              <a:t>停留时长仅用区间刻画：落在区间内的提前上报一律判为正常，不作逐条累积。</a:t>
            </a:r>
          </a:p>
          <a:p>
            <a:r>
              <a:rPr sz="1350" b="0">
                <a:solidFill>
                  <a:srgbClr val="222222"/>
                </a:solidFill>
                <a:latin typeface="Microsoft YaHei"/>
                <a:ea typeface="Microsoft YaHei"/>
              </a:rPr>
              <a:t>日志方法无法区分「未曾观测」与「不允许」。</a:t>
            </a:r>
          </a:p>
        </p:txBody>
      </p:sp>
      <p:sp>
        <p:nvSpPr>
          <p:cNvPr id="10" name="矩形 11">
            <a:extLst>
              <a:ext uri="{FF2B5EF4-FFF2-40B4-BE49-F238E27FC236}">
                <ns3:creationId xmlns="" xmlns:ns2="http://schemas.microsoft.com/office/drawing/2010/main" xmlns:ns3="http://schemas.microsoft.com/office/drawing/2014/main" xmlns:ns4="http://schemas.openxmlformats.org/officeDocument/2006/math" id="{4B83D5F3-D8C6-A650-836A-E3274EDD7B90}"/>
              </a:ext>
            </a:extLst>
          </p:cNvPr>
          <p:cNvSpPr/>
          <p:nvPr/>
        </p:nvSpPr>
        <p:spPr>
          <a:xfrm>
            <a:off x="146127" y="2292017"/>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3:creationId xmlns="" xmlns:ns2="http://schemas.microsoft.com/office/drawing/2010/main" xmlns:ns3="http://schemas.microsoft.com/office/drawing/2014/main" xmlns:ns4="http://schemas.openxmlformats.org/officeDocument/2006/math" id="{895E8596-0FCF-8A83-373F-8E6314542606}"/>
              </a:ext>
            </a:extLst>
          </p:cNvPr>
          <p:cNvSpPr txBox="1"/>
          <p:nvPr/>
        </p:nvSpPr>
        <p:spPr>
          <a:xfrm>
            <a:off x="390814" y="2726559"/>
            <a:ext cx="2664296" cy="1077218"/>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离线：以正常日志拟合各步停留时长与转移，并标定共形与 CUSUM 门限。</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在线：硬约束层对照命令账本否决物理不可能的上报；时序残差进入 CUSUM；结构通道检查该转移是否常见。</a:t>
            </a:r>
          </a:p>
          <a:p>
            <a:r>
              <a:rPr sz="1300" dirty="0" err="1">
                <a:solidFill>
                  <a:srgbClr val="222222"/>
                </a:solidFill>
                <a:latin typeface="Microsoft YaHei"/>
                <a:ea typeface="Microsoft YaHei"/>
              </a:rPr>
              <a:t>三条通道按 α/3 分摊误报预算，阻止虚假状态进入调度决策。</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55142" y="2139702"/>
            <a:ext cx="6044109" cy="1944215"/>
          </a:xfrm>
          <a:prstGeom prst="rect">
            <a:avLst/>
          </a:prstGeom>
        </p:spPr>
      </p:pic>
      <p:sp>
        <p:nvSpPr>
          <p:cNvPr id="13" name="TextBox 12"/>
          <p:cNvSpPr txBox="1"/>
          <p:nvPr/>
        </p:nvSpPr>
        <p:spPr>
          <a:xfrm>
            <a:off x="2706588" y="3987934"/>
            <a:ext cx="6018312"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图：离线拟合与在线三通道并行（硬约束层 / 时序 / 结构）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1" y="636030"/>
            <a:ext cx="8892481"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研究内容三</a:t>
            </a:r>
            <a:r>
              <a:rPr lang="zh-CN" altLang="en-US" sz="2000" b="1" dirty="0" smtClean="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基于耦合互证的被劫持设备任务状态伪造检测</a:t>
            </a:r>
          </a:p>
        </p:txBody>
      </p:sp>
      <p:sp>
        <p:nvSpPr>
          <p:cNvPr id="17"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17</a:t>
            </a:fld>
            <a:endParaRPr lang="zh-CN" altLang="en-US"/>
          </a:p>
        </p:txBody>
      </p:sp>
      <p:sp>
        <p:nvSpPr>
          <p:cNvPr id="8" name="矩形 10">
            <a:extLst>
              <a:ext uri="{FF2B5EF4-FFF2-40B4-BE49-F238E27FC236}">
                <ns4:creationId xmlns="" xmlns:ns2="http://schemas.microsoft.com/office/drawing/2010/main" xmlns:ns4="http://schemas.microsoft.com/office/drawing/2014/main" id="{CD14F516-DC24-121F-5776-1EA2FEF8DC43}"/>
              </a:ext>
            </a:extLst>
          </p:cNvPr>
          <p:cNvSpPr/>
          <p:nvPr/>
        </p:nvSpPr>
        <p:spPr>
          <a:xfrm>
            <a:off x="146127" y="1185077"/>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ns4:creationId xmlns="" xmlns:ns2="http://schemas.microsoft.com/office/drawing/2010/main" xmlns:ns4="http://schemas.microsoft.com/office/drawing/2014/main" id="{54060D8E-BD7F-3E18-1393-B258AD65F8A2}"/>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ns4:creationId xmlns="" xmlns:ns2="http://schemas.microsoft.com/office/drawing/2010/main" xmlns:ns4="http://schemas.microsoft.com/office/drawing/2014/main" id="{61728BF3-B1DE-D21B-571C-36875A4EFCE1}"/>
              </a:ext>
            </a:extLst>
          </p:cNvPr>
          <p:cNvSpPr txBox="1"/>
          <p:nvPr/>
        </p:nvSpPr>
        <p:spPr>
          <a:xfrm>
            <a:off x="457200" y="1491630"/>
            <a:ext cx="7797165" cy="1013313"/>
          </a:xfrm>
          <a:prstGeom prst="rect">
            <a:avLst/>
          </a:prstGeom>
          <a:noFill/>
          <a:ln>
            <a:noFill/>
          </a:ln>
        </p:spPr>
        <p:txBody>
          <a:bodyPr wrap="square" rtlCol="0">
            <a:noAutofit/>
          </a:bodyPr>
          <a:lstStyle/>
          <a:p>
            <a:pPr indent="457200" fontAlgn="auto">
              <a:lnSpc>
                <a:spcPct val="125000"/>
              </a:lnSpc>
            </a:pPr>
            <a:r>
              <a:rPr lang="en-US" sz="1450" b="0" dirty="0">
                <a:solidFill>
                  <a:srgbClr val="222222"/>
                </a:solidFill>
                <a:latin typeface="Microsoft YaHei" panose="020B0503020204020204" pitchFamily="34" charset="-122"/>
                <a:ea typeface="Microsoft YaHei" panose="020B0503020204020204" pitchFamily="34" charset="-122"/>
              </a:rPr>
              <a:t>设备被劫持后，位置等物理量仍如实上报，仅将「任务已完成」伪报为真；或故意不上报心跳、持续不响应。如何否证此类声明，并冻结后续错误派工？</a:t>
            </a:r>
            <a:endParaRPr lang="zh-CN" altLang="en-US" sz="1600" dirty="0">
              <a:latin typeface="微软雅黑" panose="020B0503020204020204" pitchFamily="34" charset="-122"/>
              <a:ea typeface="微软雅黑" panose="020B0503020204020204" pitchFamily="34" charset="-122"/>
            </a:endParaRPr>
          </a:p>
        </p:txBody>
      </p:sp>
      <p:sp>
        <p:nvSpPr>
          <p:cNvPr id="11" name="矩形 15">
            <a:extLst>
              <a:ext uri="{FF2B5EF4-FFF2-40B4-BE49-F238E27FC236}">
                <ns4:creationId xmlns="" xmlns:ns2="http://schemas.microsoft.com/office/drawing/2010/main" xmlns:ns4="http://schemas.microsoft.com/office/drawing/2014/main" id="{9AF2CB60-FDC3-57BB-3D8E-10290464949C}"/>
              </a:ext>
            </a:extLst>
          </p:cNvPr>
          <p:cNvSpPr/>
          <p:nvPr/>
        </p:nvSpPr>
        <p:spPr>
          <a:xfrm>
            <a:off x="1" y="3077629"/>
            <a:ext cx="3203847" cy="186829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zh-CN" altLang="en-US" sz="1250" b="0" dirty="0">
                <a:solidFill>
                  <a:srgbClr val="222222"/>
                </a:solidFill>
                <a:latin typeface="Microsoft YaHei"/>
                <a:ea typeface="Microsoft YaHei"/>
              </a:rPr>
              <a:t>残差检验的是连续物理量是否偏离预测，无法检出仅篡改完成状态位的行为。</a:t>
            </a:r>
            <a:endParaRPr lang="en-US" altLang="zh-CN" sz="1600" dirty="0">
              <a:solidFill>
                <a:schemeClr val="tx1"/>
              </a:solidFill>
            </a:endParaRPr>
          </a:p>
          <a:p>
            <a:r>
              <a:rPr lang="zh-CN" altLang="en-US" sz="1250" b="0" dirty="0">
                <a:solidFill>
                  <a:srgbClr val="222222"/>
                </a:solidFill>
                <a:latin typeface="Microsoft YaHei"/>
                <a:ea typeface="Microsoft YaHei"/>
              </a:rPr>
              <a:t>应由谁作证：不是位置邻近的任意设备，而是任务图上承担交付或取件的对端设备。</a:t>
            </a:r>
            <a:endParaRPr lang="en-US" altLang="zh-CN" sz="1600" dirty="0">
              <a:solidFill>
                <a:schemeClr val="tx1"/>
              </a:solidFill>
            </a:endParaRPr>
          </a:p>
          <a:p>
            <a:r>
              <a:rPr lang="zh-CN" altLang="en-US" sz="1250" b="0" dirty="0">
                <a:solidFill>
                  <a:srgbClr val="222222"/>
                </a:solidFill>
                <a:latin typeface="Microsoft YaHei"/>
                <a:ea typeface="Microsoft YaHei"/>
              </a:rPr>
              <a:t>若不把「应到的心跳未到」定义为可判定事件，持续不响应即为零代价。</a:t>
            </a:r>
            <a:endParaRPr lang="en-US" altLang="zh-CN" sz="1600" dirty="0">
              <a:solidFill>
                <a:schemeClr val="tx1"/>
              </a:solidFill>
            </a:endParaRPr>
          </a:p>
        </p:txBody>
      </p:sp>
      <p:sp>
        <p:nvSpPr>
          <p:cNvPr id="12" name="矩形 16">
            <a:extLst>
              <a:ext uri="{FF2B5EF4-FFF2-40B4-BE49-F238E27FC236}">
                <ns4:creationId xmlns="" xmlns:ns2="http://schemas.microsoft.com/office/drawing/2010/main" xmlns:ns4="http://schemas.microsoft.com/office/drawing/2014/main" id="{7D8E61C7-E070-4F5F-0C16-6C40F2F84CF6}"/>
              </a:ext>
            </a:extLst>
          </p:cNvPr>
          <p:cNvSpPr/>
          <p:nvPr/>
        </p:nvSpPr>
        <p:spPr>
          <a:xfrm>
            <a:off x="3462611" y="2605221"/>
            <a:ext cx="3586930" cy="2342064"/>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r>
              <a:rPr lang="en-US" sz="1250" b="0" dirty="0" err="1">
                <a:solidFill>
                  <a:srgbClr val="222222"/>
                </a:solidFill>
                <a:latin typeface="Microsoft YaHei"/>
                <a:ea typeface="Microsoft YaHei"/>
              </a:rPr>
              <a:t>耦合互证（核心）：命令下发即开启互证窗口；声称完成须由对端设备确认，被否证或超时则暂停派工。</a:t>
            </a:r>
          </a:p>
          <a:p>
            <a:r>
              <a:rPr lang="en-US" sz="1250" b="0" dirty="0" err="1">
                <a:solidFill>
                  <a:srgbClr val="222222"/>
                </a:solidFill>
                <a:latin typeface="Microsoft YaHei"/>
                <a:ea typeface="Microsoft YaHei"/>
              </a:rPr>
              <a:t>可问责沉默（补充）：心跳须按序提交哈希链原像，连续缺失即可判定。</a:t>
            </a:r>
          </a:p>
          <a:p>
            <a:r>
              <a:rPr lang="en-US" sz="1250" b="0" dirty="0" err="1">
                <a:solidFill>
                  <a:srgbClr val="222222"/>
                </a:solidFill>
                <a:latin typeface="Microsoft YaHei"/>
                <a:ea typeface="Microsoft YaHei"/>
              </a:rPr>
              <a:t>单独使用均有盲区：仅依赖心跳——既伪报完成又按时披露原像的设备仍被判为正常；仅依赖互证——持续不响应亦可发现，但须等调度器把对端设备派至交接位、由其本地传感后才能否证。</a:t>
            </a:r>
            <a:r>
              <a:rPr lang="en-US" sz="1250" b="0" dirty="0" smtClean="0">
                <a:solidFill>
                  <a:srgbClr val="222222"/>
                </a:solidFill>
                <a:latin typeface="Microsoft YaHei"/>
                <a:ea typeface="Microsoft YaHei"/>
              </a:rPr>
              <a:t/>
            </a:r>
            <a:br>
              <a:rPr lang="en-US" sz="1250" b="0" dirty="0" smtClean="0">
                <a:solidFill>
                  <a:srgbClr val="222222"/>
                </a:solidFill>
                <a:latin typeface="Microsoft YaHei"/>
                <a:ea typeface="Microsoft YaHei"/>
              </a:rPr>
            </a:br>
            <a:endParaRPr lang="en-US" sz="1250" b="0" dirty="0" smtClean="0">
              <a:solidFill>
                <a:srgbClr val="222222"/>
              </a:solidFill>
              <a:latin typeface="Microsoft YaHei"/>
              <a:ea typeface="Microsoft YaHei"/>
            </a:endParaRPr>
          </a:p>
          <a:p>
            <a:r>
              <a:rPr lang="en-US" sz="1250" b="0" dirty="0" err="1">
                <a:solidFill>
                  <a:srgbClr val="222222"/>
                </a:solidFill>
                <a:latin typeface="Microsoft YaHei"/>
                <a:ea typeface="Microsoft YaHei"/>
              </a:rPr>
              <a:t>合用：伪报被对端设备否证；持续不响应由原像缺失在约秒级判定。</a:t>
            </a:r>
          </a:p>
        </p:txBody>
      </p:sp>
      <p:sp>
        <p:nvSpPr>
          <p:cNvPr id="13" name="矩形 17">
            <a:extLst>
              <a:ext uri="{FF2B5EF4-FFF2-40B4-BE49-F238E27FC236}">
                <ns4:creationId xmlns="" xmlns:ns2="http://schemas.microsoft.com/office/drawing/2010/main" xmlns:ns4="http://schemas.microsoft.com/office/drawing/2014/main" id="{92D6EEFB-B2C3-DDCB-5F6D-063104343636}"/>
              </a:ext>
            </a:extLst>
          </p:cNvPr>
          <p:cNvSpPr/>
          <p:nvPr/>
        </p:nvSpPr>
        <p:spPr>
          <a:xfrm>
            <a:off x="7308304" y="3076995"/>
            <a:ext cx="1832796" cy="18702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p>
            <a:pPr algn="ctr"/>
            <a:r>
              <a:rPr lang="zh-CN" altLang="en-US" sz="1300" b="0" dirty="0">
                <a:solidFill>
                  <a:srgbClr val="222222"/>
                </a:solidFill>
                <a:latin typeface="Microsoft YaHei"/>
                <a:ea typeface="Microsoft YaHei"/>
              </a:rPr>
              <a:t>输出：冻结该节点，不将其上报的「完成」写入调度视图。经确认被劫持的设备从资源池摘除，与设备故障、走廊阻断一并交研究内容四。</a:t>
            </a:r>
            <a:endParaRPr lang="en-US" altLang="zh-CN" sz="1600" dirty="0">
              <a:solidFill>
                <a:schemeClr val="tx1"/>
              </a:solidFill>
            </a:endParaRPr>
          </a:p>
        </p:txBody>
      </p:sp>
      <p:sp>
        <p:nvSpPr>
          <p:cNvPr id="14" name="右箭头 21">
            <a:extLst>
              <a:ext uri="{FF2B5EF4-FFF2-40B4-BE49-F238E27FC236}">
                <ns4:creationId xmlns="" xmlns:ns2="http://schemas.microsoft.com/office/drawing/2010/main" xmlns:ns4="http://schemas.microsoft.com/office/drawing/2014/main" id="{10A827CB-3698-A257-1B82-80FD005247E9}"/>
              </a:ext>
            </a:extLst>
          </p:cNvPr>
          <p:cNvSpPr/>
          <p:nvPr/>
        </p:nvSpPr>
        <p:spPr>
          <a:xfrm>
            <a:off x="3217501"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ns4:creationId xmlns="" xmlns:ns2="http://schemas.microsoft.com/office/drawing/2010/main" xmlns:ns4="http://schemas.microsoft.com/office/drawing/2014/main" id="{0E67C2BA-A576-BCE3-371C-054013CCA330}"/>
              </a:ext>
            </a:extLst>
          </p:cNvPr>
          <p:cNvSpPr/>
          <p:nvPr/>
        </p:nvSpPr>
        <p:spPr>
          <a:xfrm>
            <a:off x="704142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3CA52C77-070A-6F17-4145-2DC74BDFA18F}"/>
            </a:ext>
          </a:extLst>
        </p:cNvPr>
        <p:cNvGrpSpPr/>
        <p:nvPr/>
      </p:nvGrpSpPr>
      <p:grpSpPr>
        <a:xfrm>
          <a:off x="0" y="0"/>
          <a:ext cx="0" cy="0"/>
          <a:chOff x="0" y="0"/>
          <a:chExt cx="0" cy="0"/>
        </a:xfrm>
      </p:grpSpPr>
      <p:sp>
        <p:nvSpPr>
          <p:cNvPr id="2" name="矩形 1">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E8AB4FE0-738B-D0C6-2A46-D60C00AB311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8067F7B-C960-1418-198E-476340416501}"/>
              </a:ext>
            </a:extLst>
          </p:cNvPr>
          <p:cNvSpPr/>
          <p:nvPr/>
        </p:nvSpPr>
        <p:spPr>
          <a:xfrm>
            <a:off x="7596336" y="190500"/>
            <a:ext cx="1547664"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95E7BEA2-B9A5-24B5-65AA-886AA9451476}"/>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基于耦合互证的被劫持设备任务状态伪造检测</a:t>
            </a:r>
          </a:p>
        </p:txBody>
      </p:sp>
      <p:sp>
        <p:nvSpPr>
          <p:cNvPr id="5" name="文本框 4">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D3B45E24-3760-A457-05A0-BF3AF491B84D}"/>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839A68B-1A2D-500F-F7C0-5A7E9CCDE7D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CBDA5503-DA0B-047A-3659-181BCE6DA3DC}"/>
              </a:ext>
            </a:extLst>
          </p:cNvPr>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8" name="矩形 10">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698E5D4B-7CAC-2DCD-E074-AC1A369ED0A4}"/>
              </a:ext>
            </a:extLst>
          </p:cNvPr>
          <p:cNvSpPr/>
          <p:nvPr/>
        </p:nvSpPr>
        <p:spPr>
          <a:xfrm>
            <a:off x="146127" y="79542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已</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有方法：</a:t>
            </a:r>
            <a:endParaRPr lang="zh-CN" altLang="en-US" sz="1600" b="1" dirty="0">
              <a:latin typeface="微软雅黑" panose="020B0503020204020204" pitchFamily="34" charset="-122"/>
              <a:ea typeface="微软雅黑" panose="020B0503020204020204" pitchFamily="34" charset="-122"/>
            </a:endParaRPr>
          </a:p>
        </p:txBody>
      </p:sp>
      <p:sp>
        <p:nvSpPr>
          <p:cNvPr id="9" name="TextBox 22">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A200EEA4-3B4D-8DA6-FAF7-1DD72D7FBF63}"/>
              </a:ext>
            </a:extLst>
          </p:cNvPr>
          <p:cNvSpPr txBox="1"/>
          <p:nvPr/>
        </p:nvSpPr>
        <p:spPr>
          <a:xfrm>
            <a:off x="323528" y="1271766"/>
            <a:ext cx="3600400" cy="1077218"/>
          </a:xfrm>
          <a:prstGeom prst="rect">
            <a:avLst/>
          </a:prstGeom>
          <a:noFill/>
        </p:spPr>
        <p:txBody>
          <a:bodyPr wrap="square">
            <a:spAutoFit/>
          </a:bodyPr>
          <a:lstStyle/>
          <a:p>
            <a:r>
              <a:rPr lang="en-US" altLang="zh-CN" sz="1350" b="0" dirty="0" err="1">
                <a:solidFill>
                  <a:srgbClr val="222222"/>
                </a:solidFill>
                <a:latin typeface="Microsoft YaHei" panose="020B0503020204020204" pitchFamily="34" charset="-122"/>
                <a:ea typeface="Microsoft YaHei" panose="020B0503020204020204" pitchFamily="34" charset="-122"/>
              </a:rPr>
              <a:t>残差只检验上报值是否偏离预测，心跳只检验设备通信是否存活，二者都不检验交接是否真实发生。</a:t>
            </a:r>
            <a:endParaRPr lang="en-US" sz="1600" dirty="0">
              <a:latin typeface="微软雅黑" panose="020B0503020204020204" pitchFamily="34" charset="-122"/>
              <a:ea typeface="微软雅黑" panose="020B0503020204020204" pitchFamily="34" charset="-122"/>
            </a:endParaRPr>
          </a:p>
          <a:p>
            <a:r>
              <a:rPr sz="1350" b="0" dirty="0" err="1">
                <a:solidFill>
                  <a:srgbClr val="222222"/>
                </a:solidFill>
                <a:latin typeface="Microsoft YaHei"/>
                <a:ea typeface="Microsoft YaHei"/>
              </a:rPr>
              <a:t>事件触发下，故意不上报完成消息往往不被判定为异常。</a:t>
            </a:r>
          </a:p>
        </p:txBody>
      </p:sp>
      <p:sp>
        <p:nvSpPr>
          <p:cNvPr id="10" name="矩形 11">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4B83D5F3-D8C6-A650-836A-E3274EDD7B90}"/>
              </a:ext>
            </a:extLst>
          </p:cNvPr>
          <p:cNvSpPr/>
          <p:nvPr/>
        </p:nvSpPr>
        <p:spPr>
          <a:xfrm>
            <a:off x="146127" y="2427572"/>
            <a:ext cx="1762021"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本研究方法</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600" b="1" dirty="0">
              <a:latin typeface="微软雅黑" panose="020B0503020204020204" pitchFamily="34" charset="-122"/>
              <a:ea typeface="微软雅黑" panose="020B0503020204020204" pitchFamily="34" charset="-122"/>
            </a:endParaRPr>
          </a:p>
        </p:txBody>
      </p:sp>
      <p:sp>
        <p:nvSpPr>
          <p:cNvPr id="11" name="TextBox 23">
            <a:extLst>
              <a:ext uri="{FF2B5EF4-FFF2-40B4-BE49-F238E27FC236}">
                <ns2:creationId xmlns="" xmlns:ns2="http://schemas.microsoft.com/office/drawing/2014/main" xmlns:ns3="http://schemas.microsoft.com/office/drawing/2010/main" xmlns:ns4="http://schemas.openxmlformats.org/officeDocument/2006/math" xmlns:ns5="http://schemas.microsoft.com/office/powerpoint/2010/main" id="{895E8596-0FCF-8A83-373F-8E6314542606}"/>
              </a:ext>
            </a:extLst>
          </p:cNvPr>
          <p:cNvSpPr txBox="1"/>
          <p:nvPr/>
        </p:nvSpPr>
        <p:spPr>
          <a:xfrm>
            <a:off x="251521" y="2722192"/>
            <a:ext cx="2664296" cy="1292662"/>
          </a:xfrm>
          <a:prstGeom prst="rect">
            <a:avLst/>
          </a:prstGeom>
          <a:noFill/>
        </p:spPr>
        <p:txBody>
          <a:bodyPr wrap="square">
            <a:spAutoFit/>
          </a:bodyPr>
          <a:lstStyle/>
          <a:p>
            <a:r>
              <a:rPr lang="zh-CN" altLang="en-US" sz="1300" b="0" dirty="0">
                <a:solidFill>
                  <a:srgbClr val="222222"/>
                </a:solidFill>
                <a:latin typeface="Microsoft YaHei" panose="020B0503020204020204" pitchFamily="34" charset="-122"/>
                <a:ea typeface="Microsoft YaHei" panose="020B0503020204020204" pitchFamily="34" charset="-122"/>
              </a:rPr>
              <a:t>调度器下发命令即打开互证窗口。</a:t>
            </a:r>
            <a:endParaRPr lang="zh-CN" altLang="en-US" sz="1600" dirty="0">
              <a:latin typeface="微软雅黑" panose="020B0503020204020204" pitchFamily="34" charset="-122"/>
              <a:ea typeface="微软雅黑" panose="020B0503020204020204" pitchFamily="34" charset="-122"/>
            </a:endParaRPr>
          </a:p>
          <a:p>
            <a:r>
              <a:rPr sz="1300" b="0" dirty="0" err="1">
                <a:solidFill>
                  <a:srgbClr val="222222"/>
                </a:solidFill>
                <a:latin typeface="Microsoft YaHei"/>
                <a:ea typeface="Microsoft YaHei"/>
              </a:rPr>
              <a:t>设备声称「已完成」，须由任务图上的对端设备确认或否证。</a:t>
            </a:r>
          </a:p>
          <a:p>
            <a:r>
              <a:rPr sz="1300" dirty="0" err="1">
                <a:solidFill>
                  <a:srgbClr val="222222"/>
                </a:solidFill>
                <a:latin typeface="Microsoft YaHei"/>
                <a:ea typeface="Microsoft YaHei"/>
              </a:rPr>
              <a:t>心跳须提交哈希链原像；连续缺失即可归责。两条通道合用后，伪报完成与持续不响应均可被覆盖。</a:t>
            </a: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1920" y="1039657"/>
            <a:ext cx="5184576" cy="2526127"/>
          </a:xfrm>
          <a:prstGeom prst="rect">
            <a:avLst/>
          </a:prstGeom>
        </p:spPr>
      </p:pic>
      <p:sp>
        <p:nvSpPr>
          <p:cNvPr id="13" name="TextBox 12"/>
          <p:cNvSpPr txBox="1"/>
          <p:nvPr/>
        </p:nvSpPr>
        <p:spPr>
          <a:xfrm>
            <a:off x="3851920" y="3595784"/>
            <a:ext cx="5184576" cy="276999"/>
          </a:xfrm>
          <a:prstGeom prst="rect">
            <a:avLst/>
          </a:prstGeom>
          <a:noFill/>
        </p:spPr>
        <p:txBody>
          <a:bodyPr wrap="square">
            <a:spAutoFit/>
          </a:bodyPr>
          <a:lstStyle/>
          <a:p>
            <a:pPr algn="ctr"/>
            <a:r>
              <a:rPr sz="1200" dirty="0" smtClean="0">
                <a:solidFill>
                  <a:srgbClr val="044875"/>
                </a:solidFill>
                <a:latin typeface="Microsoft YaHei"/>
                <a:ea typeface="Microsoft YaHei"/>
              </a:rPr>
              <a:t>图：调度回环：命令开启互证窗口；完成声明走互证，心跳走原像</a:t>
            </a:r>
            <a:endParaRPr sz="1200" dirty="0">
              <a:solidFill>
                <a:srgbClr val="044875"/>
              </a:solidFill>
              <a:latin typeface="Microsoft YaHei"/>
              <a:ea typeface="Microsoft YaHei"/>
            </a:endParaRPr>
          </a:p>
        </p:txBody>
      </p:sp>
    </p:spTree>
    <p:extLst>
      <p:ext uri="{BB962C8B-B14F-4D97-AF65-F5344CB8AC3E}">
        <p14:creationId xmlns:p14="http://schemas.microsoft.com/office/powerpoint/2010/main" val="3417047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753A03-5B61-DD0C-F6BB-35DFE26F859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3D1A601A-D164-A050-065B-886F974B28FA}"/>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3DE846CB-C1C8-5771-C09E-1254FE92D85C}"/>
              </a:ext>
            </a:extLst>
          </p:cNvPr>
          <p:cNvSpPr/>
          <p:nvPr/>
        </p:nvSpPr>
        <p:spPr>
          <a:xfrm>
            <a:off x="3794760" y="196215"/>
            <a:ext cx="5349875" cy="14668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5" name="文本框 4">
            <a:extLst>
              <a:ext uri="{FF2B5EF4-FFF2-40B4-BE49-F238E27FC236}">
                <a16:creationId xmlns:a16="http://schemas.microsoft.com/office/drawing/2014/main" xmlns="" id="{6989706C-F9FD-AD70-BE99-324CB36B0F20}"/>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矩形 5">
            <a:extLst>
              <a:ext uri="{FF2B5EF4-FFF2-40B4-BE49-F238E27FC236}">
                <a16:creationId xmlns:a16="http://schemas.microsoft.com/office/drawing/2014/main" xmlns="" id="{8495ACAA-E9B4-039B-F795-DC2AF795D36D}"/>
              </a:ext>
            </a:extLst>
          </p:cNvPr>
          <p:cNvSpPr/>
          <p:nvPr/>
        </p:nvSpPr>
        <p:spPr>
          <a:xfrm>
            <a:off x="-1" y="636030"/>
            <a:ext cx="7773417" cy="400110"/>
          </a:xfrm>
          <a:prstGeom prst="rect">
            <a:avLst/>
          </a:prstGeom>
        </p:spPr>
        <p:txBody>
          <a:bodyPr wrap="square">
            <a:spAutoFit/>
          </a:bodyPr>
          <a:lstStyle/>
          <a:p>
            <a:r>
              <a:rPr lang="zh-CN" altLang="en-US" sz="2000" b="1" dirty="0">
                <a:latin typeface="微软雅黑" panose="020B0503020204020204" pitchFamily="34" charset="-122"/>
                <a:ea typeface="微软雅黑" panose="020B0503020204020204" pitchFamily="34" charset="-122"/>
              </a:rPr>
              <a:t>研究内容四：基于时空预约影响闭包的局部重调度方法</a:t>
            </a:r>
          </a:p>
        </p:txBody>
      </p:sp>
      <p:sp>
        <p:nvSpPr>
          <p:cNvPr id="17" name="文本框 20">
            <a:extLst>
              <a:ext uri="{FF2B5EF4-FFF2-40B4-BE49-F238E27FC236}">
                <a16:creationId xmlns:a16="http://schemas.microsoft.com/office/drawing/2014/main" xmlns="" id="{8EAE8765-5746-F981-AA4E-2B53CC35BF8F}"/>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技术路线</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与实验验证</a:t>
            </a:r>
          </a:p>
        </p:txBody>
      </p:sp>
      <p:sp>
        <p:nvSpPr>
          <p:cNvPr id="7" name="灯片编号占位符 6">
            <a:extLst>
              <a:ext uri="{FF2B5EF4-FFF2-40B4-BE49-F238E27FC236}">
                <a16:creationId xmlns:a16="http://schemas.microsoft.com/office/drawing/2014/main" xmlns="" id="{56438B9E-84E6-19B9-4B46-C12A7B007968}"/>
              </a:ext>
            </a:extLst>
          </p:cNvPr>
          <p:cNvSpPr>
            <a:spLocks noGrp="1"/>
          </p:cNvSpPr>
          <p:nvPr>
            <p:ph type="sldNum" sz="quarter" idx="12"/>
            <p:custDataLst>
              <p:tags r:id="rId1"/>
            </p:custDataLst>
          </p:nvPr>
        </p:nvSpPr>
        <p:spPr/>
        <p:txBody>
          <a:bodyPr/>
          <a:lstStyle/>
          <a:p>
            <a:fld id="{0C913308-F349-4B6D-A68A-DD1791B4A57B}" type="slidenum">
              <a:rPr lang="zh-CN" altLang="en-US" smtClean="0"/>
              <a:t>19</a:t>
            </a:fld>
            <a:endParaRPr lang="zh-CN" altLang="en-US"/>
          </a:p>
        </p:txBody>
      </p:sp>
      <p:sp>
        <p:nvSpPr>
          <p:cNvPr id="8" name="矩形 10">
            <a:extLst>
              <a:ext uri="{FF2B5EF4-FFF2-40B4-BE49-F238E27FC236}">
                <a16:creationId xmlns:a16="http://schemas.microsoft.com/office/drawing/2014/main" xmlns="" id="{010E3DD2-4A6C-8AC4-6BFE-D024434A65C7}"/>
              </a:ext>
            </a:extLst>
          </p:cNvPr>
          <p:cNvSpPr/>
          <p:nvPr/>
        </p:nvSpPr>
        <p:spPr>
          <a:xfrm>
            <a:off x="146127" y="970745"/>
            <a:ext cx="1788953" cy="338554"/>
          </a:xfrm>
          <a:prstGeom prst="rect">
            <a:avLst/>
          </a:prstGeom>
        </p:spPr>
        <p:txBody>
          <a:bodyPr wrap="squar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问题描述：</a:t>
            </a:r>
            <a:endParaRPr lang="zh-CN" altLang="en-US" sz="1600" dirty="0">
              <a:latin typeface="微软雅黑" panose="020B0503020204020204" pitchFamily="34" charset="-122"/>
              <a:ea typeface="微软雅黑" panose="020B0503020204020204" pitchFamily="34" charset="-122"/>
            </a:endParaRPr>
          </a:p>
        </p:txBody>
      </p:sp>
      <p:sp>
        <p:nvSpPr>
          <p:cNvPr id="9" name="矩形 11">
            <a:extLst>
              <a:ext uri="{FF2B5EF4-FFF2-40B4-BE49-F238E27FC236}">
                <a16:creationId xmlns:a16="http://schemas.microsoft.com/office/drawing/2014/main" xmlns="" id="{4843DD3A-AF5F-D92C-E6C6-B88EED513AD0}"/>
              </a:ext>
            </a:extLst>
          </p:cNvPr>
          <p:cNvSpPr/>
          <p:nvPr/>
        </p:nvSpPr>
        <p:spPr>
          <a:xfrm>
            <a:off x="146127" y="2569964"/>
            <a:ext cx="15568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研究思路：</a:t>
            </a:r>
            <a:endParaRPr lang="zh-CN" altLang="en-US" sz="1600" b="1" dirty="0">
              <a:latin typeface="微软雅黑" panose="020B0503020204020204" pitchFamily="34" charset="-122"/>
              <a:ea typeface="微软雅黑" panose="020B0503020204020204" pitchFamily="34" charset="-122"/>
            </a:endParaRPr>
          </a:p>
        </p:txBody>
      </p:sp>
      <p:sp>
        <p:nvSpPr>
          <p:cNvPr id="10" name="TextBox 7">
            <a:extLst>
              <a:ext uri="{FF2B5EF4-FFF2-40B4-BE49-F238E27FC236}">
                <a16:creationId xmlns:a16="http://schemas.microsoft.com/office/drawing/2014/main" xmlns="" id="{79ADF53A-5530-F0C8-9A9A-B4F532F0B3CF}"/>
              </a:ext>
            </a:extLst>
          </p:cNvPr>
          <p:cNvSpPr txBox="1"/>
          <p:nvPr/>
        </p:nvSpPr>
        <p:spPr>
          <a:xfrm>
            <a:off x="457200" y="1277298"/>
            <a:ext cx="8683900" cy="1013313"/>
          </a:xfrm>
          <a:prstGeom prst="rect">
            <a:avLst/>
          </a:prstGeom>
          <a:noFill/>
          <a:ln>
            <a:noFill/>
          </a:ln>
        </p:spPr>
        <p:txBody>
          <a:bodyPr wrap="square" rtlCol="0">
            <a:noAutofit/>
          </a:bodyPr>
          <a:lstStyle/>
          <a:p>
            <a:pPr indent="457200" fontAlgn="auto">
              <a:lnSpc>
                <a:spcPct val="125000"/>
              </a:lnSpc>
            </a:pPr>
            <a:r>
              <a:rPr lang="zh-CN" altLang="en-US" sz="1600" dirty="0">
                <a:latin typeface="微软雅黑" panose="020B0503020204020204" pitchFamily="34" charset="-122"/>
                <a:ea typeface="微软雅黑" panose="020B0503020204020204" pitchFamily="34" charset="-122"/>
              </a:rPr>
              <a:t>如何在柔性作业车间运行期发生真实扰动（设备故障、被劫持设备摘除、走廊阻断等）后，</a:t>
            </a:r>
            <a:r>
              <a:rPr lang="zh-CN" altLang="en-US" sz="1600" dirty="0">
                <a:solidFill>
                  <a:schemeClr val="accent1"/>
                </a:solidFill>
                <a:latin typeface="微软雅黑" panose="020B0503020204020204" pitchFamily="34" charset="-122"/>
                <a:ea typeface="微软雅黑" panose="020B0503020204020204" pitchFamily="34" charset="-122"/>
              </a:rPr>
              <a:t>正确界定影响范围</a:t>
            </a:r>
            <a:r>
              <a:rPr lang="zh-CN" altLang="en-US" sz="1600" dirty="0">
                <a:latin typeface="微软雅黑" panose="020B0503020204020204" pitchFamily="34" charset="-122"/>
                <a:ea typeface="微软雅黑" panose="020B0503020204020204" pitchFamily="34" charset="-122"/>
              </a:rPr>
              <a:t>（尤其是任务图可能漏报的预约级联损坏），将“整表重解”转化为闭包上的有界局部修复，</a:t>
            </a:r>
            <a:r>
              <a:rPr lang="zh-CN" altLang="en-US" sz="1600" dirty="0">
                <a:solidFill>
                  <a:schemeClr val="accent1"/>
                </a:solidFill>
                <a:latin typeface="微软雅黑" panose="020B0503020204020204" pitchFamily="34" charset="-122"/>
                <a:ea typeface="微软雅黑" panose="020B0503020204020204" pitchFamily="34" charset="-122"/>
              </a:rPr>
              <a:t>在有界时间内恢复可行方案，并与全局重解形成互补</a:t>
            </a:r>
            <a:r>
              <a:rPr lang="zh-CN" altLang="en-US" sz="1600" dirty="0">
                <a:latin typeface="微软雅黑" panose="020B0503020204020204" pitchFamily="34" charset="-122"/>
                <a:ea typeface="微软雅黑" panose="020B0503020204020204" pitchFamily="34" charset="-122"/>
              </a:rPr>
              <a:t>？</a:t>
            </a:r>
          </a:p>
        </p:txBody>
      </p:sp>
      <p:sp>
        <p:nvSpPr>
          <p:cNvPr id="11" name="矩形 15">
            <a:extLst>
              <a:ext uri="{FF2B5EF4-FFF2-40B4-BE49-F238E27FC236}">
                <a16:creationId xmlns:a16="http://schemas.microsoft.com/office/drawing/2014/main" xmlns="" id="{D1DA1CBD-3A3E-B1D2-2E8E-D2E778448E63}"/>
              </a:ext>
            </a:extLst>
          </p:cNvPr>
          <p:cNvSpPr/>
          <p:nvPr/>
        </p:nvSpPr>
        <p:spPr>
          <a:xfrm>
            <a:off x="2" y="2914363"/>
            <a:ext cx="2267262" cy="222913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1.如何精确界定影响范围？</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2.如何将全局重调度转化为规模可控的局部修复？</a:t>
            </a:r>
          </a:p>
          <a:p>
            <a:pPr marL="285750" lvl="0" indent="-285750">
              <a:buFont typeface="Arial" panose="020B0604020202020204" pitchFamily="34" charset="0"/>
              <a:buChar char="•"/>
            </a:pPr>
            <a:r>
              <a:rPr lang="en-US" altLang="zh-CN" sz="1600" dirty="0">
                <a:solidFill>
                  <a:schemeClr val="tx1"/>
                </a:solidFill>
                <a:latin typeface="华文楷体" panose="02010600040101010101" pitchFamily="2" charset="-122"/>
                <a:ea typeface="华文楷体" panose="02010600040101010101" pitchFamily="2" charset="-122"/>
              </a:rPr>
              <a:t>3.局部修复应沿用统一搜索器，还是与研究内容一的全局重解分工？</a:t>
            </a:r>
          </a:p>
        </p:txBody>
      </p:sp>
      <mc:AlternateContent xmlns:mc="http://schemas.openxmlformats.org/markup-compatibility/2006" xmlns:a14="http://schemas.microsoft.com/office/drawing/2010/main">
        <mc:Choice Requires="a14">
          <p:sp>
            <p:nvSpPr>
              <p:cNvPr id="12" name="矩形 16">
                <a:extLst>
                  <a:ext uri="{FF2B5EF4-FFF2-40B4-BE49-F238E27FC236}">
                    <a16:creationId xmlns:a16="http://schemas.microsoft.com/office/drawing/2014/main" xmlns="" id="{2490D3E7-79A8-2F32-DC0E-D87FE9C24420}"/>
                  </a:ext>
                </a:extLst>
              </p:cNvPr>
              <p:cNvSpPr/>
              <p:nvPr/>
            </p:nvSpPr>
            <p:spPr>
              <a:xfrm>
                <a:off x="2543380" y="2211709"/>
                <a:ext cx="4205733" cy="294155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altLang="zh-CN" sz="1600" b="1" dirty="0">
                    <a:solidFill>
                      <a:schemeClr val="tx1"/>
                    </a:solidFill>
                    <a:latin typeface="华文楷体" panose="02010600040101010101" pitchFamily="2" charset="-122"/>
                    <a:ea typeface="华文楷体" panose="02010600040101010101" pitchFamily="2" charset="-122"/>
                  </a:rPr>
                  <a:t>1.</a:t>
                </a:r>
                <a:r>
                  <a:rPr lang="zh-CN" altLang="zh-CN" sz="1600" b="1" dirty="0">
                    <a:solidFill>
                      <a:schemeClr val="tx1"/>
                    </a:solidFill>
                    <a:latin typeface="华文楷体" panose="02010600040101010101" pitchFamily="2" charset="-122"/>
                    <a:ea typeface="华文楷体" panose="02010600040101010101" pitchFamily="2" charset="-122"/>
                  </a:rPr>
                  <a:t>用时空预约影响闭包（</a:t>
                </a:r>
                <a:r>
                  <a:rPr lang="en-US" altLang="zh-CN" sz="1600" b="1" dirty="0">
                    <a:solidFill>
                      <a:schemeClr val="tx1"/>
                    </a:solidFill>
                    <a:latin typeface="华文楷体" panose="02010600040101010101" pitchFamily="2" charset="-122"/>
                    <a:ea typeface="华文楷体" panose="02010600040101010101" pitchFamily="2" charset="-122"/>
                  </a:rPr>
                  <a:t>STRC</a:t>
                </a:r>
                <a:r>
                  <a:rPr lang="zh-CN" altLang="zh-CN" sz="1600" b="1" dirty="0">
                    <a:solidFill>
                      <a:schemeClr val="tx1"/>
                    </a:solidFill>
                    <a:latin typeface="华文楷体" panose="02010600040101010101" pitchFamily="2" charset="-122"/>
                    <a:ea typeface="华文楷体" panose="02010600040101010101" pitchFamily="2" charset="-122"/>
                  </a:rPr>
                  <a:t>）划界</a:t>
                </a:r>
                <a:r>
                  <a:rPr lang="zh-CN" altLang="zh-CN" sz="1600" dirty="0">
                    <a:solidFill>
                      <a:schemeClr val="tx1"/>
                    </a:solidFill>
                    <a:latin typeface="华文楷体" panose="02010600040101010101" pitchFamily="2" charset="-122"/>
                    <a:ea typeface="华文楷体" panose="02010600040101010101" pitchFamily="2" charset="-122"/>
                  </a:rPr>
                  <a:t>：以与扰动重叠的失效预约为起点，沿阻塞/同车/同工件等依赖取传递闭包；不再仅依赖任务依赖图的广度优先搜索。外侧冻结：闭包外已承诺预约原则上不改写。有界修复：闭包内优先改路；失败则扩大允许改写的预约范围（工件后缀→同车后缀→全部尚未结束的预约</a:t>
                </a:r>
                <a:r>
                  <a:rPr lang="zh-CN" altLang="zh-CN" sz="1600" dirty="0" smtClean="0">
                    <a:solidFill>
                      <a:schemeClr val="tx1"/>
                    </a:solidFill>
                    <a:latin typeface="华文楷体" panose="02010600040101010101" pitchFamily="2" charset="-122"/>
                    <a:ea typeface="华文楷体" panose="02010600040101010101" pitchFamily="2" charset="-122"/>
                  </a:rPr>
                  <a:t>）</a:t>
                </a:r>
                <a:endParaRPr lang="en-US" altLang="zh-CN" dirty="0"/>
              </a:p>
              <a:p>
                <a:pPr lvl="0"/>
                <a:r>
                  <a:rPr lang="en-US" altLang="zh-CN" sz="1600" b="1" dirty="0">
                    <a:solidFill>
                      <a:schemeClr val="tx1"/>
                    </a:solidFill>
                    <a:latin typeface="华文楷体" panose="02010600040101010101" pitchFamily="2" charset="-122"/>
                    <a:ea typeface="华文楷体" panose="02010600040101010101" pitchFamily="2" charset="-122"/>
                  </a:rPr>
                  <a:t>2.</a:t>
                </a:r>
                <a:r>
                  <a:rPr lang="zh-CN" altLang="zh-CN" sz="1600" b="1" dirty="0">
                    <a:solidFill>
                      <a:schemeClr val="tx1"/>
                    </a:solidFill>
                    <a:latin typeface="华文楷体" panose="02010600040101010101" pitchFamily="2" charset="-122"/>
                    <a:ea typeface="华文楷体" panose="02010600040101010101" pitchFamily="2" charset="-122"/>
                  </a:rPr>
                  <a:t>与全局重解互补</a:t>
                </a:r>
                <a:r>
                  <a:rPr lang="zh-CN" altLang="zh-CN" sz="1600" dirty="0">
                    <a:solidFill>
                      <a:schemeClr val="tx1"/>
                    </a:solidFill>
                    <a:latin typeface="华文楷体" panose="02010600040101010101" pitchFamily="2" charset="-122"/>
                    <a:ea typeface="华文楷体" panose="02010600040101010101" pitchFamily="2" charset="-122"/>
                  </a:rPr>
                  <a:t>：紧预算用</a:t>
                </a:r>
                <a:r>
                  <a:rPr lang="en-US" altLang="zh-CN" sz="1600" dirty="0">
                    <a:solidFill>
                      <a:schemeClr val="tx1"/>
                    </a:solidFill>
                    <a:latin typeface="华文楷体" panose="02010600040101010101" pitchFamily="2" charset="-122"/>
                    <a:ea typeface="华文楷体" panose="02010600040101010101" pitchFamily="2" charset="-122"/>
                  </a:rPr>
                  <a:t> STRC </a:t>
                </a:r>
                <a:r>
                  <a:rPr lang="zh-CN" altLang="zh-CN" sz="1600" dirty="0">
                    <a:solidFill>
                      <a:schemeClr val="tx1"/>
                    </a:solidFill>
                    <a:latin typeface="华文楷体" panose="02010600040101010101" pitchFamily="2" charset="-122"/>
                    <a:ea typeface="华文楷体" panose="02010600040101010101" pitchFamily="2" charset="-122"/>
                  </a:rPr>
                  <a:t>局部修复；宽预算下由研究内容一的热启动重解改善完工时间</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600" i="1">
                            <a:solidFill>
                              <a:schemeClr val="tx1"/>
                            </a:solidFill>
                            <a:latin typeface="Cambria Math" panose="02040503050406030204" pitchFamily="18" charset="0"/>
                          </a:rPr>
                        </m:ctrlPr>
                      </m:sSubPr>
                      <m:e>
                        <m:r>
                          <a:rPr lang="zh-CN" altLang="en-US" sz="1600">
                            <a:solidFill>
                              <a:schemeClr val="tx1"/>
                            </a:solidFill>
                            <a:latin typeface="Cambria Math" panose="02040503050406030204" pitchFamily="18" charset="0"/>
                          </a:rPr>
                          <m:t>𝐶</m:t>
                        </m:r>
                      </m:e>
                      <m:sub>
                        <m:r>
                          <m:rPr>
                            <m:sty m:val="p"/>
                          </m:rPr>
                          <a:rPr lang="en-US" altLang="zh-CN" sz="1600">
                            <a:solidFill>
                              <a:schemeClr val="tx1"/>
                            </a:solidFill>
                            <a:latin typeface="Cambria Math" panose="02040503050406030204" pitchFamily="18" charset="0"/>
                          </a:rPr>
                          <m:t>max</m:t>
                        </m:r>
                      </m:sub>
                    </m:sSub>
                  </m:oMath>
                </a14:m>
                <a:r>
                  <a:rPr lang="zh-CN" altLang="zh-CN" sz="1600" dirty="0">
                    <a:solidFill>
                      <a:schemeClr val="tx1"/>
                    </a:solidFill>
                    <a:latin typeface="华文楷体" panose="02010600040101010101" pitchFamily="2" charset="-122"/>
                    <a:ea typeface="华文楷体" panose="02010600040101010101" pitchFamily="2" charset="-122"/>
                  </a:rPr>
                  <a:t>（对照</a:t>
                </a:r>
                <a:r>
                  <a:rPr lang="en-US" altLang="zh-CN" sz="1600" dirty="0">
                    <a:solidFill>
                      <a:schemeClr val="tx1"/>
                    </a:solidFill>
                    <a:latin typeface="华文楷体" panose="02010600040101010101" pitchFamily="2" charset="-122"/>
                    <a:ea typeface="华文楷体" panose="02010600040101010101" pitchFamily="2" charset="-122"/>
                  </a:rPr>
                  <a:t> R1=</a:t>
                </a:r>
                <a:r>
                  <a:rPr lang="zh-CN" altLang="zh-CN" sz="1600" dirty="0">
                    <a:solidFill>
                      <a:schemeClr val="tx1"/>
                    </a:solidFill>
                    <a:latin typeface="华文楷体" panose="02010600040101010101" pitchFamily="2" charset="-122"/>
                    <a:ea typeface="华文楷体" panose="02010600040101010101" pitchFamily="2" charset="-122"/>
                  </a:rPr>
                  <a:t>任务图边界、</a:t>
                </a:r>
                <a:r>
                  <a:rPr lang="en-US" altLang="zh-CN" sz="1600" dirty="0">
                    <a:solidFill>
                      <a:schemeClr val="tx1"/>
                    </a:solidFill>
                    <a:latin typeface="华文楷体" panose="02010600040101010101" pitchFamily="2" charset="-122"/>
                    <a:ea typeface="华文楷体" panose="02010600040101010101" pitchFamily="2" charset="-122"/>
                  </a:rPr>
                  <a:t>R0+=</a:t>
                </a:r>
                <a:r>
                  <a:rPr lang="zh-CN" altLang="zh-CN" sz="1600" dirty="0">
                    <a:solidFill>
                      <a:schemeClr val="tx1"/>
                    </a:solidFill>
                    <a:latin typeface="华文楷体" panose="02010600040101010101" pitchFamily="2" charset="-122"/>
                    <a:ea typeface="华文楷体" panose="02010600040101010101" pitchFamily="2" charset="-122"/>
                  </a:rPr>
                  <a:t>全局重解）</a:t>
                </a:r>
              </a:p>
            </p:txBody>
          </p:sp>
        </mc:Choice>
        <mc:Fallback xmlns="">
          <p:sp>
            <p:nvSpPr>
              <p:cNvPr id="12" name="矩形 16">
                <a:extLst>
                  <a:ext uri="{FF2B5EF4-FFF2-40B4-BE49-F238E27FC236}">
                    <a16:creationId xmlns="" xmlns:a16="http://schemas.microsoft.com/office/drawing/2014/main" xmlns:a14="http://schemas.microsoft.com/office/drawing/2010/main" id="{2490D3E7-79A8-2F32-DC0E-D87FE9C24420}"/>
                  </a:ext>
                </a:extLst>
              </p:cNvPr>
              <p:cNvSpPr>
                <a:spLocks noRot="1" noChangeAspect="1" noMove="1" noResize="1" noEditPoints="1" noAdjustHandles="1" noChangeArrowheads="1" noChangeShapeType="1" noTextEdit="1"/>
              </p:cNvSpPr>
              <p:nvPr/>
            </p:nvSpPr>
            <p:spPr>
              <a:xfrm>
                <a:off x="2543380" y="2211709"/>
                <a:ext cx="4205733" cy="2941553"/>
              </a:xfrm>
              <a:prstGeom prst="rect">
                <a:avLst/>
              </a:prstGeom>
              <a:blipFill rotWithShape="0">
                <a:blip r:embed="rId4"/>
                <a:stretch>
                  <a:fillRect l="-725" t="-1660" r="-4493" b="-435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7">
                <a:extLst>
                  <a:ext uri="{FF2B5EF4-FFF2-40B4-BE49-F238E27FC236}">
                    <a16:creationId xmlns:a16="http://schemas.microsoft.com/office/drawing/2014/main" xmlns="" id="{23EE7914-9968-82EC-24D1-DAA2EBD966DA}"/>
                  </a:ext>
                </a:extLst>
              </p:cNvPr>
              <p:cNvSpPr/>
              <p:nvPr/>
            </p:nvSpPr>
            <p:spPr>
              <a:xfrm>
                <a:off x="7025229" y="2904480"/>
                <a:ext cx="2115871" cy="2231519"/>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dirty="0">
                    <a:solidFill>
                      <a:schemeClr val="tx1"/>
                    </a:solidFill>
                    <a:latin typeface="华文楷体" panose="02010600040101010101" pitchFamily="2" charset="-122"/>
                    <a:ea typeface="华文楷体" panose="02010600040101010101" pitchFamily="2" charset="-122"/>
                  </a:rPr>
                  <a:t>输出更新方案</a:t>
                </a:r>
                <a:r>
                  <a:rPr lang="en-US" altLang="zh-CN" sz="16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sSup>
                      <m:sSupPr>
                        <m:ctrlPr>
                          <a:rPr lang="zh-CN" altLang="en-US" sz="1600" i="1">
                            <a:solidFill>
                              <a:schemeClr val="tx1"/>
                            </a:solidFill>
                            <a:latin typeface="Cambria Math" panose="02040503050406030204" pitchFamily="18" charset="0"/>
                            <a:ea typeface="华文楷体" panose="02010600040101010101" pitchFamily="2" charset="-122"/>
                          </a:rPr>
                        </m:ctrlPr>
                      </m:sSupPr>
                      <m:e>
                        <m:r>
                          <a:rPr lang="zh-CN" altLang="en-US" sz="1600">
                            <a:solidFill>
                              <a:schemeClr val="tx1"/>
                            </a:solidFill>
                            <a:latin typeface="Cambria Math" panose="02040503050406030204" pitchFamily="18" charset="0"/>
                            <a:ea typeface="华文楷体" panose="02010600040101010101" pitchFamily="2" charset="-122"/>
                          </a:rPr>
                          <m:t>𝒮</m:t>
                        </m:r>
                      </m:e>
                      <m:sup>
                        <m:r>
                          <a:rPr lang="en-US" altLang="zh-CN" sz="1600">
                            <a:solidFill>
                              <a:schemeClr val="tx1"/>
                            </a:solidFill>
                            <a:latin typeface="Cambria Math" panose="02040503050406030204" pitchFamily="18" charset="0"/>
                            <a:ea typeface="华文楷体" panose="02010600040101010101" pitchFamily="2" charset="-122"/>
                          </a:rPr>
                          <m:t>′</m:t>
                        </m:r>
                      </m:sup>
                    </m:sSup>
                  </m:oMath>
                </a14:m>
                <a:r>
                  <a:rPr lang="zh-CN" altLang="zh-CN" sz="1600" dirty="0">
                    <a:solidFill>
                      <a:schemeClr val="tx1"/>
                    </a:solidFill>
                    <a:latin typeface="华文楷体" panose="02010600040101010101" pitchFamily="2" charset="-122"/>
                    <a:ea typeface="华文楷体" panose="02010600040101010101" pitchFamily="2" charset="-122"/>
                  </a:rPr>
                  <a:t>（可行预约表</a:t>
                </a:r>
                <a:r>
                  <a:rPr lang="en-US" altLang="zh-CN" sz="1600" dirty="0">
                    <a:solidFill>
                      <a:schemeClr val="tx1"/>
                    </a:solidFill>
                    <a:latin typeface="华文楷体" panose="02010600040101010101" pitchFamily="2" charset="-122"/>
                    <a:ea typeface="华文楷体" panose="02010600040101010101" pitchFamily="2" charset="-122"/>
                  </a:rPr>
                  <a:t> + </a:t>
                </a:r>
                <a:r>
                  <a:rPr lang="zh-CN" altLang="zh-CN" sz="1600" dirty="0">
                    <a:solidFill>
                      <a:schemeClr val="tx1"/>
                    </a:solidFill>
                    <a:latin typeface="华文楷体" panose="02010600040101010101" pitchFamily="2" charset="-122"/>
                    <a:ea typeface="华文楷体" panose="02010600040101010101" pitchFamily="2" charset="-122"/>
                  </a:rPr>
                  <a:t>局部调整后的路径</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时序）</a:t>
                </a:r>
              </a:p>
              <a:p>
                <a:r>
                  <a:rPr lang="zh-CN" altLang="zh-CN" sz="1600" dirty="0">
                    <a:solidFill>
                      <a:schemeClr val="tx1"/>
                    </a:solidFill>
                    <a:latin typeface="华文楷体" panose="02010600040101010101" pitchFamily="2" charset="-122"/>
                    <a:ea typeface="华文楷体" panose="02010600040101010101" pitchFamily="2" charset="-122"/>
                  </a:rPr>
                  <a:t>并进行验证：可行性校验、相对任务图边界的漏报对照、耗时</a:t>
                </a:r>
                <a:r>
                  <a:rPr lang="en-US" altLang="zh-CN" sz="1600" dirty="0">
                    <a:solidFill>
                      <a:schemeClr val="tx1"/>
                    </a:solidFill>
                    <a:latin typeface="华文楷体" panose="02010600040101010101" pitchFamily="2" charset="-122"/>
                    <a:ea typeface="华文楷体" panose="02010600040101010101" pitchFamily="2" charset="-122"/>
                  </a:rPr>
                  <a:t>/</a:t>
                </a:r>
                <a:r>
                  <a:rPr lang="zh-CN" altLang="zh-CN" sz="1600" dirty="0">
                    <a:solidFill>
                      <a:schemeClr val="tx1"/>
                    </a:solidFill>
                    <a:latin typeface="华文楷体" panose="02010600040101010101" pitchFamily="2" charset="-122"/>
                    <a:ea typeface="华文楷体" panose="02010600040101010101" pitchFamily="2" charset="-122"/>
                  </a:rPr>
                  <a:t>预约扰动量</a:t>
                </a:r>
                <a:r>
                  <a:rPr lang="en-US" altLang="zh-CN" sz="1600" dirty="0">
                    <a:solidFill>
                      <a:schemeClr val="tx1"/>
                    </a:solidFill>
                    <a:latin typeface="华文楷体" panose="02010600040101010101" pitchFamily="2" charset="-122"/>
                    <a:ea typeface="华文楷体" panose="02010600040101010101" pitchFamily="2" charset="-122"/>
                  </a:rPr>
                  <a:t>/</a:t>
                </a:r>
                <a14:m>
                  <m:oMath xmlns:m="http://schemas.openxmlformats.org/officeDocument/2006/math">
                    <m:sSub>
                      <m:sSubPr>
                        <m:ctrlPr>
                          <a:rPr lang="zh-CN" altLang="en-US" sz="1600" i="1">
                            <a:solidFill>
                              <a:schemeClr val="tx1"/>
                            </a:solidFill>
                            <a:latin typeface="Cambria Math" panose="02040503050406030204" pitchFamily="18" charset="0"/>
                            <a:ea typeface="华文楷体" panose="02010600040101010101" pitchFamily="2" charset="-122"/>
                          </a:rPr>
                        </m:ctrlPr>
                      </m:sSubPr>
                      <m:e>
                        <m:r>
                          <a:rPr lang="zh-CN" altLang="en-US" sz="1600">
                            <a:solidFill>
                              <a:schemeClr val="tx1"/>
                            </a:solidFill>
                            <a:latin typeface="Cambria Math" panose="02040503050406030204" pitchFamily="18" charset="0"/>
                            <a:ea typeface="华文楷体" panose="02010600040101010101" pitchFamily="2" charset="-122"/>
                          </a:rPr>
                          <m:t>𝐶</m:t>
                        </m:r>
                      </m:e>
                      <m:sub>
                        <m:r>
                          <m:rPr>
                            <m:sty m:val="p"/>
                          </m:rPr>
                          <a:rPr lang="en-US" altLang="zh-CN" sz="1600">
                            <a:solidFill>
                              <a:schemeClr val="tx1"/>
                            </a:solidFill>
                            <a:latin typeface="Cambria Math" panose="02040503050406030204" pitchFamily="18" charset="0"/>
                            <a:ea typeface="华文楷体" panose="02010600040101010101" pitchFamily="2" charset="-122"/>
                          </a:rPr>
                          <m:t>max</m:t>
                        </m:r>
                      </m:sub>
                    </m:sSub>
                  </m:oMath>
                </a14:m>
                <a:r>
                  <a:rPr lang="en-US" altLang="zh-CN" sz="1600" dirty="0">
                    <a:solidFill>
                      <a:schemeClr val="tx1"/>
                    </a:solidFill>
                    <a:latin typeface="华文楷体" panose="02010600040101010101" pitchFamily="2" charset="-122"/>
                    <a:ea typeface="华文楷体" panose="02010600040101010101" pitchFamily="2" charset="-122"/>
                  </a:rPr>
                  <a:t> </a:t>
                </a:r>
                <a:r>
                  <a:rPr lang="zh-CN" altLang="zh-CN" sz="1600" dirty="0">
                    <a:solidFill>
                      <a:schemeClr val="tx1"/>
                    </a:solidFill>
                    <a:latin typeface="华文楷体" panose="02010600040101010101" pitchFamily="2" charset="-122"/>
                    <a:ea typeface="华文楷体" panose="02010600040101010101" pitchFamily="2" charset="-122"/>
                  </a:rPr>
                  <a:t>与全局重解的互补关系</a:t>
                </a:r>
              </a:p>
            </p:txBody>
          </p:sp>
        </mc:Choice>
        <mc:Fallback xmlns="">
          <p:sp>
            <p:nvSpPr>
              <p:cNvPr id="13" name="矩形 17">
                <a:extLst>
                  <a:ext uri="{FF2B5EF4-FFF2-40B4-BE49-F238E27FC236}">
                    <a16:creationId xmlns:a16="http://schemas.microsoft.com/office/drawing/2014/main" id="{23EE7914-9968-82EC-24D1-DAA2EBD966DA}"/>
                  </a:ext>
                </a:extLst>
              </p:cNvPr>
              <p:cNvSpPr>
                <a:spLocks noRot="1" noChangeAspect="1" noMove="1" noResize="1" noEditPoints="1" noAdjustHandles="1" noChangeArrowheads="1" noChangeShapeType="1" noTextEdit="1"/>
              </p:cNvSpPr>
              <p:nvPr/>
            </p:nvSpPr>
            <p:spPr>
              <a:xfrm>
                <a:off x="7025229" y="2904480"/>
                <a:ext cx="2115871" cy="2231519"/>
              </a:xfrm>
              <a:prstGeom prst="rect">
                <a:avLst/>
              </a:prstGeom>
              <a:blipFill>
                <a:blip r:embed="rId5"/>
                <a:stretch>
                  <a:fillRect l="-1437" r="-575"/>
                </a:stretch>
              </a:blipFill>
              <a:ln>
                <a:noFill/>
              </a:ln>
            </p:spPr>
            <p:txBody>
              <a:bodyPr/>
              <a:lstStyle/>
              <a:p>
                <a:r>
                  <a:rPr lang="zh-CN" altLang="en-US">
                    <a:noFill/>
                  </a:rPr>
                  <a:t> </a:t>
                </a:r>
              </a:p>
            </p:txBody>
          </p:sp>
        </mc:Fallback>
      </mc:AlternateContent>
      <p:sp>
        <p:nvSpPr>
          <p:cNvPr id="14" name="右箭头 21">
            <a:extLst>
              <a:ext uri="{FF2B5EF4-FFF2-40B4-BE49-F238E27FC236}">
                <a16:creationId xmlns:a16="http://schemas.microsoft.com/office/drawing/2014/main" xmlns="" id="{4A2D5ED0-34AC-3EA7-8B9C-9392002423B8}"/>
              </a:ext>
            </a:extLst>
          </p:cNvPr>
          <p:cNvSpPr/>
          <p:nvPr/>
        </p:nvSpPr>
        <p:spPr>
          <a:xfrm>
            <a:off x="2290583" y="3936441"/>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22">
            <a:extLst>
              <a:ext uri="{FF2B5EF4-FFF2-40B4-BE49-F238E27FC236}">
                <a16:creationId xmlns:a16="http://schemas.microsoft.com/office/drawing/2014/main" xmlns="" id="{74B83F07-EF9C-749E-29C6-1C7EBBB9D2CD}"/>
              </a:ext>
            </a:extLst>
          </p:cNvPr>
          <p:cNvSpPr/>
          <p:nvPr/>
        </p:nvSpPr>
        <p:spPr>
          <a:xfrm>
            <a:off x="6749113" y="3936440"/>
            <a:ext cx="245110" cy="2228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36945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2A379AC-F599-34BC-3C72-BF330E2D65B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3F28AF05-A1F3-6DDE-D4C8-C4B4A8C45128}"/>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C2245C81-B45F-80FD-5182-911E52BC650C}"/>
              </a:ext>
            </a:extLst>
          </p:cNvPr>
          <p:cNvSpPr/>
          <p:nvPr/>
        </p:nvSpPr>
        <p:spPr>
          <a:xfrm>
            <a:off x="5508104" y="190500"/>
            <a:ext cx="3635896" cy="178435"/>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349E7F22-287E-F1FF-DB0E-D31077A38EB3}"/>
              </a:ext>
            </a:extLst>
          </p:cNvPr>
          <p:cNvSpPr txBox="1">
            <a:spLocks noChangeArrowheads="1"/>
          </p:cNvSpPr>
          <p:nvPr/>
        </p:nvSpPr>
        <p:spPr bwMode="auto">
          <a:xfrm>
            <a:off x="843280" y="103505"/>
            <a:ext cx="6825064"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r>
              <a:rPr lang="zh-CN" altLang="en-US" sz="2000" b="1" dirty="0">
                <a:latin typeface="微软雅黑" panose="020B0503020204020204" pitchFamily="34" charset="-122"/>
                <a:ea typeface="微软雅黑" panose="020B0503020204020204" pitchFamily="34" charset="-122"/>
              </a:rPr>
              <a:t>基于时空预约影响闭包的局部重调度方法</a:t>
            </a:r>
            <a:endParaRPr lang="zh-CN" altLang="en-US" sz="2000" b="1" dirty="0">
              <a:solidFill>
                <a:schemeClr val="bg1">
                  <a:lumMod val="75000"/>
                </a:schemeClr>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xmlns="" id="{0B83CA43-7DC4-1580-8BA1-9D6DB68EB1F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6" name="Rectangle 2">
            <a:extLst>
              <a:ext uri="{FF2B5EF4-FFF2-40B4-BE49-F238E27FC236}">
                <a16:creationId xmlns:a16="http://schemas.microsoft.com/office/drawing/2014/main" xmlns="" id="{8333C154-0ABF-DFE6-C39E-D95F0A677387}"/>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灯片编号占位符 6">
            <a:extLst>
              <a:ext uri="{FF2B5EF4-FFF2-40B4-BE49-F238E27FC236}">
                <a16:creationId xmlns:a16="http://schemas.microsoft.com/office/drawing/2014/main" xmlns="" id="{5283F55D-848A-9224-B129-E73B6370CDE7}"/>
              </a:ext>
            </a:extLst>
          </p:cNvPr>
          <p:cNvSpPr>
            <a:spLocks noGrp="1"/>
          </p:cNvSpPr>
          <p:nvPr>
            <p:ph type="sldNum" sz="quarter" idx="12"/>
          </p:nvPr>
        </p:nvSpPr>
        <p:spPr/>
        <p:txBody>
          <a:bodyPr/>
          <a:lstStyle/>
          <a:p>
            <a:fld id="{0C913308-F349-4B6D-A68A-DD1791B4A57B}" type="slidenum">
              <a:rPr lang="zh-CN" altLang="en-US" smtClean="0"/>
              <a:t>20</a:t>
            </a:fld>
            <a:endParaRPr lang="zh-CN" altLang="en-US" dirty="0"/>
          </a:p>
        </p:txBody>
      </p:sp>
      <p:pic>
        <p:nvPicPr>
          <p:cNvPr id="9" name="图片 8">
            <a:extLst>
              <a:ext uri="{FF2B5EF4-FFF2-40B4-BE49-F238E27FC236}">
                <a16:creationId xmlns:a16="http://schemas.microsoft.com/office/drawing/2014/main" xmlns="" id="{A216F06A-07A3-6CB6-9125-EB6228E295E2}"/>
              </a:ext>
            </a:extLst>
          </p:cNvPr>
          <p:cNvPicPr>
            <a:picLocks noChangeAspect="1"/>
          </p:cNvPicPr>
          <p:nvPr/>
        </p:nvPicPr>
        <p:blipFill>
          <a:blip r:embed="rId3"/>
          <a:stretch>
            <a:fillRect/>
          </a:stretch>
        </p:blipFill>
        <p:spPr>
          <a:xfrm>
            <a:off x="0" y="2037766"/>
            <a:ext cx="5597023" cy="2629926"/>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xmlns="" id="{BAA52617-987E-3A9E-720B-795A28E338BF}"/>
                  </a:ext>
                </a:extLst>
              </p:cNvPr>
              <p:cNvSpPr txBox="1"/>
              <p:nvPr/>
            </p:nvSpPr>
            <p:spPr>
              <a:xfrm>
                <a:off x="19396" y="655773"/>
                <a:ext cx="9017099"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问题：</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扰动后不能只靠任务依赖图划影响域</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走廊阻断等可不改任何工序指派，任务图上</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𝑇</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direct</m:t>
                        </m:r>
                      </m:sub>
                    </m:sSub>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，却会令预约表大量失效并沿阻塞关系级联。</a:t>
                </a:r>
              </a:p>
            </p:txBody>
          </p:sp>
        </mc:Choice>
        <mc:Fallback xmlns="">
          <p:sp>
            <p:nvSpPr>
              <p:cNvPr id="17" name="文本框 16">
                <a:extLst>
                  <a:ext uri="{FF2B5EF4-FFF2-40B4-BE49-F238E27FC236}">
                    <a16:creationId xmlns:a16="http://schemas.microsoft.com/office/drawing/2014/main" id="{BAA52617-987E-3A9E-720B-795A28E338BF}"/>
                  </a:ext>
                </a:extLst>
              </p:cNvPr>
              <p:cNvSpPr txBox="1">
                <a:spLocks noRot="1" noChangeAspect="1" noMove="1" noResize="1" noEditPoints="1" noAdjustHandles="1" noChangeArrowheads="1" noChangeShapeType="1" noTextEdit="1"/>
              </p:cNvSpPr>
              <p:nvPr/>
            </p:nvSpPr>
            <p:spPr>
              <a:xfrm>
                <a:off x="19396" y="655773"/>
                <a:ext cx="9017099" cy="641907"/>
              </a:xfrm>
              <a:prstGeom prst="rect">
                <a:avLst/>
              </a:prstGeom>
              <a:blipFill>
                <a:blip r:embed="rId4"/>
                <a:stretch>
                  <a:fillRect l="-338" b="-123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xmlns="" id="{9F4BBB46-8275-A526-D246-094FB2D10B57}"/>
                  </a:ext>
                </a:extLst>
              </p:cNvPr>
              <p:cNvSpPr txBox="1"/>
              <p:nvPr/>
            </p:nvSpPr>
            <p:spPr>
              <a:xfrm>
                <a:off x="5364088" y="3449964"/>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定位：</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5.1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同场景、同下层路由；上层改为局部修复。紧预算下保证可行并减少预约改动；宽预算下由全局重解改善完工时间</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ctrlPr>
                      </m:sSubPr>
                      <m:e>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𝐶</m:t>
                        </m:r>
                      </m:e>
                      <m:sub>
                        <m:r>
                          <m:rPr>
                            <m:sty m:val="p"/>
                          </m:rPr>
                          <a:rPr lang="en-US" altLang="zh-CN" sz="1600" kern="100">
                            <a:effectLst/>
                            <a:latin typeface="Cambria Math" panose="02040503050406030204" pitchFamily="18" charset="0"/>
                            <a:ea typeface="等线" panose="02010600030101010101" pitchFamily="2" charset="-122"/>
                            <a:cs typeface="Times New Roman" panose="02020603050405020304" pitchFamily="18" charset="0"/>
                          </a:rPr>
                          <m:t>max</m:t>
                        </m:r>
                      </m:sub>
                    </m:sSub>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，二者互补。</a:t>
                </a:r>
              </a:p>
            </p:txBody>
          </p:sp>
        </mc:Choice>
        <mc:Fallback xmlns="">
          <p:sp>
            <p:nvSpPr>
              <p:cNvPr id="19" name="文本框 18">
                <a:extLst>
                  <a:ext uri="{FF2B5EF4-FFF2-40B4-BE49-F238E27FC236}">
                    <a16:creationId xmlns:a16="http://schemas.microsoft.com/office/drawing/2014/main" id="{9F4BBB46-8275-A526-D246-094FB2D10B57}"/>
                  </a:ext>
                </a:extLst>
              </p:cNvPr>
              <p:cNvSpPr txBox="1">
                <a:spLocks noRot="1" noChangeAspect="1" noMove="1" noResize="1" noEditPoints="1" noAdjustHandles="1" noChangeArrowheads="1" noChangeShapeType="1" noTextEdit="1"/>
              </p:cNvSpPr>
              <p:nvPr/>
            </p:nvSpPr>
            <p:spPr>
              <a:xfrm>
                <a:off x="5364088" y="3449964"/>
                <a:ext cx="3779912" cy="925831"/>
              </a:xfrm>
              <a:prstGeom prst="rect">
                <a:avLst/>
              </a:prstGeom>
              <a:blipFill>
                <a:blip r:embed="rId5"/>
                <a:stretch>
                  <a:fillRect l="-968" b="-38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xmlns="" id="{475C8183-2B71-7A85-6457-344DED33E215}"/>
                  </a:ext>
                </a:extLst>
              </p:cNvPr>
              <p:cNvSpPr txBox="1"/>
              <p:nvPr/>
            </p:nvSpPr>
            <p:spPr>
              <a:xfrm>
                <a:off x="19396" y="1395859"/>
                <a:ext cx="8873083" cy="641907"/>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对象：</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时空预约影响闭包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以失效预约为起点，沿阻塞/同车/同工件等依赖取传递闭包，得到应当改写的范围</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zh-CN" altLang="en-US" sz="1600" i="1" kern="100">
                        <a:effectLst/>
                        <a:latin typeface="Cambria Math" panose="02040503050406030204" pitchFamily="18" charset="0"/>
                        <a:ea typeface="等线" panose="02010600030101010101" pitchFamily="2" charset="-122"/>
                        <a:cs typeface="Times New Roman" panose="02020603050405020304" pitchFamily="18" charset="0"/>
                      </a:rPr>
                      <m:t>𝑈</m:t>
                    </m:r>
                  </m:oMath>
                </a14:m>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；闭包外冻结。</a:t>
                </a:r>
              </a:p>
            </p:txBody>
          </p:sp>
        </mc:Choice>
        <mc:Fallback xmlns="">
          <p:sp>
            <p:nvSpPr>
              <p:cNvPr id="20" name="文本框 19">
                <a:extLst>
                  <a:ext uri="{FF2B5EF4-FFF2-40B4-BE49-F238E27FC236}">
                    <a16:creationId xmlns:a16="http://schemas.microsoft.com/office/drawing/2014/main" id="{475C8183-2B71-7A85-6457-344DED33E215}"/>
                  </a:ext>
                </a:extLst>
              </p:cNvPr>
              <p:cNvSpPr txBox="1">
                <a:spLocks noRot="1" noChangeAspect="1" noMove="1" noResize="1" noEditPoints="1" noAdjustHandles="1" noChangeArrowheads="1" noChangeShapeType="1" noTextEdit="1"/>
              </p:cNvSpPr>
              <p:nvPr/>
            </p:nvSpPr>
            <p:spPr>
              <a:xfrm>
                <a:off x="19396" y="1395859"/>
                <a:ext cx="8873083" cy="641907"/>
              </a:xfrm>
              <a:prstGeom prst="rect">
                <a:avLst/>
              </a:prstGeom>
              <a:blipFill>
                <a:blip r:embed="rId6"/>
                <a:stretch>
                  <a:fillRect l="-343" b="-12381"/>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xmlns="" id="{41885F0B-0FF5-2D59-3E1B-73C81C727987}"/>
              </a:ext>
            </a:extLst>
          </p:cNvPr>
          <p:cNvSpPr txBox="1"/>
          <p:nvPr/>
        </p:nvSpPr>
        <p:spPr>
          <a:xfrm>
            <a:off x="5364088" y="2328399"/>
            <a:ext cx="3779912" cy="925831"/>
          </a:xfrm>
          <a:prstGeom prst="rect">
            <a:avLst/>
          </a:prstGeom>
          <a:noFill/>
        </p:spPr>
        <p:txBody>
          <a:bodyPr wrap="square">
            <a:spAutoFit/>
          </a:bodyPr>
          <a:lstStyle/>
          <a:p>
            <a:pPr lvl="0">
              <a:lnSpc>
                <a:spcPct val="115000"/>
              </a:lnSpc>
              <a:spcAft>
                <a:spcPts val="800"/>
              </a:spcAft>
              <a:buSzPts val="1000"/>
              <a:tabLst>
                <a:tab pos="457200" algn="l"/>
              </a:tabLst>
            </a:pPr>
            <a:r>
              <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rPr>
              <a:t>做法：</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测量（闭包）</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rPr>
              <a:t>有界修复（优先改路；失败再扩大允许改写的预约范围）→ 校验可行；不再启动一轮种群搜索。</a:t>
            </a:r>
          </a:p>
        </p:txBody>
      </p:sp>
    </p:spTree>
    <p:extLst>
      <p:ext uri="{BB962C8B-B14F-4D97-AF65-F5344CB8AC3E}">
        <p14:creationId xmlns:p14="http://schemas.microsoft.com/office/powerpoint/2010/main" val="1235242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p:cNvSpPr/>
          <p:nvPr/>
        </p:nvSpPr>
        <p:spPr>
          <a:xfrm>
            <a:off x="107504" y="675430"/>
            <a:ext cx="7931980"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实验一：考虑无冲突运输的柔性作业车间调度（闭环双层 </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预约表感知派车）验证</a:t>
            </a:r>
          </a:p>
        </p:txBody>
      </p:sp>
      <p:sp>
        <p:nvSpPr>
          <p:cNvPr id="8" name="矩形 5">
            <a:extLst>
              <a:ext uri="{FF2B5EF4-FFF2-40B4-BE49-F238E27FC236}">
                <a16:creationId xmlns:a16="http://schemas.microsoft.com/office/drawing/2014/main" xmlns="" id="{8FCC5F10-880F-82B8-5F59-9B5B229C8447}"/>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Table 8">
            <a:extLst>
              <a:ext uri="{FF2B5EF4-FFF2-40B4-BE49-F238E27FC236}">
                <a16:creationId xmlns:a16="http://schemas.microsoft.com/office/drawing/2014/main" xmlns="" id="{296A28BD-0DAB-93F0-2FFC-74BB108491A1}"/>
              </a:ext>
            </a:extLst>
          </p:cNvPr>
          <p:cNvGraphicFramePr>
            <a:graphicFrameLocks noGrp="1"/>
          </p:cNvGraphicFramePr>
          <p:nvPr>
            <p:extLst>
              <p:ext uri="{D42A27DB-BD31-4B8C-83A1-F6EECF244321}">
                <p14:modId xmlns:p14="http://schemas.microsoft.com/office/powerpoint/2010/main" val="1838979088"/>
              </p:ext>
            </p:extLst>
          </p:nvPr>
        </p:nvGraphicFramePr>
        <p:xfrm>
          <a:off x="467544" y="1320300"/>
          <a:ext cx="8229600" cy="1127760"/>
        </p:xfrm>
        <a:graphic>
          <a:graphicData uri="http://schemas.openxmlformats.org/drawingml/2006/table">
            <a:tbl>
              <a:tblPr firstRow="1" firstCol="1" bandRow="1">
                <a:tableStyleId>{5C22544A-7EE6-4342-B048-85BDC9FD1C3A}</a:tableStyleId>
              </a:tblPr>
              <a:tblGrid>
                <a:gridCol w="1778908">
                  <a:extLst>
                    <a:ext uri="{9D8B030D-6E8A-4147-A177-3AD203B41FA5}">
                      <a16:colId xmlns:a16="http://schemas.microsoft.com/office/drawing/2014/main" xmlns="" val="3947607742"/>
                    </a:ext>
                  </a:extLst>
                </a:gridCol>
                <a:gridCol w="576064">
                  <a:extLst>
                    <a:ext uri="{9D8B030D-6E8A-4147-A177-3AD203B41FA5}">
                      <a16:colId xmlns:a16="http://schemas.microsoft.com/office/drawing/2014/main" xmlns="" val="3615661026"/>
                    </a:ext>
                  </a:extLst>
                </a:gridCol>
                <a:gridCol w="5874628">
                  <a:extLst>
                    <a:ext uri="{9D8B030D-6E8A-4147-A177-3AD203B41FA5}">
                      <a16:colId xmlns:a16="http://schemas.microsoft.com/office/drawing/2014/main" xmlns="" val="2503039646"/>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975436362"/>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上层在理想</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常数运输时间意义下排产，冲突在执行或下游消解；派车依据理想最短路估计</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548892994"/>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开环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预约表感知派车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排产仍开环，仅将派车改为对预约表试探。</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711493502"/>
                  </a:ext>
                </a:extLst>
              </a:tr>
              <a:tr h="0">
                <a:tc>
                  <a:txBody>
                    <a:bodyPr/>
                    <a:lstStyle/>
                    <a:p>
                      <a:pPr marL="0" marR="0">
                        <a:lnSpc>
                          <a:spcPct val="115000"/>
                        </a:lnSpc>
                        <a:spcAft>
                          <a:spcPts val="800"/>
                        </a:spcAft>
                        <a:buNone/>
                      </a:pPr>
                      <a:r>
                        <a:rPr lang="zh-CN" altLang="zh-CN" sz="1200" b="1" kern="100" dirty="0">
                          <a:solidFill>
                            <a:schemeClr val="lt1"/>
                          </a:solidFill>
                          <a:effectLst/>
                          <a:latin typeface="+mn-lt"/>
                          <a:ea typeface="+mn-ea"/>
                          <a:cs typeface="+mn-cs"/>
                        </a:rPr>
                        <a:t>闭环</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规则派车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B1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每个候选解的适应度为下层真实无冲突路由后的完工时间；派车仍用规则。</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876154005"/>
                  </a:ext>
                </a:extLst>
              </a:tr>
            </a:tbl>
          </a:graphicData>
        </a:graphic>
      </p:graphicFrame>
      <p:sp>
        <p:nvSpPr>
          <p:cNvPr id="13" name="矩形 5">
            <a:extLst>
              <a:ext uri="{FF2B5EF4-FFF2-40B4-BE49-F238E27FC236}">
                <a16:creationId xmlns:a16="http://schemas.microsoft.com/office/drawing/2014/main" xmlns="" id="{B50BA6DF-AEFF-A4FE-FD00-1B7AC15E1593}"/>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61210C41-6F9F-A3F8-8C0D-484B82E0B73D}"/>
              </a:ext>
            </a:extLst>
          </p:cNvPr>
          <p:cNvSpPr/>
          <p:nvPr/>
        </p:nvSpPr>
        <p:spPr>
          <a:xfrm>
            <a:off x="411408" y="2700529"/>
            <a:ext cx="8317865" cy="10156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受控合成算例族：在显式走廊路网、异构可选加工设备设定下生成算例，调节争用强度、车机比、柔性程度等，使</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拥堵到什么程度值得管</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可回答；不依赖仅含常数运输矩阵的经典</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FJSP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公开集作为主对照（公开集通常无法直接表达走廊预约）。</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规模梯度：小</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中规模用于机制归因与显著性检验；必要时报告更大规模下的耗时与可行率。</a:t>
            </a:r>
          </a:p>
          <a:p>
            <a:pPr marL="171450" indent="-171450">
              <a:buFont typeface="Arial" panose="020B0604020202020204" pitchFamily="34" charset="0"/>
              <a:buChar char="•"/>
            </a:pP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F8C068C4-AF09-55A0-5274-2433C79985AB}"/>
              </a:ext>
            </a:extLst>
          </p:cNvPr>
          <p:cNvSpPr/>
          <p:nvPr/>
        </p:nvSpPr>
        <p:spPr>
          <a:xfrm>
            <a:off x="384242" y="3546915"/>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17" name="Table 16">
            <a:extLst>
              <a:ext uri="{FF2B5EF4-FFF2-40B4-BE49-F238E27FC236}">
                <a16:creationId xmlns:a16="http://schemas.microsoft.com/office/drawing/2014/main" xmlns="" id="{FA8218A1-C82C-8BAF-AFA3-C759C5EE074C}"/>
              </a:ext>
            </a:extLst>
          </p:cNvPr>
          <p:cNvGraphicFramePr>
            <a:graphicFrameLocks noGrp="1"/>
          </p:cNvGraphicFramePr>
          <p:nvPr>
            <p:extLst>
              <p:ext uri="{D42A27DB-BD31-4B8C-83A1-F6EECF244321}">
                <p14:modId xmlns:p14="http://schemas.microsoft.com/office/powerpoint/2010/main" val="317086139"/>
              </p:ext>
            </p:extLst>
          </p:nvPr>
        </p:nvGraphicFramePr>
        <p:xfrm>
          <a:off x="457200" y="3929430"/>
          <a:ext cx="8229600" cy="1146810"/>
        </p:xfrm>
        <a:graphic>
          <a:graphicData uri="http://schemas.openxmlformats.org/drawingml/2006/table">
            <a:tbl>
              <a:tblPr firstRow="1" firstCol="1" bandRow="1">
                <a:tableStyleId>{5C22544A-7EE6-4342-B048-85BDC9FD1C3A}</a:tableStyleId>
              </a:tblPr>
              <a:tblGrid>
                <a:gridCol w="2386608">
                  <a:extLst>
                    <a:ext uri="{9D8B030D-6E8A-4147-A177-3AD203B41FA5}">
                      <a16:colId xmlns:a16="http://schemas.microsoft.com/office/drawing/2014/main" xmlns="" val="3589910080"/>
                    </a:ext>
                  </a:extLst>
                </a:gridCol>
                <a:gridCol w="5842992">
                  <a:extLst>
                    <a:ext uri="{9D8B030D-6E8A-4147-A177-3AD203B41FA5}">
                      <a16:colId xmlns:a16="http://schemas.microsoft.com/office/drawing/2014/main" xmlns="" val="3599827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794717099"/>
                  </a:ext>
                </a:extLst>
              </a:tr>
              <a:tr h="0">
                <a:tc>
                  <a:txBody>
                    <a:bodyPr/>
                    <a:lstStyle/>
                    <a:p>
                      <a:pPr marL="0" marR="0">
                        <a:lnSpc>
                          <a:spcPct val="115000"/>
                        </a:lnSpc>
                        <a:spcAft>
                          <a:spcPts val="800"/>
                        </a:spcAft>
                        <a:buNone/>
                      </a:pPr>
                      <a:r>
                        <a:rPr lang="zh-CN" sz="1200" kern="100">
                          <a:effectLst/>
                        </a:rPr>
                        <a:t>调度质量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sz="1200" kern="100" dirty="0">
                          <a:effectLst/>
                        </a:rPr>
                        <a:t>总完工时间</a:t>
                      </a:r>
                      <a:r>
                        <a:rPr lang="en-US" sz="1200" kern="100" dirty="0">
                          <a:effectLst/>
                        </a:rPr>
                        <a:t> Makespan</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540079774"/>
                  </a:ext>
                </a:extLst>
              </a:tr>
              <a:tr h="0">
                <a:tc>
                  <a:txBody>
                    <a:bodyPr/>
                    <a:lstStyle/>
                    <a:p>
                      <a:pPr marL="0" marR="0">
                        <a:lnSpc>
                          <a:spcPct val="115000"/>
                        </a:lnSpc>
                        <a:spcAft>
                          <a:spcPts val="800"/>
                        </a:spcAft>
                        <a:buNone/>
                      </a:pPr>
                      <a:r>
                        <a:rPr lang="zh-CN" sz="1200" kern="100" dirty="0">
                          <a:effectLst/>
                        </a:rPr>
                        <a:t>计算效率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同挂钟预算下的评价次数</a:t>
                      </a:r>
                      <a:r>
                        <a:rPr lang="en-US" altLang="zh-CN" sz="1200" kern="100" dirty="0">
                          <a:solidFill>
                            <a:schemeClr val="dk1"/>
                          </a:solidFill>
                          <a:effectLst/>
                          <a:latin typeface="+mn-lt"/>
                          <a:ea typeface="+mn-ea"/>
                          <a:cs typeface="+mn-cs"/>
                        </a:rPr>
                        <a:t> / </a:t>
                      </a:r>
                      <a:r>
                        <a:rPr lang="zh-CN" altLang="zh-CN" sz="1200" kern="100" dirty="0">
                          <a:solidFill>
                            <a:schemeClr val="dk1"/>
                          </a:solidFill>
                          <a:effectLst/>
                          <a:latin typeface="+mn-lt"/>
                          <a:ea typeface="+mn-ea"/>
                          <a:cs typeface="+mn-cs"/>
                        </a:rPr>
                        <a:t>代数</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单次评价耗时及试探派车相对规则派车的成本倍数</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192927505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机制归因与适用边界</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闭环增益</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闭环内试探派车增益</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98069410"/>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方案可行性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独立校验器通过率（走廊独占</a:t>
                      </a:r>
                      <a:r>
                        <a:rPr lang="en-US" altLang="zh-CN"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时间窗、工艺衔接等）</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2511290769"/>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5521E8-A442-3D61-8EF5-176441E2AD7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B8778255-4A43-845B-4B2F-5F2761E56C4D}"/>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B30D6071-3B0E-9FD8-3B64-92D7A7EC25DE}"/>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4A09A54B-FE9B-FEC8-7E9A-5D6019A41AAC}"/>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6FAC473E-EE9C-C4F0-A841-BB3FF00BF7F2}"/>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C7053283-EDC8-AEF8-1695-C2DCDC1218A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9F208F86-D03D-68C6-D39A-0142D8205106}"/>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69443ECD-3C64-126C-BD15-0AE94000C8CB}"/>
              </a:ext>
            </a:extLst>
          </p:cNvPr>
          <p:cNvSpPr/>
          <p:nvPr/>
        </p:nvSpPr>
        <p:spPr>
          <a:xfrm>
            <a:off x="107504" y="675430"/>
            <a:ext cx="812273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实验二</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基于时序半马尔可夫与参考模型可行性约束的注入攻击检测方法验证</a:t>
            </a:r>
          </a:p>
        </p:txBody>
      </p:sp>
      <p:sp>
        <p:nvSpPr>
          <p:cNvPr id="8" name="矩形 5">
            <a:extLst>
              <a:ext uri="{FF2B5EF4-FFF2-40B4-BE49-F238E27FC236}">
                <a16:creationId xmlns:a16="http://schemas.microsoft.com/office/drawing/2014/main" xmlns="" id="{8734D1F7-38BE-FB37-9E5A-D33A4E0F841F}"/>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768B8860-C5D2-9C04-5F3B-ACC9AC6EEBCC}"/>
              </a:ext>
            </a:extLst>
          </p:cNvPr>
          <p:cNvSpPr/>
          <p:nvPr/>
        </p:nvSpPr>
        <p:spPr>
          <a:xfrm>
            <a:off x="384242" y="242333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93FFD7C5-4990-91E3-7049-3A91DD638DE6}"/>
              </a:ext>
            </a:extLst>
          </p:cNvPr>
          <p:cNvSpPr/>
          <p:nvPr/>
        </p:nvSpPr>
        <p:spPr>
          <a:xfrm>
            <a:off x="368935" y="2840871"/>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主数据：</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Fischertechnik</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IoT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日志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随数据发布的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16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；按时间序划分拟合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校准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测试折上自建注入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A1–A6</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（朴素重放、不可行注入、提前完成重放、状态模仿、渐变漂移、消息抑制）。</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HAI / </a:t>
            </a:r>
            <a:r>
              <a:rPr lang="en-US" altLang="zh-CN" sz="1200" kern="100" dirty="0" err="1" smtClean="0">
                <a:latin typeface="微软雅黑" panose="020B0503020204020204" pitchFamily="34" charset="-122"/>
                <a:ea typeface="微软雅黑" panose="020B0503020204020204" pitchFamily="34" charset="-122"/>
                <a:cs typeface="Times New Roman" panose="02020603050405020304" pitchFamily="18" charset="0"/>
              </a:rPr>
              <a:t>SWaT</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 / BATADAL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作主对照：那些日志没有命令账本与跨设备工艺可行性，测的不是调度层。</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F6AAEFBE-B2AD-C2DE-2393-B9F3B37ABFF1}"/>
              </a:ext>
            </a:extLst>
          </p:cNvPr>
          <p:cNvSpPr/>
          <p:nvPr/>
        </p:nvSpPr>
        <p:spPr>
          <a:xfrm>
            <a:off x="394586" y="3457332"/>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a16="http://schemas.microsoft.com/office/drawing/2014/main" xmlns="" id="{6E801FA0-CA10-A5C9-D00C-63EAE2E43C72}"/>
              </a:ext>
            </a:extLst>
          </p:cNvPr>
          <p:cNvGraphicFramePr>
            <a:graphicFrameLocks noGrp="1"/>
          </p:cNvGraphicFramePr>
          <p:nvPr>
            <p:extLst>
              <p:ext uri="{D42A27DB-BD31-4B8C-83A1-F6EECF244321}">
                <p14:modId xmlns:p14="http://schemas.microsoft.com/office/powerpoint/2010/main" val="1300691579"/>
              </p:ext>
            </p:extLst>
          </p:nvPr>
        </p:nvGraphicFramePr>
        <p:xfrm>
          <a:off x="457200" y="1334566"/>
          <a:ext cx="8229600" cy="1548384"/>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xmlns="" val="920468471"/>
                    </a:ext>
                  </a:extLst>
                </a:gridCol>
                <a:gridCol w="2743200">
                  <a:extLst>
                    <a:ext uri="{9D8B030D-6E8A-4147-A177-3AD203B41FA5}">
                      <a16:colId xmlns:a16="http://schemas.microsoft.com/office/drawing/2014/main" xmlns="" val="2834399574"/>
                    </a:ext>
                  </a:extLst>
                </a:gridCol>
                <a:gridCol w="2743200">
                  <a:extLst>
                    <a:ext uri="{9D8B030D-6E8A-4147-A177-3AD203B41FA5}">
                      <a16:colId xmlns:a16="http://schemas.microsoft.com/office/drawing/2014/main" xmlns="" val="880512579"/>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604969681"/>
                  </a:ext>
                </a:extLst>
              </a:tr>
              <a:tr h="0">
                <a:tc>
                  <a:txBody>
                    <a:bodyPr/>
                    <a:lstStyle/>
                    <a:p>
                      <a:pPr marL="0" marR="0">
                        <a:lnSpc>
                          <a:spcPct val="115000"/>
                        </a:lnSpc>
                        <a:spcAft>
                          <a:spcPts val="800"/>
                        </a:spcAft>
                        <a:buNone/>
                      </a:pPr>
                      <a:r>
                        <a:rPr lang="zh-CN" altLang="en-US" sz="1200" kern="100" smtClean="0">
                          <a:effectLst/>
                        </a:rPr>
                        <a:t>学习型计时自动机</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B3</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区间型时钟守卫；落在区间内的小幅提前上报一律判为正常</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4186584081"/>
                  </a:ext>
                </a:extLst>
              </a:tr>
              <a:tr h="0">
                <a:tc>
                  <a:txBody>
                    <a:bodyPr/>
                    <a:lstStyle/>
                    <a:p>
                      <a:pPr marL="0" marR="0">
                        <a:lnSpc>
                          <a:spcPct val="115000"/>
                        </a:lnSpc>
                        <a:spcAft>
                          <a:spcPts val="800"/>
                        </a:spcAft>
                        <a:buNone/>
                      </a:pPr>
                      <a:r>
                        <a:rPr lang="en-US" altLang="zh-CN" sz="1200" kern="100" smtClean="0">
                          <a:effectLst/>
                        </a:rPr>
                        <a:t>TABOR </a:t>
                      </a:r>
                      <a:r>
                        <a:rPr lang="zh-CN" altLang="en-US" sz="1200" kern="100" smtClean="0">
                          <a:effectLst/>
                        </a:rPr>
                        <a:t>式</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B4</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计时自动机加站内依赖；无命令账本、无跨设备可行性</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215563507"/>
                  </a:ext>
                </a:extLst>
              </a:tr>
              <a:tr h="0">
                <a:tc>
                  <a:txBody>
                    <a:bodyPr/>
                    <a:lstStyle/>
                    <a:p>
                      <a:pPr marL="0" marR="0">
                        <a:lnSpc>
                          <a:spcPct val="115000"/>
                        </a:lnSpc>
                        <a:spcAft>
                          <a:spcPts val="800"/>
                        </a:spcAft>
                        <a:buNone/>
                      </a:pPr>
                      <a:r>
                        <a:rPr lang="zh-CN" altLang="en-US" sz="1200" kern="100" smtClean="0">
                          <a:effectLst/>
                        </a:rPr>
                        <a:t>隐半马尔可夫似然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B5</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时长核绑在隐状态上，仍无可行性硬约束层；另设仅标签消融（非独立方法）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954295033"/>
                  </a:ext>
                </a:extLst>
              </a:tr>
            </a:tbl>
          </a:graphicData>
        </a:graphic>
      </p:graphicFrame>
      <p:graphicFrame>
        <p:nvGraphicFramePr>
          <p:cNvPr id="7" name="Table 6">
            <a:extLst>
              <a:ext uri="{FF2B5EF4-FFF2-40B4-BE49-F238E27FC236}">
                <a16:creationId xmlns:a16="http://schemas.microsoft.com/office/drawing/2014/main" xmlns="" id="{4C648A8E-84A2-6C4B-DD3E-3C155E1678A3}"/>
              </a:ext>
            </a:extLst>
          </p:cNvPr>
          <p:cNvGraphicFramePr>
            <a:graphicFrameLocks noGrp="1"/>
          </p:cNvGraphicFramePr>
          <p:nvPr>
            <p:extLst>
              <p:ext uri="{D42A27DB-BD31-4B8C-83A1-F6EECF244321}">
                <p14:modId xmlns:p14="http://schemas.microsoft.com/office/powerpoint/2010/main" val="187144020"/>
              </p:ext>
            </p:extLst>
          </p:nvPr>
        </p:nvGraphicFramePr>
        <p:xfrm>
          <a:off x="457200" y="3779884"/>
          <a:ext cx="8229600" cy="1357122"/>
        </p:xfrm>
        <a:graphic>
          <a:graphicData uri="http://schemas.openxmlformats.org/drawingml/2006/table">
            <a:tbl>
              <a:tblPr firstRow="1" firstCol="1" bandRow="1">
                <a:tableStyleId>{5C22544A-7EE6-4342-B048-85BDC9FD1C3A}</a:tableStyleId>
              </a:tblPr>
              <a:tblGrid>
                <a:gridCol w="1810544">
                  <a:extLst>
                    <a:ext uri="{9D8B030D-6E8A-4147-A177-3AD203B41FA5}">
                      <a16:colId xmlns:a16="http://schemas.microsoft.com/office/drawing/2014/main" xmlns="" val="585911591"/>
                    </a:ext>
                  </a:extLst>
                </a:gridCol>
                <a:gridCol w="6419056">
                  <a:extLst>
                    <a:ext uri="{9D8B030D-6E8A-4147-A177-3AD203B41FA5}">
                      <a16:colId xmlns:a16="http://schemas.microsoft.com/office/drawing/2014/main" xmlns="" val="1511630177"/>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13543796"/>
                  </a:ext>
                </a:extLst>
              </a:tr>
              <a:tr h="0">
                <a:tc>
                  <a:txBody>
                    <a:bodyPr/>
                    <a:lstStyle/>
                    <a:p>
                      <a:pPr marL="0" marR="0">
                        <a:lnSpc>
                          <a:spcPct val="115000"/>
                        </a:lnSpc>
                        <a:spcAft>
                          <a:spcPts val="800"/>
                        </a:spcAft>
                        <a:buNone/>
                      </a:pPr>
                      <a:r>
                        <a:rPr lang="zh-CN" altLang="en-US" sz="1200" kern="100" dirty="0" smtClean="0">
                          <a:effectLst/>
                        </a:rPr>
                        <a:t>净检出率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同一 α、同一延迟预算下的检出率（扣除偶然告警基线）；按攻击族分别陈述主张，不宣称全面优于</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727246573"/>
                  </a:ext>
                </a:extLst>
              </a:tr>
              <a:tr h="0">
                <a:tc>
                  <a:txBody>
                    <a:bodyPr/>
                    <a:lstStyle/>
                    <a:p>
                      <a:pPr marL="0" marR="0">
                        <a:lnSpc>
                          <a:spcPct val="115000"/>
                        </a:lnSpc>
                        <a:spcAft>
                          <a:spcPts val="800"/>
                        </a:spcAft>
                        <a:buNone/>
                      </a:pPr>
                      <a:r>
                        <a:rPr lang="zh-CN" altLang="en-US" sz="1200" kern="100" smtClean="0">
                          <a:effectLst/>
                        </a:rPr>
                        <a:t>检测延迟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以消息条数计的延迟中位数；相对提前量较小时须同时报告单消息检出与累积后延迟</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215830129"/>
                  </a:ext>
                </a:extLst>
              </a:tr>
              <a:tr h="0">
                <a:tc>
                  <a:txBody>
                    <a:bodyPr/>
                    <a:lstStyle/>
                    <a:p>
                      <a:pPr marL="0" marR="0">
                        <a:lnSpc>
                          <a:spcPct val="115000"/>
                        </a:lnSpc>
                        <a:spcAft>
                          <a:spcPts val="800"/>
                        </a:spcAft>
                        <a:buNone/>
                      </a:pPr>
                      <a:r>
                        <a:rPr lang="zh-CN" altLang="en-US" sz="1200" kern="100" smtClean="0">
                          <a:effectLst/>
                        </a:rPr>
                        <a:t>消融归因</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每路误报预算固定，分别去掉硬约束层 / 时序 / 结构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555022269"/>
                  </a:ext>
                </a:extLst>
              </a:tr>
              <a:tr h="0">
                <a:tc>
                  <a:txBody>
                    <a:bodyPr/>
                    <a:lstStyle/>
                    <a:p>
                      <a:pPr marL="0" marR="0">
                        <a:lnSpc>
                          <a:spcPct val="115000"/>
                        </a:lnSpc>
                        <a:spcAft>
                          <a:spcPts val="800"/>
                        </a:spcAft>
                        <a:buNone/>
                      </a:pPr>
                      <a:r>
                        <a:rPr lang="zh-CN" altLang="en-US" sz="1200" kern="100" smtClean="0">
                          <a:effectLst/>
                        </a:rPr>
                        <a:t>上界与热路径</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扫描相对提前量 ρ 核验 ρ*；报告逐消息处理时延（中位数与高分位数）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805579201"/>
                  </a:ext>
                </a:extLst>
              </a:tr>
            </a:tbl>
          </a:graphicData>
        </a:graphic>
      </p:graphicFrame>
    </p:spTree>
    <p:extLst>
      <p:ext uri="{BB962C8B-B14F-4D97-AF65-F5344CB8AC3E}">
        <p14:creationId xmlns:p14="http://schemas.microsoft.com/office/powerpoint/2010/main" val="244920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84A215-C9FC-D0CE-C533-303CC1F59FD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2A3D686A-BE8F-1487-718D-3A183E723561}"/>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FB2929A9-BC34-CD5B-B09E-2872E50E948B}"/>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FD0AB72D-D4DB-5CDC-B33A-C0BB16475330}"/>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0B77BD6A-738E-3F06-464D-9174A76500D1}"/>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D69056FF-E19F-9FA1-CC84-DBB3471AE4F4}"/>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7F0745DA-9E9A-3D3E-A972-D27CCADF43C9}"/>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D5476CDB-A051-74B4-A9CA-B1DE681468AB}"/>
              </a:ext>
            </a:extLst>
          </p:cNvPr>
          <p:cNvSpPr/>
          <p:nvPr/>
        </p:nvSpPr>
        <p:spPr>
          <a:xfrm>
            <a:off x="107504" y="675430"/>
            <a:ext cx="6686446"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实验三</a:t>
            </a:r>
            <a:r>
              <a:rPr lang="zh-CN" altLang="en-US" sz="1600" b="1"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基于耦合互证的被劫持设备任务状态伪造检测验证</a:t>
            </a:r>
          </a:p>
        </p:txBody>
      </p:sp>
      <p:sp>
        <p:nvSpPr>
          <p:cNvPr id="8" name="矩形 5">
            <a:extLst>
              <a:ext uri="{FF2B5EF4-FFF2-40B4-BE49-F238E27FC236}">
                <a16:creationId xmlns:a16="http://schemas.microsoft.com/office/drawing/2014/main" xmlns="" id="{34C38CC7-8C7C-56CC-B8CF-996A6504353B}"/>
              </a:ext>
            </a:extLst>
          </p:cNvPr>
          <p:cNvSpPr/>
          <p:nvPr/>
        </p:nvSpPr>
        <p:spPr>
          <a:xfrm>
            <a:off x="384242" y="1011813"/>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4DF2ADA6-499F-9DF5-9631-26C6AA51AA04}"/>
              </a:ext>
            </a:extLst>
          </p:cNvPr>
          <p:cNvSpPr/>
          <p:nvPr/>
        </p:nvSpPr>
        <p:spPr>
          <a:xfrm>
            <a:off x="384242" y="2568044"/>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矩形 18">
            <a:extLst>
              <a:ext uri="{FF2B5EF4-FFF2-40B4-BE49-F238E27FC236}">
                <a16:creationId xmlns:a16="http://schemas.microsoft.com/office/drawing/2014/main" xmlns="" id="{369DB825-FED6-7940-73F2-A5424497391C}"/>
              </a:ext>
            </a:extLst>
          </p:cNvPr>
          <p:cNvSpPr/>
          <p:nvPr/>
        </p:nvSpPr>
        <p:spPr>
          <a:xfrm>
            <a:off x="413147" y="2861523"/>
            <a:ext cx="8317865" cy="646331"/>
          </a:xfrm>
          <a:prstGeom prst="rect">
            <a:avLst/>
          </a:prstGeom>
        </p:spPr>
        <p:txBody>
          <a:bodyPr wrap="square">
            <a:spAutoFit/>
          </a:bodyPr>
          <a:lstStyle/>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与实验二共用同一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Trier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产线日志与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BPMN</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，自建注入 P1–P4（伪报且不维持心跳、完全沉默、伪报且维持心跳、一跳串谋）。</a:t>
            </a:r>
          </a:p>
          <a:p>
            <a:pPr marL="171450" indent="-171450">
              <a:buFont typeface="Arial" panose="020B0604020202020204" pitchFamily="34" charset="0"/>
              <a:buChar char="•"/>
            </a:pP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不以 </a:t>
            </a:r>
            <a:r>
              <a:rPr lang="en-US" altLang="zh-CN" sz="1200" kern="100" dirty="0" smtClean="0">
                <a:latin typeface="微软雅黑" panose="020B0503020204020204" pitchFamily="34" charset="-122"/>
                <a:ea typeface="微软雅黑" panose="020B0503020204020204" pitchFamily="34" charset="-122"/>
                <a:cs typeface="Times New Roman" panose="02020603050405020304" pitchFamily="18" charset="0"/>
              </a:rPr>
              <a:t>BFT-Bench </a:t>
            </a:r>
            <a:r>
              <a:rPr lang="zh-CN" altLang="en-US" sz="1200" kern="100" dirty="0" smtClean="0">
                <a:latin typeface="微软雅黑" panose="020B0503020204020204" pitchFamily="34" charset="-122"/>
                <a:ea typeface="微软雅黑" panose="020B0503020204020204" pitchFamily="34" charset="-122"/>
                <a:cs typeface="Times New Roman" panose="02020603050405020304" pitchFamily="18" charset="0"/>
              </a:rPr>
              <a:t>作主对照：其负载是副本一致性，没有任务图、也没有交付与取件的对端设备。</a:t>
            </a:r>
            <a:endParaRPr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矩形 5">
            <a:extLst>
              <a:ext uri="{FF2B5EF4-FFF2-40B4-BE49-F238E27FC236}">
                <a16:creationId xmlns:a16="http://schemas.microsoft.com/office/drawing/2014/main" xmlns="" id="{8F6EC15B-85D1-9A8C-DDC5-5AB07FD5EE88}"/>
              </a:ext>
            </a:extLst>
          </p:cNvPr>
          <p:cNvSpPr/>
          <p:nvPr/>
        </p:nvSpPr>
        <p:spPr>
          <a:xfrm>
            <a:off x="384242" y="3577493"/>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9" name="Table 8">
            <a:extLst>
              <a:ext uri="{FF2B5EF4-FFF2-40B4-BE49-F238E27FC236}">
                <a16:creationId xmlns:a16="http://schemas.microsoft.com/office/drawing/2014/main" xmlns="" id="{A39BB993-FE40-2E09-8B93-1AA3CB371754}"/>
              </a:ext>
            </a:extLst>
          </p:cNvPr>
          <p:cNvGraphicFramePr>
            <a:graphicFrameLocks noGrp="1"/>
          </p:cNvGraphicFramePr>
          <p:nvPr>
            <p:extLst>
              <p:ext uri="{D42A27DB-BD31-4B8C-83A1-F6EECF244321}">
                <p14:modId xmlns:p14="http://schemas.microsoft.com/office/powerpoint/2010/main" val="4055648537"/>
              </p:ext>
            </p:extLst>
          </p:nvPr>
        </p:nvGraphicFramePr>
        <p:xfrm>
          <a:off x="443420" y="1350367"/>
          <a:ext cx="8229600" cy="1127760"/>
        </p:xfrm>
        <a:graphic>
          <a:graphicData uri="http://schemas.openxmlformats.org/drawingml/2006/table">
            <a:tbl>
              <a:tblPr firstRow="1" firstCol="1" bandRow="1">
                <a:tableStyleId>{5C22544A-7EE6-4342-B048-85BDC9FD1C3A}</a:tableStyleId>
              </a:tblPr>
              <a:tblGrid>
                <a:gridCol w="1608300">
                  <a:extLst>
                    <a:ext uri="{9D8B030D-6E8A-4147-A177-3AD203B41FA5}">
                      <a16:colId xmlns:a16="http://schemas.microsoft.com/office/drawing/2014/main" xmlns="" val="849589930"/>
                    </a:ext>
                  </a:extLst>
                </a:gridCol>
                <a:gridCol w="792088">
                  <a:extLst>
                    <a:ext uri="{9D8B030D-6E8A-4147-A177-3AD203B41FA5}">
                      <a16:colId xmlns:a16="http://schemas.microsoft.com/office/drawing/2014/main" xmlns="" val="766940267"/>
                    </a:ext>
                  </a:extLst>
                </a:gridCol>
                <a:gridCol w="5829212">
                  <a:extLst>
                    <a:ext uri="{9D8B030D-6E8A-4147-A177-3AD203B41FA5}">
                      <a16:colId xmlns:a16="http://schemas.microsoft.com/office/drawing/2014/main" xmlns="" val="2166129193"/>
                    </a:ext>
                  </a:extLst>
                </a:gridCol>
              </a:tblGrid>
              <a:tr h="0">
                <a:tc>
                  <a:txBody>
                    <a:bodyPr/>
                    <a:lstStyle/>
                    <a:p>
                      <a:pPr marL="0" marR="0" algn="ctr">
                        <a:lnSpc>
                          <a:spcPct val="115000"/>
                        </a:lnSpc>
                        <a:spcAft>
                          <a:spcPts val="800"/>
                        </a:spcAft>
                        <a:buNone/>
                      </a:pPr>
                      <a:r>
                        <a:rPr lang="zh-CN" sz="1200" kern="100" dirty="0">
                          <a:effectLst/>
                        </a:rPr>
                        <a:t>基线方法</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简称</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919004642"/>
                  </a:ext>
                </a:extLst>
              </a:tr>
              <a:tr h="0">
                <a:tc>
                  <a:txBody>
                    <a:bodyPr/>
                    <a:lstStyle/>
                    <a:p>
                      <a:pPr marL="0" marR="0">
                        <a:lnSpc>
                          <a:spcPct val="115000"/>
                        </a:lnSpc>
                        <a:spcAft>
                          <a:spcPts val="800"/>
                        </a:spcAft>
                        <a:buNone/>
                      </a:pPr>
                      <a:r>
                        <a:rPr lang="zh-CN" altLang="en-US" sz="1200" kern="100" dirty="0" smtClean="0">
                          <a:effectLst/>
                        </a:rPr>
                        <a:t>单观测者族</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S1–S3</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看门狗 / 计划残差 / 过程一致性；用于论证必须引入对端设备，而非与本文作直接性能对比</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120636769"/>
                  </a:ext>
                </a:extLst>
              </a:tr>
              <a:tr h="0">
                <a:tc>
                  <a:txBody>
                    <a:bodyPr/>
                    <a:lstStyle/>
                    <a:p>
                      <a:pPr marL="0" marR="0">
                        <a:lnSpc>
                          <a:spcPct val="115000"/>
                        </a:lnSpc>
                        <a:spcAft>
                          <a:spcPts val="800"/>
                        </a:spcAft>
                        <a:buNone/>
                      </a:pPr>
                      <a:r>
                        <a:rPr lang="zh-CN" altLang="en-US" sz="1200" kern="100" smtClean="0">
                          <a:effectLst/>
                        </a:rPr>
                        <a:t>同协议换见证</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W1–W4</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法定人数 </a:t>
                      </a:r>
                      <a:r>
                        <a:rPr lang="en-US" altLang="zh-CN" sz="1200" kern="100" smtClean="0">
                          <a:effectLst/>
                        </a:rPr>
                        <a:t>/ </a:t>
                      </a:r>
                      <a:r>
                        <a:rPr lang="zh-CN" altLang="en-US" sz="1200" kern="100" smtClean="0">
                          <a:effectLst/>
                        </a:rPr>
                        <a:t>全网询证 </a:t>
                      </a:r>
                      <a:r>
                        <a:rPr lang="en-US" altLang="zh-CN" sz="1200" kern="100" smtClean="0">
                          <a:effectLst/>
                        </a:rPr>
                        <a:t>/ </a:t>
                      </a:r>
                      <a:r>
                        <a:rPr lang="zh-CN" altLang="en-US" sz="1200" kern="100" smtClean="0">
                          <a:effectLst/>
                        </a:rPr>
                        <a:t>随机 </a:t>
                      </a:r>
                      <a:r>
                        <a:rPr lang="en-US" altLang="zh-CN" sz="1200" kern="100" smtClean="0">
                          <a:effectLst/>
                        </a:rPr>
                        <a:t>/ </a:t>
                      </a:r>
                      <a:r>
                        <a:rPr lang="zh-CN" altLang="en-US" sz="1200" kern="100" smtClean="0">
                          <a:effectLst/>
                        </a:rPr>
                        <a:t>空间邻居；只换选取、不换协议</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715815234"/>
                  </a:ext>
                </a:extLst>
              </a:tr>
              <a:tr h="0">
                <a:tc>
                  <a:txBody>
                    <a:bodyPr/>
                    <a:lstStyle/>
                    <a:p>
                      <a:pPr marL="0" marR="0">
                        <a:lnSpc>
                          <a:spcPct val="115000"/>
                        </a:lnSpc>
                        <a:spcAft>
                          <a:spcPts val="800"/>
                        </a:spcAft>
                        <a:buNone/>
                      </a:pPr>
                      <a:r>
                        <a:rPr lang="zh-CN" altLang="en-US" sz="1200" kern="100" dirty="0" smtClean="0">
                          <a:effectLst/>
                        </a:rPr>
                        <a:t>心跳与归责原语</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200" kern="100" smtClean="0">
                          <a:effectLst/>
                        </a:rPr>
                        <a: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周期上报 / GOOSE 式心跳 / TESLA；PBFT 只作带宽量级参照，不作检出率对比</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029610919"/>
                  </a:ext>
                </a:extLst>
              </a:tr>
            </a:tbl>
          </a:graphicData>
        </a:graphic>
      </p:graphicFrame>
      <p:graphicFrame>
        <p:nvGraphicFramePr>
          <p:cNvPr id="11" name="Table 10">
            <a:extLst>
              <a:ext uri="{FF2B5EF4-FFF2-40B4-BE49-F238E27FC236}">
                <a16:creationId xmlns:a16="http://schemas.microsoft.com/office/drawing/2014/main" xmlns="" id="{7994B48E-91D4-6AD1-ACBC-169D5DC00337}"/>
              </a:ext>
            </a:extLst>
          </p:cNvPr>
          <p:cNvGraphicFramePr>
            <a:graphicFrameLocks noGrp="1"/>
          </p:cNvGraphicFramePr>
          <p:nvPr>
            <p:extLst>
              <p:ext uri="{D42A27DB-BD31-4B8C-83A1-F6EECF244321}">
                <p14:modId xmlns:p14="http://schemas.microsoft.com/office/powerpoint/2010/main" val="3864844400"/>
              </p:ext>
            </p:extLst>
          </p:nvPr>
        </p:nvGraphicFramePr>
        <p:xfrm>
          <a:off x="457200" y="3945220"/>
          <a:ext cx="8229600" cy="1146810"/>
        </p:xfrm>
        <a:graphic>
          <a:graphicData uri="http://schemas.openxmlformats.org/drawingml/2006/table">
            <a:tbl>
              <a:tblPr firstRow="1" firstCol="1" bandRow="1">
                <a:tableStyleId>{5C22544A-7EE6-4342-B048-85BDC9FD1C3A}</a:tableStyleId>
              </a:tblPr>
              <a:tblGrid>
                <a:gridCol w="1522512">
                  <a:extLst>
                    <a:ext uri="{9D8B030D-6E8A-4147-A177-3AD203B41FA5}">
                      <a16:colId xmlns:a16="http://schemas.microsoft.com/office/drawing/2014/main" xmlns="" val="3086872855"/>
                    </a:ext>
                  </a:extLst>
                </a:gridCol>
                <a:gridCol w="6707088">
                  <a:extLst>
                    <a:ext uri="{9D8B030D-6E8A-4147-A177-3AD203B41FA5}">
                      <a16:colId xmlns:a16="http://schemas.microsoft.com/office/drawing/2014/main" xmlns="" val="4253305198"/>
                    </a:ext>
                  </a:extLst>
                </a:gridCol>
              </a:tblGrid>
              <a:tr h="0">
                <a:tc>
                  <a:txBody>
                    <a:bodyPr/>
                    <a:lstStyle/>
                    <a:p>
                      <a:pPr marL="0" marR="0" algn="ctr">
                        <a:lnSpc>
                          <a:spcPct val="115000"/>
                        </a:lnSpc>
                        <a:spcAft>
                          <a:spcPts val="800"/>
                        </a:spcAft>
                        <a:buNone/>
                      </a:pPr>
                      <a:r>
                        <a:rPr lang="zh-CN" sz="1200" kern="100" dirty="0">
                          <a:effectLst/>
                        </a:rPr>
                        <a:t>维度</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906177576"/>
                  </a:ext>
                </a:extLst>
              </a:tr>
              <a:tr h="0">
                <a:tc>
                  <a:txBody>
                    <a:bodyPr/>
                    <a:lstStyle/>
                    <a:p>
                      <a:pPr marL="0" marR="0">
                        <a:lnSpc>
                          <a:spcPct val="115000"/>
                        </a:lnSpc>
                        <a:spcAft>
                          <a:spcPts val="800"/>
                        </a:spcAft>
                        <a:buNone/>
                      </a:pPr>
                      <a:r>
                        <a:rPr lang="zh-CN" altLang="en-US" sz="1200" kern="100" dirty="0" smtClean="0">
                          <a:effectLst/>
                        </a:rPr>
                        <a:t>检出与误报</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按 </a:t>
                      </a:r>
                      <a:r>
                        <a:rPr lang="en-US" altLang="zh-CN" sz="1200" kern="100" smtClean="0">
                          <a:effectLst/>
                        </a:rPr>
                        <a:t>P1–P4 </a:t>
                      </a:r>
                      <a:r>
                        <a:rPr lang="zh-CN" altLang="en-US" sz="1200" kern="100" smtClean="0">
                          <a:effectLst/>
                        </a:rPr>
                        <a:t>分列检出率；</a:t>
                      </a:r>
                      <a:r>
                        <a:rPr lang="en-US" altLang="zh-CN" sz="1200" kern="100" smtClean="0">
                          <a:effectLst/>
                        </a:rPr>
                        <a:t>P3 是关键行（沉默通道应为零，仅耦合互证可检出）</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2580816523"/>
                  </a:ext>
                </a:extLst>
              </a:tr>
              <a:tr h="0">
                <a:tc>
                  <a:txBody>
                    <a:bodyPr/>
                    <a:lstStyle/>
                    <a:p>
                      <a:pPr marL="0" marR="0">
                        <a:lnSpc>
                          <a:spcPct val="115000"/>
                        </a:lnSpc>
                        <a:spcAft>
                          <a:spcPts val="800"/>
                        </a:spcAft>
                        <a:buNone/>
                      </a:pPr>
                      <a:r>
                        <a:rPr lang="zh-CN" altLang="en-US" sz="1200" kern="100" smtClean="0">
                          <a:effectLst/>
                        </a:rPr>
                        <a:t>检测时延</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互证与沉默分开报；沉默为无条件上界，互证受派发排队支配</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605183178"/>
                  </a:ext>
                </a:extLst>
              </a:tr>
              <a:tr h="0">
                <a:tc>
                  <a:txBody>
                    <a:bodyPr/>
                    <a:lstStyle/>
                    <a:p>
                      <a:pPr marL="0" marR="0">
                        <a:lnSpc>
                          <a:spcPct val="115000"/>
                        </a:lnSpc>
                        <a:spcAft>
                          <a:spcPts val="800"/>
                        </a:spcAft>
                        <a:buNone/>
                      </a:pPr>
                      <a:r>
                        <a:rPr lang="zh-CN" altLang="en-US" sz="1200" kern="100" smtClean="0">
                          <a:effectLst/>
                        </a:rPr>
                        <a:t>见证与串谋</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smtClean="0">
                          <a:effectLst/>
                        </a:rPr>
                        <a:t>见证集 |W| 的中位数；互证超图前向可达闭包长度 k 的分布</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284815571"/>
                  </a:ext>
                </a:extLst>
              </a:tr>
              <a:tr h="0">
                <a:tc>
                  <a:txBody>
                    <a:bodyPr/>
                    <a:lstStyle/>
                    <a:p>
                      <a:pPr marL="0" marR="0">
                        <a:lnSpc>
                          <a:spcPct val="115000"/>
                        </a:lnSpc>
                        <a:spcAft>
                          <a:spcPts val="800"/>
                        </a:spcAft>
                        <a:buNone/>
                      </a:pPr>
                      <a:r>
                        <a:rPr lang="zh-CN" altLang="en-US" sz="1200" kern="100" dirty="0" smtClean="0">
                          <a:effectLst/>
                        </a:rPr>
                        <a:t>带宽</a:t>
                      </a:r>
                      <a:r>
                        <a:rPr lang="en-US" altLang="zh-CN" sz="1200" kern="100" dirty="0" smtClean="0">
                          <a:effectLst/>
                        </a:rPr>
                        <a:t>—</a:t>
                      </a:r>
                      <a:r>
                        <a:rPr lang="zh-CN" altLang="en-US" sz="1200" kern="100" dirty="0" smtClean="0">
                          <a:effectLst/>
                        </a:rPr>
                        <a:t>安全</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en-US" sz="1200" kern="100" dirty="0" smtClean="0">
                          <a:effectLst/>
                        </a:rPr>
                        <a:t>由安全预算反向求解心跳带宽；最严格预算口径与周期性全网 PBFT 作量级对照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19195785"/>
                  </a:ext>
                </a:extLst>
              </a:tr>
            </a:tbl>
          </a:graphicData>
        </a:graphic>
      </p:graphicFrame>
    </p:spTree>
    <p:extLst>
      <p:ext uri="{BB962C8B-B14F-4D97-AF65-F5344CB8AC3E}">
        <p14:creationId xmlns:p14="http://schemas.microsoft.com/office/powerpoint/2010/main" val="3839196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6235B8-8EA8-C977-A193-852C5B0972B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xmlns="" id="{729F11D1-DF8E-2478-7640-19D5681E120E}"/>
              </a:ext>
            </a:extLst>
          </p:cNvPr>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a:extLst>
              <a:ext uri="{FF2B5EF4-FFF2-40B4-BE49-F238E27FC236}">
                <a16:creationId xmlns:a16="http://schemas.microsoft.com/office/drawing/2014/main" xmlns="" id="{39E1912A-7359-17DD-B799-42CE9C3214FF}"/>
              </a:ext>
            </a:extLst>
          </p:cNvPr>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a:extLst>
              <a:ext uri="{FF2B5EF4-FFF2-40B4-BE49-F238E27FC236}">
                <a16:creationId xmlns:a16="http://schemas.microsoft.com/office/drawing/2014/main" xmlns="" id="{59F3B6AC-673C-6F35-4D30-10C13AFDD988}"/>
              </a:ext>
            </a:extLst>
          </p:cNvPr>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技术路线与</a:t>
            </a:r>
            <a:r>
              <a:rPr lang="zh-CN" altLang="en-US" sz="2000" b="1" dirty="0">
                <a:solidFill>
                  <a:srgbClr val="044875"/>
                </a:solidFill>
                <a:latin typeface="微软雅黑" panose="020B0503020204020204" pitchFamily="34" charset="-122"/>
                <a:ea typeface="微软雅黑" panose="020B0503020204020204" pitchFamily="34" charset="-122"/>
              </a:rPr>
              <a:t>实验验证</a:t>
            </a:r>
          </a:p>
        </p:txBody>
      </p:sp>
      <p:sp>
        <p:nvSpPr>
          <p:cNvPr id="5" name="文本框 4">
            <a:extLst>
              <a:ext uri="{FF2B5EF4-FFF2-40B4-BE49-F238E27FC236}">
                <a16:creationId xmlns:a16="http://schemas.microsoft.com/office/drawing/2014/main" xmlns="" id="{B4FD4497-F24B-5A05-8435-D9A415EE5D08}"/>
              </a:ext>
            </a:extLst>
          </p:cNvPr>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03</a:t>
            </a:r>
            <a:endParaRPr lang="zh-CN" altLang="en-US" sz="2400" dirty="0">
              <a:solidFill>
                <a:schemeClr val="bg2">
                  <a:lumMod val="25000"/>
                </a:schemeClr>
              </a:solidFill>
              <a:latin typeface="Impact" panose="020B0806030902050204" pitchFamily="34" charset="0"/>
            </a:endParaRPr>
          </a:p>
        </p:txBody>
      </p:sp>
      <p:sp>
        <p:nvSpPr>
          <p:cNvPr id="10" name="Rectangle 2">
            <a:extLst>
              <a:ext uri="{FF2B5EF4-FFF2-40B4-BE49-F238E27FC236}">
                <a16:creationId xmlns:a16="http://schemas.microsoft.com/office/drawing/2014/main" xmlns="" id="{A59359BE-1CD9-55E3-546F-71C86F483B2E}"/>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Rectangle 4">
            <a:extLst>
              <a:ext uri="{FF2B5EF4-FFF2-40B4-BE49-F238E27FC236}">
                <a16:creationId xmlns:a16="http://schemas.microsoft.com/office/drawing/2014/main" xmlns="" id="{1D1F6740-9873-4EE2-CEB0-C90FBAB4E9B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矩形 13">
            <a:extLst>
              <a:ext uri="{FF2B5EF4-FFF2-40B4-BE49-F238E27FC236}">
                <a16:creationId xmlns:a16="http://schemas.microsoft.com/office/drawing/2014/main" xmlns="" id="{CBCA88C8-DABE-DA7E-BAED-37CFBF3DD582}"/>
              </a:ext>
            </a:extLst>
          </p:cNvPr>
          <p:cNvSpPr/>
          <p:nvPr/>
        </p:nvSpPr>
        <p:spPr>
          <a:xfrm>
            <a:off x="107504" y="675430"/>
            <a:ext cx="5369547" cy="338554"/>
          </a:xfrm>
          <a:prstGeom prst="rect">
            <a:avLst/>
          </a:prstGeom>
        </p:spPr>
        <p:txBody>
          <a:bodyPr wrap="none">
            <a:spAutoFit/>
          </a:bodyPr>
          <a:lstStyle/>
          <a:p>
            <a:pPr marL="342900" indent="-342900">
              <a:buFont typeface="Wingdings" panose="05000000000000000000" pitchFamily="2" charset="2"/>
              <a:buChar char="l"/>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实验四：时空预约影响闭包（</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STRC</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）局部重调度验证</a:t>
            </a:r>
          </a:p>
        </p:txBody>
      </p:sp>
      <p:sp>
        <p:nvSpPr>
          <p:cNvPr id="8" name="矩形 5">
            <a:extLst>
              <a:ext uri="{FF2B5EF4-FFF2-40B4-BE49-F238E27FC236}">
                <a16:creationId xmlns:a16="http://schemas.microsoft.com/office/drawing/2014/main" xmlns="" id="{5FA5DA11-5B46-CEB1-CE17-661A969CB88B}"/>
              </a:ext>
            </a:extLst>
          </p:cNvPr>
          <p:cNvSpPr/>
          <p:nvPr/>
        </p:nvSpPr>
        <p:spPr>
          <a:xfrm>
            <a:off x="384242" y="1091379"/>
            <a:ext cx="8292214" cy="338554"/>
          </a:xfrm>
          <a:prstGeom prst="rect">
            <a:avLst/>
          </a:prstGeom>
        </p:spPr>
        <p:txBody>
          <a:bodyPr wrap="square">
            <a:spAutoFit/>
          </a:bodyPr>
          <a:lstStyle/>
          <a:p>
            <a:pPr indent="385445" fontAlgn="auto"/>
            <a:r>
              <a:rPr lang="zh-CN" altLang="en-US" sz="1600" b="1" dirty="0"/>
              <a:t>对比基线</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5">
            <a:extLst>
              <a:ext uri="{FF2B5EF4-FFF2-40B4-BE49-F238E27FC236}">
                <a16:creationId xmlns:a16="http://schemas.microsoft.com/office/drawing/2014/main" xmlns="" id="{C48066F6-A6F3-AF05-26ED-709EB86EB8C2}"/>
              </a:ext>
            </a:extLst>
          </p:cNvPr>
          <p:cNvSpPr/>
          <p:nvPr/>
        </p:nvSpPr>
        <p:spPr>
          <a:xfrm>
            <a:off x="384242" y="2088808"/>
            <a:ext cx="8292214" cy="338554"/>
          </a:xfrm>
          <a:prstGeom prst="rect">
            <a:avLst/>
          </a:prstGeom>
        </p:spPr>
        <p:txBody>
          <a:bodyPr wrap="square">
            <a:spAutoFit/>
          </a:bodyPr>
          <a:lstStyle/>
          <a:p>
            <a:pPr indent="385445" fontAlgn="auto"/>
            <a:r>
              <a:rPr lang="zh-CN" altLang="en-US" sz="1600" b="1" dirty="0"/>
              <a:t>数据集</a:t>
            </a:r>
            <a:endParaRPr lang="zh-CN" sz="14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8">
                <a:extLst>
                  <a:ext uri="{FF2B5EF4-FFF2-40B4-BE49-F238E27FC236}">
                    <a16:creationId xmlns:a16="http://schemas.microsoft.com/office/drawing/2014/main" xmlns="" id="{1E4391C8-DBB5-9418-A4E3-ECC1933AAB84}"/>
                  </a:ext>
                </a:extLst>
              </p:cNvPr>
              <p:cNvSpPr/>
              <p:nvPr/>
            </p:nvSpPr>
            <p:spPr>
              <a:xfrm>
                <a:off x="369570" y="2323866"/>
                <a:ext cx="8317865" cy="1389163"/>
              </a:xfrm>
              <a:prstGeom prst="rect">
                <a:avLst/>
              </a:prstGeom>
            </p:spPr>
            <p:txBody>
              <a:bodyPr wrap="square">
                <a:spAutoFit/>
              </a:bodyPr>
              <a:lstStyle/>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算例：复用</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的显式路网与异构加工设备合成算例（如拥堵族、受控布局</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funnel/high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等），由</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5.1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方法生成初始可行排程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p>
                      <m:sSup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p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𝒮</m:t>
                        </m:r>
                      </m:e>
                      <m:sup>
                        <m: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0</m:t>
                        </m:r>
                      </m:sup>
                    </m:sSup>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后再注入扰动。</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扰动类型：</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B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类（主检验）：走廊阻断</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降速等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可不改动工序指派；</a:t>
                </a:r>
              </a:p>
              <a:p>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类（辅检验）：加工设备故障等</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任务图与闭包往往更接近，用于说明方法并非仅适用于 B 类扰动。</a:t>
                </a:r>
              </a:p>
              <a:p>
                <a:pPr marL="171450" lvl="0" indent="-171450">
                  <a:buFont typeface="Arial" panose="020B0604020202020204" pitchFamily="34" charset="0"/>
                  <a:buChar char="•"/>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规模扫描：按受扰工序比例</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𝜑</m:t>
                    </m:r>
                  </m:oMath>
                </a14:m>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（如</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0.1–1.0</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）或按随机种子给出的扰动强度扫描，观察可行率、耗时与</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14:m>
                  <m:oMath xmlns:m="http://schemas.openxmlformats.org/officeDocument/2006/math">
                    <m:sSub>
                      <m:sSubPr>
                        <m:ctrlPr>
                          <a:rPr lang="zh-CN" altLang="en-US" sz="1200" i="1" kern="100">
                            <a:latin typeface="Cambria Math" panose="02040503050406030204" pitchFamily="18" charset="0"/>
                            <a:ea typeface="微软雅黑" panose="020B0503020204020204" pitchFamily="34" charset="-122"/>
                            <a:cs typeface="Times New Roman" panose="02020603050405020304" pitchFamily="18" charset="0"/>
                          </a:rPr>
                        </m:ctrlPr>
                      </m:sSubPr>
                      <m:e>
                        <m:r>
                          <a:rPr lang="zh-CN" altLang="en-US" sz="1200" kern="100">
                            <a:latin typeface="Cambria Math" panose="02040503050406030204" pitchFamily="18" charset="0"/>
                            <a:ea typeface="微软雅黑" panose="020B0503020204020204" pitchFamily="34" charset="-122"/>
                            <a:cs typeface="Times New Roman" panose="02020603050405020304" pitchFamily="18" charset="0"/>
                          </a:rPr>
                          <m:t>𝐶</m:t>
                        </m:r>
                      </m:e>
                      <m:sub>
                        <m:r>
                          <m:rPr>
                            <m:sty m:val="p"/>
                          </m:rPr>
                          <a:rPr lang="en-US" altLang="zh-CN" sz="1200" kern="100">
                            <a:latin typeface="Cambria Math" panose="02040503050406030204" pitchFamily="18" charset="0"/>
                            <a:ea typeface="微软雅黑" panose="020B0503020204020204" pitchFamily="34" charset="-122"/>
                            <a:cs typeface="Times New Roman" panose="02020603050405020304" pitchFamily="18" charset="0"/>
                          </a:rPr>
                          <m:t>max</m:t>
                        </m:r>
                      </m:sub>
                    </m:sSub>
                  </m:oMath>
                </a14:m>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随扰动规模的变化。</a:t>
                </a:r>
              </a:p>
              <a:p>
                <a:pPr marL="171450" indent="-171450">
                  <a:buFont typeface="Arial" panose="020B0604020202020204" pitchFamily="34" charset="0"/>
                  <a:buChar char="•"/>
                </a:pPr>
                <a:endParaRPr lang="zh-CN" altLang="en-US" sz="12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15" name="矩形 18">
                <a:extLst>
                  <a:ext uri="{FF2B5EF4-FFF2-40B4-BE49-F238E27FC236}">
                    <a16:creationId xmlns="" xmlns:a16="http://schemas.microsoft.com/office/drawing/2014/main" xmlns:a14="http://schemas.microsoft.com/office/drawing/2010/main" id="{1E4391C8-DBB5-9418-A4E3-ECC1933AAB84}"/>
                  </a:ext>
                </a:extLst>
              </p:cNvPr>
              <p:cNvSpPr>
                <a:spLocks noRot="1" noChangeAspect="1" noMove="1" noResize="1" noEditPoints="1" noAdjustHandles="1" noChangeArrowheads="1" noChangeShapeType="1" noTextEdit="1"/>
              </p:cNvSpPr>
              <p:nvPr/>
            </p:nvSpPr>
            <p:spPr>
              <a:xfrm>
                <a:off x="369570" y="2323866"/>
                <a:ext cx="8317865" cy="1389163"/>
              </a:xfrm>
              <a:prstGeom prst="rect">
                <a:avLst/>
              </a:prstGeom>
              <a:blipFill rotWithShape="0">
                <a:blip r:embed="rId3"/>
                <a:stretch>
                  <a:fillRect b="-2193"/>
                </a:stretch>
              </a:blipFill>
            </p:spPr>
            <p:txBody>
              <a:bodyPr/>
              <a:lstStyle/>
              <a:p>
                <a:r>
                  <a:rPr lang="zh-CN" altLang="en-US">
                    <a:noFill/>
                  </a:rPr>
                  <a:t> </a:t>
                </a:r>
              </a:p>
            </p:txBody>
          </p:sp>
        </mc:Fallback>
      </mc:AlternateContent>
      <p:sp>
        <p:nvSpPr>
          <p:cNvPr id="16" name="矩形 5">
            <a:extLst>
              <a:ext uri="{FF2B5EF4-FFF2-40B4-BE49-F238E27FC236}">
                <a16:creationId xmlns:a16="http://schemas.microsoft.com/office/drawing/2014/main" xmlns="" id="{81ED8ABA-418F-6F9D-5E2C-76F2DD60B1A5}"/>
              </a:ext>
            </a:extLst>
          </p:cNvPr>
          <p:cNvSpPr/>
          <p:nvPr/>
        </p:nvSpPr>
        <p:spPr>
          <a:xfrm>
            <a:off x="384242" y="3638235"/>
            <a:ext cx="8292214" cy="338554"/>
          </a:xfrm>
          <a:prstGeom prst="rect">
            <a:avLst/>
          </a:prstGeom>
        </p:spPr>
        <p:txBody>
          <a:bodyPr wrap="square">
            <a:spAutoFit/>
          </a:bodyPr>
          <a:lstStyle/>
          <a:p>
            <a:pPr indent="385445" fontAlgn="auto"/>
            <a:r>
              <a:rPr lang="zh-CN" altLang="en-US" sz="1600" b="1" dirty="0"/>
              <a:t>评价指标</a:t>
            </a:r>
          </a:p>
        </p:txBody>
      </p:sp>
      <p:graphicFrame>
        <p:nvGraphicFramePr>
          <p:cNvPr id="6" name="Table 5">
            <a:extLst>
              <a:ext uri="{FF2B5EF4-FFF2-40B4-BE49-F238E27FC236}">
                <a16:creationId xmlns:a16="http://schemas.microsoft.com/office/drawing/2014/main" xmlns="" id="{9C95CE2A-0DE8-086C-9F25-5D6E49008529}"/>
              </a:ext>
            </a:extLst>
          </p:cNvPr>
          <p:cNvGraphicFramePr>
            <a:graphicFrameLocks noGrp="1"/>
          </p:cNvGraphicFramePr>
          <p:nvPr>
            <p:extLst>
              <p:ext uri="{D42A27DB-BD31-4B8C-83A1-F6EECF244321}">
                <p14:modId xmlns:p14="http://schemas.microsoft.com/office/powerpoint/2010/main" val="2893693002"/>
              </p:ext>
            </p:extLst>
          </p:nvPr>
        </p:nvGraphicFramePr>
        <p:xfrm>
          <a:off x="457200" y="1419308"/>
          <a:ext cx="8229600" cy="688086"/>
        </p:xfrm>
        <a:graphic>
          <a:graphicData uri="http://schemas.openxmlformats.org/drawingml/2006/table">
            <a:tbl>
              <a:tblPr firstRow="1" firstCol="1" bandRow="1">
                <a:tableStyleId>{5C22544A-7EE6-4342-B048-85BDC9FD1C3A}</a:tableStyleId>
              </a:tblPr>
              <a:tblGrid>
                <a:gridCol w="2743200">
                  <a:extLst>
                    <a:ext uri="{9D8B030D-6E8A-4147-A177-3AD203B41FA5}">
                      <a16:colId xmlns:a16="http://schemas.microsoft.com/office/drawing/2014/main" xmlns="" val="2224572617"/>
                    </a:ext>
                  </a:extLst>
                </a:gridCol>
                <a:gridCol w="2235696">
                  <a:extLst>
                    <a:ext uri="{9D8B030D-6E8A-4147-A177-3AD203B41FA5}">
                      <a16:colId xmlns:a16="http://schemas.microsoft.com/office/drawing/2014/main" xmlns="" val="2945581860"/>
                    </a:ext>
                  </a:extLst>
                </a:gridCol>
                <a:gridCol w="3250704">
                  <a:extLst>
                    <a:ext uri="{9D8B030D-6E8A-4147-A177-3AD203B41FA5}">
                      <a16:colId xmlns:a16="http://schemas.microsoft.com/office/drawing/2014/main" xmlns="" val="2653819318"/>
                    </a:ext>
                  </a:extLst>
                </a:gridCol>
              </a:tblGrid>
              <a:tr h="0">
                <a:tc>
                  <a:txBody>
                    <a:bodyPr/>
                    <a:lstStyle/>
                    <a:p>
                      <a:pPr marL="0" marR="0" algn="ctr">
                        <a:lnSpc>
                          <a:spcPct val="115000"/>
                        </a:lnSpc>
                        <a:spcAft>
                          <a:spcPts val="800"/>
                        </a:spcAft>
                        <a:buNone/>
                      </a:pPr>
                      <a:r>
                        <a:rPr lang="zh-CN" sz="1200" kern="100">
                          <a:effectLst/>
                        </a:rPr>
                        <a:t>基线方法</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a:effectLst/>
                        </a:rPr>
                        <a:t>简称</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特点</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563878104"/>
                  </a:ext>
                </a:extLst>
              </a:tr>
              <a:tr h="0">
                <a:tc>
                  <a:txBody>
                    <a:bodyPr/>
                    <a:lstStyle/>
                    <a:p>
                      <a:pPr marL="0" marR="0" algn="l" defTabSz="914400" rtl="0" eaLnBrk="1" latinLnBrk="0" hangingPunct="1">
                        <a:lnSpc>
                          <a:spcPct val="115000"/>
                        </a:lnSpc>
                        <a:spcAft>
                          <a:spcPts val="800"/>
                        </a:spcAft>
                        <a:buNone/>
                      </a:pPr>
                      <a:r>
                        <a:rPr lang="zh-CN" altLang="en-US" sz="1200" b="1" kern="100" dirty="0">
                          <a:solidFill>
                            <a:schemeClr val="lt1"/>
                          </a:solidFill>
                          <a:effectLst/>
                          <a:latin typeface="+mn-lt"/>
                          <a:ea typeface="+mn-ea"/>
                          <a:cs typeface="+mn-cs"/>
                        </a:rPr>
                        <a:t>全局重调度</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R0 / R0+</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闭环搜索从零或热启动重解</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405709453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任务图边界</a:t>
                      </a:r>
                      <a:r>
                        <a:rPr lang="en-US" altLang="zh-CN" sz="1200" b="1" kern="100" dirty="0">
                          <a:solidFill>
                            <a:schemeClr val="lt1"/>
                          </a:solidFill>
                          <a:effectLst/>
                          <a:latin typeface="+mn-lt"/>
                          <a:ea typeface="+mn-ea"/>
                          <a:cs typeface="+mn-cs"/>
                        </a:rPr>
                        <a:t> + </a:t>
                      </a:r>
                      <a:r>
                        <a:rPr lang="zh-CN" altLang="zh-CN" sz="1200" b="1" kern="100" dirty="0">
                          <a:solidFill>
                            <a:schemeClr val="lt1"/>
                          </a:solidFill>
                          <a:effectLst/>
                          <a:latin typeface="+mn-lt"/>
                          <a:ea typeface="+mn-ea"/>
                          <a:cs typeface="+mn-cs"/>
                        </a:rPr>
                        <a:t>同修复引擎</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en-US" altLang="zh-CN" sz="1200" kern="100" dirty="0">
                          <a:solidFill>
                            <a:schemeClr val="dk1"/>
                          </a:solidFill>
                          <a:effectLst/>
                          <a:latin typeface="+mn-lt"/>
                          <a:ea typeface="+mn-ea"/>
                          <a:cs typeface="+mn-cs"/>
                        </a:rPr>
                        <a:t>R1</a:t>
                      </a:r>
                      <a:endParaRPr lang="en-US" sz="1200" kern="100" dirty="0">
                        <a:solidFill>
                          <a:schemeClr val="dk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允许改写的预约集合取任务依赖图影响域</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927381404"/>
                  </a:ext>
                </a:extLst>
              </a:tr>
            </a:tbl>
          </a:graphicData>
        </a:graphic>
      </p:graphicFrame>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xmlns="" id="{DE28F4BB-9466-87B1-0B69-3FACE35BFF57}"/>
                  </a:ext>
                </a:extLst>
              </p:cNvPr>
              <p:cNvGraphicFramePr>
                <a:graphicFrameLocks noGrp="1"/>
              </p:cNvGraphicFramePr>
              <p:nvPr>
                <p:extLst>
                  <p:ext uri="{D42A27DB-BD31-4B8C-83A1-F6EECF244321}">
                    <p14:modId xmlns:p14="http://schemas.microsoft.com/office/powerpoint/2010/main" val="274707402"/>
                  </p:ext>
                </p:extLst>
              </p:nvPr>
            </p:nvGraphicFramePr>
            <p:xfrm>
              <a:off x="457200" y="3920311"/>
              <a:ext cx="8229600" cy="1165670"/>
            </p:xfrm>
            <a:graphic>
              <a:graphicData uri="http://schemas.openxmlformats.org/drawingml/2006/table">
                <a:tbl>
                  <a:tblPr firstRow="1" firstCol="1" bandRow="1">
                    <a:tableStyleId>{5C22544A-7EE6-4342-B048-85BDC9FD1C3A}</a:tableStyleId>
                  </a:tblPr>
                  <a:tblGrid>
                    <a:gridCol w="1162472">
                      <a:extLst>
                        <a:ext uri="{9D8B030D-6E8A-4147-A177-3AD203B41FA5}">
                          <a16:colId xmlns:a16="http://schemas.microsoft.com/office/drawing/2014/main" xmlns="" val="365646870"/>
                        </a:ext>
                      </a:extLst>
                    </a:gridCol>
                    <a:gridCol w="7067128">
                      <a:extLst>
                        <a:ext uri="{9D8B030D-6E8A-4147-A177-3AD203B41FA5}">
                          <a16:colId xmlns:a16="http://schemas.microsoft.com/office/drawing/2014/main" xmlns="" val="3857886227"/>
                        </a:ext>
                      </a:extLst>
                    </a:gridCol>
                  </a:tblGrid>
                  <a:tr h="0">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xmlns="" val="3192856029"/>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任务图影响域规模</a:t>
                          </a:r>
                          <a:r>
                            <a:rPr lang="en-US" altLang="zh-CN" sz="1200" kern="100" dirty="0">
                              <a:solidFill>
                                <a:schemeClr val="dk1"/>
                              </a:solidFill>
                              <a:effectLst/>
                              <a:latin typeface="+mn-lt"/>
                              <a:ea typeface="+mn-ea"/>
                              <a:cs typeface="+mn-cs"/>
                            </a:rPr>
                            <a:t> </a:t>
                          </a:r>
                          <a14:m>
                            <m:oMath xmlns:m="http://schemas.openxmlformats.org/officeDocument/2006/math">
                              <m:r>
                                <a:rPr lang="zh-CN" altLang="en-US" sz="1200" kern="100">
                                  <a:solidFill>
                                    <a:schemeClr val="dk1"/>
                                  </a:solidFill>
                                  <a:effectLst/>
                                  <a:latin typeface="Cambria Math" panose="02040503050406030204" pitchFamily="18" charset="0"/>
                                  <a:ea typeface="+mn-ea"/>
                                  <a:cs typeface="+mn-cs"/>
                                </a:rPr>
                                <m:t>∣</m:t>
                              </m:r>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zh-CN" altLang="en-US" sz="1200" kern="100">
                                  <a:solidFill>
                                    <a:schemeClr val="dk1"/>
                                  </a:solidFill>
                                  <a:effectLst/>
                                  <a:latin typeface="Cambria Math" panose="02040503050406030204" pitchFamily="18" charset="0"/>
                                  <a:ea typeface="+mn-ea"/>
                                  <a:cs typeface="+mn-cs"/>
                                </a:rPr>
                                <m:t>∣</m:t>
                              </m:r>
                            </m:oMath>
                          </a14:m>
                          <a:r>
                            <a:rPr lang="zh-CN" altLang="zh-CN" sz="1200" kern="100" dirty="0">
                              <a:solidFill>
                                <a:schemeClr val="dk1"/>
                              </a:solidFill>
                              <a:effectLst/>
                              <a:latin typeface="+mn-lt"/>
                              <a:ea typeface="+mn-ea"/>
                              <a:cs typeface="+mn-cs"/>
                            </a:rPr>
                            <a:t>、闭包与允许改写的预约集合规模；</a:t>
                          </a:r>
                          <a:r>
                            <a:rPr lang="en-US" altLang="zh-CN" sz="1200" kern="100" dirty="0">
                              <a:solidFill>
                                <a:schemeClr val="dk1"/>
                              </a:solidFill>
                              <a:effectLst/>
                              <a:latin typeface="+mn-lt"/>
                              <a:ea typeface="+mn-ea"/>
                              <a:cs typeface="+mn-cs"/>
                            </a:rPr>
                            <a:t>B </a:t>
                          </a:r>
                          <a:r>
                            <a:rPr lang="zh-CN" altLang="zh-CN" sz="1200" kern="100" dirty="0">
                              <a:solidFill>
                                <a:schemeClr val="dk1"/>
                              </a:solidFill>
                              <a:effectLst/>
                              <a:latin typeface="+mn-lt"/>
                              <a:ea typeface="+mn-ea"/>
                              <a:cs typeface="+mn-cs"/>
                            </a:rPr>
                            <a:t>类上是否出现</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𝑇</m:t>
                                  </m:r>
                                </m:e>
                                <m:sub>
                                  <m:r>
                                    <m:rPr>
                                      <m:sty m:val="p"/>
                                    </m:rPr>
                                    <a:rPr lang="en-US" altLang="zh-CN" sz="1200" kern="100">
                                      <a:solidFill>
                                        <a:schemeClr val="dk1"/>
                                      </a:solidFill>
                                      <a:effectLst/>
                                      <a:latin typeface="Cambria Math" panose="02040503050406030204" pitchFamily="18" charset="0"/>
                                      <a:ea typeface="+mn-ea"/>
                                      <a:cs typeface="+mn-cs"/>
                                    </a:rPr>
                                    <m:t>impact</m:t>
                                  </m:r>
                                </m:sub>
                              </m:sSub>
                              <m:r>
                                <a:rPr lang="en-US" altLang="zh-CN" sz="1200" kern="100">
                                  <a:solidFill>
                                    <a:schemeClr val="dk1"/>
                                  </a:solidFill>
                                  <a:effectLst/>
                                  <a:latin typeface="Cambria Math" panose="02040503050406030204" pitchFamily="18" charset="0"/>
                                  <a:ea typeface="+mn-ea"/>
                                  <a:cs typeface="+mn-cs"/>
                                </a:rPr>
                                <m:t>=∅</m:t>
                              </m:r>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而闭包非空；</a:t>
                          </a:r>
                        </a:p>
                      </a:txBody>
                      <a:tcPr marL="9525" marR="9525" marT="9525" marB="9525" anchor="ctr"/>
                    </a:tc>
                    <a:extLst>
                      <a:ext uri="{0D108BD9-81ED-4DB2-BD59-A6C34878D82A}">
                        <a16:rowId xmlns:a16="http://schemas.microsoft.com/office/drawing/2014/main" xmlns="" val="137276311"/>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609926784"/>
                      </a:ext>
                    </a:extLst>
                  </a:tr>
                  <a:tr h="0">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lvl="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修复后</a:t>
                          </a:r>
                          <a:r>
                            <a:rPr lang="en-US" altLang="zh-CN" sz="1200" kern="100" dirty="0">
                              <a:solidFill>
                                <a:schemeClr val="dk1"/>
                              </a:solidFill>
                              <a:effectLst/>
                              <a:latin typeface="+mn-lt"/>
                              <a:ea typeface="+mn-ea"/>
                              <a:cs typeface="+mn-cs"/>
                            </a:rPr>
                            <a:t> </a:t>
                          </a:r>
                          <a14:m>
                            <m:oMath xmlns:m="http://schemas.openxmlformats.org/officeDocument/2006/math">
                              <m:sSub>
                                <m:sSubPr>
                                  <m:ctrlPr>
                                    <a:rPr lang="zh-CN" altLang="en-US" sz="1200" i="1" kern="100">
                                      <a:solidFill>
                                        <a:schemeClr val="dk1"/>
                                      </a:solidFill>
                                      <a:effectLst/>
                                      <a:latin typeface="Cambria Math" panose="02040503050406030204" pitchFamily="18" charset="0"/>
                                      <a:ea typeface="+mn-ea"/>
                                      <a:cs typeface="+mn-cs"/>
                                    </a:rPr>
                                  </m:ctrlPr>
                                </m:sSubPr>
                                <m:e>
                                  <m:r>
                                    <a:rPr lang="zh-CN" altLang="en-US" sz="1200" kern="100">
                                      <a:solidFill>
                                        <a:schemeClr val="dk1"/>
                                      </a:solidFill>
                                      <a:effectLst/>
                                      <a:latin typeface="Cambria Math" panose="02040503050406030204" pitchFamily="18" charset="0"/>
                                      <a:ea typeface="+mn-ea"/>
                                      <a:cs typeface="+mn-cs"/>
                                    </a:rPr>
                                    <m:t>𝐶</m:t>
                                  </m:r>
                                </m:e>
                                <m:sub>
                                  <m:r>
                                    <m:rPr>
                                      <m:sty m:val="p"/>
                                    </m:rPr>
                                    <a:rPr lang="en-US" altLang="zh-CN" sz="1200" kern="100">
                                      <a:solidFill>
                                        <a:schemeClr val="dk1"/>
                                      </a:solidFill>
                                      <a:effectLst/>
                                      <a:latin typeface="Cambria Math" panose="02040503050406030204" pitchFamily="18" charset="0"/>
                                      <a:ea typeface="+mn-ea"/>
                                      <a:cs typeface="+mn-cs"/>
                                    </a:rPr>
                                    <m:t>max</m:t>
                                  </m:r>
                                </m:sub>
                              </m:sSub>
                            </m:oMath>
                          </a14:m>
                          <a:r>
                            <a:rPr lang="zh-CN" altLang="zh-CN" sz="1200" kern="100" dirty="0">
                              <a:solidFill>
                                <a:schemeClr val="dk1"/>
                              </a:solidFill>
                              <a:effectLst/>
                              <a:latin typeface="+mn-lt"/>
                              <a:ea typeface="+mn-ea"/>
                              <a:cs typeface="+mn-cs"/>
                            </a:rPr>
                            <a:t>（及相对扰动前</a:t>
                          </a:r>
                          <a:r>
                            <a:rPr lang="en-US" altLang="zh-CN" sz="1200" kern="100" dirty="0">
                              <a:solidFill>
                                <a:schemeClr val="dk1"/>
                              </a:solidFill>
                              <a:effectLst/>
                              <a:latin typeface="+mn-lt"/>
                              <a:ea typeface="+mn-ea"/>
                              <a:cs typeface="+mn-cs"/>
                            </a:rPr>
                            <a:t> </a:t>
                          </a:r>
                          <a14:m>
                            <m:oMath xmlns:m="http://schemas.openxmlformats.org/officeDocument/2006/math">
                              <m:sSup>
                                <m:sSupPr>
                                  <m:ctrlPr>
                                    <a:rPr lang="zh-CN" altLang="en-US" sz="1200" i="1" kern="100">
                                      <a:solidFill>
                                        <a:schemeClr val="dk1"/>
                                      </a:solidFill>
                                      <a:effectLst/>
                                      <a:latin typeface="Cambria Math" panose="02040503050406030204" pitchFamily="18" charset="0"/>
                                      <a:ea typeface="+mn-ea"/>
                                      <a:cs typeface="+mn-cs"/>
                                    </a:rPr>
                                  </m:ctrlPr>
                                </m:sSupPr>
                                <m:e>
                                  <m:r>
                                    <a:rPr lang="zh-CN" altLang="en-US" sz="1200" kern="100">
                                      <a:solidFill>
                                        <a:schemeClr val="dk1"/>
                                      </a:solidFill>
                                      <a:effectLst/>
                                      <a:latin typeface="Cambria Math" panose="02040503050406030204" pitchFamily="18" charset="0"/>
                                      <a:ea typeface="+mn-ea"/>
                                      <a:cs typeface="+mn-cs"/>
                                    </a:rPr>
                                    <m:t>𝒮</m:t>
                                  </m:r>
                                </m:e>
                                <m:sup>
                                  <m:r>
                                    <a:rPr lang="en-US" altLang="zh-CN" sz="1200" kern="100">
                                      <a:solidFill>
                                        <a:schemeClr val="dk1"/>
                                      </a:solidFill>
                                      <a:effectLst/>
                                      <a:latin typeface="Cambria Math" panose="02040503050406030204" pitchFamily="18" charset="0"/>
                                      <a:ea typeface="+mn-ea"/>
                                      <a:cs typeface="+mn-cs"/>
                                    </a:rPr>
                                    <m:t>0</m:t>
                                  </m:r>
                                </m:sup>
                              </m:sSup>
                            </m:oMath>
                          </a14:m>
                          <a:r>
                            <a:rPr lang="en-US" altLang="zh-CN" sz="1200" kern="100" dirty="0">
                              <a:solidFill>
                                <a:schemeClr val="dk1"/>
                              </a:solidFill>
                              <a:effectLst/>
                              <a:latin typeface="+mn-lt"/>
                              <a:ea typeface="+mn-ea"/>
                              <a:cs typeface="+mn-cs"/>
                            </a:rPr>
                            <a:t> </a:t>
                          </a:r>
                          <a:r>
                            <a:rPr lang="zh-CN" altLang="zh-CN" sz="1200" kern="100" dirty="0">
                              <a:solidFill>
                                <a:schemeClr val="dk1"/>
                              </a:solidFill>
                              <a:effectLst/>
                              <a:latin typeface="+mn-lt"/>
                              <a:ea typeface="+mn-ea"/>
                              <a:cs typeface="+mn-cs"/>
                            </a:rPr>
                            <a:t>的变化）；</a:t>
                          </a:r>
                        </a:p>
                      </a:txBody>
                      <a:tcPr marL="9525" marR="9525" marT="9525" marB="9525" anchor="ctr"/>
                    </a:tc>
                    <a:extLst>
                      <a:ext uri="{0D108BD9-81ED-4DB2-BD59-A6C34878D82A}">
                        <a16:rowId xmlns:a16="http://schemas.microsoft.com/office/drawing/2014/main" xmlns="" val="2440922786"/>
                      </a:ext>
                    </a:extLst>
                  </a:tr>
                  <a:tr h="0">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多个随机种子、多个算例上的通过率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a16="http://schemas.microsoft.com/office/drawing/2014/main" xmlns="" val="3269900895"/>
                      </a:ext>
                    </a:extLst>
                  </a:tr>
                </a:tbl>
              </a:graphicData>
            </a:graphic>
          </p:graphicFrame>
        </mc:Choice>
        <mc:Fallback xmlns="">
          <p:graphicFrame>
            <p:nvGraphicFramePr>
              <p:cNvPr id="7" name="Table 6">
                <a:extLst>
                  <a:ext uri="{FF2B5EF4-FFF2-40B4-BE49-F238E27FC236}">
                    <a16:creationId xmlns="" xmlns:a16="http://schemas.microsoft.com/office/drawing/2014/main" xmlns:a14="http://schemas.microsoft.com/office/drawing/2010/main" id="{DE28F4BB-9466-87B1-0B69-3FACE35BFF57}"/>
                  </a:ext>
                </a:extLst>
              </p:cNvPr>
              <p:cNvGraphicFramePr>
                <a:graphicFrameLocks noGrp="1"/>
              </p:cNvGraphicFramePr>
              <p:nvPr>
                <p:extLst>
                  <p:ext uri="{D42A27DB-BD31-4B8C-83A1-F6EECF244321}">
                    <p14:modId xmlns:p14="http://schemas.microsoft.com/office/powerpoint/2010/main" val="274707402"/>
                  </p:ext>
                </p:extLst>
              </p:nvPr>
            </p:nvGraphicFramePr>
            <p:xfrm>
              <a:off x="457200" y="3920311"/>
              <a:ext cx="8229600" cy="1165670"/>
            </p:xfrm>
            <a:graphic>
              <a:graphicData uri="http://schemas.openxmlformats.org/drawingml/2006/table">
                <a:tbl>
                  <a:tblPr firstRow="1" firstCol="1" bandRow="1">
                    <a:tableStyleId>{5C22544A-7EE6-4342-B048-85BDC9FD1C3A}</a:tableStyleId>
                  </a:tblPr>
                  <a:tblGrid>
                    <a:gridCol w="1162472">
                      <a:extLst>
                        <a:ext uri="{9D8B030D-6E8A-4147-A177-3AD203B41FA5}">
                          <a16:colId xmlns="" xmlns:a16="http://schemas.microsoft.com/office/drawing/2014/main" xmlns:a14="http://schemas.microsoft.com/office/drawing/2010/main" val="365646870"/>
                        </a:ext>
                      </a:extLst>
                    </a:gridCol>
                    <a:gridCol w="7067128">
                      <a:extLst>
                        <a:ext uri="{9D8B030D-6E8A-4147-A177-3AD203B41FA5}">
                          <a16:colId xmlns="" xmlns:a16="http://schemas.microsoft.com/office/drawing/2014/main" xmlns:a14="http://schemas.microsoft.com/office/drawing/2010/main" val="3857886227"/>
                        </a:ext>
                      </a:extLst>
                    </a:gridCol>
                  </a:tblGrid>
                  <a:tr h="229362">
                    <a:tc>
                      <a:txBody>
                        <a:bodyPr/>
                        <a:lstStyle/>
                        <a:p>
                          <a:pPr marL="0" marR="0" algn="ctr">
                            <a:lnSpc>
                              <a:spcPct val="115000"/>
                            </a:lnSpc>
                            <a:spcAft>
                              <a:spcPts val="800"/>
                            </a:spcAft>
                            <a:buNone/>
                          </a:pPr>
                          <a:r>
                            <a:rPr lang="zh-CN" sz="1200" kern="100">
                              <a:effectLst/>
                            </a:rPr>
                            <a:t>维度</a:t>
                          </a:r>
                          <a:endParaRPr lang="en-US" sz="1200" kern="10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zh-CN" sz="1200" kern="100" dirty="0">
                              <a:effectLst/>
                            </a:rPr>
                            <a:t>指标</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 xmlns:a16="http://schemas.microsoft.com/office/drawing/2014/main" xmlns:a14="http://schemas.microsoft.com/office/drawing/2010/main" val="3192856029"/>
                      </a:ext>
                    </a:extLst>
                  </a:tr>
                  <a:tr h="24822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边界与可行性</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rotWithShape="0">
                          <a:blip r:embed="rId4"/>
                          <a:stretch>
                            <a:fillRect l="-16652" t="-104878" r="-431" b="-300000"/>
                          </a:stretch>
                        </a:blipFill>
                      </a:tcPr>
                    </a:tc>
                    <a:extLst>
                      <a:ext uri="{0D108BD9-81ED-4DB2-BD59-A6C34878D82A}">
                        <a16:rowId xmlns="" xmlns:a16="http://schemas.microsoft.com/office/drawing/2014/main" xmlns:a14="http://schemas.microsoft.com/office/drawing/2010/main" val="137276311"/>
                      </a:ext>
                    </a:extLst>
                  </a:tr>
                  <a:tr h="22936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效率与稳定性</a:t>
                          </a:r>
                          <a:endParaRPr lang="en-US" sz="1200" b="1" kern="100" dirty="0">
                            <a:solidFill>
                              <a:schemeClr val="lt1"/>
                            </a:solidFill>
                            <a:effectLst/>
                            <a:latin typeface="+mn-lt"/>
                            <a:ea typeface="+mn-ea"/>
                            <a:cs typeface="+mn-cs"/>
                          </a:endParaRPr>
                        </a:p>
                      </a:txBody>
                      <a:tcPr marL="9525" marR="9525" marT="9525" marB="9525" anchor="ctr"/>
                    </a:tc>
                    <a:tc>
                      <a:txBody>
                        <a:bodyPr/>
                        <a:lstStyle/>
                        <a:p>
                          <a:pPr marL="0" marR="0" algn="l" defTabSz="914400" rtl="0" eaLnBrk="1" latinLnBrk="0" hangingPunct="1">
                            <a:lnSpc>
                              <a:spcPct val="115000"/>
                            </a:lnSpc>
                            <a:spcAft>
                              <a:spcPts val="800"/>
                            </a:spcAft>
                            <a:buNone/>
                          </a:pPr>
                          <a:r>
                            <a:rPr lang="zh-CN" altLang="zh-CN" sz="1200" kern="100" dirty="0">
                              <a:solidFill>
                                <a:schemeClr val="dk1"/>
                              </a:solidFill>
                              <a:effectLst/>
                              <a:latin typeface="+mn-lt"/>
                              <a:ea typeface="+mn-ea"/>
                              <a:cs typeface="+mn-cs"/>
                            </a:rPr>
                            <a:t>求解耗时</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预约扰动量</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xmlns:a14="http://schemas.microsoft.com/office/drawing/2010/main" val="3609926784"/>
                      </a:ext>
                    </a:extLst>
                  </a:tr>
                  <a:tr h="229362">
                    <a:tc>
                      <a:txBody>
                        <a:bodyPr/>
                        <a:lstStyle/>
                        <a:p>
                          <a:pPr marL="0" marR="0" algn="l" defTabSz="914400" rtl="0" eaLnBrk="1" latinLnBrk="0" hangingPunct="1">
                            <a:lnSpc>
                              <a:spcPct val="115000"/>
                            </a:lnSpc>
                            <a:spcAft>
                              <a:spcPts val="800"/>
                            </a:spcAft>
                            <a:buNone/>
                          </a:pPr>
                          <a:r>
                            <a:rPr lang="zh-CN" altLang="zh-CN" sz="1200" b="1" kern="100" dirty="0">
                              <a:solidFill>
                                <a:schemeClr val="lt1"/>
                              </a:solidFill>
                              <a:effectLst/>
                              <a:latin typeface="+mn-lt"/>
                              <a:ea typeface="+mn-ea"/>
                              <a:cs typeface="+mn-cs"/>
                            </a:rPr>
                            <a:t>调度质量</a:t>
                          </a:r>
                          <a:endParaRPr lang="en-US" sz="1200" b="1" kern="100" dirty="0">
                            <a:solidFill>
                              <a:schemeClr val="lt1"/>
                            </a:solidFill>
                            <a:effectLst/>
                            <a:latin typeface="+mn-lt"/>
                            <a:ea typeface="+mn-ea"/>
                            <a:cs typeface="+mn-cs"/>
                          </a:endParaRPr>
                        </a:p>
                      </a:txBody>
                      <a:tcPr marL="9525" marR="9525" marT="9525" marB="9525" anchor="ctr"/>
                    </a:tc>
                    <a:tc>
                      <a:txBody>
                        <a:bodyPr/>
                        <a:lstStyle/>
                        <a:p>
                          <a:endParaRPr lang="zh-CN"/>
                        </a:p>
                      </a:txBody>
                      <a:tcPr marL="9525" marR="9525" marT="9525" marB="9525" anchor="ctr">
                        <a:blipFill rotWithShape="0">
                          <a:blip r:embed="rId4"/>
                          <a:stretch>
                            <a:fillRect l="-16652" t="-318421" r="-431" b="-126316"/>
                          </a:stretch>
                        </a:blipFill>
                      </a:tcPr>
                    </a:tc>
                    <a:extLst>
                      <a:ext uri="{0D108BD9-81ED-4DB2-BD59-A6C34878D82A}">
                        <a16:rowId xmlns="" xmlns:a16="http://schemas.microsoft.com/office/drawing/2014/main" xmlns:a14="http://schemas.microsoft.com/office/drawing/2010/main" val="2440922786"/>
                      </a:ext>
                    </a:extLst>
                  </a:tr>
                  <a:tr h="229362">
                    <a:tc>
                      <a:txBody>
                        <a:bodyPr/>
                        <a:lstStyle/>
                        <a:p>
                          <a:pPr marL="0" marR="0">
                            <a:lnSpc>
                              <a:spcPct val="115000"/>
                            </a:lnSpc>
                            <a:spcAft>
                              <a:spcPts val="800"/>
                            </a:spcAft>
                            <a:buNone/>
                          </a:pPr>
                          <a:r>
                            <a:rPr lang="zh-CN" sz="1200" kern="100" dirty="0">
                              <a:effectLst/>
                            </a:rPr>
                            <a:t>鲁棒性</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zh-CN" altLang="zh-CN" sz="1200" kern="100" dirty="0">
                              <a:solidFill>
                                <a:schemeClr val="dk1"/>
                              </a:solidFill>
                              <a:effectLst/>
                              <a:latin typeface="+mn-lt"/>
                              <a:ea typeface="+mn-ea"/>
                              <a:cs typeface="+mn-cs"/>
                            </a:rPr>
                            <a:t>受控布局下闭包规模是否随瓶颈结构变化</a:t>
                          </a:r>
                          <a:r>
                            <a:rPr lang="zh-CN" altLang="en-US" sz="1200" kern="100" dirty="0">
                              <a:solidFill>
                                <a:schemeClr val="dk1"/>
                              </a:solidFill>
                              <a:effectLst/>
                              <a:latin typeface="+mn-lt"/>
                              <a:ea typeface="+mn-ea"/>
                              <a:cs typeface="+mn-cs"/>
                            </a:rPr>
                            <a:t>、</a:t>
                          </a:r>
                          <a:r>
                            <a:rPr lang="zh-CN" altLang="zh-CN" sz="1200" kern="100" dirty="0">
                              <a:solidFill>
                                <a:schemeClr val="dk1"/>
                              </a:solidFill>
                              <a:effectLst/>
                              <a:latin typeface="+mn-lt"/>
                              <a:ea typeface="+mn-ea"/>
                              <a:cs typeface="+mn-cs"/>
                            </a:rPr>
                            <a:t>多个随机种子、多个算例上的通过率</a:t>
                          </a:r>
                          <a:endParaRPr lang="en-US" sz="1200" kern="100" dirty="0">
                            <a:solidFill>
                              <a:schemeClr val="dk1"/>
                            </a:solidFill>
                            <a:effectLst/>
                            <a:latin typeface="+mn-lt"/>
                            <a:ea typeface="+mn-ea"/>
                            <a:cs typeface="+mn-cs"/>
                          </a:endParaRPr>
                        </a:p>
                      </a:txBody>
                      <a:tcPr marL="9525" marR="9525" marT="9525" marB="9525" anchor="ctr"/>
                    </a:tc>
                    <a:extLst>
                      <a:ext uri="{0D108BD9-81ED-4DB2-BD59-A6C34878D82A}">
                        <a16:rowId xmlns="" xmlns:a16="http://schemas.microsoft.com/office/drawing/2014/main" xmlns:a14="http://schemas.microsoft.com/office/drawing/2010/main" val="3269900895"/>
                      </a:ext>
                    </a:extLst>
                  </a:tr>
                </a:tbl>
              </a:graphicData>
            </a:graphic>
          </p:graphicFrame>
        </mc:Fallback>
      </mc:AlternateContent>
    </p:spTree>
    <p:extLst>
      <p:ext uri="{BB962C8B-B14F-4D97-AF65-F5344CB8AC3E}">
        <p14:creationId xmlns:p14="http://schemas.microsoft.com/office/powerpoint/2010/main" val="17649776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10903"/>
            <a:ext cx="9144000" cy="213717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1" y="1997869"/>
            <a:ext cx="822722"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3"/>
          <p:cNvSpPr txBox="1">
            <a:spLocks noChangeArrowheads="1"/>
          </p:cNvSpPr>
          <p:nvPr/>
        </p:nvSpPr>
        <p:spPr bwMode="auto">
          <a:xfrm>
            <a:off x="709614" y="1500187"/>
            <a:ext cx="1154906" cy="1396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8600" dirty="0">
                <a:solidFill>
                  <a:schemeClr val="bg1"/>
                </a:solidFill>
                <a:latin typeface="Impact" panose="020B0806030902050204" pitchFamily="34" charset="0"/>
              </a:rPr>
              <a:t>4</a:t>
            </a:r>
            <a:endParaRPr lang="zh-CN" altLang="en-US" sz="8600" dirty="0">
              <a:solidFill>
                <a:schemeClr val="bg1"/>
              </a:solidFill>
              <a:latin typeface="Impact" panose="020B0806030902050204" pitchFamily="34" charset="0"/>
            </a:endParaRPr>
          </a:p>
        </p:txBody>
      </p:sp>
      <p:sp>
        <p:nvSpPr>
          <p:cNvPr id="5" name="文本框 4"/>
          <p:cNvSpPr txBox="1">
            <a:spLocks noChangeArrowheads="1"/>
          </p:cNvSpPr>
          <p:nvPr/>
        </p:nvSpPr>
        <p:spPr bwMode="auto">
          <a:xfrm>
            <a:off x="314326" y="1978819"/>
            <a:ext cx="42862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第</a:t>
            </a:r>
          </a:p>
        </p:txBody>
      </p:sp>
      <p:sp>
        <p:nvSpPr>
          <p:cNvPr id="6" name="矩形 5"/>
          <p:cNvSpPr/>
          <p:nvPr/>
        </p:nvSpPr>
        <p:spPr>
          <a:xfrm>
            <a:off x="1874044" y="1997869"/>
            <a:ext cx="7269956" cy="406004"/>
          </a:xfrm>
          <a:prstGeom prst="rect">
            <a:avLst/>
          </a:prstGeom>
          <a:solidFill>
            <a:srgbClr val="D6E0E6"/>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7" name="文本框 6"/>
          <p:cNvSpPr txBox="1">
            <a:spLocks noChangeArrowheads="1"/>
          </p:cNvSpPr>
          <p:nvPr/>
        </p:nvSpPr>
        <p:spPr bwMode="auto">
          <a:xfrm>
            <a:off x="1894286" y="1978819"/>
            <a:ext cx="1325165" cy="439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a:solidFill>
                  <a:srgbClr val="044875"/>
                </a:solidFill>
                <a:latin typeface="微软雅黑" panose="020B0503020204020204" pitchFamily="34" charset="-122"/>
                <a:ea typeface="微软雅黑" panose="020B0503020204020204" pitchFamily="34" charset="-122"/>
              </a:rPr>
              <a:t>部分</a:t>
            </a:r>
          </a:p>
        </p:txBody>
      </p:sp>
      <p:sp>
        <p:nvSpPr>
          <p:cNvPr id="8" name="文本框 7"/>
          <p:cNvSpPr txBox="1">
            <a:spLocks noChangeArrowheads="1"/>
          </p:cNvSpPr>
          <p:nvPr/>
        </p:nvSpPr>
        <p:spPr bwMode="auto">
          <a:xfrm>
            <a:off x="4690083" y="2720348"/>
            <a:ext cx="4295775" cy="623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3600" b="1" dirty="0">
                <a:solidFill>
                  <a:schemeClr val="bg1"/>
                </a:solidFill>
                <a:latin typeface="微软雅黑" panose="020B0503020204020204" pitchFamily="34" charset="-122"/>
                <a:ea typeface="微软雅黑" panose="020B0503020204020204" pitchFamily="34" charset="-122"/>
              </a:rPr>
              <a:t>预期成果与进度安排</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rgbClr val="044875"/>
                </a:solidFill>
                <a:latin typeface="微软雅黑" panose="020B0503020204020204" pitchFamily="34" charset="-122"/>
                <a:ea typeface="微软雅黑" panose="020B0503020204020204" pitchFamily="34" charset="-122"/>
              </a:rPr>
              <a:t>预期成果</a:t>
            </a:r>
            <a:r>
              <a:rPr lang="zh-CN" altLang="en-US" sz="2000" b="1" dirty="0">
                <a:solidFill>
                  <a:schemeClr val="bg1">
                    <a:lumMod val="75000"/>
                  </a:schemeClr>
                </a:solidFill>
                <a:latin typeface="微软雅黑" panose="020B0503020204020204" pitchFamily="34" charset="-122"/>
                <a:ea typeface="微软雅黑" panose="020B0503020204020204" pitchFamily="34" charset="-122"/>
              </a:rPr>
              <a:t>与进度安排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9" name="矩形 8"/>
          <p:cNvSpPr/>
          <p:nvPr/>
        </p:nvSpPr>
        <p:spPr>
          <a:xfrm>
            <a:off x="251520" y="430077"/>
            <a:ext cx="7248525" cy="99129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zh-CN" sz="1400" b="1" kern="100" dirty="0">
                <a:latin typeface="微软雅黑" panose="020B0503020204020204" pitchFamily="34" charset="-122"/>
                <a:ea typeface="微软雅黑" panose="020B0503020204020204" pitchFamily="34" charset="-122"/>
                <a:cs typeface="Times New Roman" panose="02020603050405020304" pitchFamily="18" charset="0"/>
              </a:rPr>
              <a:t>理论成果</a:t>
            </a:r>
          </a:p>
          <a:p>
            <a:pPr lvl="1" algn="just">
              <a:lnSpc>
                <a:spcPct val="173000"/>
              </a:lnSpc>
              <a:spcBef>
                <a:spcPts val="975"/>
              </a:spcBef>
              <a:spcAft>
                <a:spcPts val="975"/>
              </a:spcAft>
            </a:pP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p:cNvSpPr/>
          <p:nvPr/>
        </p:nvSpPr>
        <p:spPr>
          <a:xfrm>
            <a:off x="917203" y="771550"/>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（1）</a:t>
            </a:r>
            <a:r>
              <a:rPr lang="zh-CN" altLang="zh-CN" sz="1400" dirty="0">
                <a:latin typeface="微软雅黑" panose="020B0503020204020204" pitchFamily="34" charset="-122"/>
                <a:ea typeface="微软雅黑" panose="020B0503020204020204" pitchFamily="34" charset="-122"/>
              </a:rPr>
              <a:t>基于预约表感知的无冲突运输柔性作业车间调度</a:t>
            </a:r>
            <a:endParaRPr lang="en-US" altLang="zh-CN" sz="1400" dirty="0">
              <a:latin typeface="微软雅黑" panose="020B0503020204020204" pitchFamily="34" charset="-122"/>
              <a:ea typeface="微软雅黑" panose="020B0503020204020204" pitchFamily="34" charset="-122"/>
            </a:endParaRPr>
          </a:p>
        </p:txBody>
      </p:sp>
      <p:sp>
        <p:nvSpPr>
          <p:cNvPr id="11" name="矩形 10"/>
          <p:cNvSpPr/>
          <p:nvPr/>
        </p:nvSpPr>
        <p:spPr>
          <a:xfrm>
            <a:off x="251773" y="3502207"/>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系统成果</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矩形 11"/>
          <p:cNvSpPr/>
          <p:nvPr/>
        </p:nvSpPr>
        <p:spPr>
          <a:xfrm>
            <a:off x="647308" y="3848149"/>
            <a:ext cx="8317179" cy="307777"/>
          </a:xfrm>
          <a:prstGeom prst="rect">
            <a:avLst/>
          </a:prstGeom>
        </p:spPr>
        <p:txBody>
          <a:bodyPr wrap="square">
            <a:spAutoFit/>
          </a:bodyPr>
          <a:lstStyle/>
          <a:p>
            <a:pPr indent="457200"/>
            <a:r>
              <a:rPr lang="zh-CN" altLang="en-US" sz="1400" dirty="0">
                <a:latin typeface="微软雅黑" panose="020B0503020204020204" pitchFamily="34" charset="-122"/>
                <a:ea typeface="微软雅黑" panose="020B0503020204020204" pitchFamily="34" charset="-122"/>
              </a:rPr>
              <a:t>基于上述方法创新，开发：“工业互联网柔性作业车间无冲突运输调度及安全韧性系统”。</a:t>
            </a:r>
          </a:p>
        </p:txBody>
      </p:sp>
      <p:sp>
        <p:nvSpPr>
          <p:cNvPr id="13" name="矩形 12"/>
          <p:cNvSpPr/>
          <p:nvPr/>
        </p:nvSpPr>
        <p:spPr>
          <a:xfrm>
            <a:off x="251773" y="4075379"/>
            <a:ext cx="7248525" cy="391517"/>
          </a:xfrm>
          <a:prstGeom prst="rect">
            <a:avLst/>
          </a:prstGeom>
        </p:spPr>
        <p:txBody>
          <a:bodyPr wrap="square" lIns="68580" tIns="34290" rIns="68580" bIns="34290">
            <a:spAutoFit/>
          </a:bodyPr>
          <a:lstStyle/>
          <a:p>
            <a:pPr marL="800100" lvl="1" indent="-342900" algn="just">
              <a:lnSpc>
                <a:spcPct val="173000"/>
              </a:lnSpc>
              <a:spcBef>
                <a:spcPts val="975"/>
              </a:spcBef>
              <a:spcAft>
                <a:spcPts val="975"/>
              </a:spcAft>
              <a:buFont typeface="Wingdings" panose="05000000000000000000" pitchFamily="2" charset="2"/>
              <a:buChar char="l"/>
            </a:pPr>
            <a:r>
              <a:rPr lang="zh-CN" altLang="en-US" sz="1400" b="1" kern="100" dirty="0">
                <a:latin typeface="微软雅黑" panose="020B0503020204020204" pitchFamily="34" charset="-122"/>
                <a:ea typeface="微软雅黑" panose="020B0503020204020204" pitchFamily="34" charset="-122"/>
                <a:cs typeface="Times New Roman" panose="02020603050405020304" pitchFamily="18" charset="0"/>
              </a:rPr>
              <a:t>成果形式</a:t>
            </a:r>
            <a:endParaRPr lang="zh-CN" altLang="zh-CN" sz="110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p:cNvSpPr/>
          <p:nvPr/>
        </p:nvSpPr>
        <p:spPr>
          <a:xfrm>
            <a:off x="453540" y="4404836"/>
            <a:ext cx="8690068" cy="738664"/>
          </a:xfrm>
          <a:prstGeom prst="rect">
            <a:avLst/>
          </a:prstGeom>
        </p:spPr>
        <p:txBody>
          <a:bodyPr wrap="square">
            <a:spAutoFit/>
          </a:bodyPr>
          <a:lstStyle/>
          <a:p>
            <a:pPr indent="457200"/>
            <a:r>
              <a:rPr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发表</a:t>
            </a:r>
            <a:r>
              <a:rPr lang="en-US" sz="1400" dirty="0">
                <a:latin typeface="微软雅黑" panose="020B0503020204020204" pitchFamily="34" charset="-122"/>
                <a:ea typeface="微软雅黑" panose="020B0503020204020204" pitchFamily="34" charset="-122"/>
              </a:rPr>
              <a:t>SCI/EI</a:t>
            </a:r>
            <a:r>
              <a:rPr lang="zh-CN" altLang="en-US" sz="1400" dirty="0">
                <a:latin typeface="微软雅黑" panose="020B0503020204020204" pitchFamily="34" charset="-122"/>
                <a:ea typeface="微软雅黑" panose="020B0503020204020204" pitchFamily="34" charset="-122"/>
              </a:rPr>
              <a:t>论文</a:t>
            </a:r>
            <a:r>
              <a:rPr lang="en-US" sz="1400" dirty="0">
                <a:latin typeface="微软雅黑" panose="020B0503020204020204" pitchFamily="34" charset="-122"/>
                <a:ea typeface="微软雅黑" panose="020B0503020204020204" pitchFamily="34" charset="-122"/>
              </a:rPr>
              <a:t>2~4</a:t>
            </a:r>
            <a:r>
              <a:rPr lang="zh-CN" altLang="en-US" sz="1400" dirty="0">
                <a:latin typeface="微软雅黑" panose="020B0503020204020204" pitchFamily="34" charset="-122"/>
                <a:ea typeface="微软雅黑" panose="020B0503020204020204" pitchFamily="34" charset="-122"/>
              </a:rPr>
              <a:t>篇</a:t>
            </a:r>
            <a:r>
              <a:rPr sz="1400" dirty="0">
                <a:latin typeface="微软雅黑" panose="020B0503020204020204" pitchFamily="34" charset="-122"/>
                <a:ea typeface="微软雅黑" panose="020B0503020204020204" pitchFamily="34" charset="-122"/>
              </a:rPr>
              <a:t>；</a:t>
            </a:r>
          </a:p>
          <a:p>
            <a:pPr indent="457200"/>
            <a:r>
              <a:rPr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开发完成“工业互联网柔性作业车间无冲突运输调度及安全韧性系统”原型系统；</a:t>
            </a:r>
            <a:endParaRPr lang="en-US" altLang="zh-CN" sz="1400" dirty="0">
              <a:latin typeface="微软雅黑" panose="020B0503020204020204" pitchFamily="34" charset="-122"/>
              <a:ea typeface="微软雅黑" panose="020B0503020204020204" pitchFamily="34" charset="-122"/>
            </a:endParaRPr>
          </a:p>
          <a:p>
            <a:pPr indent="457200"/>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）申请发明专利</a:t>
            </a:r>
            <a:r>
              <a:rPr lang="en-US" sz="1400" dirty="0">
                <a:latin typeface="微软雅黑" panose="020B0503020204020204" pitchFamily="34" charset="-122"/>
                <a:ea typeface="微软雅黑" panose="020B0503020204020204" pitchFamily="34" charset="-122"/>
              </a:rPr>
              <a:t>1-2</a:t>
            </a:r>
            <a:r>
              <a:rPr lang="zh-CN" altLang="en-US" sz="1400" dirty="0">
                <a:latin typeface="微软雅黑" panose="020B0503020204020204" pitchFamily="34" charset="-122"/>
                <a:ea typeface="微软雅黑" panose="020B0503020204020204" pitchFamily="34" charset="-122"/>
              </a:rPr>
              <a:t>项；</a:t>
            </a:r>
            <a:endParaRPr sz="1400" dirty="0">
              <a:latin typeface="微软雅黑" panose="020B0503020204020204" pitchFamily="34" charset="-122"/>
              <a:ea typeface="微软雅黑" panose="020B0503020204020204" pitchFamily="34" charset="-122"/>
            </a:endParaRPr>
          </a:p>
        </p:txBody>
      </p:sp>
      <p:sp>
        <p:nvSpPr>
          <p:cNvPr id="7" name="灯片编号占位符 6"/>
          <p:cNvSpPr>
            <a:spLocks noGrp="1"/>
          </p:cNvSpPr>
          <p:nvPr>
            <p:ph type="sldNum" sz="quarter" idx="12"/>
            <p:custDataLst>
              <p:tags r:id="rId1"/>
            </p:custDataLst>
          </p:nvPr>
        </p:nvSpPr>
        <p:spPr/>
        <p:txBody>
          <a:bodyPr/>
          <a:lstStyle/>
          <a:p>
            <a:fld id="{0C913308-F349-4B6D-A68A-DD1791B4A57B}" type="slidenum">
              <a:rPr lang="zh-CN" altLang="en-US" smtClean="0"/>
              <a:t>26</a:t>
            </a:fld>
            <a:endParaRPr lang="zh-CN" altLang="en-US" dirty="0"/>
          </a:p>
        </p:txBody>
      </p:sp>
      <p:sp>
        <p:nvSpPr>
          <p:cNvPr id="6" name="TextBox 5">
            <a:extLst>
              <a:ext uri="{FF2B5EF4-FFF2-40B4-BE49-F238E27FC236}">
                <a16:creationId xmlns:a16="http://schemas.microsoft.com/office/drawing/2014/main" xmlns="" id="{B2DF8BFE-5A66-764F-C93E-41CC7FA6C09E}"/>
              </a:ext>
            </a:extLst>
          </p:cNvPr>
          <p:cNvSpPr txBox="1"/>
          <p:nvPr/>
        </p:nvSpPr>
        <p:spPr>
          <a:xfrm>
            <a:off x="1115616" y="1029149"/>
            <a:ext cx="8027993"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latin typeface="Aptos" panose="020B0004020202020204" pitchFamily="34" charset="0"/>
                <a:ea typeface="DengXian" panose="02010600030101010101" pitchFamily="2" charset="-122"/>
                <a:cs typeface="Times New Roman" panose="02020603050405020304" pitchFamily="18" charset="0"/>
              </a:rPr>
              <a:t>[PDCAT 2024, Published]</a:t>
            </a:r>
            <a:endParaRPr lang="en-US" sz="1100" kern="100" dirty="0">
              <a:effectLst/>
              <a:latin typeface="Aptos" panose="020B0004020202020204" pitchFamily="34" charset="0"/>
              <a:ea typeface="DengXian" panose="02010600030101010101" pitchFamily="2" charset="-122"/>
              <a:cs typeface="Times New Roman" panose="02020603050405020304" pitchFamily="18" charset="0"/>
            </a:endParaRPr>
          </a:p>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“Coordinated Scheduling of Continuous–Discrete Hybrid Agent Systems via Spatiotemporal Logic and Hybrid Dynamic Programming. ” </a:t>
            </a:r>
            <a:r>
              <a:rPr lang="en-US" sz="1100" i="1" kern="100" dirty="0">
                <a:effectLst/>
                <a:latin typeface="Aptos" panose="020B0004020202020204" pitchFamily="34" charset="0"/>
                <a:ea typeface="DengXian" panose="02010600030101010101" pitchFamily="2" charset="-122"/>
                <a:cs typeface="Times New Roman" panose="02020603050405020304" pitchFamily="18" charset="0"/>
              </a:rPr>
              <a:t>ACM –</a:t>
            </a:r>
            <a:r>
              <a:rPr lang="en-US" altLang="zh-CN" sz="1100" i="1" kern="100" dirty="0">
                <a:effectLst/>
                <a:latin typeface="Aptos" panose="020B0004020202020204" pitchFamily="34" charset="0"/>
                <a:ea typeface="DengXian" panose="02010600030101010101" pitchFamily="2" charset="-122"/>
                <a:cs typeface="Times New Roman" panose="02020603050405020304" pitchFamily="18" charset="0"/>
              </a:rPr>
              <a:t>TIST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大修二审中</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8" name="矩形 9">
            <a:extLst>
              <a:ext uri="{FF2B5EF4-FFF2-40B4-BE49-F238E27FC236}">
                <a16:creationId xmlns:a16="http://schemas.microsoft.com/office/drawing/2014/main" xmlns="" id="{31739824-4A63-C3A9-200D-86C57182EFCB}"/>
              </a:ext>
            </a:extLst>
          </p:cNvPr>
          <p:cNvSpPr/>
          <p:nvPr/>
        </p:nvSpPr>
        <p:spPr>
          <a:xfrm>
            <a:off x="917201" y="1524329"/>
            <a:ext cx="8448735" cy="307777"/>
          </a:xfrm>
          <a:prstGeom prst="rect">
            <a:avLst/>
          </a:prstGeom>
        </p:spPr>
        <p:txBody>
          <a:bodyPr wrap="square">
            <a:spAutoFit/>
          </a:bodyPr>
          <a:lstStyle/>
          <a:p>
            <a:r>
              <a:rPr sz="1400" dirty="0">
                <a:latin typeface="微软雅黑" panose="020B0503020204020204" pitchFamily="34" charset="-122"/>
                <a:ea typeface="微软雅黑" panose="020B0503020204020204" pitchFamily="34" charset="-122"/>
              </a:rPr>
              <a:t>（2</a:t>
            </a:r>
            <a:r>
              <a:rPr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基于时序半马尔可夫与参考模型可行性约束的注入攻击检测方法</a:t>
            </a:r>
            <a:endParaRPr lang="en-US" altLang="zh-CN" sz="1400" dirty="0">
              <a:latin typeface="微软雅黑" panose="020B0503020204020204" pitchFamily="34" charset="-122"/>
              <a:ea typeface="微软雅黑" panose="020B0503020204020204" pitchFamily="34" charset="-122"/>
            </a:endParaRPr>
          </a:p>
        </p:txBody>
      </p:sp>
      <p:sp>
        <p:nvSpPr>
          <p:cNvPr id="16" name="矩形 9">
            <a:extLst>
              <a:ext uri="{FF2B5EF4-FFF2-40B4-BE49-F238E27FC236}">
                <a16:creationId xmlns:a16="http://schemas.microsoft.com/office/drawing/2014/main" xmlns="" id="{3D15BA58-FA51-34FD-B479-966AD73D4B36}"/>
              </a:ext>
            </a:extLst>
          </p:cNvPr>
          <p:cNvSpPr/>
          <p:nvPr/>
        </p:nvSpPr>
        <p:spPr>
          <a:xfrm>
            <a:off x="917202" y="2211710"/>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基于耦合互证的被劫持设备任务状态伪造检测</a:t>
            </a:r>
            <a:endParaRPr lang="en-US" altLang="zh-CN" sz="1400" dirty="0">
              <a:latin typeface="微软雅黑" panose="020B0503020204020204" pitchFamily="34" charset="-122"/>
              <a:ea typeface="微软雅黑" panose="020B0503020204020204" pitchFamily="34" charset="-122"/>
            </a:endParaRPr>
          </a:p>
        </p:txBody>
      </p:sp>
      <p:sp>
        <p:nvSpPr>
          <p:cNvPr id="17" name="矩形 9">
            <a:extLst>
              <a:ext uri="{FF2B5EF4-FFF2-40B4-BE49-F238E27FC236}">
                <a16:creationId xmlns:a16="http://schemas.microsoft.com/office/drawing/2014/main" xmlns="" id="{A562FB36-5900-0319-5592-7F5BF47337A0}"/>
              </a:ext>
            </a:extLst>
          </p:cNvPr>
          <p:cNvSpPr/>
          <p:nvPr/>
        </p:nvSpPr>
        <p:spPr>
          <a:xfrm>
            <a:off x="917202" y="2787774"/>
            <a:ext cx="8448735" cy="307777"/>
          </a:xfrm>
          <a:prstGeom prst="rect">
            <a:avLst/>
          </a:prstGeom>
        </p:spPr>
        <p:txBody>
          <a:bodyPr wrap="square">
            <a:spAutoFit/>
          </a:bodyPr>
          <a:lstStyle/>
          <a:p>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a:t>
            </a:r>
            <a:r>
              <a:rPr lang="zh-CN" altLang="zh-CN" sz="1400" dirty="0">
                <a:latin typeface="微软雅黑" panose="020B0503020204020204" pitchFamily="34" charset="-122"/>
                <a:ea typeface="微软雅黑" panose="020B0503020204020204" pitchFamily="34" charset="-122"/>
              </a:rPr>
              <a:t>基于时空预约影响闭包的局部重调度方法</a:t>
            </a:r>
            <a:endParaRPr sz="1400" dirty="0">
              <a:latin typeface="微软雅黑" panose="020B0503020204020204" pitchFamily="34" charset="-122"/>
              <a:ea typeface="微软雅黑" panose="020B0503020204020204" pitchFamily="34" charset="-122"/>
            </a:endParaRPr>
          </a:p>
        </p:txBody>
      </p:sp>
      <p:sp>
        <p:nvSpPr>
          <p:cNvPr id="19" name="TextBox 18">
            <a:extLst>
              <a:ext uri="{FF2B5EF4-FFF2-40B4-BE49-F238E27FC236}">
                <a16:creationId xmlns:a16="http://schemas.microsoft.com/office/drawing/2014/main" xmlns="" id="{0CBFF678-1812-FD1A-2E18-67230977CA93}"/>
              </a:ext>
            </a:extLst>
          </p:cNvPr>
          <p:cNvSpPr txBox="1"/>
          <p:nvPr/>
        </p:nvSpPr>
        <p:spPr>
          <a:xfrm>
            <a:off x="1115616" y="1814753"/>
            <a:ext cx="8028384" cy="430887"/>
          </a:xfrm>
          <a:prstGeom prst="rect">
            <a:avLst/>
          </a:prstGeom>
          <a:noFill/>
        </p:spPr>
        <p:txBody>
          <a:bodyPr wrap="square">
            <a:spAutoFit/>
          </a:bodyPr>
          <a:lstStyle/>
          <a:p>
            <a:pPr marR="0"/>
            <a:r>
              <a:rPr lang="en-US" sz="1100" dirty="0"/>
              <a:t>•</a:t>
            </a:r>
            <a:r>
              <a:rPr lang="en-US" sz="1100" kern="100" dirty="0">
                <a:effectLst/>
                <a:latin typeface="Aptos" panose="020B0004020202020204" pitchFamily="34" charset="0"/>
                <a:ea typeface="DengXian" panose="02010600030101010101" pitchFamily="2" charset="-122"/>
                <a:cs typeface="Times New Roman" panose="02020603050405020304" pitchFamily="18" charset="0"/>
              </a:rPr>
              <a:t>"Optimizing Task Allocation in Heterogeneous Agent Manufacturing Systems."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[PDCAT 2025, </a:t>
            </a:r>
            <a:r>
              <a:rPr lang="en-US" sz="1100" b="1" kern="100" dirty="0" err="1">
                <a:effectLst/>
                <a:latin typeface="Aptos" panose="020B0004020202020204" pitchFamily="34" charset="0"/>
                <a:ea typeface="DengXian" panose="02010600030101010101" pitchFamily="2" charset="-122"/>
                <a:cs typeface="Times New Roman" panose="02020603050405020304" pitchFamily="18" charset="0"/>
              </a:rPr>
              <a:t>Pubished</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一种基于状态预测与自适应阈值的工业系统数据注入攻击检测方法</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
        <p:nvSpPr>
          <p:cNvPr id="20" name="TextBox 19">
            <a:extLst>
              <a:ext uri="{FF2B5EF4-FFF2-40B4-BE49-F238E27FC236}">
                <a16:creationId xmlns:a16="http://schemas.microsoft.com/office/drawing/2014/main" xmlns="" id="{7F2D41AF-9AA8-9607-44CE-ED53A78570DE}"/>
              </a:ext>
            </a:extLst>
          </p:cNvPr>
          <p:cNvSpPr txBox="1"/>
          <p:nvPr/>
        </p:nvSpPr>
        <p:spPr>
          <a:xfrm>
            <a:off x="1115223" y="2429666"/>
            <a:ext cx="8028385" cy="471732"/>
          </a:xfrm>
          <a:prstGeom prst="rect">
            <a:avLst/>
          </a:prstGeom>
          <a:noFill/>
        </p:spPr>
        <p:txBody>
          <a:bodyPr wrap="square">
            <a:spAutoFit/>
          </a:bodyPr>
          <a:lstStyle/>
          <a:p>
            <a:pPr>
              <a:lnSpc>
                <a:spcPct val="115000"/>
              </a:lnSpc>
              <a:spcAft>
                <a:spcPts val="800"/>
              </a:spcAft>
            </a:pPr>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“STLC: Spatiotemporal Localized Consensus with Adaptive Trust for Scalable Byzantine Fault Tolerance in Industrial Cyber-Physical Systems.”  T-ASE.</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effectLst/>
                <a:latin typeface="Aptos" panose="020B0004020202020204" pitchFamily="34" charset="0"/>
                <a:ea typeface="DengXian" panose="02010600030101010101" pitchFamily="2" charset="-122"/>
                <a:cs typeface="Times New Roman" panose="02020603050405020304" pitchFamily="18" charset="0"/>
              </a:rPr>
              <a:t>已投稿</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p:txBody>
      </p:sp>
      <p:sp>
        <p:nvSpPr>
          <p:cNvPr id="21" name="TextBox 20">
            <a:extLst>
              <a:ext uri="{FF2B5EF4-FFF2-40B4-BE49-F238E27FC236}">
                <a16:creationId xmlns:a16="http://schemas.microsoft.com/office/drawing/2014/main" xmlns="" id="{BE290288-5077-0D95-82E6-BAC2D0A4F743}"/>
              </a:ext>
            </a:extLst>
          </p:cNvPr>
          <p:cNvSpPr txBox="1"/>
          <p:nvPr/>
        </p:nvSpPr>
        <p:spPr>
          <a:xfrm>
            <a:off x="1115270" y="3058914"/>
            <a:ext cx="8028729" cy="600164"/>
          </a:xfrm>
          <a:prstGeom prst="rect">
            <a:avLst/>
          </a:prstGeom>
          <a:noFill/>
        </p:spPr>
        <p:txBody>
          <a:bodyPr wrap="square">
            <a:spAutoFit/>
          </a:bodyPr>
          <a:lstStyle/>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“Near-Optimal Segmented Rescheduling for Dynamic Multi-Agent Systems: A State-Aware Decomposition Framework with Bounded Suboptimality” </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初稿已完成</a:t>
            </a:r>
            <a:r>
              <a:rPr lang="en-US" sz="1100" b="1" kern="100" dirty="0">
                <a:effectLst/>
                <a:latin typeface="Aptos" panose="020B0004020202020204" pitchFamily="34" charset="0"/>
                <a:ea typeface="DengXian" panose="02010600030101010101" pitchFamily="2" charset="-122"/>
                <a:cs typeface="Times New Roman" panose="02020603050405020304" pitchFamily="18" charset="0"/>
              </a:rPr>
              <a:t>]</a:t>
            </a:r>
          </a:p>
          <a:p>
            <a:r>
              <a:rPr lang="en-US" sz="1100" dirty="0"/>
              <a:t>•</a:t>
            </a:r>
            <a:r>
              <a:rPr lang="en-US" sz="1100"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kern="100" dirty="0">
                <a:latin typeface="Aptos" panose="020B0004020202020204" pitchFamily="34" charset="0"/>
                <a:ea typeface="DengXian" panose="02010600030101010101" pitchFamily="2" charset="-122"/>
                <a:cs typeface="Times New Roman" panose="02020603050405020304" pitchFamily="18" charset="0"/>
              </a:rPr>
              <a:t>一种基于影响边界的多智能体任务动态重调度方法及系统</a:t>
            </a:r>
            <a:r>
              <a:rPr lang="en-US" sz="1100" kern="100" dirty="0">
                <a:latin typeface="Aptos" panose="020B0004020202020204" pitchFamily="34" charset="0"/>
                <a:ea typeface="DengXian" panose="02010600030101010101" pitchFamily="2" charset="-122"/>
                <a:cs typeface="Times New Roman" panose="02020603050405020304" pitchFamily="18" charset="0"/>
              </a:rPr>
              <a:t>”  </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r>
              <a:rPr lang="zh-CN" altLang="en-US" sz="1100" b="1" kern="100" dirty="0">
                <a:latin typeface="Aptos" panose="020B0004020202020204" pitchFamily="34" charset="0"/>
                <a:ea typeface="DengXian" panose="02010600030101010101" pitchFamily="2" charset="-122"/>
                <a:cs typeface="Times New Roman" panose="02020603050405020304" pitchFamily="18" charset="0"/>
              </a:rPr>
              <a:t>专利代理事务所已受理</a:t>
            </a:r>
            <a:r>
              <a:rPr lang="en-US" sz="1100" b="1" kern="100" dirty="0">
                <a:latin typeface="Aptos" panose="020B0004020202020204" pitchFamily="34" charset="0"/>
                <a:ea typeface="DengXian" panose="02010600030101010101" pitchFamily="2" charset="-122"/>
                <a:cs typeface="Times New Roman" panose="02020603050405020304" pitchFamily="18"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90502"/>
            <a:ext cx="457200" cy="178594"/>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3" name="矩形 2"/>
          <p:cNvSpPr/>
          <p:nvPr/>
        </p:nvSpPr>
        <p:spPr>
          <a:xfrm>
            <a:off x="3794615" y="196468"/>
            <a:ext cx="5349386" cy="172628"/>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 name="文本框 20"/>
          <p:cNvSpPr txBox="1">
            <a:spLocks noChangeArrowheads="1"/>
          </p:cNvSpPr>
          <p:nvPr/>
        </p:nvSpPr>
        <p:spPr bwMode="auto">
          <a:xfrm>
            <a:off x="418825" y="75522"/>
            <a:ext cx="3649532" cy="37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sz="2800">
                <a:solidFill>
                  <a:schemeClr val="tx1"/>
                </a:solidFill>
                <a:latin typeface="Calibri" panose="020F0502020204030204" pitchFamily="34" charset="0"/>
                <a:ea typeface="宋体" panose="02010600030101010101" pitchFamily="2" charset="-122"/>
              </a:defRPr>
            </a:lvl1pPr>
            <a:lvl2pPr marL="742950" indent="-285750">
              <a:defRPr sz="2400">
                <a:solidFill>
                  <a:schemeClr val="tx1"/>
                </a:solidFill>
                <a:latin typeface="Calibri" panose="020F0502020204030204" pitchFamily="34" charset="0"/>
                <a:ea typeface="宋体" panose="02010600030101010101" pitchFamily="2" charset="-122"/>
              </a:defRPr>
            </a:lvl2pPr>
            <a:lvl3pPr>
              <a:defRPr sz="2000">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000" b="1" dirty="0">
                <a:solidFill>
                  <a:schemeClr val="bg1">
                    <a:lumMod val="75000"/>
                  </a:schemeClr>
                </a:solidFill>
                <a:latin typeface="微软雅黑" panose="020B0503020204020204" pitchFamily="34" charset="-122"/>
                <a:ea typeface="微软雅黑" panose="020B0503020204020204" pitchFamily="34" charset="-122"/>
              </a:rPr>
              <a:t>预期成果与</a:t>
            </a:r>
            <a:r>
              <a:rPr lang="zh-CN" altLang="en-US" sz="2000" b="1" dirty="0">
                <a:solidFill>
                  <a:srgbClr val="044875"/>
                </a:solidFill>
                <a:latin typeface="微软雅黑" panose="020B0503020204020204" pitchFamily="34" charset="-122"/>
                <a:ea typeface="微软雅黑" panose="020B0503020204020204" pitchFamily="34" charset="-122"/>
              </a:rPr>
              <a:t>进度安排</a:t>
            </a:r>
          </a:p>
        </p:txBody>
      </p:sp>
      <p:sp>
        <p:nvSpPr>
          <p:cNvPr id="5" name="文本框 4"/>
          <p:cNvSpPr txBox="1"/>
          <p:nvPr/>
        </p:nvSpPr>
        <p:spPr bwMode="auto">
          <a:xfrm>
            <a:off x="413147" y="61913"/>
            <a:ext cx="542925" cy="438581"/>
          </a:xfrm>
          <a:prstGeom prst="rect">
            <a:avLst/>
          </a:prstGeom>
          <a:noFill/>
        </p:spPr>
        <p:txBody>
          <a:bodyPr lIns="68580" tIns="34290" rIns="68580" bIns="34290">
            <a:spAutoFit/>
          </a:bodyPr>
          <a:lstStyle/>
          <a:p>
            <a:pPr algn="ctr">
              <a:defRPr/>
            </a:pPr>
            <a:r>
              <a:rPr lang="en-US" altLang="zh-CN" sz="2400" dirty="0">
                <a:solidFill>
                  <a:schemeClr val="bg2">
                    <a:lumMod val="25000"/>
                  </a:schemeClr>
                </a:solidFill>
                <a:latin typeface="Impact" panose="020B0806030902050204" pitchFamily="34" charset="0"/>
              </a:rPr>
              <a:t>04</a:t>
            </a:r>
            <a:endParaRPr lang="zh-CN" altLang="en-US" sz="2400" dirty="0">
              <a:solidFill>
                <a:schemeClr val="bg2">
                  <a:lumMod val="25000"/>
                </a:schemeClr>
              </a:solidFill>
              <a:latin typeface="Impact" panose="020B0806030902050204" pitchFamily="34" charset="0"/>
            </a:endParaRPr>
          </a:p>
        </p:txBody>
      </p:sp>
      <p:sp>
        <p:nvSpPr>
          <p:cNvPr id="6" name="矩形 5"/>
          <p:cNvSpPr/>
          <p:nvPr/>
        </p:nvSpPr>
        <p:spPr>
          <a:xfrm>
            <a:off x="228600" y="812515"/>
            <a:ext cx="1164422" cy="377026"/>
          </a:xfrm>
          <a:prstGeom prst="rect">
            <a:avLst/>
          </a:prstGeom>
        </p:spPr>
        <p:txBody>
          <a:bodyPr wrap="none" lIns="68580" tIns="34290" rIns="68580" bIns="34290">
            <a:spAutoFit/>
          </a:bodyPr>
          <a:lstStyle/>
          <a:p>
            <a:pPr algn="ctr"/>
            <a:r>
              <a:rPr lang="zh-CN" altLang="en-US" sz="2000" b="1" dirty="0">
                <a:latin typeface="微软雅黑" panose="020B0503020204020204" pitchFamily="34" charset="-122"/>
                <a:ea typeface="微软雅黑" panose="020B0503020204020204" pitchFamily="34" charset="-122"/>
              </a:rPr>
              <a:t>进度安排</a:t>
            </a:r>
          </a:p>
        </p:txBody>
      </p:sp>
      <p:sp>
        <p:nvSpPr>
          <p:cNvPr id="7" name="矩形 6"/>
          <p:cNvSpPr/>
          <p:nvPr/>
        </p:nvSpPr>
        <p:spPr>
          <a:xfrm>
            <a:off x="503548" y="1447944"/>
            <a:ext cx="8316924" cy="2031325"/>
          </a:xfrm>
          <a:prstGeom prst="rect">
            <a:avLst/>
          </a:prstGeom>
        </p:spPr>
        <p:txBody>
          <a:bodyPr wrap="square">
            <a:spAutoFit/>
          </a:bodyPr>
          <a:lstStyle/>
          <a:p>
            <a:pPr>
              <a:lnSpc>
                <a:spcPct val="150000"/>
              </a:lnSpc>
            </a:pPr>
            <a:r>
              <a:rPr lang="en-US" sz="1400" dirty="0">
                <a:latin typeface="微软雅黑" panose="020B0503020204020204" pitchFamily="34" charset="-122"/>
                <a:ea typeface="微软雅黑" panose="020B0503020204020204" pitchFamily="34" charset="-122"/>
              </a:rPr>
              <a:t>2025.07~2025.12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完成文献调研，综述已有的学术方法，做好理论基础</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2026.01~2026.06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基于预约表感知的无冲突运输柔性作业车间调度</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2026.07~2026.12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研究基于时序半马尔可夫与参考模型可行性约束的注入攻击检测方法</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2027.01~2027.06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研究基于耦合互证的被劫持设备任务状态伪造检测</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2027.07~2027.12</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研究</a:t>
            </a:r>
            <a:r>
              <a:rPr lang="zh-CN" altLang="zh-CN" sz="1400" dirty="0">
                <a:latin typeface="微软雅黑" panose="020B0503020204020204" pitchFamily="34" charset="-122"/>
                <a:ea typeface="微软雅黑" panose="020B0503020204020204" pitchFamily="34" charset="-122"/>
              </a:rPr>
              <a:t>基于时空预约影响闭包的局部重调度方法</a:t>
            </a:r>
            <a:r>
              <a:rPr sz="1400" dirty="0">
                <a:latin typeface="微软雅黑" panose="020B0503020204020204" pitchFamily="34" charset="-122"/>
                <a:ea typeface="微软雅黑" panose="020B0503020204020204" pitchFamily="34" charset="-122"/>
              </a:rPr>
              <a:t>；</a:t>
            </a:r>
          </a:p>
          <a:p>
            <a:pPr>
              <a:lnSpc>
                <a:spcPct val="150000"/>
              </a:lnSpc>
            </a:pPr>
            <a:r>
              <a:rPr lang="en-US" sz="1400" dirty="0">
                <a:latin typeface="微软雅黑" panose="020B0503020204020204" pitchFamily="34" charset="-122"/>
                <a:ea typeface="微软雅黑" panose="020B0503020204020204" pitchFamily="34" charset="-122"/>
              </a:rPr>
              <a:t>2028.01~2028.06</a:t>
            </a:r>
            <a:r>
              <a:rPr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系统验证、部署应用，博士论文撰写</a:t>
            </a:r>
            <a:r>
              <a:rPr sz="1400" dirty="0">
                <a:latin typeface="微软雅黑" panose="020B0503020204020204" pitchFamily="34" charset="-122"/>
                <a:ea typeface="微软雅黑" panose="020B0503020204020204" pitchFamily="34" charset="-122"/>
              </a:rPr>
              <a:t>；</a:t>
            </a:r>
          </a:p>
        </p:txBody>
      </p:sp>
      <p:sp>
        <p:nvSpPr>
          <p:cNvPr id="8" name="灯片编号占位符 7"/>
          <p:cNvSpPr>
            <a:spLocks noGrp="1"/>
          </p:cNvSpPr>
          <p:nvPr>
            <p:ph type="sldNum" sz="quarter" idx="12"/>
            <p:custDataLst>
              <p:tags r:id="rId1"/>
            </p:custDataLst>
          </p:nvPr>
        </p:nvSpPr>
        <p:spPr/>
        <p:txBody>
          <a:bodyPr/>
          <a:lstStyle/>
          <a:p>
            <a:fld id="{0C913308-F349-4B6D-A68A-DD1791B4A57B}"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nvSpPr>
        <p:spPr>
          <a:xfrm>
            <a:off x="1494830" y="2286562"/>
            <a:ext cx="6128147" cy="577081"/>
          </a:xfrm>
          <a:prstGeom prst="rect">
            <a:avLst/>
          </a:prstGeom>
          <a:noFill/>
        </p:spPr>
        <p:txBody>
          <a:bodyPr lIns="68580" tIns="34290" rIns="68580" bIns="34290">
            <a:spAutoFit/>
          </a:bodyPr>
          <a:lstStyle/>
          <a:p>
            <a:pPr algn="ctr"/>
            <a:r>
              <a:rPr lang="zh-CN" altLang="en-US" sz="3300" b="1" dirty="0">
                <a:solidFill>
                  <a:schemeClr val="tx1">
                    <a:lumMod val="85000"/>
                    <a:lumOff val="15000"/>
                  </a:schemeClr>
                </a:solidFill>
                <a:latin typeface="微软雅黑" panose="020B0503020204020204" pitchFamily="34" charset="-122"/>
                <a:ea typeface="微软雅黑" panose="020B0503020204020204" pitchFamily="34" charset="-122"/>
              </a:rPr>
              <a:t>感谢各位老师指导！</a:t>
            </a:r>
            <a:endParaRPr lang="en-US" altLang="zh-CN" sz="33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1200151" y="1693069"/>
            <a:ext cx="6717506" cy="1787129"/>
          </a:xfrm>
          <a:prstGeom prst="rect">
            <a:avLst/>
          </a:prstGeom>
          <a:noFill/>
          <a:ln w="25400">
            <a:solidFill>
              <a:srgbClr val="044875"/>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grpSp>
        <p:nvGrpSpPr>
          <p:cNvPr id="34" name="组合 33"/>
          <p:cNvGrpSpPr/>
          <p:nvPr/>
        </p:nvGrpSpPr>
        <p:grpSpPr bwMode="auto">
          <a:xfrm>
            <a:off x="7717633" y="3244454"/>
            <a:ext cx="832247" cy="847725"/>
            <a:chOff x="2666985" y="682103"/>
            <a:chExt cx="1109138" cy="1131217"/>
          </a:xfrm>
        </p:grpSpPr>
        <p:sp>
          <p:nvSpPr>
            <p:cNvPr id="35" name="矩形 34"/>
            <p:cNvSpPr/>
            <p:nvPr/>
          </p:nvSpPr>
          <p:spPr>
            <a:xfrm>
              <a:off x="2841527" y="858458"/>
              <a:ext cx="769574" cy="768973"/>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矩形 35"/>
            <p:cNvSpPr/>
            <p:nvPr/>
          </p:nvSpPr>
          <p:spPr>
            <a:xfrm>
              <a:off x="2666985" y="682103"/>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7" name="矩形 36"/>
            <p:cNvSpPr/>
            <p:nvPr/>
          </p:nvSpPr>
          <p:spPr>
            <a:xfrm>
              <a:off x="3217587" y="1254067"/>
              <a:ext cx="558536" cy="559253"/>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38" name="组合 37"/>
          <p:cNvGrpSpPr/>
          <p:nvPr/>
        </p:nvGrpSpPr>
        <p:grpSpPr bwMode="auto">
          <a:xfrm>
            <a:off x="594123" y="1096568"/>
            <a:ext cx="832247" cy="848915"/>
            <a:chOff x="2666985" y="682103"/>
            <a:chExt cx="1109138" cy="1131217"/>
          </a:xfrm>
        </p:grpSpPr>
        <p:sp>
          <p:nvSpPr>
            <p:cNvPr id="39" name="矩形 38"/>
            <p:cNvSpPr/>
            <p:nvPr/>
          </p:nvSpPr>
          <p:spPr>
            <a:xfrm>
              <a:off x="2841528" y="858211"/>
              <a:ext cx="769573" cy="76948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0" name="矩形 39"/>
            <p:cNvSpPr/>
            <p:nvPr/>
          </p:nvSpPr>
          <p:spPr>
            <a:xfrm>
              <a:off x="2666985" y="682103"/>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1" name="矩形 40"/>
            <p:cNvSpPr/>
            <p:nvPr/>
          </p:nvSpPr>
          <p:spPr>
            <a:xfrm>
              <a:off x="3217587" y="1254851"/>
              <a:ext cx="558536" cy="558469"/>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2" name="矩形 41"/>
          <p:cNvSpPr/>
          <p:nvPr/>
        </p:nvSpPr>
        <p:spPr>
          <a:xfrm>
            <a:off x="0" y="-9525"/>
            <a:ext cx="9144000" cy="279797"/>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3" name="矩形 42"/>
          <p:cNvSpPr/>
          <p:nvPr/>
        </p:nvSpPr>
        <p:spPr>
          <a:xfrm>
            <a:off x="8674894" y="4892278"/>
            <a:ext cx="469106"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4" name="矩形 43"/>
          <p:cNvSpPr/>
          <p:nvPr/>
        </p:nvSpPr>
        <p:spPr>
          <a:xfrm>
            <a:off x="0" y="4892278"/>
            <a:ext cx="8737899" cy="251222"/>
          </a:xfrm>
          <a:prstGeom prst="rect">
            <a:avLst/>
          </a:prstGeom>
          <a:solidFill>
            <a:srgbClr val="04487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a:p>
        </p:txBody>
      </p:sp>
      <p:sp>
        <p:nvSpPr>
          <p:cNvPr id="46" name="文本框 45"/>
          <p:cNvSpPr txBox="1"/>
          <p:nvPr/>
        </p:nvSpPr>
        <p:spPr>
          <a:xfrm>
            <a:off x="1507734" y="1543670"/>
            <a:ext cx="6304626" cy="561692"/>
          </a:xfrm>
          <a:prstGeom prst="rect">
            <a:avLst/>
          </a:prstGeom>
          <a:blipFill dpi="0" rotWithShape="1">
            <a:blip r:embed="rId3" cstate="screen"/>
            <a:srcRect/>
            <a:stretch>
              <a:fillRect/>
            </a:stretch>
          </a:blipFill>
        </p:spPr>
        <p:txBody>
          <a:bodyPr wrap="square" lIns="68580" tIns="34290" rIns="68580" bIns="34290">
            <a:spAutoFit/>
          </a:bodyPr>
          <a:lstStyle/>
          <a:p>
            <a:pPr algn="ctr">
              <a:defRPr/>
            </a:pPr>
            <a:r>
              <a:rPr lang="zh-CN" altLang="en-US" sz="1600" b="1" spc="225" dirty="0">
                <a:solidFill>
                  <a:srgbClr val="044875"/>
                </a:solidFill>
                <a:latin typeface="微软雅黑" panose="020B0503020204020204" pitchFamily="34" charset="-122"/>
                <a:ea typeface="微软雅黑" panose="020B0503020204020204" pitchFamily="34" charset="-122"/>
              </a:rPr>
              <a:t>工业互联网中考虑无冲突运输的柔性作业车间调度及安全韧性研究</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1000"/>
                                        <p:tgtEl>
                                          <p:spTgt spid="25"/>
                                        </p:tgtEl>
                                      </p:cBhvr>
                                    </p:animEffect>
                                    <p:anim calcmode="lin" valueType="num">
                                      <p:cBhvr>
                                        <p:cTn id="8" dur="1000" fill="hold"/>
                                        <p:tgtEl>
                                          <p:spTgt spid="25"/>
                                        </p:tgtEl>
                                        <p:attrNameLst>
                                          <p:attrName>ppt_x</p:attrName>
                                        </p:attrNameLst>
                                      </p:cBhvr>
                                      <p:tavLst>
                                        <p:tav tm="0">
                                          <p:val>
                                            <p:strVal val="#ppt_x"/>
                                          </p:val>
                                        </p:tav>
                                        <p:tav tm="100000">
                                          <p:val>
                                            <p:strVal val="#ppt_x"/>
                                          </p:val>
                                        </p:tav>
                                      </p:tavLst>
                                    </p:anim>
                                    <p:anim calcmode="lin" valueType="num">
                                      <p:cBhvr>
                                        <p:cTn id="9" dur="1000" fill="hold"/>
                                        <p:tgtEl>
                                          <p:spTgt spid="2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1000"/>
                                        <p:tgtEl>
                                          <p:spTgt spid="34"/>
                                        </p:tgtEl>
                                      </p:cBhvr>
                                    </p:animEffect>
                                    <p:anim calcmode="lin" valueType="num">
                                      <p:cBhvr>
                                        <p:cTn id="18" dur="1000" fill="hold"/>
                                        <p:tgtEl>
                                          <p:spTgt spid="34"/>
                                        </p:tgtEl>
                                        <p:attrNameLst>
                                          <p:attrName>ppt_x</p:attrName>
                                        </p:attrNameLst>
                                      </p:cBhvr>
                                      <p:tavLst>
                                        <p:tav tm="0">
                                          <p:val>
                                            <p:strVal val="#ppt_x"/>
                                          </p:val>
                                        </p:tav>
                                        <p:tav tm="100000">
                                          <p:val>
                                            <p:strVal val="#ppt_x"/>
                                          </p:val>
                                        </p:tav>
                                      </p:tavLst>
                                    </p:anim>
                                    <p:anim calcmode="lin" valueType="num">
                                      <p:cBhvr>
                                        <p:cTn id="19" dur="1000" fill="hold"/>
                                        <p:tgtEl>
                                          <p:spTgt spid="34"/>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1000"/>
                                        <p:tgtEl>
                                          <p:spTgt spid="38"/>
                                        </p:tgtEl>
                                      </p:cBhvr>
                                    </p:animEffect>
                                    <p:anim calcmode="lin" valueType="num">
                                      <p:cBhvr>
                                        <p:cTn id="23" dur="1000" fill="hold"/>
                                        <p:tgtEl>
                                          <p:spTgt spid="38"/>
                                        </p:tgtEl>
                                        <p:attrNameLst>
                                          <p:attrName>ppt_x</p:attrName>
                                        </p:attrNameLst>
                                      </p:cBhvr>
                                      <p:tavLst>
                                        <p:tav tm="0">
                                          <p:val>
                                            <p:strVal val="#ppt_x"/>
                                          </p:val>
                                        </p:tav>
                                        <p:tav tm="100000">
                                          <p:val>
                                            <p:strVal val="#ppt_x"/>
                                          </p:val>
                                        </p:tav>
                                      </p:tavLst>
                                    </p:anim>
                                    <p:anim calcmode="lin" valueType="num">
                                      <p:cBhvr>
                                        <p:cTn id="24" dur="1000" fill="hold"/>
                                        <p:tgtEl>
                                          <p:spTgt spid="3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1000"/>
                                        <p:tgtEl>
                                          <p:spTgt spid="42"/>
                                        </p:tgtEl>
                                      </p:cBhvr>
                                    </p:animEffect>
                                    <p:anim calcmode="lin" valueType="num">
                                      <p:cBhvr>
                                        <p:cTn id="28" dur="1000" fill="hold"/>
                                        <p:tgtEl>
                                          <p:spTgt spid="42"/>
                                        </p:tgtEl>
                                        <p:attrNameLst>
                                          <p:attrName>ppt_x</p:attrName>
                                        </p:attrNameLst>
                                      </p:cBhvr>
                                      <p:tavLst>
                                        <p:tav tm="0">
                                          <p:val>
                                            <p:strVal val="#ppt_x"/>
                                          </p:val>
                                        </p:tav>
                                        <p:tav tm="100000">
                                          <p:val>
                                            <p:strVal val="#ppt_x"/>
                                          </p:val>
                                        </p:tav>
                                      </p:tavLst>
                                    </p:anim>
                                    <p:anim calcmode="lin" valueType="num">
                                      <p:cBhvr>
                                        <p:cTn id="29" dur="1000" fill="hold"/>
                                        <p:tgtEl>
                                          <p:spTgt spid="42"/>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1000"/>
                                        <p:tgtEl>
                                          <p:spTgt spid="43"/>
                                        </p:tgtEl>
                                      </p:cBhvr>
                                    </p:animEffect>
                                    <p:anim calcmode="lin" valueType="num">
                                      <p:cBhvr>
                                        <p:cTn id="33" dur="1000" fill="hold"/>
                                        <p:tgtEl>
                                          <p:spTgt spid="43"/>
                                        </p:tgtEl>
                                        <p:attrNameLst>
                                          <p:attrName>ppt_x</p:attrName>
                                        </p:attrNameLst>
                                      </p:cBhvr>
                                      <p:tavLst>
                                        <p:tav tm="0">
                                          <p:val>
                                            <p:strVal val="#ppt_x"/>
                                          </p:val>
                                        </p:tav>
                                        <p:tav tm="100000">
                                          <p:val>
                                            <p:strVal val="#ppt_x"/>
                                          </p:val>
                                        </p:tav>
                                      </p:tavLst>
                                    </p:anim>
                                    <p:anim calcmode="lin" valueType="num">
                                      <p:cBhvr>
                                        <p:cTn id="34" dur="1000" fill="hold"/>
                                        <p:tgtEl>
                                          <p:spTgt spid="4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1000"/>
                                        <p:tgtEl>
                                          <p:spTgt spid="44"/>
                                        </p:tgtEl>
                                      </p:cBhvr>
                                    </p:animEffect>
                                    <p:anim calcmode="lin" valueType="num">
                                      <p:cBhvr>
                                        <p:cTn id="38" dur="1000" fill="hold"/>
                                        <p:tgtEl>
                                          <p:spTgt spid="44"/>
                                        </p:tgtEl>
                                        <p:attrNameLst>
                                          <p:attrName>ppt_x</p:attrName>
                                        </p:attrNameLst>
                                      </p:cBhvr>
                                      <p:tavLst>
                                        <p:tav tm="0">
                                          <p:val>
                                            <p:strVal val="#ppt_x"/>
                                          </p:val>
                                        </p:tav>
                                        <p:tav tm="100000">
                                          <p:val>
                                            <p:strVal val="#ppt_x"/>
                                          </p:val>
                                        </p:tav>
                                      </p:tavLst>
                                    </p:anim>
                                    <p:anim calcmode="lin" valueType="num">
                                      <p:cBhvr>
                                        <p:cTn id="39" dur="1000" fill="hold"/>
                                        <p:tgtEl>
                                          <p:spTgt spid="4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1000"/>
                                        <p:tgtEl>
                                          <p:spTgt spid="46"/>
                                        </p:tgtEl>
                                      </p:cBhvr>
                                    </p:animEffect>
                                    <p:anim calcmode="lin" valueType="num">
                                      <p:cBhvr>
                                        <p:cTn id="43" dur="1000" fill="hold"/>
                                        <p:tgtEl>
                                          <p:spTgt spid="46"/>
                                        </p:tgtEl>
                                        <p:attrNameLst>
                                          <p:attrName>ppt_x</p:attrName>
                                        </p:attrNameLst>
                                      </p:cBhvr>
                                      <p:tavLst>
                                        <p:tav tm="0">
                                          <p:val>
                                            <p:strVal val="#ppt_x"/>
                                          </p:val>
                                        </p:tav>
                                        <p:tav tm="100000">
                                          <p:val>
                                            <p:strVal val="#ppt_x"/>
                                          </p:val>
                                        </p:tav>
                                      </p:tavLst>
                                    </p:anim>
                                    <p:anim calcmode="lin" valueType="num">
                                      <p:cBhvr>
                                        <p:cTn id="44"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3" grpId="0" animBg="1"/>
      <p:bldP spid="42" grpId="0" animBg="1"/>
      <p:bldP spid="43" grpId="0" animBg="1"/>
      <p:bldP spid="44" grpId="0" animBg="1"/>
      <p:bldP spid="4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7c0f68f1-9cd8-47f2-8cdd-930112b61297"/>
  <p:tag name="COMMONDATA" val="eyJoZGlkIjoiYTNiNTIyM2NiNGI4ZWQ1OWYxNGUyMTVkODkzYmViMmE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contentBits="0" removed="0"/>
</clbl:labelList>
</file>

<file path=docProps/app.xml><?xml version="1.0" encoding="utf-8"?>
<Properties xmlns="http://schemas.openxmlformats.org/officeDocument/2006/extended-properties" xmlns:vt="http://schemas.openxmlformats.org/officeDocument/2006/docPropsVTypes">
  <TotalTime>286</TotalTime>
  <Words>3546</Words>
  <Application>Microsoft Office PowerPoint</Application>
  <PresentationFormat>全屏显示(16:9)</PresentationFormat>
  <Paragraphs>407</Paragraphs>
  <Slides>28</Slides>
  <Notes>28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Aptos</vt:lpstr>
      <vt:lpstr>等线</vt:lpstr>
      <vt:lpstr>等线</vt:lpstr>
      <vt:lpstr>华文楷体</vt:lpstr>
      <vt:lpstr>宋体</vt:lpstr>
      <vt:lpstr>Microsoft YaHei</vt:lpstr>
      <vt:lpstr>Microsoft YaHei</vt:lpstr>
      <vt:lpstr>Arial</vt:lpstr>
      <vt:lpstr>Calibri</vt:lpstr>
      <vt:lpstr>Cambria Math</vt:lpstr>
      <vt:lpstr>Impact</vt:lpstr>
      <vt:lpstr>Segoe UI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朱业胜</dc:creator>
  <cp:lastModifiedBy>Windows User</cp:lastModifiedBy>
  <cp:revision>2237</cp:revision>
  <dcterms:created xsi:type="dcterms:W3CDTF">2019-01-14T01:48:00Z</dcterms:created>
  <dcterms:modified xsi:type="dcterms:W3CDTF">2026-10-10T09:47:18Z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8</vt:lpwstr>
  </property>
  <property fmtid="{D5CDD505-2E9C-101B-9397-08002B2CF9AE}" pid="3" name="KSOProductBuildVer">
    <vt:lpwstr>2052-11.1.0.14309</vt:lpwstr>
  </property>
  <property fmtid="{D5CDD505-2E9C-101B-9397-08002B2CF9AE}" pid="4" name="ICV">
    <vt:lpwstr>94CD94A97A7840249ED07DBF3937F014</vt:lpwstr>
  </property>
</Properties>
</file>