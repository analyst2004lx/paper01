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81" r:id="rId2"/>
    <p:sldId id="280" r:id="rId3"/>
    <p:sldId id="256" r:id="rId4"/>
    <p:sldId id="276" r:id="rId5"/>
    <p:sldId id="277" r:id="rId6"/>
    <p:sldId id="278" r:id="rId7"/>
    <p:sldId id="275" r:id="rId8"/>
    <p:sldId id="279" r:id="rId9"/>
    <p:sldId id="257" r:id="rId10"/>
    <p:sldId id="258" r:id="rId11"/>
    <p:sldId id="259" r:id="rId12"/>
    <p:sldId id="260" r:id="rId13"/>
    <p:sldId id="261" r:id="rId14"/>
    <p:sldId id="274"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00" autoAdjust="0"/>
  </p:normalViewPr>
  <p:slideViewPr>
    <p:cSldViewPr snapToGrid="0" showGuides="1">
      <p:cViewPr varScale="1">
        <p:scale>
          <a:sx n="110" d="100"/>
          <a:sy n="110" d="100"/>
        </p:scale>
        <p:origin x="20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B9A581-8AF4-461F-9704-25782666EA73}"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07181-9773-46CB-AF1A-161F1C481DA9}" type="slidenum">
              <a:rPr lang="en-US" smtClean="0"/>
              <a:t>‹#›</a:t>
            </a:fld>
            <a:endParaRPr lang="en-US"/>
          </a:p>
        </p:txBody>
      </p:sp>
    </p:spTree>
    <p:extLst>
      <p:ext uri="{BB962C8B-B14F-4D97-AF65-F5344CB8AC3E}">
        <p14:creationId xmlns:p14="http://schemas.microsoft.com/office/powerpoint/2010/main" val="716115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07181-9773-46CB-AF1A-161F1C481DA9}"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969649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07181-9773-46CB-AF1A-161F1C481DA9}" type="slidenum">
              <a:rPr lang="en-US" smtClean="0"/>
              <a:t>2</a:t>
            </a:fld>
            <a:endParaRPr lang="en-US"/>
          </a:p>
        </p:txBody>
      </p:sp>
    </p:spTree>
    <p:extLst>
      <p:ext uri="{BB962C8B-B14F-4D97-AF65-F5344CB8AC3E}">
        <p14:creationId xmlns:p14="http://schemas.microsoft.com/office/powerpoint/2010/main" val="2665607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707181-9773-46CB-AF1A-161F1C481DA9}" type="slidenum">
              <a:rPr lang="en-US" smtClean="0"/>
              <a:t>3</a:t>
            </a:fld>
            <a:endParaRPr lang="en-US"/>
          </a:p>
        </p:txBody>
      </p:sp>
    </p:spTree>
    <p:extLst>
      <p:ext uri="{BB962C8B-B14F-4D97-AF65-F5344CB8AC3E}">
        <p14:creationId xmlns:p14="http://schemas.microsoft.com/office/powerpoint/2010/main" val="2062742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0AA1C8A-97FD-9BEE-A99B-5668E47E220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C608873-9B9D-518D-C76E-7CCBC4A4D94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42F2644-CEAF-8806-96D3-F85D5AAA69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B64F2784-AA94-8E68-2F00-55A137EC50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07181-9773-46CB-AF1A-161F1C481DA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190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2473585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11288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187350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197409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915053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95355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464286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1465680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545441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42608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3443750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4F4B59-2959-4A3E-BBF4-9F0779662217}" type="datetimeFigureOut">
              <a:rPr lang="zh-CN" altLang="en-US" smtClean="0"/>
              <a:t>2026/10/10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D28FA-5705-45CD-84A5-5EEFE9449ACF}" type="slidenum">
              <a:rPr lang="zh-CN" altLang="en-US" smtClean="0"/>
              <a:t>‹#›</a:t>
            </a:fld>
            <a:endParaRPr lang="zh-CN" altLang="en-US"/>
          </a:p>
        </p:txBody>
      </p:sp>
    </p:spTree>
    <p:extLst>
      <p:ext uri="{BB962C8B-B14F-4D97-AF65-F5344CB8AC3E}">
        <p14:creationId xmlns:p14="http://schemas.microsoft.com/office/powerpoint/2010/main" val="1516419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slideLayout" Target="../slideLayouts/slideLayout2.xml"/><Relationship Id="rId50" Type="http://schemas.openxmlformats.org/officeDocument/2006/relationships/image" Target="../media/image3.png"/><Relationship Id="rId55" Type="http://schemas.openxmlformats.org/officeDocument/2006/relationships/image" Target="../media/image8.pn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image" Target="../media/image6.png"/><Relationship Id="rId58" Type="http://schemas.openxmlformats.org/officeDocument/2006/relationships/image" Target="../media/image11.png"/><Relationship Id="rId5" Type="http://schemas.openxmlformats.org/officeDocument/2006/relationships/tags" Target="../tags/tag5.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image" Target="../media/image1.png"/><Relationship Id="rId56" Type="http://schemas.openxmlformats.org/officeDocument/2006/relationships/image" Target="../media/image9.jpeg"/><Relationship Id="rId8" Type="http://schemas.openxmlformats.org/officeDocument/2006/relationships/tags" Target="../tags/tag8.xml"/><Relationship Id="rId51" Type="http://schemas.openxmlformats.org/officeDocument/2006/relationships/image" Target="../media/image4.png"/><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image" Target="../media/image12.png"/><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image" Target="../media/image2.png"/><Relationship Id="rId57" Type="http://schemas.openxmlformats.org/officeDocument/2006/relationships/image" Target="../media/image10.png"/><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image" Target="../media/image5.wmf"/></Relationships>
</file>

<file path=ppt/slides/_rels/slide8.xml.rels><?xml version="1.0" encoding="UTF-8" standalone="yes"?>
<Relationships xmlns="http://schemas.openxmlformats.org/package/2006/relationships"><Relationship Id="rId13" Type="http://schemas.openxmlformats.org/officeDocument/2006/relationships/tags" Target="../tags/tag59.xml"/><Relationship Id="rId18" Type="http://schemas.openxmlformats.org/officeDocument/2006/relationships/tags" Target="../tags/tag64.xml"/><Relationship Id="rId26" Type="http://schemas.openxmlformats.org/officeDocument/2006/relationships/tags" Target="../tags/tag72.xml"/><Relationship Id="rId39" Type="http://schemas.openxmlformats.org/officeDocument/2006/relationships/tags" Target="../tags/tag85.xml"/><Relationship Id="rId21" Type="http://schemas.openxmlformats.org/officeDocument/2006/relationships/tags" Target="../tags/tag67.xml"/><Relationship Id="rId34" Type="http://schemas.openxmlformats.org/officeDocument/2006/relationships/tags" Target="../tags/tag80.xml"/><Relationship Id="rId42" Type="http://schemas.openxmlformats.org/officeDocument/2006/relationships/tags" Target="../tags/tag88.xml"/><Relationship Id="rId47" Type="http://schemas.openxmlformats.org/officeDocument/2006/relationships/slideLayout" Target="../slideLayouts/slideLayout2.xml"/><Relationship Id="rId50" Type="http://schemas.openxmlformats.org/officeDocument/2006/relationships/image" Target="../media/image3.png"/><Relationship Id="rId55" Type="http://schemas.openxmlformats.org/officeDocument/2006/relationships/image" Target="../media/image8.png"/><Relationship Id="rId7" Type="http://schemas.openxmlformats.org/officeDocument/2006/relationships/tags" Target="../tags/tag53.xml"/><Relationship Id="rId2" Type="http://schemas.openxmlformats.org/officeDocument/2006/relationships/tags" Target="../tags/tag48.xml"/><Relationship Id="rId16" Type="http://schemas.openxmlformats.org/officeDocument/2006/relationships/tags" Target="../tags/tag62.xml"/><Relationship Id="rId29" Type="http://schemas.openxmlformats.org/officeDocument/2006/relationships/tags" Target="../tags/tag75.xml"/><Relationship Id="rId11" Type="http://schemas.openxmlformats.org/officeDocument/2006/relationships/tags" Target="../tags/tag57.xml"/><Relationship Id="rId24" Type="http://schemas.openxmlformats.org/officeDocument/2006/relationships/tags" Target="../tags/tag70.xml"/><Relationship Id="rId32" Type="http://schemas.openxmlformats.org/officeDocument/2006/relationships/tags" Target="../tags/tag78.xml"/><Relationship Id="rId37" Type="http://schemas.openxmlformats.org/officeDocument/2006/relationships/tags" Target="../tags/tag83.xml"/><Relationship Id="rId40" Type="http://schemas.openxmlformats.org/officeDocument/2006/relationships/tags" Target="../tags/tag86.xml"/><Relationship Id="rId45" Type="http://schemas.openxmlformats.org/officeDocument/2006/relationships/tags" Target="../tags/tag91.xml"/><Relationship Id="rId53" Type="http://schemas.openxmlformats.org/officeDocument/2006/relationships/image" Target="../media/image6.png"/><Relationship Id="rId58" Type="http://schemas.openxmlformats.org/officeDocument/2006/relationships/image" Target="../media/image11.png"/><Relationship Id="rId5" Type="http://schemas.openxmlformats.org/officeDocument/2006/relationships/tags" Target="../tags/tag51.xml"/><Relationship Id="rId19" Type="http://schemas.openxmlformats.org/officeDocument/2006/relationships/tags" Target="../tags/tag65.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 Id="rId22" Type="http://schemas.openxmlformats.org/officeDocument/2006/relationships/tags" Target="../tags/tag68.xml"/><Relationship Id="rId27" Type="http://schemas.openxmlformats.org/officeDocument/2006/relationships/tags" Target="../tags/tag73.xml"/><Relationship Id="rId30" Type="http://schemas.openxmlformats.org/officeDocument/2006/relationships/tags" Target="../tags/tag76.xml"/><Relationship Id="rId35" Type="http://schemas.openxmlformats.org/officeDocument/2006/relationships/tags" Target="../tags/tag81.xml"/><Relationship Id="rId43" Type="http://schemas.openxmlformats.org/officeDocument/2006/relationships/tags" Target="../tags/tag89.xml"/><Relationship Id="rId48" Type="http://schemas.openxmlformats.org/officeDocument/2006/relationships/image" Target="../media/image1.png"/><Relationship Id="rId56" Type="http://schemas.openxmlformats.org/officeDocument/2006/relationships/image" Target="../media/image9.jpeg"/><Relationship Id="rId8" Type="http://schemas.openxmlformats.org/officeDocument/2006/relationships/tags" Target="../tags/tag54.xml"/><Relationship Id="rId51" Type="http://schemas.openxmlformats.org/officeDocument/2006/relationships/image" Target="../media/image4.png"/><Relationship Id="rId3" Type="http://schemas.openxmlformats.org/officeDocument/2006/relationships/tags" Target="../tags/tag49.xml"/><Relationship Id="rId12" Type="http://schemas.openxmlformats.org/officeDocument/2006/relationships/tags" Target="../tags/tag58.xml"/><Relationship Id="rId17" Type="http://schemas.openxmlformats.org/officeDocument/2006/relationships/tags" Target="../tags/tag63.xml"/><Relationship Id="rId25" Type="http://schemas.openxmlformats.org/officeDocument/2006/relationships/tags" Target="../tags/tag71.xml"/><Relationship Id="rId33" Type="http://schemas.openxmlformats.org/officeDocument/2006/relationships/tags" Target="../tags/tag79.xml"/><Relationship Id="rId38" Type="http://schemas.openxmlformats.org/officeDocument/2006/relationships/tags" Target="../tags/tag84.xml"/><Relationship Id="rId46" Type="http://schemas.openxmlformats.org/officeDocument/2006/relationships/tags" Target="../tags/tag92.xml"/><Relationship Id="rId59" Type="http://schemas.openxmlformats.org/officeDocument/2006/relationships/image" Target="../media/image12.png"/><Relationship Id="rId20" Type="http://schemas.openxmlformats.org/officeDocument/2006/relationships/tags" Target="../tags/tag66.xml"/><Relationship Id="rId41" Type="http://schemas.openxmlformats.org/officeDocument/2006/relationships/tags" Target="../tags/tag87.xml"/><Relationship Id="rId54" Type="http://schemas.openxmlformats.org/officeDocument/2006/relationships/image" Target="../media/image7.png"/><Relationship Id="rId1" Type="http://schemas.openxmlformats.org/officeDocument/2006/relationships/tags" Target="../tags/tag47.xml"/><Relationship Id="rId6" Type="http://schemas.openxmlformats.org/officeDocument/2006/relationships/tags" Target="../tags/tag52.xml"/><Relationship Id="rId15" Type="http://schemas.openxmlformats.org/officeDocument/2006/relationships/tags" Target="../tags/tag61.xml"/><Relationship Id="rId23" Type="http://schemas.openxmlformats.org/officeDocument/2006/relationships/tags" Target="../tags/tag69.xml"/><Relationship Id="rId28" Type="http://schemas.openxmlformats.org/officeDocument/2006/relationships/tags" Target="../tags/tag74.xml"/><Relationship Id="rId36" Type="http://schemas.openxmlformats.org/officeDocument/2006/relationships/tags" Target="../tags/tag82.xml"/><Relationship Id="rId49" Type="http://schemas.openxmlformats.org/officeDocument/2006/relationships/image" Target="../media/image2.png"/><Relationship Id="rId57" Type="http://schemas.openxmlformats.org/officeDocument/2006/relationships/image" Target="../media/image10.png"/><Relationship Id="rId10" Type="http://schemas.openxmlformats.org/officeDocument/2006/relationships/tags" Target="../tags/tag56.xml"/><Relationship Id="rId31" Type="http://schemas.openxmlformats.org/officeDocument/2006/relationships/tags" Target="../tags/tag77.xml"/><Relationship Id="rId44" Type="http://schemas.openxmlformats.org/officeDocument/2006/relationships/tags" Target="../tags/tag90.xml"/><Relationship Id="rId52" Type="http://schemas.openxmlformats.org/officeDocument/2006/relationships/image" Target="../media/image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3.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94.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95.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xml"/><Relationship Id="rId1" Type="http://schemas.openxmlformats.org/officeDocument/2006/relationships/tags" Target="../tags/tag96.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FBD9DE-0992-AE34-76CE-AEE16C35AB1F}"/>
            </a:ext>
          </a:extLst>
        </p:cNvPr>
        <p:cNvGrpSpPr/>
        <p:nvPr/>
      </p:nvGrpSpPr>
      <p:grpSpPr>
        <a:xfrm>
          <a:off x="0" y="0"/>
          <a:ext cx="0" cy="0"/>
          <a:chOff x="0" y="0"/>
          <a:chExt cx="0" cy="0"/>
        </a:xfrm>
      </p:grpSpPr>
      <p:sp>
        <p:nvSpPr>
          <p:cNvPr id="16" name="Rectangle 15">
            <a:extLst>
              <a:ext uri="{FF2B5EF4-FFF2-40B4-BE49-F238E27FC236}">
                <a16:creationId xmlns="" xmlns:a16="http://schemas.microsoft.com/office/drawing/2014/main" id="{5D81323F-B860-B4FB-1215-B0E55D590B0B}"/>
              </a:ext>
            </a:extLst>
          </p:cNvPr>
          <p:cNvSpPr/>
          <p:nvPr/>
        </p:nvSpPr>
        <p:spPr>
          <a:xfrm>
            <a:off x="1677471" y="350520"/>
            <a:ext cx="9192034" cy="7943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工业互联网环境下异构柔性作业车间无冲突调度的协同优化及抗扰性研究</a:t>
            </a:r>
            <a:endParaRPr lang="en-US" sz="1600" b="1" dirty="0">
              <a:solidFill>
                <a:prstClr val="black"/>
              </a:solidFill>
            </a:endParaRPr>
          </a:p>
        </p:txBody>
      </p:sp>
      <p:sp>
        <p:nvSpPr>
          <p:cNvPr id="2" name="TextBox 1">
            <a:extLst>
              <a:ext uri="{FF2B5EF4-FFF2-40B4-BE49-F238E27FC236}">
                <a16:creationId xmlns="" xmlns:a16="http://schemas.microsoft.com/office/drawing/2014/main" id="{F69B6CC6-61D9-45C2-E44F-9F8E5BFF55D6}"/>
              </a:ext>
            </a:extLst>
          </p:cNvPr>
          <p:cNvSpPr txBox="1"/>
          <p:nvPr/>
        </p:nvSpPr>
        <p:spPr>
          <a:xfrm>
            <a:off x="-621030" y="482172"/>
            <a:ext cx="1227667" cy="369332"/>
          </a:xfrm>
          <a:prstGeom prst="rect">
            <a:avLst/>
          </a:prstGeom>
          <a:noFill/>
        </p:spPr>
        <p:txBody>
          <a:bodyPr wrap="square" rtlCol="0">
            <a:spAutoFit/>
          </a:bodyPr>
          <a:lstStyle/>
          <a:p>
            <a:r>
              <a:rPr lang="zh-CN" altLang="en-US" dirty="0">
                <a:solidFill>
                  <a:prstClr val="black"/>
                </a:solidFill>
              </a:rPr>
              <a:t>研究目标</a:t>
            </a:r>
            <a:endParaRPr lang="en-US" dirty="0">
              <a:solidFill>
                <a:prstClr val="black"/>
              </a:solidFill>
            </a:endParaRPr>
          </a:p>
        </p:txBody>
      </p:sp>
      <p:sp>
        <p:nvSpPr>
          <p:cNvPr id="3" name="TextBox 2">
            <a:extLst>
              <a:ext uri="{FF2B5EF4-FFF2-40B4-BE49-F238E27FC236}">
                <a16:creationId xmlns="" xmlns:a16="http://schemas.microsoft.com/office/drawing/2014/main" id="{52975A1F-3B8D-B7B6-EEFC-5306E6F9C327}"/>
              </a:ext>
            </a:extLst>
          </p:cNvPr>
          <p:cNvSpPr txBox="1"/>
          <p:nvPr/>
        </p:nvSpPr>
        <p:spPr>
          <a:xfrm>
            <a:off x="-621030" y="1804206"/>
            <a:ext cx="1227667" cy="369332"/>
          </a:xfrm>
          <a:prstGeom prst="rect">
            <a:avLst/>
          </a:prstGeom>
          <a:noFill/>
        </p:spPr>
        <p:txBody>
          <a:bodyPr wrap="square" rtlCol="0">
            <a:spAutoFit/>
          </a:bodyPr>
          <a:lstStyle/>
          <a:p>
            <a:r>
              <a:rPr lang="zh-CN" altLang="en-US" dirty="0">
                <a:solidFill>
                  <a:prstClr val="black"/>
                </a:solidFill>
              </a:rPr>
              <a:t>研究问题</a:t>
            </a:r>
            <a:endParaRPr lang="en-US" dirty="0">
              <a:solidFill>
                <a:prstClr val="black"/>
              </a:solidFill>
            </a:endParaRPr>
          </a:p>
        </p:txBody>
      </p:sp>
      <p:sp>
        <p:nvSpPr>
          <p:cNvPr id="18" name="TextBox 17">
            <a:extLst>
              <a:ext uri="{FF2B5EF4-FFF2-40B4-BE49-F238E27FC236}">
                <a16:creationId xmlns="" xmlns:a16="http://schemas.microsoft.com/office/drawing/2014/main" id="{CB4656BF-DD88-3A3E-7600-2079CA3DE3F2}"/>
              </a:ext>
            </a:extLst>
          </p:cNvPr>
          <p:cNvSpPr txBox="1"/>
          <p:nvPr/>
        </p:nvSpPr>
        <p:spPr>
          <a:xfrm>
            <a:off x="-621030" y="3235503"/>
            <a:ext cx="1227667" cy="369332"/>
          </a:xfrm>
          <a:prstGeom prst="rect">
            <a:avLst/>
          </a:prstGeom>
          <a:noFill/>
        </p:spPr>
        <p:txBody>
          <a:bodyPr wrap="square" rtlCol="0">
            <a:spAutoFit/>
          </a:bodyPr>
          <a:lstStyle/>
          <a:p>
            <a:r>
              <a:rPr lang="zh-CN" altLang="en-US" dirty="0">
                <a:solidFill>
                  <a:prstClr val="black"/>
                </a:solidFill>
              </a:rPr>
              <a:t>关键挑战</a:t>
            </a:r>
            <a:endParaRPr lang="en-US" dirty="0">
              <a:solidFill>
                <a:prstClr val="black"/>
              </a:solidFill>
            </a:endParaRPr>
          </a:p>
        </p:txBody>
      </p:sp>
      <p:sp>
        <p:nvSpPr>
          <p:cNvPr id="19" name="TextBox 18">
            <a:extLst>
              <a:ext uri="{FF2B5EF4-FFF2-40B4-BE49-F238E27FC236}">
                <a16:creationId xmlns="" xmlns:a16="http://schemas.microsoft.com/office/drawing/2014/main" id="{7136297B-8FAE-F6C5-0719-E2612D344BB5}"/>
              </a:ext>
            </a:extLst>
          </p:cNvPr>
          <p:cNvSpPr txBox="1"/>
          <p:nvPr/>
        </p:nvSpPr>
        <p:spPr>
          <a:xfrm>
            <a:off x="-621030" y="5173874"/>
            <a:ext cx="1227667" cy="369332"/>
          </a:xfrm>
          <a:prstGeom prst="rect">
            <a:avLst/>
          </a:prstGeom>
          <a:noFill/>
        </p:spPr>
        <p:txBody>
          <a:bodyPr wrap="square" rtlCol="0">
            <a:spAutoFit/>
          </a:bodyPr>
          <a:lstStyle/>
          <a:p>
            <a:r>
              <a:rPr lang="zh-CN" altLang="en-US" dirty="0">
                <a:solidFill>
                  <a:prstClr val="black"/>
                </a:solidFill>
              </a:rPr>
              <a:t>研究内容</a:t>
            </a:r>
            <a:endParaRPr lang="en-US" dirty="0">
              <a:solidFill>
                <a:prstClr val="black"/>
              </a:solidFill>
            </a:endParaRPr>
          </a:p>
        </p:txBody>
      </p:sp>
      <p:sp>
        <p:nvSpPr>
          <p:cNvPr id="20" name="Rectangle 19">
            <a:extLst>
              <a:ext uri="{FF2B5EF4-FFF2-40B4-BE49-F238E27FC236}">
                <a16:creationId xmlns="" xmlns:a16="http://schemas.microsoft.com/office/drawing/2014/main" id="{3FF33CC0-0CF9-2D7F-E7D2-EF7B3D1EFF84}"/>
              </a:ext>
            </a:extLst>
          </p:cNvPr>
          <p:cNvSpPr/>
          <p:nvPr/>
        </p:nvSpPr>
        <p:spPr>
          <a:xfrm>
            <a:off x="6066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闭环无冲突一体化调度如何做、且算力上付得起？</a:t>
            </a:r>
            <a:endParaRPr lang="en-US" sz="1600" b="1" dirty="0">
              <a:solidFill>
                <a:prstClr val="black"/>
              </a:solidFill>
            </a:endParaRPr>
          </a:p>
        </p:txBody>
      </p:sp>
      <p:sp>
        <p:nvSpPr>
          <p:cNvPr id="21" name="Rectangle 20">
            <a:extLst>
              <a:ext uri="{FF2B5EF4-FFF2-40B4-BE49-F238E27FC236}">
                <a16:creationId xmlns="" xmlns:a16="http://schemas.microsoft.com/office/drawing/2014/main" id="{B122463D-AFF6-5217-7AA3-F3FAA6891A76}"/>
              </a:ext>
            </a:extLst>
          </p:cNvPr>
          <p:cNvSpPr/>
          <p:nvPr/>
        </p:nvSpPr>
        <p:spPr>
          <a:xfrm>
            <a:off x="34895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如何轻量可靠地检测注入攻击以守护调度输入？</a:t>
            </a:r>
            <a:endParaRPr lang="en-US" sz="1600" b="1" dirty="0">
              <a:solidFill>
                <a:prstClr val="black"/>
              </a:solidFill>
            </a:endParaRPr>
          </a:p>
        </p:txBody>
      </p:sp>
      <p:sp>
        <p:nvSpPr>
          <p:cNvPr id="22" name="Rectangle 21">
            <a:extLst>
              <a:ext uri="{FF2B5EF4-FFF2-40B4-BE49-F238E27FC236}">
                <a16:creationId xmlns="" xmlns:a16="http://schemas.microsoft.com/office/drawing/2014/main" id="{7BF23C3F-5C0E-E8EA-80C4-8F6BE71F0F3D}"/>
              </a:ext>
            </a:extLst>
          </p:cNvPr>
          <p:cNvSpPr/>
          <p:nvPr/>
        </p:nvSpPr>
        <p:spPr>
          <a:xfrm>
            <a:off x="63724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如何甄别异常</a:t>
            </a:r>
            <a:r>
              <a:rPr lang="en-US" altLang="zh-CN" dirty="0">
                <a:solidFill>
                  <a:prstClr val="black"/>
                </a:solidFill>
              </a:rPr>
              <a:t>/</a:t>
            </a:r>
            <a:r>
              <a:rPr lang="zh-CN" altLang="en-US" dirty="0">
                <a:solidFill>
                  <a:prstClr val="black"/>
                </a:solidFill>
              </a:rPr>
              <a:t>劫持节点以保障协同可信？</a:t>
            </a:r>
            <a:endParaRPr lang="en-US" sz="1600" b="1" dirty="0">
              <a:solidFill>
                <a:prstClr val="black"/>
              </a:solidFill>
            </a:endParaRPr>
          </a:p>
        </p:txBody>
      </p:sp>
      <p:sp>
        <p:nvSpPr>
          <p:cNvPr id="23" name="Rectangle 22">
            <a:extLst>
              <a:ext uri="{FF2B5EF4-FFF2-40B4-BE49-F238E27FC236}">
                <a16:creationId xmlns="" xmlns:a16="http://schemas.microsoft.com/office/drawing/2014/main" id="{DA3408FA-54F6-F4EF-D96C-AC326332F6EE}"/>
              </a:ext>
            </a:extLst>
          </p:cNvPr>
          <p:cNvSpPr/>
          <p:nvPr/>
        </p:nvSpPr>
        <p:spPr>
          <a:xfrm>
            <a:off x="92553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预约级联损坏下如何局部重调度并与全局重解互补？</a:t>
            </a:r>
            <a:endParaRPr lang="en-US" sz="1600" b="1" dirty="0">
              <a:solidFill>
                <a:prstClr val="black"/>
              </a:solidFill>
            </a:endParaRPr>
          </a:p>
        </p:txBody>
      </p:sp>
      <p:sp>
        <p:nvSpPr>
          <p:cNvPr id="26" name="Rectangle 25">
            <a:extLst>
              <a:ext uri="{FF2B5EF4-FFF2-40B4-BE49-F238E27FC236}">
                <a16:creationId xmlns="" xmlns:a16="http://schemas.microsoft.com/office/drawing/2014/main" id="{E3FE8702-08F2-77F7-8439-2DF672B76683}"/>
              </a:ext>
            </a:extLst>
          </p:cNvPr>
          <p:cNvSpPr/>
          <p:nvPr/>
        </p:nvSpPr>
        <p:spPr>
          <a:xfrm>
            <a:off x="6066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柔性加工与走廊争用下的闭环一体化调度难题</a:t>
            </a:r>
            <a:endParaRPr lang="en-US" sz="1600" b="1" dirty="0">
              <a:solidFill>
                <a:prstClr val="black"/>
              </a:solidFill>
            </a:endParaRPr>
          </a:p>
        </p:txBody>
      </p:sp>
      <p:sp>
        <p:nvSpPr>
          <p:cNvPr id="27" name="Rectangle 26">
            <a:extLst>
              <a:ext uri="{FF2B5EF4-FFF2-40B4-BE49-F238E27FC236}">
                <a16:creationId xmlns="" xmlns:a16="http://schemas.microsoft.com/office/drawing/2014/main" id="{1FDB3AEE-D598-5628-974A-7499063038B8}"/>
              </a:ext>
            </a:extLst>
          </p:cNvPr>
          <p:cNvSpPr/>
          <p:nvPr/>
        </p:nvSpPr>
        <p:spPr>
          <a:xfrm>
            <a:off x="34895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伪造状态</a:t>
            </a:r>
            <a:r>
              <a:rPr lang="en-US" altLang="zh-CN" dirty="0">
                <a:solidFill>
                  <a:prstClr val="black"/>
                </a:solidFill>
              </a:rPr>
              <a:t>/</a:t>
            </a:r>
            <a:r>
              <a:rPr lang="zh-CN" altLang="en-US" dirty="0">
                <a:solidFill>
                  <a:prstClr val="black"/>
                </a:solidFill>
              </a:rPr>
              <a:t>信息的实时轻量检测难题</a:t>
            </a:r>
            <a:endParaRPr lang="en-US" sz="1600" b="1" dirty="0">
              <a:solidFill>
                <a:prstClr val="black"/>
              </a:solidFill>
            </a:endParaRPr>
          </a:p>
        </p:txBody>
      </p:sp>
      <p:sp>
        <p:nvSpPr>
          <p:cNvPr id="28" name="Rectangle 27">
            <a:extLst>
              <a:ext uri="{FF2B5EF4-FFF2-40B4-BE49-F238E27FC236}">
                <a16:creationId xmlns="" xmlns:a16="http://schemas.microsoft.com/office/drawing/2014/main" id="{02069930-ED56-34B8-DBFA-F3E14355292F}"/>
              </a:ext>
            </a:extLst>
          </p:cNvPr>
          <p:cNvSpPr/>
          <p:nvPr/>
        </p:nvSpPr>
        <p:spPr>
          <a:xfrm>
            <a:off x="63724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异常与伪装并存时的节点可信甄别难题</a:t>
            </a:r>
            <a:endParaRPr lang="en-US" sz="1600" b="1" dirty="0">
              <a:solidFill>
                <a:prstClr val="black"/>
              </a:solidFill>
            </a:endParaRPr>
          </a:p>
        </p:txBody>
      </p:sp>
      <p:sp>
        <p:nvSpPr>
          <p:cNvPr id="29" name="Rectangle 28">
            <a:extLst>
              <a:ext uri="{FF2B5EF4-FFF2-40B4-BE49-F238E27FC236}">
                <a16:creationId xmlns="" xmlns:a16="http://schemas.microsoft.com/office/drawing/2014/main" id="{64E8848A-2919-B292-DAEA-19D2FD71AEF3}"/>
              </a:ext>
            </a:extLst>
          </p:cNvPr>
          <p:cNvSpPr/>
          <p:nvPr/>
        </p:nvSpPr>
        <p:spPr>
          <a:xfrm>
            <a:off x="92553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任务图漏报下的预约级联局部重调度难题</a:t>
            </a:r>
            <a:endParaRPr lang="en-US" sz="1600" b="1" dirty="0">
              <a:solidFill>
                <a:prstClr val="black"/>
              </a:solidFill>
            </a:endParaRPr>
          </a:p>
        </p:txBody>
      </p:sp>
      <p:sp>
        <p:nvSpPr>
          <p:cNvPr id="30" name="Rectangle: Rounded Corners 29">
            <a:extLst>
              <a:ext uri="{FF2B5EF4-FFF2-40B4-BE49-F238E27FC236}">
                <a16:creationId xmlns="" xmlns:a16="http://schemas.microsoft.com/office/drawing/2014/main" id="{7D8B47AB-80C9-33E7-6E72-D7E79D443281}"/>
              </a:ext>
            </a:extLst>
          </p:cNvPr>
          <p:cNvSpPr/>
          <p:nvPr/>
        </p:nvSpPr>
        <p:spPr>
          <a:xfrm>
            <a:off x="425753" y="1382486"/>
            <a:ext cx="11766247" cy="1132915"/>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1" name="Rectangle: Rounded Corners 30">
            <a:extLst>
              <a:ext uri="{FF2B5EF4-FFF2-40B4-BE49-F238E27FC236}">
                <a16:creationId xmlns="" xmlns:a16="http://schemas.microsoft.com/office/drawing/2014/main" id="{4982B66C-1D99-5CA4-75B5-86F82BD80252}"/>
              </a:ext>
            </a:extLst>
          </p:cNvPr>
          <p:cNvSpPr/>
          <p:nvPr/>
        </p:nvSpPr>
        <p:spPr>
          <a:xfrm>
            <a:off x="425753" y="2802398"/>
            <a:ext cx="11766247" cy="1270760"/>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Rectangle: Rounded Corners 31">
            <a:extLst>
              <a:ext uri="{FF2B5EF4-FFF2-40B4-BE49-F238E27FC236}">
                <a16:creationId xmlns="" xmlns:a16="http://schemas.microsoft.com/office/drawing/2014/main" id="{32C0EA59-560C-8D80-8046-46F10FE87B62}"/>
              </a:ext>
            </a:extLst>
          </p:cNvPr>
          <p:cNvSpPr/>
          <p:nvPr/>
        </p:nvSpPr>
        <p:spPr>
          <a:xfrm>
            <a:off x="425753" y="4201918"/>
            <a:ext cx="11766247" cy="2265437"/>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7" name="Rectangle 36">
            <a:extLst>
              <a:ext uri="{FF2B5EF4-FFF2-40B4-BE49-F238E27FC236}">
                <a16:creationId xmlns="" xmlns:a16="http://schemas.microsoft.com/office/drawing/2014/main" id="{B96A381D-B746-E28D-27CC-B974F5D66B24}"/>
              </a:ext>
            </a:extLst>
          </p:cNvPr>
          <p:cNvSpPr/>
          <p:nvPr/>
        </p:nvSpPr>
        <p:spPr>
          <a:xfrm>
            <a:off x="606636" y="4666800"/>
            <a:ext cx="2712297" cy="13834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内容</a:t>
            </a:r>
            <a:r>
              <a:rPr lang="en-US" altLang="zh-CN" dirty="0">
                <a:solidFill>
                  <a:prstClr val="black"/>
                </a:solidFill>
              </a:rPr>
              <a:t>1</a:t>
            </a:r>
            <a:r>
              <a:rPr lang="zh-CN" altLang="en-US" dirty="0">
                <a:solidFill>
                  <a:prstClr val="black"/>
                </a:solidFill>
              </a:rPr>
              <a:t>：基于预约表感知的无冲突运输柔性作业车间调度</a:t>
            </a:r>
            <a:endParaRPr lang="en-US" dirty="0">
              <a:solidFill>
                <a:prstClr val="black"/>
              </a:solidFill>
            </a:endParaRPr>
          </a:p>
        </p:txBody>
      </p:sp>
      <p:sp>
        <p:nvSpPr>
          <p:cNvPr id="38" name="Rectangle 37">
            <a:extLst>
              <a:ext uri="{FF2B5EF4-FFF2-40B4-BE49-F238E27FC236}">
                <a16:creationId xmlns="" xmlns:a16="http://schemas.microsoft.com/office/drawing/2014/main" id="{0E83156C-CA7A-A819-2268-017923487F31}"/>
              </a:ext>
            </a:extLst>
          </p:cNvPr>
          <p:cNvSpPr/>
          <p:nvPr/>
        </p:nvSpPr>
        <p:spPr>
          <a:xfrm>
            <a:off x="3968760" y="4368418"/>
            <a:ext cx="3658220" cy="9421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内容</a:t>
            </a:r>
            <a:r>
              <a:rPr lang="en-US" altLang="zh-CN" dirty="0">
                <a:solidFill>
                  <a:prstClr val="black"/>
                </a:solidFill>
              </a:rPr>
              <a:t>2</a:t>
            </a:r>
            <a:r>
              <a:rPr lang="zh-CN" altLang="en-US" dirty="0">
                <a:solidFill>
                  <a:prstClr val="black"/>
                </a:solidFill>
              </a:rPr>
              <a:t>：基于时序半马尔可夫与参考模型可行性约束的注入攻击检测方法</a:t>
            </a:r>
            <a:endParaRPr lang="en-US" dirty="0">
              <a:solidFill>
                <a:prstClr val="black"/>
              </a:solidFill>
            </a:endParaRPr>
          </a:p>
        </p:txBody>
      </p:sp>
      <p:sp>
        <p:nvSpPr>
          <p:cNvPr id="39" name="Rectangle 38">
            <a:extLst>
              <a:ext uri="{FF2B5EF4-FFF2-40B4-BE49-F238E27FC236}">
                <a16:creationId xmlns="" xmlns:a16="http://schemas.microsoft.com/office/drawing/2014/main" id="{18187A74-1A1C-522D-CACA-602CDF70CC80}"/>
              </a:ext>
            </a:extLst>
          </p:cNvPr>
          <p:cNvSpPr/>
          <p:nvPr/>
        </p:nvSpPr>
        <p:spPr>
          <a:xfrm>
            <a:off x="5738080" y="5492367"/>
            <a:ext cx="2895600"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内容</a:t>
            </a:r>
            <a:r>
              <a:rPr lang="en-US" altLang="zh-CN" dirty="0">
                <a:solidFill>
                  <a:prstClr val="black"/>
                </a:solidFill>
              </a:rPr>
              <a:t>3</a:t>
            </a:r>
            <a:r>
              <a:rPr lang="zh-CN" altLang="en-US" dirty="0">
                <a:solidFill>
                  <a:prstClr val="black"/>
                </a:solidFill>
              </a:rPr>
              <a:t>：基于耦合互证的被劫持设备任务状态伪造检测</a:t>
            </a:r>
            <a:endParaRPr lang="en-US" dirty="0">
              <a:solidFill>
                <a:prstClr val="black"/>
              </a:solidFill>
            </a:endParaRPr>
          </a:p>
        </p:txBody>
      </p:sp>
      <p:sp>
        <p:nvSpPr>
          <p:cNvPr id="40" name="Rectangle 39">
            <a:extLst>
              <a:ext uri="{FF2B5EF4-FFF2-40B4-BE49-F238E27FC236}">
                <a16:creationId xmlns="" xmlns:a16="http://schemas.microsoft.com/office/drawing/2014/main" id="{A9D6EF52-DE03-4D66-2CB2-771A5752E11F}"/>
              </a:ext>
            </a:extLst>
          </p:cNvPr>
          <p:cNvSpPr/>
          <p:nvPr/>
        </p:nvSpPr>
        <p:spPr>
          <a:xfrm>
            <a:off x="9255337" y="5492367"/>
            <a:ext cx="2712297"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prstClr val="black"/>
                </a:solidFill>
              </a:rPr>
              <a:t>内容</a:t>
            </a:r>
            <a:r>
              <a:rPr lang="en-US" altLang="zh-CN" dirty="0">
                <a:solidFill>
                  <a:prstClr val="black"/>
                </a:solidFill>
              </a:rPr>
              <a:t>4</a:t>
            </a:r>
            <a:r>
              <a:rPr lang="zh-CN" altLang="en-US" dirty="0">
                <a:solidFill>
                  <a:prstClr val="black"/>
                </a:solidFill>
              </a:rPr>
              <a:t>：基于时空预约影响闭包的局部重调度方法</a:t>
            </a:r>
            <a:endParaRPr lang="en-US" dirty="0">
              <a:solidFill>
                <a:prstClr val="black"/>
              </a:solidFill>
            </a:endParaRPr>
          </a:p>
        </p:txBody>
      </p:sp>
      <p:cxnSp>
        <p:nvCxnSpPr>
          <p:cNvPr id="42" name="Straight Arrow Connector 41">
            <a:extLst>
              <a:ext uri="{FF2B5EF4-FFF2-40B4-BE49-F238E27FC236}">
                <a16:creationId xmlns="" xmlns:a16="http://schemas.microsoft.com/office/drawing/2014/main" id="{C02310BC-07FF-CC80-277D-1ED364E42BDC}"/>
              </a:ext>
            </a:extLst>
          </p:cNvPr>
          <p:cNvCxnSpPr>
            <a:cxnSpLocks/>
            <a:endCxn id="20" idx="0"/>
          </p:cNvCxnSpPr>
          <p:nvPr/>
        </p:nvCxnSpPr>
        <p:spPr>
          <a:xfrm>
            <a:off x="1962786" y="1173480"/>
            <a:ext cx="0" cy="4738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334F67DC-1132-8D2C-8751-A388EF3A9BD4}"/>
              </a:ext>
            </a:extLst>
          </p:cNvPr>
          <p:cNvCxnSpPr>
            <a:cxnSpLocks/>
            <a:endCxn id="21" idx="0"/>
          </p:cNvCxnSpPr>
          <p:nvPr/>
        </p:nvCxnSpPr>
        <p:spPr>
          <a:xfrm flipH="1">
            <a:off x="4845686" y="1144903"/>
            <a:ext cx="1028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 xmlns:a16="http://schemas.microsoft.com/office/drawing/2014/main" id="{F6B16ABA-8BC5-D260-1F58-E633E10F2866}"/>
              </a:ext>
            </a:extLst>
          </p:cNvPr>
          <p:cNvCxnSpPr>
            <a:cxnSpLocks/>
            <a:endCxn id="22" idx="0"/>
          </p:cNvCxnSpPr>
          <p:nvPr/>
        </p:nvCxnSpPr>
        <p:spPr>
          <a:xfrm>
            <a:off x="7728585" y="1156799"/>
            <a:ext cx="1" cy="4905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 xmlns:a16="http://schemas.microsoft.com/office/drawing/2014/main" id="{D771E87D-479C-06FC-696B-33A6286F1D45}"/>
              </a:ext>
            </a:extLst>
          </p:cNvPr>
          <p:cNvCxnSpPr>
            <a:cxnSpLocks/>
            <a:endCxn id="23" idx="0"/>
          </p:cNvCxnSpPr>
          <p:nvPr/>
        </p:nvCxnSpPr>
        <p:spPr>
          <a:xfrm>
            <a:off x="10611485" y="1144903"/>
            <a:ext cx="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 xmlns:a16="http://schemas.microsoft.com/office/drawing/2014/main" id="{B02157AB-1650-3B13-2DF7-1CD4E11D7E8A}"/>
              </a:ext>
            </a:extLst>
          </p:cNvPr>
          <p:cNvCxnSpPr>
            <a:cxnSpLocks/>
            <a:stCxn id="20" idx="2"/>
            <a:endCxn id="26" idx="0"/>
          </p:cNvCxnSpPr>
          <p:nvPr/>
        </p:nvCxnSpPr>
        <p:spPr>
          <a:xfrm>
            <a:off x="19627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 xmlns:a16="http://schemas.microsoft.com/office/drawing/2014/main" id="{9AB7F48D-9AD6-74B2-DCD1-5069039BEF40}"/>
              </a:ext>
            </a:extLst>
          </p:cNvPr>
          <p:cNvCxnSpPr>
            <a:cxnSpLocks/>
            <a:stCxn id="21" idx="2"/>
            <a:endCxn id="27" idx="0"/>
          </p:cNvCxnSpPr>
          <p:nvPr/>
        </p:nvCxnSpPr>
        <p:spPr>
          <a:xfrm>
            <a:off x="48456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 xmlns:a16="http://schemas.microsoft.com/office/drawing/2014/main" id="{1D2DB8A0-3192-94C5-5895-432A7591B9F5}"/>
              </a:ext>
            </a:extLst>
          </p:cNvPr>
          <p:cNvCxnSpPr>
            <a:cxnSpLocks/>
            <a:stCxn id="22" idx="2"/>
            <a:endCxn id="28" idx="0"/>
          </p:cNvCxnSpPr>
          <p:nvPr/>
        </p:nvCxnSpPr>
        <p:spPr>
          <a:xfrm>
            <a:off x="77285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 xmlns:a16="http://schemas.microsoft.com/office/drawing/2014/main" id="{7351AE24-6C4B-7F07-E4B7-21B3D61EEB17}"/>
              </a:ext>
            </a:extLst>
          </p:cNvPr>
          <p:cNvCxnSpPr>
            <a:cxnSpLocks/>
            <a:stCxn id="23" idx="2"/>
            <a:endCxn id="29" idx="0"/>
          </p:cNvCxnSpPr>
          <p:nvPr/>
        </p:nvCxnSpPr>
        <p:spPr>
          <a:xfrm>
            <a:off x="106114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 xmlns:a16="http://schemas.microsoft.com/office/drawing/2014/main" id="{45E0BB78-BDDB-E2C3-98E0-90C3CDE2717A}"/>
              </a:ext>
            </a:extLst>
          </p:cNvPr>
          <p:cNvCxnSpPr>
            <a:cxnSpLocks/>
            <a:stCxn id="26" idx="2"/>
            <a:endCxn id="37" idx="0"/>
          </p:cNvCxnSpPr>
          <p:nvPr/>
        </p:nvCxnSpPr>
        <p:spPr>
          <a:xfrm flipH="1">
            <a:off x="1962785" y="3906077"/>
            <a:ext cx="1" cy="760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 xmlns:a16="http://schemas.microsoft.com/office/drawing/2014/main" id="{857A0184-FF34-5D93-9201-AE02923CA1C8}"/>
              </a:ext>
            </a:extLst>
          </p:cNvPr>
          <p:cNvCxnSpPr>
            <a:cxnSpLocks/>
            <a:endCxn id="38" idx="0"/>
          </p:cNvCxnSpPr>
          <p:nvPr/>
        </p:nvCxnSpPr>
        <p:spPr>
          <a:xfrm>
            <a:off x="5797869" y="3906077"/>
            <a:ext cx="1" cy="4623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 xmlns:a16="http://schemas.microsoft.com/office/drawing/2014/main" id="{F248422B-C184-6456-A51B-69C415E65332}"/>
              </a:ext>
            </a:extLst>
          </p:cNvPr>
          <p:cNvCxnSpPr>
            <a:cxnSpLocks/>
            <a:stCxn id="28" idx="2"/>
          </p:cNvCxnSpPr>
          <p:nvPr/>
        </p:nvCxnSpPr>
        <p:spPr>
          <a:xfrm flipH="1">
            <a:off x="7728585" y="3906077"/>
            <a:ext cx="1" cy="1586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 xmlns:a16="http://schemas.microsoft.com/office/drawing/2014/main" id="{C3D5CD9A-1BB1-30E1-8432-B490882CF0AC}"/>
              </a:ext>
            </a:extLst>
          </p:cNvPr>
          <p:cNvCxnSpPr>
            <a:cxnSpLocks/>
            <a:stCxn id="29" idx="2"/>
            <a:endCxn id="40" idx="0"/>
          </p:cNvCxnSpPr>
          <p:nvPr/>
        </p:nvCxnSpPr>
        <p:spPr>
          <a:xfrm>
            <a:off x="10611486" y="3906077"/>
            <a:ext cx="0" cy="15862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 xmlns:a16="http://schemas.microsoft.com/office/drawing/2014/main" id="{137FA4DF-B5E0-12AB-9955-22B7818597A8}"/>
              </a:ext>
            </a:extLst>
          </p:cNvPr>
          <p:cNvCxnSpPr>
            <a:cxnSpLocks/>
            <a:endCxn id="38" idx="1"/>
          </p:cNvCxnSpPr>
          <p:nvPr/>
        </p:nvCxnSpPr>
        <p:spPr>
          <a:xfrm>
            <a:off x="3318933" y="4839510"/>
            <a:ext cx="6498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 xmlns:a16="http://schemas.microsoft.com/office/drawing/2014/main" id="{3DEE65F3-CE75-0CC8-AAC9-F434DC5F1A54}"/>
              </a:ext>
            </a:extLst>
          </p:cNvPr>
          <p:cNvCxnSpPr>
            <a:cxnSpLocks/>
            <a:endCxn id="39" idx="1"/>
          </p:cNvCxnSpPr>
          <p:nvPr/>
        </p:nvCxnSpPr>
        <p:spPr>
          <a:xfrm>
            <a:off x="3318933" y="5925417"/>
            <a:ext cx="241914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DBC6E5BF-951E-E70B-380A-D3A90458172C}"/>
              </a:ext>
            </a:extLst>
          </p:cNvPr>
          <p:cNvCxnSpPr>
            <a:cxnSpLocks/>
            <a:stCxn id="39" idx="3"/>
            <a:endCxn id="40" idx="1"/>
          </p:cNvCxnSpPr>
          <p:nvPr/>
        </p:nvCxnSpPr>
        <p:spPr>
          <a:xfrm>
            <a:off x="8633680" y="5925417"/>
            <a:ext cx="62165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07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FBD9DE-0992-AE34-76CE-AEE16C35AB1F}"/>
            </a:ext>
          </a:extLst>
        </p:cNvPr>
        <p:cNvGrpSpPr/>
        <p:nvPr/>
      </p:nvGrpSpPr>
      <p:grpSpPr>
        <a:xfrm>
          <a:off x="0" y="0"/>
          <a:ext cx="0" cy="0"/>
          <a:chOff x="0" y="0"/>
          <a:chExt cx="0" cy="0"/>
        </a:xfrm>
      </p:grpSpPr>
      <p:sp>
        <p:nvSpPr>
          <p:cNvPr id="16" name="Rectangle 15">
            <a:extLst>
              <a:ext uri="{FF2B5EF4-FFF2-40B4-BE49-F238E27FC236}">
                <a16:creationId xmlns="" xmlns:a16="http://schemas.microsoft.com/office/drawing/2014/main" id="{5D81323F-B860-B4FB-1215-B0E55D590B0B}"/>
              </a:ext>
            </a:extLst>
          </p:cNvPr>
          <p:cNvSpPr/>
          <p:nvPr/>
        </p:nvSpPr>
        <p:spPr>
          <a:xfrm>
            <a:off x="1677471" y="350520"/>
            <a:ext cx="9192034" cy="7943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工业互联网环境下异构柔性作业车间无冲突调度的协同优化及抗扰性研究</a:t>
            </a:r>
            <a:endParaRPr lang="en-US" sz="1600" b="1" dirty="0">
              <a:solidFill>
                <a:schemeClr val="tx1"/>
              </a:solidFill>
            </a:endParaRPr>
          </a:p>
        </p:txBody>
      </p:sp>
      <p:sp>
        <p:nvSpPr>
          <p:cNvPr id="2" name="TextBox 1">
            <a:extLst>
              <a:ext uri="{FF2B5EF4-FFF2-40B4-BE49-F238E27FC236}">
                <a16:creationId xmlns="" xmlns:a16="http://schemas.microsoft.com/office/drawing/2014/main" id="{F69B6CC6-61D9-45C2-E44F-9F8E5BFF55D6}"/>
              </a:ext>
            </a:extLst>
          </p:cNvPr>
          <p:cNvSpPr txBox="1"/>
          <p:nvPr/>
        </p:nvSpPr>
        <p:spPr>
          <a:xfrm>
            <a:off x="-621030" y="482172"/>
            <a:ext cx="1227667" cy="369332"/>
          </a:xfrm>
          <a:prstGeom prst="rect">
            <a:avLst/>
          </a:prstGeom>
          <a:noFill/>
        </p:spPr>
        <p:txBody>
          <a:bodyPr wrap="square" rtlCol="0">
            <a:spAutoFit/>
          </a:bodyPr>
          <a:lstStyle/>
          <a:p>
            <a:r>
              <a:rPr lang="zh-CN" altLang="en-US" dirty="0"/>
              <a:t>研究目标</a:t>
            </a:r>
            <a:endParaRPr lang="en-US" dirty="0"/>
          </a:p>
        </p:txBody>
      </p:sp>
      <p:sp>
        <p:nvSpPr>
          <p:cNvPr id="3" name="TextBox 2">
            <a:extLst>
              <a:ext uri="{FF2B5EF4-FFF2-40B4-BE49-F238E27FC236}">
                <a16:creationId xmlns="" xmlns:a16="http://schemas.microsoft.com/office/drawing/2014/main" id="{52975A1F-3B8D-B7B6-EEFC-5306E6F9C327}"/>
              </a:ext>
            </a:extLst>
          </p:cNvPr>
          <p:cNvSpPr txBox="1"/>
          <p:nvPr/>
        </p:nvSpPr>
        <p:spPr>
          <a:xfrm>
            <a:off x="-621030" y="1804206"/>
            <a:ext cx="1227667" cy="369332"/>
          </a:xfrm>
          <a:prstGeom prst="rect">
            <a:avLst/>
          </a:prstGeom>
          <a:noFill/>
        </p:spPr>
        <p:txBody>
          <a:bodyPr wrap="square" rtlCol="0">
            <a:spAutoFit/>
          </a:bodyPr>
          <a:lstStyle/>
          <a:p>
            <a:r>
              <a:rPr lang="zh-CN" altLang="en-US" dirty="0"/>
              <a:t>研究问题</a:t>
            </a:r>
            <a:endParaRPr lang="en-US" dirty="0"/>
          </a:p>
        </p:txBody>
      </p:sp>
      <p:sp>
        <p:nvSpPr>
          <p:cNvPr id="18" name="TextBox 17">
            <a:extLst>
              <a:ext uri="{FF2B5EF4-FFF2-40B4-BE49-F238E27FC236}">
                <a16:creationId xmlns="" xmlns:a16="http://schemas.microsoft.com/office/drawing/2014/main" id="{CB4656BF-DD88-3A3E-7600-2079CA3DE3F2}"/>
              </a:ext>
            </a:extLst>
          </p:cNvPr>
          <p:cNvSpPr txBox="1"/>
          <p:nvPr/>
        </p:nvSpPr>
        <p:spPr>
          <a:xfrm>
            <a:off x="-621030" y="3235503"/>
            <a:ext cx="1227667" cy="369332"/>
          </a:xfrm>
          <a:prstGeom prst="rect">
            <a:avLst/>
          </a:prstGeom>
          <a:noFill/>
        </p:spPr>
        <p:txBody>
          <a:bodyPr wrap="square" rtlCol="0">
            <a:spAutoFit/>
          </a:bodyPr>
          <a:lstStyle/>
          <a:p>
            <a:r>
              <a:rPr lang="zh-CN" altLang="en-US" dirty="0"/>
              <a:t>关键挑战</a:t>
            </a:r>
            <a:endParaRPr lang="en-US" dirty="0"/>
          </a:p>
        </p:txBody>
      </p:sp>
      <p:sp>
        <p:nvSpPr>
          <p:cNvPr id="19" name="TextBox 18">
            <a:extLst>
              <a:ext uri="{FF2B5EF4-FFF2-40B4-BE49-F238E27FC236}">
                <a16:creationId xmlns="" xmlns:a16="http://schemas.microsoft.com/office/drawing/2014/main" id="{7136297B-8FAE-F6C5-0719-E2612D344BB5}"/>
              </a:ext>
            </a:extLst>
          </p:cNvPr>
          <p:cNvSpPr txBox="1"/>
          <p:nvPr/>
        </p:nvSpPr>
        <p:spPr>
          <a:xfrm>
            <a:off x="-621030" y="5173874"/>
            <a:ext cx="1227667" cy="369332"/>
          </a:xfrm>
          <a:prstGeom prst="rect">
            <a:avLst/>
          </a:prstGeom>
          <a:noFill/>
        </p:spPr>
        <p:txBody>
          <a:bodyPr wrap="square" rtlCol="0">
            <a:spAutoFit/>
          </a:bodyPr>
          <a:lstStyle/>
          <a:p>
            <a:r>
              <a:rPr lang="zh-CN" altLang="en-US" dirty="0"/>
              <a:t>研究内容</a:t>
            </a:r>
            <a:endParaRPr lang="en-US" dirty="0"/>
          </a:p>
        </p:txBody>
      </p:sp>
      <p:sp>
        <p:nvSpPr>
          <p:cNvPr id="20" name="Rectangle 19">
            <a:extLst>
              <a:ext uri="{FF2B5EF4-FFF2-40B4-BE49-F238E27FC236}">
                <a16:creationId xmlns="" xmlns:a16="http://schemas.microsoft.com/office/drawing/2014/main" id="{3FF33CC0-0CF9-2D7F-E7D2-EF7B3D1EFF84}"/>
              </a:ext>
            </a:extLst>
          </p:cNvPr>
          <p:cNvSpPr/>
          <p:nvPr/>
        </p:nvSpPr>
        <p:spPr>
          <a:xfrm>
            <a:off x="6066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闭环无冲突一体化调度如何做、且算力上付得起？</a:t>
            </a:r>
            <a:endParaRPr lang="en-US" sz="1600" b="1" dirty="0">
              <a:solidFill>
                <a:schemeClr val="tx1"/>
              </a:solidFill>
            </a:endParaRPr>
          </a:p>
        </p:txBody>
      </p:sp>
      <p:sp>
        <p:nvSpPr>
          <p:cNvPr id="21" name="Rectangle 20">
            <a:extLst>
              <a:ext uri="{FF2B5EF4-FFF2-40B4-BE49-F238E27FC236}">
                <a16:creationId xmlns="" xmlns:a16="http://schemas.microsoft.com/office/drawing/2014/main" id="{B122463D-AFF6-5217-7AA3-F3FAA6891A76}"/>
              </a:ext>
            </a:extLst>
          </p:cNvPr>
          <p:cNvSpPr/>
          <p:nvPr/>
        </p:nvSpPr>
        <p:spPr>
          <a:xfrm>
            <a:off x="34895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如何轻量可靠地检测注入攻击以守护调度输入？</a:t>
            </a:r>
            <a:endParaRPr lang="en-US" sz="1600" b="1" dirty="0">
              <a:solidFill>
                <a:schemeClr val="tx1"/>
              </a:solidFill>
            </a:endParaRPr>
          </a:p>
        </p:txBody>
      </p:sp>
      <p:sp>
        <p:nvSpPr>
          <p:cNvPr id="22" name="Rectangle 21">
            <a:extLst>
              <a:ext uri="{FF2B5EF4-FFF2-40B4-BE49-F238E27FC236}">
                <a16:creationId xmlns="" xmlns:a16="http://schemas.microsoft.com/office/drawing/2014/main" id="{7BF23C3F-5C0E-E8EA-80C4-8F6BE71F0F3D}"/>
              </a:ext>
            </a:extLst>
          </p:cNvPr>
          <p:cNvSpPr/>
          <p:nvPr/>
        </p:nvSpPr>
        <p:spPr>
          <a:xfrm>
            <a:off x="63724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如何甄别异常</a:t>
            </a:r>
            <a:r>
              <a:rPr lang="en-US" altLang="zh-CN" dirty="0">
                <a:solidFill>
                  <a:schemeClr val="tx1"/>
                </a:solidFill>
              </a:rPr>
              <a:t>/</a:t>
            </a:r>
            <a:r>
              <a:rPr lang="zh-CN" altLang="en-US" dirty="0">
                <a:solidFill>
                  <a:schemeClr val="tx1"/>
                </a:solidFill>
              </a:rPr>
              <a:t>劫持节点以保障协同可信？</a:t>
            </a:r>
            <a:endParaRPr lang="en-US" sz="1600" b="1" dirty="0">
              <a:solidFill>
                <a:schemeClr val="tx1"/>
              </a:solidFill>
            </a:endParaRPr>
          </a:p>
        </p:txBody>
      </p:sp>
      <p:sp>
        <p:nvSpPr>
          <p:cNvPr id="23" name="Rectangle 22">
            <a:extLst>
              <a:ext uri="{FF2B5EF4-FFF2-40B4-BE49-F238E27FC236}">
                <a16:creationId xmlns="" xmlns:a16="http://schemas.microsoft.com/office/drawing/2014/main" id="{DA3408FA-54F6-F4EF-D96C-AC326332F6EE}"/>
              </a:ext>
            </a:extLst>
          </p:cNvPr>
          <p:cNvSpPr/>
          <p:nvPr/>
        </p:nvSpPr>
        <p:spPr>
          <a:xfrm>
            <a:off x="92553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预约级联损坏下如何局部重调度并与全局重解互补？</a:t>
            </a:r>
            <a:endParaRPr lang="en-US" sz="1600" b="1" dirty="0">
              <a:solidFill>
                <a:schemeClr val="tx1"/>
              </a:solidFill>
            </a:endParaRPr>
          </a:p>
        </p:txBody>
      </p:sp>
      <p:sp>
        <p:nvSpPr>
          <p:cNvPr id="26" name="Rectangle 25">
            <a:extLst>
              <a:ext uri="{FF2B5EF4-FFF2-40B4-BE49-F238E27FC236}">
                <a16:creationId xmlns="" xmlns:a16="http://schemas.microsoft.com/office/drawing/2014/main" id="{E3FE8702-08F2-77F7-8439-2DF672B76683}"/>
              </a:ext>
            </a:extLst>
          </p:cNvPr>
          <p:cNvSpPr/>
          <p:nvPr/>
        </p:nvSpPr>
        <p:spPr>
          <a:xfrm>
            <a:off x="6066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柔性加工与走廊争用下的闭环一体化调度难题</a:t>
            </a:r>
            <a:endParaRPr lang="en-US" sz="1600" b="1" dirty="0">
              <a:solidFill>
                <a:schemeClr val="tx1"/>
              </a:solidFill>
            </a:endParaRPr>
          </a:p>
        </p:txBody>
      </p:sp>
      <p:sp>
        <p:nvSpPr>
          <p:cNvPr id="27" name="Rectangle 26">
            <a:extLst>
              <a:ext uri="{FF2B5EF4-FFF2-40B4-BE49-F238E27FC236}">
                <a16:creationId xmlns="" xmlns:a16="http://schemas.microsoft.com/office/drawing/2014/main" id="{1FDB3AEE-D598-5628-974A-7499063038B8}"/>
              </a:ext>
            </a:extLst>
          </p:cNvPr>
          <p:cNvSpPr/>
          <p:nvPr/>
        </p:nvSpPr>
        <p:spPr>
          <a:xfrm>
            <a:off x="34895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伪造状态</a:t>
            </a:r>
            <a:r>
              <a:rPr lang="en-US" altLang="zh-CN" dirty="0">
                <a:solidFill>
                  <a:schemeClr val="tx1"/>
                </a:solidFill>
              </a:rPr>
              <a:t>/</a:t>
            </a:r>
            <a:r>
              <a:rPr lang="zh-CN" altLang="en-US" dirty="0">
                <a:solidFill>
                  <a:schemeClr val="tx1"/>
                </a:solidFill>
              </a:rPr>
              <a:t>信息的实时轻量检测难题</a:t>
            </a:r>
            <a:endParaRPr lang="en-US" sz="1600" b="1" dirty="0">
              <a:solidFill>
                <a:schemeClr val="tx1"/>
              </a:solidFill>
            </a:endParaRPr>
          </a:p>
        </p:txBody>
      </p:sp>
      <p:sp>
        <p:nvSpPr>
          <p:cNvPr id="28" name="Rectangle 27">
            <a:extLst>
              <a:ext uri="{FF2B5EF4-FFF2-40B4-BE49-F238E27FC236}">
                <a16:creationId xmlns="" xmlns:a16="http://schemas.microsoft.com/office/drawing/2014/main" id="{02069930-ED56-34B8-DBFA-F3E14355292F}"/>
              </a:ext>
            </a:extLst>
          </p:cNvPr>
          <p:cNvSpPr/>
          <p:nvPr/>
        </p:nvSpPr>
        <p:spPr>
          <a:xfrm>
            <a:off x="63724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异常与伪装并存时的节点可信甄别难题</a:t>
            </a:r>
            <a:endParaRPr lang="en-US" sz="1600" b="1" dirty="0">
              <a:solidFill>
                <a:schemeClr val="tx1"/>
              </a:solidFill>
            </a:endParaRPr>
          </a:p>
        </p:txBody>
      </p:sp>
      <p:sp>
        <p:nvSpPr>
          <p:cNvPr id="29" name="Rectangle 28">
            <a:extLst>
              <a:ext uri="{FF2B5EF4-FFF2-40B4-BE49-F238E27FC236}">
                <a16:creationId xmlns="" xmlns:a16="http://schemas.microsoft.com/office/drawing/2014/main" id="{64E8848A-2919-B292-DAEA-19D2FD71AEF3}"/>
              </a:ext>
            </a:extLst>
          </p:cNvPr>
          <p:cNvSpPr/>
          <p:nvPr/>
        </p:nvSpPr>
        <p:spPr>
          <a:xfrm>
            <a:off x="92553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任务图漏报下的预约级联局部重调度难题</a:t>
            </a:r>
            <a:endParaRPr lang="en-US" sz="1600" b="1" dirty="0">
              <a:solidFill>
                <a:schemeClr val="tx1"/>
              </a:solidFill>
            </a:endParaRPr>
          </a:p>
        </p:txBody>
      </p:sp>
      <p:sp>
        <p:nvSpPr>
          <p:cNvPr id="30" name="Rectangle: Rounded Corners 29">
            <a:extLst>
              <a:ext uri="{FF2B5EF4-FFF2-40B4-BE49-F238E27FC236}">
                <a16:creationId xmlns="" xmlns:a16="http://schemas.microsoft.com/office/drawing/2014/main" id="{7D8B47AB-80C9-33E7-6E72-D7E79D443281}"/>
              </a:ext>
            </a:extLst>
          </p:cNvPr>
          <p:cNvSpPr/>
          <p:nvPr/>
        </p:nvSpPr>
        <p:spPr>
          <a:xfrm>
            <a:off x="425753" y="1382486"/>
            <a:ext cx="11766247" cy="1132915"/>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 xmlns:a16="http://schemas.microsoft.com/office/drawing/2014/main" id="{4982B66C-1D99-5CA4-75B5-86F82BD80252}"/>
              </a:ext>
            </a:extLst>
          </p:cNvPr>
          <p:cNvSpPr/>
          <p:nvPr/>
        </p:nvSpPr>
        <p:spPr>
          <a:xfrm>
            <a:off x="425753" y="2802398"/>
            <a:ext cx="11766247" cy="1270760"/>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 xmlns:a16="http://schemas.microsoft.com/office/drawing/2014/main" id="{32C0EA59-560C-8D80-8046-46F10FE87B62}"/>
              </a:ext>
            </a:extLst>
          </p:cNvPr>
          <p:cNvSpPr/>
          <p:nvPr/>
        </p:nvSpPr>
        <p:spPr>
          <a:xfrm>
            <a:off x="425753" y="4201918"/>
            <a:ext cx="11766247" cy="2265437"/>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 xmlns:a16="http://schemas.microsoft.com/office/drawing/2014/main" id="{B96A381D-B746-E28D-27CC-B974F5D66B24}"/>
              </a:ext>
            </a:extLst>
          </p:cNvPr>
          <p:cNvSpPr/>
          <p:nvPr/>
        </p:nvSpPr>
        <p:spPr>
          <a:xfrm>
            <a:off x="606636" y="4666800"/>
            <a:ext cx="2712297" cy="13834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1</a:t>
            </a:r>
            <a:r>
              <a:rPr lang="zh-CN" altLang="en-US" dirty="0">
                <a:solidFill>
                  <a:schemeClr val="tx1"/>
                </a:solidFill>
              </a:rPr>
              <a:t>：基于预约表感知的异构柔性作业车间无冲突一体化调度</a:t>
            </a:r>
            <a:endParaRPr lang="en-US" dirty="0">
              <a:solidFill>
                <a:schemeClr val="tx1"/>
              </a:solidFill>
            </a:endParaRPr>
          </a:p>
        </p:txBody>
      </p:sp>
      <p:sp>
        <p:nvSpPr>
          <p:cNvPr id="38" name="Rectangle 37">
            <a:extLst>
              <a:ext uri="{FF2B5EF4-FFF2-40B4-BE49-F238E27FC236}">
                <a16:creationId xmlns="" xmlns:a16="http://schemas.microsoft.com/office/drawing/2014/main" id="{0E83156C-CA7A-A819-2268-017923487F31}"/>
              </a:ext>
            </a:extLst>
          </p:cNvPr>
          <p:cNvSpPr/>
          <p:nvPr/>
        </p:nvSpPr>
        <p:spPr>
          <a:xfrm>
            <a:off x="3968760" y="4368418"/>
            <a:ext cx="3658220" cy="9421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2</a:t>
            </a:r>
            <a:r>
              <a:rPr lang="zh-CN" altLang="en-US" dirty="0">
                <a:solidFill>
                  <a:schemeClr val="tx1"/>
                </a:solidFill>
              </a:rPr>
              <a:t>：基于时序半马尔可夫与参考模型可行性约束的工业生产调度层注入攻击检测</a:t>
            </a:r>
            <a:endParaRPr lang="en-US" dirty="0">
              <a:solidFill>
                <a:schemeClr val="tx1"/>
              </a:solidFill>
            </a:endParaRPr>
          </a:p>
        </p:txBody>
      </p:sp>
      <p:sp>
        <p:nvSpPr>
          <p:cNvPr id="39" name="Rectangle 38">
            <a:extLst>
              <a:ext uri="{FF2B5EF4-FFF2-40B4-BE49-F238E27FC236}">
                <a16:creationId xmlns="" xmlns:a16="http://schemas.microsoft.com/office/drawing/2014/main" id="{18187A74-1A1C-522D-CACA-602CDF70CC80}"/>
              </a:ext>
            </a:extLst>
          </p:cNvPr>
          <p:cNvSpPr/>
          <p:nvPr/>
        </p:nvSpPr>
        <p:spPr>
          <a:xfrm>
            <a:off x="5738080" y="5492367"/>
            <a:ext cx="2895600"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3</a:t>
            </a:r>
            <a:r>
              <a:rPr lang="zh-CN" altLang="en-US" dirty="0">
                <a:solidFill>
                  <a:schemeClr val="tx1"/>
                </a:solidFill>
              </a:rPr>
              <a:t>：基于耦合互证与可问责沉默的被劫持设备任务状态伪造检测</a:t>
            </a:r>
            <a:endParaRPr lang="en-US" dirty="0">
              <a:solidFill>
                <a:schemeClr val="tx1"/>
              </a:solidFill>
            </a:endParaRPr>
          </a:p>
        </p:txBody>
      </p:sp>
      <p:sp>
        <p:nvSpPr>
          <p:cNvPr id="40" name="Rectangle 39">
            <a:extLst>
              <a:ext uri="{FF2B5EF4-FFF2-40B4-BE49-F238E27FC236}">
                <a16:creationId xmlns="" xmlns:a16="http://schemas.microsoft.com/office/drawing/2014/main" id="{A9D6EF52-DE03-4D66-2CB2-771A5752E11F}"/>
              </a:ext>
            </a:extLst>
          </p:cNvPr>
          <p:cNvSpPr/>
          <p:nvPr/>
        </p:nvSpPr>
        <p:spPr>
          <a:xfrm>
            <a:off x="9255337" y="5492367"/>
            <a:ext cx="2712297"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4</a:t>
            </a:r>
            <a:r>
              <a:rPr lang="zh-CN" altLang="en-US" dirty="0">
                <a:solidFill>
                  <a:schemeClr val="tx1"/>
                </a:solidFill>
              </a:rPr>
              <a:t>：基于时空预约影响闭包的局部重调度方法</a:t>
            </a:r>
            <a:endParaRPr lang="en-US" dirty="0">
              <a:solidFill>
                <a:schemeClr val="tx1"/>
              </a:solidFill>
            </a:endParaRPr>
          </a:p>
        </p:txBody>
      </p:sp>
      <p:cxnSp>
        <p:nvCxnSpPr>
          <p:cNvPr id="42" name="Straight Arrow Connector 41">
            <a:extLst>
              <a:ext uri="{FF2B5EF4-FFF2-40B4-BE49-F238E27FC236}">
                <a16:creationId xmlns="" xmlns:a16="http://schemas.microsoft.com/office/drawing/2014/main" id="{C02310BC-07FF-CC80-277D-1ED364E42BDC}"/>
              </a:ext>
            </a:extLst>
          </p:cNvPr>
          <p:cNvCxnSpPr>
            <a:cxnSpLocks/>
            <a:endCxn id="20" idx="0"/>
          </p:cNvCxnSpPr>
          <p:nvPr/>
        </p:nvCxnSpPr>
        <p:spPr>
          <a:xfrm>
            <a:off x="1962786" y="1173480"/>
            <a:ext cx="0" cy="4738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334F67DC-1132-8D2C-8751-A388EF3A9BD4}"/>
              </a:ext>
            </a:extLst>
          </p:cNvPr>
          <p:cNvCxnSpPr>
            <a:cxnSpLocks/>
            <a:endCxn id="21" idx="0"/>
          </p:cNvCxnSpPr>
          <p:nvPr/>
        </p:nvCxnSpPr>
        <p:spPr>
          <a:xfrm flipH="1">
            <a:off x="4845686" y="1144903"/>
            <a:ext cx="1028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 xmlns:a16="http://schemas.microsoft.com/office/drawing/2014/main" id="{F6B16ABA-8BC5-D260-1F58-E633E10F2866}"/>
              </a:ext>
            </a:extLst>
          </p:cNvPr>
          <p:cNvCxnSpPr>
            <a:cxnSpLocks/>
            <a:endCxn id="22" idx="0"/>
          </p:cNvCxnSpPr>
          <p:nvPr/>
        </p:nvCxnSpPr>
        <p:spPr>
          <a:xfrm>
            <a:off x="7728585" y="1156799"/>
            <a:ext cx="1" cy="4905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 xmlns:a16="http://schemas.microsoft.com/office/drawing/2014/main" id="{D771E87D-479C-06FC-696B-33A6286F1D45}"/>
              </a:ext>
            </a:extLst>
          </p:cNvPr>
          <p:cNvCxnSpPr>
            <a:cxnSpLocks/>
            <a:endCxn id="23" idx="0"/>
          </p:cNvCxnSpPr>
          <p:nvPr/>
        </p:nvCxnSpPr>
        <p:spPr>
          <a:xfrm>
            <a:off x="10611485" y="1144903"/>
            <a:ext cx="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 xmlns:a16="http://schemas.microsoft.com/office/drawing/2014/main" id="{B02157AB-1650-3B13-2DF7-1CD4E11D7E8A}"/>
              </a:ext>
            </a:extLst>
          </p:cNvPr>
          <p:cNvCxnSpPr>
            <a:cxnSpLocks/>
            <a:stCxn id="20" idx="2"/>
            <a:endCxn id="26" idx="0"/>
          </p:cNvCxnSpPr>
          <p:nvPr/>
        </p:nvCxnSpPr>
        <p:spPr>
          <a:xfrm>
            <a:off x="19627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 xmlns:a16="http://schemas.microsoft.com/office/drawing/2014/main" id="{9AB7F48D-9AD6-74B2-DCD1-5069039BEF40}"/>
              </a:ext>
            </a:extLst>
          </p:cNvPr>
          <p:cNvCxnSpPr>
            <a:cxnSpLocks/>
            <a:stCxn id="21" idx="2"/>
            <a:endCxn id="27" idx="0"/>
          </p:cNvCxnSpPr>
          <p:nvPr/>
        </p:nvCxnSpPr>
        <p:spPr>
          <a:xfrm>
            <a:off x="48456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 xmlns:a16="http://schemas.microsoft.com/office/drawing/2014/main" id="{1D2DB8A0-3192-94C5-5895-432A7591B9F5}"/>
              </a:ext>
            </a:extLst>
          </p:cNvPr>
          <p:cNvCxnSpPr>
            <a:cxnSpLocks/>
            <a:stCxn id="22" idx="2"/>
            <a:endCxn id="28" idx="0"/>
          </p:cNvCxnSpPr>
          <p:nvPr/>
        </p:nvCxnSpPr>
        <p:spPr>
          <a:xfrm>
            <a:off x="77285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 xmlns:a16="http://schemas.microsoft.com/office/drawing/2014/main" id="{7351AE24-6C4B-7F07-E4B7-21B3D61EEB17}"/>
              </a:ext>
            </a:extLst>
          </p:cNvPr>
          <p:cNvCxnSpPr>
            <a:cxnSpLocks/>
            <a:stCxn id="23" idx="2"/>
            <a:endCxn id="29" idx="0"/>
          </p:cNvCxnSpPr>
          <p:nvPr/>
        </p:nvCxnSpPr>
        <p:spPr>
          <a:xfrm>
            <a:off x="106114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 xmlns:a16="http://schemas.microsoft.com/office/drawing/2014/main" id="{45E0BB78-BDDB-E2C3-98E0-90C3CDE2717A}"/>
              </a:ext>
            </a:extLst>
          </p:cNvPr>
          <p:cNvCxnSpPr>
            <a:cxnSpLocks/>
            <a:stCxn id="26" idx="2"/>
            <a:endCxn id="37" idx="0"/>
          </p:cNvCxnSpPr>
          <p:nvPr/>
        </p:nvCxnSpPr>
        <p:spPr>
          <a:xfrm flipH="1">
            <a:off x="1962785" y="3906077"/>
            <a:ext cx="1" cy="760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 xmlns:a16="http://schemas.microsoft.com/office/drawing/2014/main" id="{857A0184-FF34-5D93-9201-AE02923CA1C8}"/>
              </a:ext>
            </a:extLst>
          </p:cNvPr>
          <p:cNvCxnSpPr>
            <a:cxnSpLocks/>
            <a:endCxn id="38" idx="0"/>
          </p:cNvCxnSpPr>
          <p:nvPr/>
        </p:nvCxnSpPr>
        <p:spPr>
          <a:xfrm>
            <a:off x="5797869" y="3906077"/>
            <a:ext cx="1" cy="4623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 xmlns:a16="http://schemas.microsoft.com/office/drawing/2014/main" id="{F248422B-C184-6456-A51B-69C415E65332}"/>
              </a:ext>
            </a:extLst>
          </p:cNvPr>
          <p:cNvCxnSpPr>
            <a:cxnSpLocks/>
            <a:stCxn id="28" idx="2"/>
          </p:cNvCxnSpPr>
          <p:nvPr/>
        </p:nvCxnSpPr>
        <p:spPr>
          <a:xfrm flipH="1">
            <a:off x="7728585" y="3906077"/>
            <a:ext cx="1" cy="1586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 xmlns:a16="http://schemas.microsoft.com/office/drawing/2014/main" id="{C3D5CD9A-1BB1-30E1-8432-B490882CF0AC}"/>
              </a:ext>
            </a:extLst>
          </p:cNvPr>
          <p:cNvCxnSpPr>
            <a:cxnSpLocks/>
            <a:stCxn id="29" idx="2"/>
            <a:endCxn id="40" idx="0"/>
          </p:cNvCxnSpPr>
          <p:nvPr/>
        </p:nvCxnSpPr>
        <p:spPr>
          <a:xfrm>
            <a:off x="10611486" y="3906077"/>
            <a:ext cx="0" cy="15862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 xmlns:a16="http://schemas.microsoft.com/office/drawing/2014/main" id="{137FA4DF-B5E0-12AB-9955-22B7818597A8}"/>
              </a:ext>
            </a:extLst>
          </p:cNvPr>
          <p:cNvCxnSpPr>
            <a:cxnSpLocks/>
            <a:endCxn id="38" idx="1"/>
          </p:cNvCxnSpPr>
          <p:nvPr/>
        </p:nvCxnSpPr>
        <p:spPr>
          <a:xfrm>
            <a:off x="3318933" y="4839510"/>
            <a:ext cx="6498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 xmlns:a16="http://schemas.microsoft.com/office/drawing/2014/main" id="{3DEE65F3-CE75-0CC8-AAC9-F434DC5F1A54}"/>
              </a:ext>
            </a:extLst>
          </p:cNvPr>
          <p:cNvCxnSpPr>
            <a:cxnSpLocks/>
            <a:endCxn id="39" idx="1"/>
          </p:cNvCxnSpPr>
          <p:nvPr/>
        </p:nvCxnSpPr>
        <p:spPr>
          <a:xfrm>
            <a:off x="3318933" y="5925417"/>
            <a:ext cx="241914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DBC6E5BF-951E-E70B-380A-D3A90458172C}"/>
              </a:ext>
            </a:extLst>
          </p:cNvPr>
          <p:cNvCxnSpPr>
            <a:cxnSpLocks/>
            <a:stCxn id="39" idx="3"/>
            <a:endCxn id="40" idx="1"/>
          </p:cNvCxnSpPr>
          <p:nvPr/>
        </p:nvCxnSpPr>
        <p:spPr>
          <a:xfrm>
            <a:off x="8633680" y="5925417"/>
            <a:ext cx="62165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048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448629" y="-217073"/>
            <a:ext cx="3294742" cy="546819"/>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609232" y="-118905"/>
            <a:ext cx="944381" cy="369332"/>
          </a:xfrm>
          <a:prstGeom prst="rect">
            <a:avLst/>
          </a:prstGeom>
          <a:noFill/>
        </p:spPr>
        <p:txBody>
          <a:bodyPr wrap="square" rtlCol="0">
            <a:spAutoFit/>
          </a:bodyPr>
          <a:lstStyle/>
          <a:p>
            <a:pPr algn="ctr"/>
            <a:r>
              <a:rPr lang="zh-CN" altLang="en-US" b="1" dirty="0"/>
              <a:t>绪论</a:t>
            </a:r>
          </a:p>
        </p:txBody>
      </p:sp>
      <p:sp>
        <p:nvSpPr>
          <p:cNvPr id="10" name="圆角矩形 9"/>
          <p:cNvSpPr/>
          <p:nvPr/>
        </p:nvSpPr>
        <p:spPr>
          <a:xfrm>
            <a:off x="4439103" y="595077"/>
            <a:ext cx="3294742" cy="1417479"/>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464892" y="588614"/>
            <a:ext cx="3259427" cy="646331"/>
          </a:xfrm>
          <a:prstGeom prst="rect">
            <a:avLst/>
          </a:prstGeom>
          <a:noFill/>
        </p:spPr>
        <p:txBody>
          <a:bodyPr wrap="square" rtlCol="0">
            <a:spAutoFit/>
          </a:bodyPr>
          <a:lstStyle/>
          <a:p>
            <a:pPr algn="ctr"/>
            <a:r>
              <a:rPr lang="zh-CN" altLang="en-US" dirty="0">
                <a:solidFill>
                  <a:srgbClr val="C00000"/>
                </a:solidFill>
              </a:rPr>
              <a:t>工业互联网环境下调度系统的效率亟待解决</a:t>
            </a:r>
          </a:p>
        </p:txBody>
      </p:sp>
      <p:sp>
        <p:nvSpPr>
          <p:cNvPr id="12" name="圆角矩形 11"/>
          <p:cNvSpPr/>
          <p:nvPr/>
        </p:nvSpPr>
        <p:spPr>
          <a:xfrm>
            <a:off x="4836398" y="1212833"/>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35341" y="1303372"/>
            <a:ext cx="2707402" cy="523220"/>
          </a:xfrm>
          <a:prstGeom prst="rect">
            <a:avLst/>
          </a:prstGeom>
          <a:noFill/>
        </p:spPr>
        <p:txBody>
          <a:bodyPr wrap="square" rtlCol="0">
            <a:spAutoFit/>
          </a:bodyPr>
          <a:lstStyle/>
          <a:p>
            <a:pPr algn="ctr"/>
            <a:r>
              <a:rPr lang="zh-CN" altLang="en-US" sz="1400" dirty="0"/>
              <a:t>基于时空约束和混合动态规划的连续</a:t>
            </a:r>
            <a:r>
              <a:rPr lang="en-US" altLang="zh-CN" sz="1400" dirty="0"/>
              <a:t>-</a:t>
            </a:r>
            <a:r>
              <a:rPr lang="zh-CN" altLang="en-US" sz="1400" dirty="0"/>
              <a:t>离散</a:t>
            </a:r>
            <a:r>
              <a:rPr lang="zh-CN" altLang="en-US" sz="1400" b="1" dirty="0"/>
              <a:t>混合智能体高级调度</a:t>
            </a:r>
          </a:p>
        </p:txBody>
      </p:sp>
      <p:cxnSp>
        <p:nvCxnSpPr>
          <p:cNvPr id="15" name="直接箭头连接符 14"/>
          <p:cNvCxnSpPr>
            <a:cxnSpLocks/>
            <a:stCxn id="4" idx="2"/>
            <a:endCxn id="11" idx="0"/>
          </p:cNvCxnSpPr>
          <p:nvPr/>
        </p:nvCxnSpPr>
        <p:spPr>
          <a:xfrm flipH="1">
            <a:off x="6094606" y="329746"/>
            <a:ext cx="1394" cy="258868"/>
          </a:xfrm>
          <a:prstGeom prst="straightConnector1">
            <a:avLst/>
          </a:prstGeom>
          <a:ln w="158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6" name="左大括号 15"/>
          <p:cNvSpPr/>
          <p:nvPr/>
        </p:nvSpPr>
        <p:spPr>
          <a:xfrm rot="5400000">
            <a:off x="5975403" y="-1050445"/>
            <a:ext cx="238406" cy="6402736"/>
          </a:xfrm>
          <a:prstGeom prst="leftBrace">
            <a:avLst>
              <a:gd name="adj1" fmla="val 52451"/>
              <a:gd name="adj2" fmla="val 50000"/>
            </a:avLst>
          </a:prstGeom>
          <a:ln w="158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4362779" y="2148985"/>
            <a:ext cx="3497577" cy="923330"/>
          </a:xfrm>
          <a:prstGeom prst="rect">
            <a:avLst/>
          </a:prstGeom>
          <a:noFill/>
        </p:spPr>
        <p:txBody>
          <a:bodyPr wrap="square" rtlCol="0">
            <a:spAutoFit/>
          </a:bodyPr>
          <a:lstStyle/>
          <a:p>
            <a:pPr algn="ctr"/>
            <a:r>
              <a:rPr lang="zh-CN" altLang="en-US" dirty="0">
                <a:solidFill>
                  <a:srgbClr val="C00000"/>
                </a:solidFill>
              </a:rPr>
              <a:t>存在</a:t>
            </a:r>
            <a:r>
              <a:rPr lang="en-US" altLang="zh-CN" dirty="0">
                <a:solidFill>
                  <a:srgbClr val="C00000"/>
                </a:solidFill>
              </a:rPr>
              <a:t>2</a:t>
            </a:r>
            <a:r>
              <a:rPr lang="zh-CN" altLang="en-US" dirty="0">
                <a:solidFill>
                  <a:srgbClr val="C00000"/>
                </a:solidFill>
              </a:rPr>
              <a:t>种扰动情况：</a:t>
            </a:r>
          </a:p>
          <a:p>
            <a:pPr algn="ctr"/>
            <a:r>
              <a:rPr lang="en-US" altLang="zh-CN" dirty="0">
                <a:solidFill>
                  <a:srgbClr val="C00000"/>
                </a:solidFill>
              </a:rPr>
              <a:t>1</a:t>
            </a:r>
            <a:r>
              <a:rPr lang="zh-CN" altLang="en-US" dirty="0">
                <a:solidFill>
                  <a:srgbClr val="C00000"/>
                </a:solidFill>
              </a:rPr>
              <a:t>）网络外部攻击造成的扰动</a:t>
            </a:r>
            <a:endParaRPr lang="en-US" altLang="zh-CN" dirty="0">
              <a:solidFill>
                <a:srgbClr val="C00000"/>
              </a:solidFill>
            </a:endParaRPr>
          </a:p>
          <a:p>
            <a:pPr algn="ctr"/>
            <a:r>
              <a:rPr lang="en-US" altLang="zh-CN" dirty="0">
                <a:solidFill>
                  <a:srgbClr val="C00000"/>
                </a:solidFill>
              </a:rPr>
              <a:t>2</a:t>
            </a:r>
            <a:r>
              <a:rPr lang="zh-CN" altLang="en-US" dirty="0">
                <a:solidFill>
                  <a:srgbClr val="C00000"/>
                </a:solidFill>
              </a:rPr>
              <a:t>）智能体异常造成的扰动</a:t>
            </a:r>
          </a:p>
        </p:txBody>
      </p:sp>
      <p:sp>
        <p:nvSpPr>
          <p:cNvPr id="21" name="圆角矩形 20"/>
          <p:cNvSpPr/>
          <p:nvPr/>
        </p:nvSpPr>
        <p:spPr>
          <a:xfrm>
            <a:off x="1237735" y="2833453"/>
            <a:ext cx="3294742" cy="1945376"/>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263524" y="2826989"/>
            <a:ext cx="3259427" cy="1200329"/>
          </a:xfrm>
          <a:prstGeom prst="rect">
            <a:avLst/>
          </a:prstGeom>
          <a:noFill/>
        </p:spPr>
        <p:txBody>
          <a:bodyPr wrap="square" rtlCol="0">
            <a:spAutoFit/>
          </a:bodyPr>
          <a:lstStyle/>
          <a:p>
            <a:pPr algn="ctr"/>
            <a:r>
              <a:rPr lang="zh-CN" altLang="en-US" dirty="0">
                <a:solidFill>
                  <a:srgbClr val="C00000"/>
                </a:solidFill>
              </a:rPr>
              <a:t>针对网络外部攻击，需要及时检测发现，然后标记并“忽略” 这些恶意信息，以免对正常调度造成影响</a:t>
            </a:r>
          </a:p>
        </p:txBody>
      </p:sp>
      <p:sp>
        <p:nvSpPr>
          <p:cNvPr id="23" name="圆角矩形 22"/>
          <p:cNvSpPr/>
          <p:nvPr/>
        </p:nvSpPr>
        <p:spPr>
          <a:xfrm>
            <a:off x="1615072" y="4017374"/>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615072" y="4096681"/>
            <a:ext cx="2542202" cy="523220"/>
          </a:xfrm>
          <a:prstGeom prst="rect">
            <a:avLst/>
          </a:prstGeom>
          <a:noFill/>
        </p:spPr>
        <p:txBody>
          <a:bodyPr wrap="square" rtlCol="0">
            <a:spAutoFit/>
          </a:bodyPr>
          <a:lstStyle/>
          <a:p>
            <a:pPr algn="ctr"/>
            <a:r>
              <a:rPr lang="zh-CN" altLang="en-US" sz="1400" dirty="0"/>
              <a:t>基于状态预测和动态阈值的工业多智能体系统</a:t>
            </a:r>
            <a:r>
              <a:rPr lang="zh-CN" altLang="en-US" sz="1400" b="1" dirty="0"/>
              <a:t>数据注入检测</a:t>
            </a:r>
          </a:p>
        </p:txBody>
      </p:sp>
      <p:sp>
        <p:nvSpPr>
          <p:cNvPr id="25" name="圆角矩形 24"/>
          <p:cNvSpPr/>
          <p:nvPr/>
        </p:nvSpPr>
        <p:spPr>
          <a:xfrm>
            <a:off x="7649994" y="2396319"/>
            <a:ext cx="3294742" cy="2028949"/>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7622207" y="2462049"/>
            <a:ext cx="3363802" cy="1200329"/>
          </a:xfrm>
          <a:prstGeom prst="rect">
            <a:avLst/>
          </a:prstGeom>
          <a:noFill/>
        </p:spPr>
        <p:txBody>
          <a:bodyPr wrap="square" rtlCol="0">
            <a:spAutoFit/>
          </a:bodyPr>
          <a:lstStyle/>
          <a:p>
            <a:pPr algn="ctr"/>
            <a:r>
              <a:rPr lang="zh-CN" altLang="en-US" dirty="0">
                <a:solidFill>
                  <a:srgbClr val="C00000"/>
                </a:solidFill>
              </a:rPr>
              <a:t>需要排除 劫持</a:t>
            </a:r>
            <a:r>
              <a:rPr lang="en-US" altLang="zh-CN" dirty="0">
                <a:solidFill>
                  <a:srgbClr val="C00000"/>
                </a:solidFill>
              </a:rPr>
              <a:t>/</a:t>
            </a:r>
            <a:r>
              <a:rPr lang="zh-CN" altLang="en-US" dirty="0">
                <a:solidFill>
                  <a:srgbClr val="C00000"/>
                </a:solidFill>
              </a:rPr>
              <a:t>木马 等“恶意异常”造成的智能体异常，因为这种异常不仅需要重调度，还会降低智能体的“话语权”</a:t>
            </a:r>
          </a:p>
        </p:txBody>
      </p:sp>
      <p:sp>
        <p:nvSpPr>
          <p:cNvPr id="27" name="圆角矩形 26"/>
          <p:cNvSpPr/>
          <p:nvPr/>
        </p:nvSpPr>
        <p:spPr>
          <a:xfrm>
            <a:off x="8027331" y="3648845"/>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8027331" y="3755764"/>
            <a:ext cx="2542202" cy="523220"/>
          </a:xfrm>
          <a:prstGeom prst="rect">
            <a:avLst/>
          </a:prstGeom>
          <a:noFill/>
        </p:spPr>
        <p:txBody>
          <a:bodyPr wrap="square" rtlCol="0">
            <a:spAutoFit/>
          </a:bodyPr>
          <a:lstStyle/>
          <a:p>
            <a:pPr algn="ctr"/>
            <a:r>
              <a:rPr lang="zh-CN" altLang="en-US" sz="1400" dirty="0"/>
              <a:t>面向工业多智能体系统的时空局部化</a:t>
            </a:r>
            <a:r>
              <a:rPr lang="zh-CN" altLang="en-US" sz="1400" b="1" dirty="0"/>
              <a:t>拜占庭容错共识</a:t>
            </a:r>
            <a:r>
              <a:rPr lang="zh-CN" altLang="en-US" sz="1400" dirty="0"/>
              <a:t>协议</a:t>
            </a:r>
          </a:p>
        </p:txBody>
      </p:sp>
      <p:cxnSp>
        <p:nvCxnSpPr>
          <p:cNvPr id="30" name="直接连接符 29"/>
          <p:cNvCxnSpPr>
            <a:cxnSpLocks/>
            <a:stCxn id="16" idx="2"/>
            <a:endCxn id="22" idx="0"/>
          </p:cNvCxnSpPr>
          <p:nvPr/>
        </p:nvCxnSpPr>
        <p:spPr>
          <a:xfrm>
            <a:off x="2893238" y="2270126"/>
            <a:ext cx="0" cy="556863"/>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cxnSpLocks/>
            <a:stCxn id="16" idx="0"/>
            <a:endCxn id="25" idx="0"/>
          </p:cNvCxnSpPr>
          <p:nvPr/>
        </p:nvCxnSpPr>
        <p:spPr>
          <a:xfrm>
            <a:off x="9295974" y="2270126"/>
            <a:ext cx="1391" cy="126193"/>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cxnSpLocks/>
            <a:stCxn id="25" idx="2"/>
            <a:endCxn id="34" idx="0"/>
          </p:cNvCxnSpPr>
          <p:nvPr/>
        </p:nvCxnSpPr>
        <p:spPr>
          <a:xfrm flipH="1">
            <a:off x="9295972" y="4425268"/>
            <a:ext cx="1393" cy="320266"/>
          </a:xfrm>
          <a:prstGeom prst="straightConnector1">
            <a:avLst/>
          </a:prstGeom>
          <a:ln w="158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圆角矩形 32"/>
          <p:cNvSpPr/>
          <p:nvPr/>
        </p:nvSpPr>
        <p:spPr>
          <a:xfrm>
            <a:off x="7640469" y="4714864"/>
            <a:ext cx="3294742" cy="1489151"/>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7666258" y="4745534"/>
            <a:ext cx="3259427" cy="646331"/>
          </a:xfrm>
          <a:prstGeom prst="rect">
            <a:avLst/>
          </a:prstGeom>
          <a:noFill/>
        </p:spPr>
        <p:txBody>
          <a:bodyPr wrap="square" rtlCol="0">
            <a:spAutoFit/>
          </a:bodyPr>
          <a:lstStyle/>
          <a:p>
            <a:pPr algn="ctr"/>
            <a:r>
              <a:rPr lang="zh-CN" altLang="en-US" dirty="0">
                <a:solidFill>
                  <a:srgbClr val="C00000"/>
                </a:solidFill>
              </a:rPr>
              <a:t>确认智能体“非恶意异常</a:t>
            </a:r>
            <a:r>
              <a:rPr lang="en-US" altLang="zh-CN" dirty="0">
                <a:solidFill>
                  <a:srgbClr val="C00000"/>
                </a:solidFill>
              </a:rPr>
              <a:t>/</a:t>
            </a:r>
            <a:r>
              <a:rPr lang="zh-CN" altLang="en-US" dirty="0">
                <a:solidFill>
                  <a:srgbClr val="C00000"/>
                </a:solidFill>
              </a:rPr>
              <a:t>工况异常”后，进行重调度</a:t>
            </a:r>
          </a:p>
        </p:txBody>
      </p:sp>
      <p:sp>
        <p:nvSpPr>
          <p:cNvPr id="35" name="圆角矩形 34"/>
          <p:cNvSpPr/>
          <p:nvPr/>
        </p:nvSpPr>
        <p:spPr>
          <a:xfrm>
            <a:off x="8017806" y="5385830"/>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017806" y="5508941"/>
            <a:ext cx="2542202" cy="523220"/>
          </a:xfrm>
          <a:prstGeom prst="rect">
            <a:avLst/>
          </a:prstGeom>
          <a:noFill/>
        </p:spPr>
        <p:txBody>
          <a:bodyPr wrap="square" rtlCol="0">
            <a:spAutoFit/>
          </a:bodyPr>
          <a:lstStyle/>
          <a:p>
            <a:pPr algn="ctr"/>
            <a:r>
              <a:rPr lang="zh-CN" altLang="en-US" sz="1400" dirty="0"/>
              <a:t>异构多智能体系统中基于状态感知分解的近优</a:t>
            </a:r>
            <a:r>
              <a:rPr lang="zh-CN" altLang="en-US" sz="1400" b="1" dirty="0"/>
              <a:t>重调度算法</a:t>
            </a:r>
          </a:p>
        </p:txBody>
      </p:sp>
      <p:sp>
        <p:nvSpPr>
          <p:cNvPr id="55" name="左大括号 54"/>
          <p:cNvSpPr/>
          <p:nvPr/>
        </p:nvSpPr>
        <p:spPr>
          <a:xfrm rot="5400000" flipH="1">
            <a:off x="5968271" y="3141463"/>
            <a:ext cx="259470" cy="6409537"/>
          </a:xfrm>
          <a:prstGeom prst="leftBrace">
            <a:avLst>
              <a:gd name="adj1" fmla="val 52451"/>
              <a:gd name="adj2" fmla="val 50000"/>
            </a:avLst>
          </a:prstGeom>
          <a:ln w="158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6" name="直接连接符 55"/>
          <p:cNvCxnSpPr>
            <a:cxnSpLocks/>
            <a:stCxn id="21" idx="2"/>
            <a:endCxn id="55" idx="2"/>
          </p:cNvCxnSpPr>
          <p:nvPr/>
        </p:nvCxnSpPr>
        <p:spPr>
          <a:xfrm>
            <a:off x="2885106" y="4778829"/>
            <a:ext cx="8132" cy="1437668"/>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a:xfrm>
            <a:off x="4532477" y="6475968"/>
            <a:ext cx="3294742" cy="512268"/>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4561440" y="6564474"/>
            <a:ext cx="3162879" cy="369332"/>
          </a:xfrm>
          <a:prstGeom prst="rect">
            <a:avLst/>
          </a:prstGeom>
          <a:noFill/>
        </p:spPr>
        <p:txBody>
          <a:bodyPr wrap="square" rtlCol="0">
            <a:spAutoFit/>
          </a:bodyPr>
          <a:lstStyle/>
          <a:p>
            <a:pPr algn="ctr"/>
            <a:r>
              <a:rPr lang="zh-CN" altLang="en-US" b="1" dirty="0"/>
              <a:t>论文总结与研究展望</a:t>
            </a:r>
          </a:p>
        </p:txBody>
      </p:sp>
    </p:spTree>
    <p:extLst>
      <p:ext uri="{BB962C8B-B14F-4D97-AF65-F5344CB8AC3E}">
        <p14:creationId xmlns:p14="http://schemas.microsoft.com/office/powerpoint/2010/main" val="364823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DB48BE-A488-F418-36E8-29AB78A4C197}"/>
            </a:ext>
          </a:extLst>
        </p:cNvPr>
        <p:cNvGrpSpPr/>
        <p:nvPr/>
      </p:nvGrpSpPr>
      <p:grpSpPr>
        <a:xfrm>
          <a:off x="0" y="0"/>
          <a:ext cx="0" cy="0"/>
          <a:chOff x="0" y="0"/>
          <a:chExt cx="0" cy="0"/>
        </a:xfrm>
      </p:grpSpPr>
      <p:sp>
        <p:nvSpPr>
          <p:cNvPr id="10" name="圆角矩形 9">
            <a:extLst>
              <a:ext uri="{FF2B5EF4-FFF2-40B4-BE49-F238E27FC236}">
                <a16:creationId xmlns="" xmlns:a16="http://schemas.microsoft.com/office/drawing/2014/main" id="{7A56A551-5796-8D28-572E-568FB3C97BA2}"/>
              </a:ext>
            </a:extLst>
          </p:cNvPr>
          <p:cNvSpPr/>
          <p:nvPr/>
        </p:nvSpPr>
        <p:spPr>
          <a:xfrm>
            <a:off x="2604588" y="432873"/>
            <a:ext cx="3294742" cy="771147"/>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文本框 10">
            <a:extLst>
              <a:ext uri="{FF2B5EF4-FFF2-40B4-BE49-F238E27FC236}">
                <a16:creationId xmlns="" xmlns:a16="http://schemas.microsoft.com/office/drawing/2014/main" id="{D34841DA-3C88-4A14-7730-54C9314915BA}"/>
              </a:ext>
            </a:extLst>
          </p:cNvPr>
          <p:cNvSpPr txBox="1"/>
          <p:nvPr/>
        </p:nvSpPr>
        <p:spPr>
          <a:xfrm>
            <a:off x="2630377" y="450660"/>
            <a:ext cx="325942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工业互联网环境下多智能体调度系统的效率亟待解决</a:t>
            </a:r>
          </a:p>
        </p:txBody>
      </p:sp>
      <p:sp>
        <p:nvSpPr>
          <p:cNvPr id="12" name="圆角矩形 11">
            <a:extLst>
              <a:ext uri="{FF2B5EF4-FFF2-40B4-BE49-F238E27FC236}">
                <a16:creationId xmlns="" xmlns:a16="http://schemas.microsoft.com/office/drawing/2014/main" id="{2AF3A094-5C4D-924B-F308-5D025ED7A25E}"/>
              </a:ext>
            </a:extLst>
          </p:cNvPr>
          <p:cNvSpPr/>
          <p:nvPr/>
        </p:nvSpPr>
        <p:spPr>
          <a:xfrm>
            <a:off x="9327571" y="373318"/>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文本框 12">
            <a:extLst>
              <a:ext uri="{FF2B5EF4-FFF2-40B4-BE49-F238E27FC236}">
                <a16:creationId xmlns="" xmlns:a16="http://schemas.microsoft.com/office/drawing/2014/main" id="{6E6EDA1C-C5E7-E42C-8A8A-3477587B6598}"/>
              </a:ext>
            </a:extLst>
          </p:cNvPr>
          <p:cNvSpPr txBox="1"/>
          <p:nvPr/>
        </p:nvSpPr>
        <p:spPr>
          <a:xfrm>
            <a:off x="9226514" y="463857"/>
            <a:ext cx="27074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基于时空约束和混合动态规划的连续</a:t>
            </a:r>
            <a:r>
              <a:rPr kumimoji="0" lang="en-US" altLang="zh-CN"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t>
            </a: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离散</a:t>
            </a:r>
            <a:r>
              <a:rPr kumimoji="0" lang="zh-CN" altLang="en-US" sz="1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混合智能体高级调度</a:t>
            </a:r>
          </a:p>
        </p:txBody>
      </p:sp>
      <p:sp>
        <p:nvSpPr>
          <p:cNvPr id="16" name="左大括号 15">
            <a:extLst>
              <a:ext uri="{FF2B5EF4-FFF2-40B4-BE49-F238E27FC236}">
                <a16:creationId xmlns="" xmlns:a16="http://schemas.microsoft.com/office/drawing/2014/main" id="{5116C692-12DA-37D9-128F-AA15E880F051}"/>
              </a:ext>
            </a:extLst>
          </p:cNvPr>
          <p:cNvSpPr/>
          <p:nvPr/>
        </p:nvSpPr>
        <p:spPr>
          <a:xfrm rot="5400000">
            <a:off x="4484969" y="-1514900"/>
            <a:ext cx="238406" cy="5714574"/>
          </a:xfrm>
          <a:prstGeom prst="leftBrace">
            <a:avLst>
              <a:gd name="adj1" fmla="val 52451"/>
              <a:gd name="adj2" fmla="val 50000"/>
            </a:avLst>
          </a:prstGeom>
          <a:ln w="158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8" name="文本框 17">
            <a:extLst>
              <a:ext uri="{FF2B5EF4-FFF2-40B4-BE49-F238E27FC236}">
                <a16:creationId xmlns="" xmlns:a16="http://schemas.microsoft.com/office/drawing/2014/main" id="{71197B4E-6AB3-8C89-398B-A1B31E8312CA}"/>
              </a:ext>
            </a:extLst>
          </p:cNvPr>
          <p:cNvSpPr txBox="1"/>
          <p:nvPr/>
        </p:nvSpPr>
        <p:spPr>
          <a:xfrm>
            <a:off x="1531647" y="1323207"/>
            <a:ext cx="614505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存在</a:t>
            </a:r>
            <a:r>
              <a:rPr kumimoji="0" lang="en-US" altLang="zh-CN"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2</a:t>
            </a: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种扰动情况：</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1</a:t>
            </a: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）网络外部攻击造成的扰动；</a:t>
            </a:r>
            <a:r>
              <a:rPr kumimoji="0" lang="en-US" altLang="zh-CN"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2</a:t>
            </a: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）智能体异常造成的扰动</a:t>
            </a:r>
          </a:p>
        </p:txBody>
      </p:sp>
      <p:sp>
        <p:nvSpPr>
          <p:cNvPr id="21" name="圆角矩形 20">
            <a:extLst>
              <a:ext uri="{FF2B5EF4-FFF2-40B4-BE49-F238E27FC236}">
                <a16:creationId xmlns="" xmlns:a16="http://schemas.microsoft.com/office/drawing/2014/main" id="{C684641F-5028-6D41-3F05-0AF6E6B5EEA6}"/>
              </a:ext>
            </a:extLst>
          </p:cNvPr>
          <p:cNvSpPr/>
          <p:nvPr/>
        </p:nvSpPr>
        <p:spPr>
          <a:xfrm>
            <a:off x="97275" y="2070586"/>
            <a:ext cx="3294742" cy="1193865"/>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2" name="文本框 21">
            <a:extLst>
              <a:ext uri="{FF2B5EF4-FFF2-40B4-BE49-F238E27FC236}">
                <a16:creationId xmlns="" xmlns:a16="http://schemas.microsoft.com/office/drawing/2014/main" id="{CCC804F3-98D2-CC1C-4D10-0EE498A23FFC}"/>
              </a:ext>
            </a:extLst>
          </p:cNvPr>
          <p:cNvSpPr txBox="1"/>
          <p:nvPr/>
        </p:nvSpPr>
        <p:spPr>
          <a:xfrm>
            <a:off x="123064" y="2064122"/>
            <a:ext cx="3259427"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针对网络外部攻击，需要及时检测发现，然后标记并“忽略” 这些恶意信息，以免对正常调度造成影响</a:t>
            </a:r>
          </a:p>
        </p:txBody>
      </p:sp>
      <p:sp>
        <p:nvSpPr>
          <p:cNvPr id="23" name="圆角矩形 22">
            <a:extLst>
              <a:ext uri="{FF2B5EF4-FFF2-40B4-BE49-F238E27FC236}">
                <a16:creationId xmlns="" xmlns:a16="http://schemas.microsoft.com/office/drawing/2014/main" id="{66E16A18-4562-2A11-B1E1-6DE4A4061E70}"/>
              </a:ext>
            </a:extLst>
          </p:cNvPr>
          <p:cNvSpPr/>
          <p:nvPr/>
        </p:nvSpPr>
        <p:spPr>
          <a:xfrm>
            <a:off x="9391714" y="1580807"/>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文本框 23">
            <a:extLst>
              <a:ext uri="{FF2B5EF4-FFF2-40B4-BE49-F238E27FC236}">
                <a16:creationId xmlns="" xmlns:a16="http://schemas.microsoft.com/office/drawing/2014/main" id="{6AC9CFE6-96FC-503A-095D-8703CC6C92B0}"/>
              </a:ext>
            </a:extLst>
          </p:cNvPr>
          <p:cNvSpPr txBox="1"/>
          <p:nvPr/>
        </p:nvSpPr>
        <p:spPr>
          <a:xfrm>
            <a:off x="9391714" y="1660114"/>
            <a:ext cx="25422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基于状态预测和动态阈值的工业多智能体系统</a:t>
            </a:r>
            <a:r>
              <a:rPr kumimoji="0" lang="zh-CN" altLang="en-US" sz="1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数据注入检测</a:t>
            </a:r>
          </a:p>
        </p:txBody>
      </p:sp>
      <p:sp>
        <p:nvSpPr>
          <p:cNvPr id="25" name="圆角矩形 24">
            <a:extLst>
              <a:ext uri="{FF2B5EF4-FFF2-40B4-BE49-F238E27FC236}">
                <a16:creationId xmlns="" xmlns:a16="http://schemas.microsoft.com/office/drawing/2014/main" id="{60161DE3-7D51-A7E1-0554-12DAE4E37747}"/>
              </a:ext>
            </a:extLst>
          </p:cNvPr>
          <p:cNvSpPr/>
          <p:nvPr/>
        </p:nvSpPr>
        <p:spPr>
          <a:xfrm>
            <a:off x="5815479" y="2734028"/>
            <a:ext cx="3294742" cy="1266059"/>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文本框 25">
            <a:extLst>
              <a:ext uri="{FF2B5EF4-FFF2-40B4-BE49-F238E27FC236}">
                <a16:creationId xmlns="" xmlns:a16="http://schemas.microsoft.com/office/drawing/2014/main" id="{27259339-78C5-68C2-DB89-46D78933BEB2}"/>
              </a:ext>
            </a:extLst>
          </p:cNvPr>
          <p:cNvSpPr txBox="1"/>
          <p:nvPr/>
        </p:nvSpPr>
        <p:spPr>
          <a:xfrm>
            <a:off x="5787692" y="2799758"/>
            <a:ext cx="3363802"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需要排除 劫持</a:t>
            </a:r>
            <a:r>
              <a:rPr kumimoji="0" lang="en-US" altLang="zh-CN"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a:t>
            </a: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木马 等“恶意异常”造成的智能体异常，因为这种异常不仅需要重调度，还会降低智能体的“话语权”</a:t>
            </a:r>
          </a:p>
        </p:txBody>
      </p:sp>
      <p:sp>
        <p:nvSpPr>
          <p:cNvPr id="27" name="圆角矩形 26">
            <a:extLst>
              <a:ext uri="{FF2B5EF4-FFF2-40B4-BE49-F238E27FC236}">
                <a16:creationId xmlns="" xmlns:a16="http://schemas.microsoft.com/office/drawing/2014/main" id="{3253F8A8-B043-2FF5-F464-AC689ECC86D0}"/>
              </a:ext>
            </a:extLst>
          </p:cNvPr>
          <p:cNvSpPr/>
          <p:nvPr/>
        </p:nvSpPr>
        <p:spPr>
          <a:xfrm>
            <a:off x="9365925" y="2564593"/>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文本框 27">
            <a:extLst>
              <a:ext uri="{FF2B5EF4-FFF2-40B4-BE49-F238E27FC236}">
                <a16:creationId xmlns="" xmlns:a16="http://schemas.microsoft.com/office/drawing/2014/main" id="{ADACBF74-362E-B13B-8EBD-0B01E3F16D16}"/>
              </a:ext>
            </a:extLst>
          </p:cNvPr>
          <p:cNvSpPr txBox="1"/>
          <p:nvPr/>
        </p:nvSpPr>
        <p:spPr>
          <a:xfrm>
            <a:off x="9365925" y="2671512"/>
            <a:ext cx="25422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面向工业多智能体系统的时空局部化</a:t>
            </a:r>
            <a:r>
              <a:rPr kumimoji="0" lang="zh-CN" altLang="en-US" sz="1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拜占庭容错共识</a:t>
            </a: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协议</a:t>
            </a:r>
          </a:p>
        </p:txBody>
      </p:sp>
      <p:cxnSp>
        <p:nvCxnSpPr>
          <p:cNvPr id="30" name="直接连接符 29">
            <a:extLst>
              <a:ext uri="{FF2B5EF4-FFF2-40B4-BE49-F238E27FC236}">
                <a16:creationId xmlns="" xmlns:a16="http://schemas.microsoft.com/office/drawing/2014/main" id="{C6A1D422-C67E-3BBD-6DCA-E938A63508C8}"/>
              </a:ext>
            </a:extLst>
          </p:cNvPr>
          <p:cNvCxnSpPr>
            <a:cxnSpLocks/>
            <a:endCxn id="22" idx="0"/>
          </p:cNvCxnSpPr>
          <p:nvPr/>
        </p:nvCxnSpPr>
        <p:spPr>
          <a:xfrm>
            <a:off x="1745494" y="1461590"/>
            <a:ext cx="7284" cy="602532"/>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 xmlns:a16="http://schemas.microsoft.com/office/drawing/2014/main" id="{2DC09AED-0D51-2DE4-8762-60748C1210BB}"/>
              </a:ext>
            </a:extLst>
          </p:cNvPr>
          <p:cNvCxnSpPr>
            <a:cxnSpLocks/>
            <a:endCxn id="25" idx="0"/>
          </p:cNvCxnSpPr>
          <p:nvPr/>
        </p:nvCxnSpPr>
        <p:spPr>
          <a:xfrm>
            <a:off x="7462850" y="1419756"/>
            <a:ext cx="0" cy="1314272"/>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 xmlns:a16="http://schemas.microsoft.com/office/drawing/2014/main" id="{23269B84-7B7F-A30F-E924-F3A2A7CB5DD9}"/>
              </a:ext>
            </a:extLst>
          </p:cNvPr>
          <p:cNvCxnSpPr>
            <a:cxnSpLocks/>
          </p:cNvCxnSpPr>
          <p:nvPr/>
        </p:nvCxnSpPr>
        <p:spPr>
          <a:xfrm>
            <a:off x="7469593" y="3993737"/>
            <a:ext cx="4564" cy="290383"/>
          </a:xfrm>
          <a:prstGeom prst="straightConnector1">
            <a:avLst/>
          </a:prstGeom>
          <a:ln w="158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圆角矩形 32">
            <a:extLst>
              <a:ext uri="{FF2B5EF4-FFF2-40B4-BE49-F238E27FC236}">
                <a16:creationId xmlns="" xmlns:a16="http://schemas.microsoft.com/office/drawing/2014/main" id="{742EF659-21B2-CDB6-2B3F-F8AA337F10B8}"/>
              </a:ext>
            </a:extLst>
          </p:cNvPr>
          <p:cNvSpPr/>
          <p:nvPr/>
        </p:nvSpPr>
        <p:spPr>
          <a:xfrm>
            <a:off x="5805954" y="4269326"/>
            <a:ext cx="3294742" cy="667476"/>
          </a:xfrm>
          <a:prstGeom prst="roundRect">
            <a:avLst/>
          </a:prstGeom>
          <a:no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4" name="文本框 33">
            <a:extLst>
              <a:ext uri="{FF2B5EF4-FFF2-40B4-BE49-F238E27FC236}">
                <a16:creationId xmlns="" xmlns:a16="http://schemas.microsoft.com/office/drawing/2014/main" id="{CF75F6B7-8BE1-3724-FCEA-FB7E067A9E1D}"/>
              </a:ext>
            </a:extLst>
          </p:cNvPr>
          <p:cNvSpPr txBox="1"/>
          <p:nvPr/>
        </p:nvSpPr>
        <p:spPr>
          <a:xfrm>
            <a:off x="5844443" y="4290470"/>
            <a:ext cx="325942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确认智能体“非恶意异常</a:t>
            </a:r>
            <a:r>
              <a:rPr kumimoji="0" lang="en-US" altLang="zh-CN"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a:t>
            </a:r>
            <a:r>
              <a:rPr kumimoji="0" lang="zh-CN" altLang="en-US" sz="1800" b="0" i="0" u="none" strike="noStrike" kern="1200" cap="none" spc="0" normalizeH="0" baseline="0" noProof="0" dirty="0">
                <a:ln>
                  <a:noFill/>
                </a:ln>
                <a:effectLst/>
                <a:uLnTx/>
                <a:uFillTx/>
                <a:latin typeface="Calibri" panose="020F0502020204030204"/>
                <a:ea typeface="宋体" panose="02010600030101010101" pitchFamily="2" charset="-122"/>
                <a:cs typeface="+mn-cs"/>
              </a:rPr>
              <a:t>工况异常”后，进行重调度</a:t>
            </a:r>
          </a:p>
        </p:txBody>
      </p:sp>
      <p:sp>
        <p:nvSpPr>
          <p:cNvPr id="35" name="圆角矩形 34">
            <a:extLst>
              <a:ext uri="{FF2B5EF4-FFF2-40B4-BE49-F238E27FC236}">
                <a16:creationId xmlns="" xmlns:a16="http://schemas.microsoft.com/office/drawing/2014/main" id="{993CCAAC-C480-A757-89E6-37F221A76A49}"/>
              </a:ext>
            </a:extLst>
          </p:cNvPr>
          <p:cNvSpPr/>
          <p:nvPr/>
        </p:nvSpPr>
        <p:spPr>
          <a:xfrm>
            <a:off x="9365925" y="3907489"/>
            <a:ext cx="2516413" cy="72367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6" name="文本框 35">
            <a:extLst>
              <a:ext uri="{FF2B5EF4-FFF2-40B4-BE49-F238E27FC236}">
                <a16:creationId xmlns="" xmlns:a16="http://schemas.microsoft.com/office/drawing/2014/main" id="{1DF8E81A-67D6-1A85-C96D-A48FAE493E23}"/>
              </a:ext>
            </a:extLst>
          </p:cNvPr>
          <p:cNvSpPr txBox="1"/>
          <p:nvPr/>
        </p:nvSpPr>
        <p:spPr>
          <a:xfrm>
            <a:off x="9365925" y="4030600"/>
            <a:ext cx="254220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异构多智能体系统中基于状态感知分解的近优</a:t>
            </a:r>
            <a:r>
              <a:rPr kumimoji="0" lang="zh-CN" altLang="en-US" sz="14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重调度算法</a:t>
            </a:r>
          </a:p>
        </p:txBody>
      </p:sp>
      <p:sp>
        <p:nvSpPr>
          <p:cNvPr id="55" name="左大括号 54">
            <a:extLst>
              <a:ext uri="{FF2B5EF4-FFF2-40B4-BE49-F238E27FC236}">
                <a16:creationId xmlns="" xmlns:a16="http://schemas.microsoft.com/office/drawing/2014/main" id="{5B4D4AB3-E192-4074-DC0D-255CC198FEEC}"/>
              </a:ext>
            </a:extLst>
          </p:cNvPr>
          <p:cNvSpPr/>
          <p:nvPr/>
        </p:nvSpPr>
        <p:spPr>
          <a:xfrm rot="5400000" flipH="1">
            <a:off x="4485158" y="2216168"/>
            <a:ext cx="243922" cy="5708682"/>
          </a:xfrm>
          <a:prstGeom prst="leftBrace">
            <a:avLst>
              <a:gd name="adj1" fmla="val 52451"/>
              <a:gd name="adj2" fmla="val 50000"/>
            </a:avLst>
          </a:prstGeom>
          <a:ln w="158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cxnSp>
        <p:nvCxnSpPr>
          <p:cNvPr id="56" name="直接连接符 55">
            <a:extLst>
              <a:ext uri="{FF2B5EF4-FFF2-40B4-BE49-F238E27FC236}">
                <a16:creationId xmlns="" xmlns:a16="http://schemas.microsoft.com/office/drawing/2014/main" id="{D6594DC6-BC72-851F-6A04-AF1B1AB8DE61}"/>
              </a:ext>
            </a:extLst>
          </p:cNvPr>
          <p:cNvCxnSpPr>
            <a:cxnSpLocks/>
            <a:stCxn id="22" idx="2"/>
            <a:endCxn id="55" idx="2"/>
          </p:cNvCxnSpPr>
          <p:nvPr/>
        </p:nvCxnSpPr>
        <p:spPr>
          <a:xfrm>
            <a:off x="1752778" y="3264451"/>
            <a:ext cx="0" cy="1684097"/>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圆角矩形 59">
            <a:extLst>
              <a:ext uri="{FF2B5EF4-FFF2-40B4-BE49-F238E27FC236}">
                <a16:creationId xmlns="" xmlns:a16="http://schemas.microsoft.com/office/drawing/2014/main" id="{D84F7EA7-0A4F-38CA-6E9C-4E1F9E127E0F}"/>
              </a:ext>
            </a:extLst>
          </p:cNvPr>
          <p:cNvSpPr/>
          <p:nvPr/>
        </p:nvSpPr>
        <p:spPr>
          <a:xfrm>
            <a:off x="2697962" y="5192471"/>
            <a:ext cx="3294742" cy="512268"/>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1" name="文本框 60">
            <a:extLst>
              <a:ext uri="{FF2B5EF4-FFF2-40B4-BE49-F238E27FC236}">
                <a16:creationId xmlns="" xmlns:a16="http://schemas.microsoft.com/office/drawing/2014/main" id="{EA5C84B3-BFDD-2AC6-FB7C-D80E3A81F55D}"/>
              </a:ext>
            </a:extLst>
          </p:cNvPr>
          <p:cNvSpPr txBox="1"/>
          <p:nvPr/>
        </p:nvSpPr>
        <p:spPr>
          <a:xfrm>
            <a:off x="2726925" y="5280977"/>
            <a:ext cx="31628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总结与研究展望</a:t>
            </a:r>
          </a:p>
        </p:txBody>
      </p:sp>
      <p:sp>
        <p:nvSpPr>
          <p:cNvPr id="51" name="Arrow: Right 50">
            <a:extLst>
              <a:ext uri="{FF2B5EF4-FFF2-40B4-BE49-F238E27FC236}">
                <a16:creationId xmlns="" xmlns:a16="http://schemas.microsoft.com/office/drawing/2014/main" id="{338C07E3-B344-89AF-4DD5-9DFB5A1E72CB}"/>
              </a:ext>
            </a:extLst>
          </p:cNvPr>
          <p:cNvSpPr/>
          <p:nvPr/>
        </p:nvSpPr>
        <p:spPr>
          <a:xfrm>
            <a:off x="6023423" y="696815"/>
            <a:ext cx="3260277" cy="133663"/>
          </a:xfrm>
          <a:prstGeom prst="rightArrow">
            <a:avLst>
              <a:gd name="adj1" fmla="val 50000"/>
              <a:gd name="adj2" fmla="val 981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Arrow: Right 51">
            <a:extLst>
              <a:ext uri="{FF2B5EF4-FFF2-40B4-BE49-F238E27FC236}">
                <a16:creationId xmlns="" xmlns:a16="http://schemas.microsoft.com/office/drawing/2014/main" id="{A1FCE14A-7257-3E13-D3BD-B8F124FA80C2}"/>
              </a:ext>
            </a:extLst>
          </p:cNvPr>
          <p:cNvSpPr/>
          <p:nvPr/>
        </p:nvSpPr>
        <p:spPr>
          <a:xfrm>
            <a:off x="3417806" y="2135937"/>
            <a:ext cx="5909765" cy="133663"/>
          </a:xfrm>
          <a:prstGeom prst="rightArrow">
            <a:avLst>
              <a:gd name="adj1" fmla="val 50000"/>
              <a:gd name="adj2" fmla="val 981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 xmlns:a16="http://schemas.microsoft.com/office/drawing/2014/main" id="{510AD2EB-D7F7-641C-47E3-C26EF0C9A685}"/>
              </a:ext>
            </a:extLst>
          </p:cNvPr>
          <p:cNvSpPr/>
          <p:nvPr/>
        </p:nvSpPr>
        <p:spPr>
          <a:xfrm>
            <a:off x="9138008" y="2946852"/>
            <a:ext cx="202128" cy="133663"/>
          </a:xfrm>
          <a:prstGeom prst="rightArrow">
            <a:avLst>
              <a:gd name="adj1" fmla="val 50000"/>
              <a:gd name="adj2" fmla="val 981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 xmlns:a16="http://schemas.microsoft.com/office/drawing/2014/main" id="{94C34C60-5202-208E-61DB-AA9C25564087}"/>
              </a:ext>
            </a:extLst>
          </p:cNvPr>
          <p:cNvSpPr/>
          <p:nvPr/>
        </p:nvSpPr>
        <p:spPr>
          <a:xfrm>
            <a:off x="9138008" y="4290470"/>
            <a:ext cx="202128" cy="133663"/>
          </a:xfrm>
          <a:prstGeom prst="rightArrow">
            <a:avLst>
              <a:gd name="adj1" fmla="val 50000"/>
              <a:gd name="adj2" fmla="val 981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0512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9A60A662-4641-D85F-FA2E-C53AC8E306B2}"/>
              </a:ext>
            </a:extLst>
          </p:cNvPr>
          <p:cNvSpPr/>
          <p:nvPr/>
        </p:nvSpPr>
        <p:spPr>
          <a:xfrm>
            <a:off x="280670" y="2489835"/>
            <a:ext cx="2895600" cy="11874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基于时空约束和混合动态规划的混合智能体高级调度</a:t>
            </a:r>
            <a:endParaRPr lang="en-US" sz="1600" dirty="0">
              <a:solidFill>
                <a:schemeClr val="tx1"/>
              </a:solidFill>
            </a:endParaRPr>
          </a:p>
        </p:txBody>
      </p:sp>
      <p:sp>
        <p:nvSpPr>
          <p:cNvPr id="5" name="Rectangle 4">
            <a:extLst>
              <a:ext uri="{FF2B5EF4-FFF2-40B4-BE49-F238E27FC236}">
                <a16:creationId xmlns="" xmlns:a16="http://schemas.microsoft.com/office/drawing/2014/main" id="{0C683299-BFC0-8AA8-FF60-83F2325CF54C}"/>
              </a:ext>
            </a:extLst>
          </p:cNvPr>
          <p:cNvSpPr/>
          <p:nvPr/>
        </p:nvSpPr>
        <p:spPr>
          <a:xfrm>
            <a:off x="4014470" y="2023110"/>
            <a:ext cx="2895600" cy="7493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基于状态预测和动态阈值的工业多智能体系统数据注入检测和防御</a:t>
            </a:r>
            <a:endParaRPr lang="en-US" sz="1600" dirty="0">
              <a:solidFill>
                <a:schemeClr val="tx1"/>
              </a:solidFill>
            </a:endParaRPr>
          </a:p>
        </p:txBody>
      </p:sp>
      <p:sp>
        <p:nvSpPr>
          <p:cNvPr id="6" name="Rectangle 5">
            <a:extLst>
              <a:ext uri="{FF2B5EF4-FFF2-40B4-BE49-F238E27FC236}">
                <a16:creationId xmlns="" xmlns:a16="http://schemas.microsoft.com/office/drawing/2014/main" id="{F708B98B-14E8-F029-D2C3-8C945FCDDEB8}"/>
              </a:ext>
            </a:extLst>
          </p:cNvPr>
          <p:cNvSpPr/>
          <p:nvPr/>
        </p:nvSpPr>
        <p:spPr>
          <a:xfrm>
            <a:off x="4014470" y="3147060"/>
            <a:ext cx="2895600" cy="7493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面向工业多智能体系统的时空局部化拜占庭容错共识协议</a:t>
            </a:r>
            <a:endParaRPr lang="en-US" sz="1600" dirty="0">
              <a:solidFill>
                <a:schemeClr val="tx1"/>
              </a:solidFill>
            </a:endParaRPr>
          </a:p>
        </p:txBody>
      </p:sp>
      <p:sp>
        <p:nvSpPr>
          <p:cNvPr id="7" name="Rectangle 6">
            <a:extLst>
              <a:ext uri="{FF2B5EF4-FFF2-40B4-BE49-F238E27FC236}">
                <a16:creationId xmlns="" xmlns:a16="http://schemas.microsoft.com/office/drawing/2014/main" id="{BF808725-78FF-B4A3-6E57-DD718ECF37EF}"/>
              </a:ext>
            </a:extLst>
          </p:cNvPr>
          <p:cNvSpPr/>
          <p:nvPr/>
        </p:nvSpPr>
        <p:spPr>
          <a:xfrm>
            <a:off x="7748270" y="3147060"/>
            <a:ext cx="2895600" cy="7493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异构多智能体系统中基于状态感知分解的近优重调度算法</a:t>
            </a:r>
            <a:endParaRPr lang="en-US" sz="1600" dirty="0">
              <a:solidFill>
                <a:schemeClr val="tx1"/>
              </a:solidFill>
            </a:endParaRPr>
          </a:p>
        </p:txBody>
      </p:sp>
      <p:sp>
        <p:nvSpPr>
          <p:cNvPr id="8" name="Arrow: Right 7">
            <a:extLst>
              <a:ext uri="{FF2B5EF4-FFF2-40B4-BE49-F238E27FC236}">
                <a16:creationId xmlns="" xmlns:a16="http://schemas.microsoft.com/office/drawing/2014/main" id="{B6931815-654D-8740-5AC1-ABAC70782B3F}"/>
              </a:ext>
            </a:extLst>
          </p:cNvPr>
          <p:cNvSpPr/>
          <p:nvPr/>
        </p:nvSpPr>
        <p:spPr>
          <a:xfrm>
            <a:off x="3296920" y="2489835"/>
            <a:ext cx="571500" cy="311150"/>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 xmlns:a16="http://schemas.microsoft.com/office/drawing/2014/main" id="{30D8230D-0746-B92D-7233-53B60248303A}"/>
              </a:ext>
            </a:extLst>
          </p:cNvPr>
          <p:cNvSpPr/>
          <p:nvPr/>
        </p:nvSpPr>
        <p:spPr>
          <a:xfrm>
            <a:off x="3296920" y="3181986"/>
            <a:ext cx="571500" cy="311150"/>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 xmlns:a16="http://schemas.microsoft.com/office/drawing/2014/main" id="{C1F16078-8F9D-F5D3-7A4A-B07AC4D20A15}"/>
              </a:ext>
            </a:extLst>
          </p:cNvPr>
          <p:cNvSpPr/>
          <p:nvPr/>
        </p:nvSpPr>
        <p:spPr>
          <a:xfrm>
            <a:off x="7043420" y="3366135"/>
            <a:ext cx="571500" cy="311150"/>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peech Bubble: Rectangle with Corners Rounded 10">
            <a:extLst>
              <a:ext uri="{FF2B5EF4-FFF2-40B4-BE49-F238E27FC236}">
                <a16:creationId xmlns="" xmlns:a16="http://schemas.microsoft.com/office/drawing/2014/main" id="{DB5C69F5-9007-9F9B-7547-1AD8E8936C53}"/>
              </a:ext>
            </a:extLst>
          </p:cNvPr>
          <p:cNvSpPr/>
          <p:nvPr/>
        </p:nvSpPr>
        <p:spPr>
          <a:xfrm>
            <a:off x="280670" y="4271432"/>
            <a:ext cx="2895599" cy="749300"/>
          </a:xfrm>
          <a:prstGeom prst="wedgeRoundRectCallout">
            <a:avLst>
              <a:gd name="adj1" fmla="val -6853"/>
              <a:gd name="adj2" fmla="val -84200"/>
              <a:gd name="adj3" fmla="val 1666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83F0"/>
                </a:solidFill>
              </a:rPr>
              <a:t>工业互联网环境下多智能体调度系统的效率亟待解决</a:t>
            </a:r>
            <a:endParaRPr lang="en-US" sz="1200" b="1" dirty="0">
              <a:solidFill>
                <a:srgbClr val="0083F0"/>
              </a:solidFill>
            </a:endParaRPr>
          </a:p>
        </p:txBody>
      </p:sp>
      <p:sp>
        <p:nvSpPr>
          <p:cNvPr id="12" name="Speech Bubble: Rectangle with Corners Rounded 11">
            <a:extLst>
              <a:ext uri="{FF2B5EF4-FFF2-40B4-BE49-F238E27FC236}">
                <a16:creationId xmlns="" xmlns:a16="http://schemas.microsoft.com/office/drawing/2014/main" id="{2E9638AA-53A7-DE0F-0064-C37A2C4F9CA6}"/>
              </a:ext>
            </a:extLst>
          </p:cNvPr>
          <p:cNvSpPr/>
          <p:nvPr/>
        </p:nvSpPr>
        <p:spPr>
          <a:xfrm>
            <a:off x="4014469" y="4244766"/>
            <a:ext cx="4180418" cy="2039195"/>
          </a:xfrm>
          <a:prstGeom prst="wedgeRoundRectCallout">
            <a:avLst>
              <a:gd name="adj1" fmla="val -15433"/>
              <a:gd name="adj2" fmla="val -61254"/>
              <a:gd name="adj3" fmla="val 1666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CN" altLang="en-US" sz="1200" b="1" dirty="0">
                <a:solidFill>
                  <a:srgbClr val="0083F0"/>
                </a:solidFill>
              </a:rPr>
              <a:t>存在</a:t>
            </a:r>
            <a:r>
              <a:rPr lang="en-US" altLang="zh-CN" sz="1200" b="1" dirty="0">
                <a:solidFill>
                  <a:srgbClr val="0083F0"/>
                </a:solidFill>
              </a:rPr>
              <a:t>2</a:t>
            </a:r>
            <a:r>
              <a:rPr lang="zh-CN" altLang="en-US" sz="1200" b="1" dirty="0">
                <a:solidFill>
                  <a:srgbClr val="0083F0"/>
                </a:solidFill>
              </a:rPr>
              <a:t>种扰动情况：</a:t>
            </a:r>
          </a:p>
          <a:p>
            <a:pPr lvl="0" algn="ctr">
              <a:defRPr/>
            </a:pPr>
            <a:r>
              <a:rPr lang="en-US" altLang="zh-CN" sz="1200" b="1" dirty="0">
                <a:solidFill>
                  <a:srgbClr val="0083F0"/>
                </a:solidFill>
              </a:rPr>
              <a:t>2/2:</a:t>
            </a:r>
            <a:r>
              <a:rPr lang="zh-CN" altLang="en-US" sz="1200" b="1" dirty="0">
                <a:solidFill>
                  <a:srgbClr val="0083F0"/>
                </a:solidFill>
              </a:rPr>
              <a:t>智能体异常造成的扰动；</a:t>
            </a:r>
            <a:endParaRPr lang="en-US" altLang="zh-CN" sz="1200" b="1" dirty="0">
              <a:solidFill>
                <a:srgbClr val="0083F0"/>
              </a:solidFill>
            </a:endParaRPr>
          </a:p>
          <a:p>
            <a:pPr marL="285750" indent="-285750" algn="ctr">
              <a:buFont typeface="Arial" panose="020B0604020202020204" pitchFamily="34" charset="0"/>
              <a:buChar char="•"/>
              <a:defRPr/>
            </a:pPr>
            <a:r>
              <a:rPr lang="zh-CN" altLang="en-US" sz="1200" b="1" dirty="0">
                <a:solidFill>
                  <a:srgbClr val="0083F0"/>
                </a:solidFill>
              </a:rPr>
              <a:t>劫持</a:t>
            </a:r>
            <a:r>
              <a:rPr lang="en-US" altLang="zh-CN" sz="1200" b="1" dirty="0">
                <a:solidFill>
                  <a:srgbClr val="0083F0"/>
                </a:solidFill>
              </a:rPr>
              <a:t>/</a:t>
            </a:r>
            <a:r>
              <a:rPr lang="zh-CN" altLang="en-US" sz="1200" b="1" dirty="0">
                <a:solidFill>
                  <a:srgbClr val="0083F0"/>
                </a:solidFill>
              </a:rPr>
              <a:t>木马 等“恶意异常”造成的智能体异常，针对这种异常需要降低被劫持的智能体的“话语权”，以免扰乱调度系统；将智能体标记为“恶意智能体”（不可用资源），接管其未完成的任务且不再向其分派任务，随后进行重调度；</a:t>
            </a:r>
            <a:endParaRPr lang="en-US" altLang="zh-CN" sz="1200" b="1" dirty="0">
              <a:solidFill>
                <a:srgbClr val="0083F0"/>
              </a:solidFill>
            </a:endParaRPr>
          </a:p>
          <a:p>
            <a:pPr marL="285750" indent="-285750" algn="ctr">
              <a:buFont typeface="Arial" panose="020B0604020202020204" pitchFamily="34" charset="0"/>
              <a:buChar char="•"/>
              <a:defRPr/>
            </a:pPr>
            <a:r>
              <a:rPr lang="zh-CN" altLang="en-US" sz="1200" b="1" dirty="0">
                <a:solidFill>
                  <a:srgbClr val="0083F0"/>
                </a:solidFill>
              </a:rPr>
              <a:t>如果是智能体“非恶意异常</a:t>
            </a:r>
            <a:r>
              <a:rPr lang="en-US" altLang="zh-CN" sz="1200" b="1" dirty="0">
                <a:solidFill>
                  <a:srgbClr val="0083F0"/>
                </a:solidFill>
              </a:rPr>
              <a:t>/</a:t>
            </a:r>
            <a:r>
              <a:rPr lang="zh-CN" altLang="en-US" sz="1200" b="1" dirty="0">
                <a:solidFill>
                  <a:srgbClr val="0083F0"/>
                </a:solidFill>
              </a:rPr>
              <a:t>工况异常”（比如缺电），接管其未完成的任务且不再向其分派任务，随后进行重调度；该智能体可以随时重新加入调度系统；</a:t>
            </a:r>
            <a:endParaRPr lang="en-US" sz="1200" b="1" dirty="0">
              <a:solidFill>
                <a:srgbClr val="0083F0"/>
              </a:solidFill>
            </a:endParaRPr>
          </a:p>
        </p:txBody>
      </p:sp>
      <p:sp>
        <p:nvSpPr>
          <p:cNvPr id="13" name="Speech Bubble: Rectangle with Corners Rounded 12">
            <a:extLst>
              <a:ext uri="{FF2B5EF4-FFF2-40B4-BE49-F238E27FC236}">
                <a16:creationId xmlns="" xmlns:a16="http://schemas.microsoft.com/office/drawing/2014/main" id="{DC235BEF-DE7F-ED5F-3600-359BDE6991D5}"/>
              </a:ext>
            </a:extLst>
          </p:cNvPr>
          <p:cNvSpPr/>
          <p:nvPr/>
        </p:nvSpPr>
        <p:spPr>
          <a:xfrm>
            <a:off x="7329170" y="1569510"/>
            <a:ext cx="4180418" cy="1112518"/>
          </a:xfrm>
          <a:prstGeom prst="wedgeRoundRectCallout">
            <a:avLst>
              <a:gd name="adj1" fmla="val -56544"/>
              <a:gd name="adj2" fmla="val 23141"/>
              <a:gd name="adj3" fmla="val 1666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CN" altLang="en-US" sz="1200" b="1" dirty="0">
                <a:solidFill>
                  <a:srgbClr val="0083F0"/>
                </a:solidFill>
              </a:rPr>
              <a:t>存在</a:t>
            </a:r>
            <a:r>
              <a:rPr lang="en-US" altLang="zh-CN" sz="1200" b="1" dirty="0">
                <a:solidFill>
                  <a:srgbClr val="0083F0"/>
                </a:solidFill>
              </a:rPr>
              <a:t>2</a:t>
            </a:r>
            <a:r>
              <a:rPr lang="zh-CN" altLang="en-US" sz="1200" b="1" dirty="0">
                <a:solidFill>
                  <a:srgbClr val="0083F0"/>
                </a:solidFill>
              </a:rPr>
              <a:t>种扰动情况：</a:t>
            </a:r>
          </a:p>
          <a:p>
            <a:pPr lvl="0" algn="ctr">
              <a:defRPr/>
            </a:pPr>
            <a:r>
              <a:rPr lang="en-US" altLang="zh-CN" sz="1200" b="1" dirty="0">
                <a:solidFill>
                  <a:srgbClr val="0083F0"/>
                </a:solidFill>
              </a:rPr>
              <a:t>1/2:</a:t>
            </a:r>
            <a:r>
              <a:rPr lang="zh-CN" altLang="en-US" sz="1200" b="1" dirty="0">
                <a:solidFill>
                  <a:srgbClr val="0083F0"/>
                </a:solidFill>
              </a:rPr>
              <a:t>网络外部攻击造成的扰动；</a:t>
            </a:r>
            <a:endParaRPr lang="en-US" altLang="zh-CN" sz="1200" b="1" dirty="0">
              <a:solidFill>
                <a:srgbClr val="0083F0"/>
              </a:solidFill>
            </a:endParaRPr>
          </a:p>
          <a:p>
            <a:pPr marL="285750" lvl="0" indent="-285750" algn="ctr">
              <a:buFont typeface="Arial" panose="020B0604020202020204" pitchFamily="34" charset="0"/>
              <a:buChar char="•"/>
              <a:defRPr/>
            </a:pPr>
            <a:r>
              <a:rPr lang="zh-CN" altLang="en-US" sz="1200" b="1" dirty="0">
                <a:solidFill>
                  <a:srgbClr val="0083F0"/>
                </a:solidFill>
              </a:rPr>
              <a:t>这种扰动，容易通过智能体的“时空特征”进行检测，将发送消息的智能体标记为“外部伪装智能体”，并“忽略”该伪装者的发送消息，防御成功后不需要进行重调度</a:t>
            </a:r>
            <a:r>
              <a:rPr lang="en-US" altLang="zh-CN" sz="1200" b="1" dirty="0">
                <a:solidFill>
                  <a:srgbClr val="0083F0"/>
                </a:solidFill>
              </a:rPr>
              <a:t>——</a:t>
            </a:r>
            <a:r>
              <a:rPr lang="zh-CN" altLang="en-US" sz="1200" b="1" dirty="0">
                <a:solidFill>
                  <a:srgbClr val="0083F0"/>
                </a:solidFill>
              </a:rPr>
              <a:t>因为这不是真实参与任务执行的智能体；</a:t>
            </a:r>
            <a:endParaRPr lang="en-US" sz="1200" b="1" dirty="0">
              <a:solidFill>
                <a:srgbClr val="0083F0"/>
              </a:solidFill>
            </a:endParaRPr>
          </a:p>
        </p:txBody>
      </p:sp>
      <p:sp>
        <p:nvSpPr>
          <p:cNvPr id="14" name="Rectangle 13">
            <a:extLst>
              <a:ext uri="{FF2B5EF4-FFF2-40B4-BE49-F238E27FC236}">
                <a16:creationId xmlns="" xmlns:a16="http://schemas.microsoft.com/office/drawing/2014/main" id="{D63D1F04-7DCE-EAA2-F3AC-1193B1748766}"/>
              </a:ext>
            </a:extLst>
          </p:cNvPr>
          <p:cNvSpPr/>
          <p:nvPr/>
        </p:nvSpPr>
        <p:spPr>
          <a:xfrm>
            <a:off x="190500" y="1922779"/>
            <a:ext cx="10530840" cy="2047239"/>
          </a:xfrm>
          <a:custGeom>
            <a:avLst/>
            <a:gdLst>
              <a:gd name="csX0" fmla="*/ 0 w 10530840"/>
              <a:gd name="csY0" fmla="*/ 0 h 2039195"/>
              <a:gd name="csX1" fmla="*/ 10530840 w 10530840"/>
              <a:gd name="csY1" fmla="*/ 0 h 2039195"/>
              <a:gd name="csX2" fmla="*/ 10530840 w 10530840"/>
              <a:gd name="csY2" fmla="*/ 2039195 h 2039195"/>
              <a:gd name="csX3" fmla="*/ 0 w 10530840"/>
              <a:gd name="csY3" fmla="*/ 2039195 h 2039195"/>
              <a:gd name="csX4" fmla="*/ 0 w 10530840"/>
              <a:gd name="csY4" fmla="*/ 0 h 2039195"/>
              <a:gd name="csX0" fmla="*/ 0 w 10530840"/>
              <a:gd name="csY0" fmla="*/ 0 h 2039195"/>
              <a:gd name="csX1" fmla="*/ 10530840 w 10530840"/>
              <a:gd name="csY1" fmla="*/ 2039195 h 2039195"/>
              <a:gd name="csX2" fmla="*/ 0 w 10530840"/>
              <a:gd name="csY2" fmla="*/ 2039195 h 2039195"/>
              <a:gd name="csX3" fmla="*/ 0 w 10530840"/>
              <a:gd name="csY3" fmla="*/ 0 h 2039195"/>
              <a:gd name="csX0" fmla="*/ 0 w 10530840"/>
              <a:gd name="csY0" fmla="*/ 55169 h 2094364"/>
              <a:gd name="csX1" fmla="*/ 6986270 w 10530840"/>
              <a:gd name="csY1" fmla="*/ 97925 h 2094364"/>
              <a:gd name="csX2" fmla="*/ 10530840 w 10530840"/>
              <a:gd name="csY2" fmla="*/ 2094364 h 2094364"/>
              <a:gd name="csX3" fmla="*/ 0 w 10530840"/>
              <a:gd name="csY3" fmla="*/ 2094364 h 2094364"/>
              <a:gd name="csX4" fmla="*/ 0 w 10530840"/>
              <a:gd name="csY4" fmla="*/ 55169 h 2094364"/>
              <a:gd name="csX0" fmla="*/ 0 w 10530840"/>
              <a:gd name="csY0" fmla="*/ 55169 h 2094364"/>
              <a:gd name="csX1" fmla="*/ 6986270 w 10530840"/>
              <a:gd name="csY1" fmla="*/ 97925 h 2094364"/>
              <a:gd name="csX2" fmla="*/ 7208520 w 10530840"/>
              <a:gd name="csY2" fmla="*/ 1209175 h 2094364"/>
              <a:gd name="csX3" fmla="*/ 10530840 w 10530840"/>
              <a:gd name="csY3" fmla="*/ 2094364 h 2094364"/>
              <a:gd name="csX4" fmla="*/ 0 w 10530840"/>
              <a:gd name="csY4" fmla="*/ 2094364 h 2094364"/>
              <a:gd name="csX5" fmla="*/ 0 w 10530840"/>
              <a:gd name="csY5" fmla="*/ 55169 h 2094364"/>
              <a:gd name="csX0" fmla="*/ 0 w 10530840"/>
              <a:gd name="csY0" fmla="*/ 55169 h 2094364"/>
              <a:gd name="csX1" fmla="*/ 6986270 w 10530840"/>
              <a:gd name="csY1" fmla="*/ 97925 h 2094364"/>
              <a:gd name="csX2" fmla="*/ 7208520 w 10530840"/>
              <a:gd name="csY2" fmla="*/ 1209175 h 2094364"/>
              <a:gd name="csX3" fmla="*/ 10497820 w 10530840"/>
              <a:gd name="csY3" fmla="*/ 1221875 h 2094364"/>
              <a:gd name="csX4" fmla="*/ 10530840 w 10530840"/>
              <a:gd name="csY4" fmla="*/ 2094364 h 2094364"/>
              <a:gd name="csX5" fmla="*/ 0 w 10530840"/>
              <a:gd name="csY5" fmla="*/ 2094364 h 2094364"/>
              <a:gd name="csX6" fmla="*/ 0 w 10530840"/>
              <a:gd name="csY6" fmla="*/ 55169 h 2094364"/>
              <a:gd name="csX0" fmla="*/ 0 w 10530840"/>
              <a:gd name="csY0" fmla="*/ 115966 h 2155161"/>
              <a:gd name="csX1" fmla="*/ 6986270 w 10530840"/>
              <a:gd name="csY1" fmla="*/ 158722 h 2155161"/>
              <a:gd name="csX2" fmla="*/ 7208520 w 10530840"/>
              <a:gd name="csY2" fmla="*/ 1269972 h 2155161"/>
              <a:gd name="csX3" fmla="*/ 10497820 w 10530840"/>
              <a:gd name="csY3" fmla="*/ 1282672 h 2155161"/>
              <a:gd name="csX4" fmla="*/ 10530840 w 10530840"/>
              <a:gd name="csY4" fmla="*/ 2155161 h 2155161"/>
              <a:gd name="csX5" fmla="*/ 0 w 10530840"/>
              <a:gd name="csY5" fmla="*/ 2155161 h 2155161"/>
              <a:gd name="csX6" fmla="*/ 0 w 10530840"/>
              <a:gd name="csY6" fmla="*/ 115966 h 2155161"/>
              <a:gd name="csX0" fmla="*/ 0 w 10530840"/>
              <a:gd name="csY0" fmla="*/ 0 h 2039195"/>
              <a:gd name="csX1" fmla="*/ 6986270 w 10530840"/>
              <a:gd name="csY1" fmla="*/ 42756 h 2039195"/>
              <a:gd name="csX2" fmla="*/ 7208520 w 10530840"/>
              <a:gd name="csY2" fmla="*/ 115400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1694 h 2040889"/>
              <a:gd name="csX1" fmla="*/ 6992620 w 10530840"/>
              <a:gd name="csY1" fmla="*/ 0 h 2040889"/>
              <a:gd name="csX2" fmla="*/ 7208520 w 10530840"/>
              <a:gd name="csY2" fmla="*/ 1155700 h 2040889"/>
              <a:gd name="csX3" fmla="*/ 10497820 w 10530840"/>
              <a:gd name="csY3" fmla="*/ 1168400 h 2040889"/>
              <a:gd name="csX4" fmla="*/ 10530840 w 10530840"/>
              <a:gd name="csY4" fmla="*/ 2040889 h 2040889"/>
              <a:gd name="csX5" fmla="*/ 0 w 10530840"/>
              <a:gd name="csY5" fmla="*/ 2040889 h 2040889"/>
              <a:gd name="csX6" fmla="*/ 0 w 10530840"/>
              <a:gd name="csY6" fmla="*/ 1694 h 2040889"/>
              <a:gd name="csX0" fmla="*/ 0 w 10530840"/>
              <a:gd name="csY0" fmla="*/ 0 h 2039195"/>
              <a:gd name="csX1" fmla="*/ 6840220 w 10530840"/>
              <a:gd name="csY1" fmla="*/ 4656 h 2039195"/>
              <a:gd name="csX2" fmla="*/ 7208520 w 10530840"/>
              <a:gd name="csY2" fmla="*/ 115400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7208520 w 10530840"/>
              <a:gd name="csY2" fmla="*/ 115400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929120 w 10530840"/>
              <a:gd name="csY2" fmla="*/ 114765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929120 w 10530840"/>
              <a:gd name="csY2" fmla="*/ 114765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929120 w 10530840"/>
              <a:gd name="csY2" fmla="*/ 114765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865620 w 10530840"/>
              <a:gd name="csY2" fmla="*/ 113495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865620 w 10530840"/>
              <a:gd name="csY2" fmla="*/ 1134956 h 2039195"/>
              <a:gd name="csX3" fmla="*/ 1049782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865620 w 10530840"/>
              <a:gd name="csY2" fmla="*/ 1134956 h 2039195"/>
              <a:gd name="csX3" fmla="*/ 1052957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827520 w 10530840"/>
              <a:gd name="csY2" fmla="*/ 1134956 h 2039195"/>
              <a:gd name="csX3" fmla="*/ 1052957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0 h 2039195"/>
              <a:gd name="csX1" fmla="*/ 6840220 w 10530840"/>
              <a:gd name="csY1" fmla="*/ 4656 h 2039195"/>
              <a:gd name="csX2" fmla="*/ 6827520 w 10530840"/>
              <a:gd name="csY2" fmla="*/ 1134956 h 2039195"/>
              <a:gd name="csX3" fmla="*/ 10529570 w 10530840"/>
              <a:gd name="csY3" fmla="*/ 1166706 h 2039195"/>
              <a:gd name="csX4" fmla="*/ 10530840 w 10530840"/>
              <a:gd name="csY4" fmla="*/ 2039195 h 2039195"/>
              <a:gd name="csX5" fmla="*/ 0 w 10530840"/>
              <a:gd name="csY5" fmla="*/ 2039195 h 2039195"/>
              <a:gd name="csX6" fmla="*/ 0 w 10530840"/>
              <a:gd name="csY6" fmla="*/ 0 h 2039195"/>
              <a:gd name="csX0" fmla="*/ 0 w 10530840"/>
              <a:gd name="csY0" fmla="*/ 8044 h 2047239"/>
              <a:gd name="csX1" fmla="*/ 6821170 w 10530840"/>
              <a:gd name="csY1" fmla="*/ 0 h 2047239"/>
              <a:gd name="csX2" fmla="*/ 6827520 w 10530840"/>
              <a:gd name="csY2" fmla="*/ 1143000 h 2047239"/>
              <a:gd name="csX3" fmla="*/ 10529570 w 10530840"/>
              <a:gd name="csY3" fmla="*/ 1174750 h 2047239"/>
              <a:gd name="csX4" fmla="*/ 10530840 w 10530840"/>
              <a:gd name="csY4" fmla="*/ 2047239 h 2047239"/>
              <a:gd name="csX5" fmla="*/ 0 w 10530840"/>
              <a:gd name="csY5" fmla="*/ 2047239 h 2047239"/>
              <a:gd name="csX6" fmla="*/ 0 w 10530840"/>
              <a:gd name="csY6" fmla="*/ 8044 h 2047239"/>
              <a:gd name="csX0" fmla="*/ 0 w 10530840"/>
              <a:gd name="csY0" fmla="*/ 8044 h 2047239"/>
              <a:gd name="csX1" fmla="*/ 6821170 w 10530840"/>
              <a:gd name="csY1" fmla="*/ 0 h 2047239"/>
              <a:gd name="csX2" fmla="*/ 6827520 w 10530840"/>
              <a:gd name="csY2" fmla="*/ 1143000 h 2047239"/>
              <a:gd name="csX3" fmla="*/ 10529570 w 10530840"/>
              <a:gd name="csY3" fmla="*/ 1174750 h 2047239"/>
              <a:gd name="csX4" fmla="*/ 10530840 w 10530840"/>
              <a:gd name="csY4" fmla="*/ 2047239 h 2047239"/>
              <a:gd name="csX5" fmla="*/ 0 w 10530840"/>
              <a:gd name="csY5" fmla="*/ 2047239 h 2047239"/>
              <a:gd name="csX6" fmla="*/ 0 w 10530840"/>
              <a:gd name="csY6" fmla="*/ 8044 h 2047239"/>
              <a:gd name="csX0" fmla="*/ 0 w 10530840"/>
              <a:gd name="csY0" fmla="*/ 8044 h 2047239"/>
              <a:gd name="csX1" fmla="*/ 6821170 w 10530840"/>
              <a:gd name="csY1" fmla="*/ 0 h 2047239"/>
              <a:gd name="csX2" fmla="*/ 6827520 w 10530840"/>
              <a:gd name="csY2" fmla="*/ 1143000 h 2047239"/>
              <a:gd name="csX3" fmla="*/ 10529570 w 10530840"/>
              <a:gd name="csY3" fmla="*/ 1174750 h 2047239"/>
              <a:gd name="csX4" fmla="*/ 10530840 w 10530840"/>
              <a:gd name="csY4" fmla="*/ 2047239 h 2047239"/>
              <a:gd name="csX5" fmla="*/ 0 w 10530840"/>
              <a:gd name="csY5" fmla="*/ 2047239 h 2047239"/>
              <a:gd name="csX6" fmla="*/ 0 w 10530840"/>
              <a:gd name="csY6" fmla="*/ 8044 h 2047239"/>
              <a:gd name="csX0" fmla="*/ 0 w 10530840"/>
              <a:gd name="csY0" fmla="*/ 8044 h 2047239"/>
              <a:gd name="csX1" fmla="*/ 6821170 w 10530840"/>
              <a:gd name="csY1" fmla="*/ 0 h 2047239"/>
              <a:gd name="csX2" fmla="*/ 6827520 w 10530840"/>
              <a:gd name="csY2" fmla="*/ 1143000 h 2047239"/>
              <a:gd name="csX3" fmla="*/ 10529570 w 10530840"/>
              <a:gd name="csY3" fmla="*/ 1149350 h 2047239"/>
              <a:gd name="csX4" fmla="*/ 10530840 w 10530840"/>
              <a:gd name="csY4" fmla="*/ 2047239 h 2047239"/>
              <a:gd name="csX5" fmla="*/ 0 w 10530840"/>
              <a:gd name="csY5" fmla="*/ 2047239 h 2047239"/>
              <a:gd name="csX6" fmla="*/ 0 w 10530840"/>
              <a:gd name="csY6" fmla="*/ 8044 h 2047239"/>
              <a:gd name="csX0" fmla="*/ 19050 w 10530840"/>
              <a:gd name="csY0" fmla="*/ 1694 h 2047239"/>
              <a:gd name="csX1" fmla="*/ 6821170 w 10530840"/>
              <a:gd name="csY1" fmla="*/ 0 h 2047239"/>
              <a:gd name="csX2" fmla="*/ 6827520 w 10530840"/>
              <a:gd name="csY2" fmla="*/ 1143000 h 2047239"/>
              <a:gd name="csX3" fmla="*/ 10529570 w 10530840"/>
              <a:gd name="csY3" fmla="*/ 1149350 h 2047239"/>
              <a:gd name="csX4" fmla="*/ 10530840 w 10530840"/>
              <a:gd name="csY4" fmla="*/ 2047239 h 2047239"/>
              <a:gd name="csX5" fmla="*/ 0 w 10530840"/>
              <a:gd name="csY5" fmla="*/ 2047239 h 2047239"/>
              <a:gd name="csX6" fmla="*/ 19050 w 10530840"/>
              <a:gd name="csY6" fmla="*/ 1694 h 20472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30840" h="2047239">
                <a:moveTo>
                  <a:pt x="19050" y="1694"/>
                </a:moveTo>
                <a:lnTo>
                  <a:pt x="6821170" y="0"/>
                </a:lnTo>
                <a:cubicBezTo>
                  <a:pt x="6822228" y="926042"/>
                  <a:pt x="6813762" y="134408"/>
                  <a:pt x="6827520" y="1143000"/>
                </a:cubicBezTo>
                <a:lnTo>
                  <a:pt x="10529570" y="1149350"/>
                </a:lnTo>
                <a:cubicBezTo>
                  <a:pt x="10529993" y="1440180"/>
                  <a:pt x="10530417" y="1756409"/>
                  <a:pt x="10530840" y="2047239"/>
                </a:cubicBezTo>
                <a:lnTo>
                  <a:pt x="0" y="2047239"/>
                </a:lnTo>
                <a:lnTo>
                  <a:pt x="19050" y="1694"/>
                </a:lnTo>
                <a:close/>
              </a:path>
            </a:pathLst>
          </a:cu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 xmlns:a16="http://schemas.microsoft.com/office/drawing/2014/main" id="{91E4CF85-AED1-4CD4-0006-E5D303251E55}"/>
              </a:ext>
            </a:extLst>
          </p:cNvPr>
          <p:cNvSpPr/>
          <p:nvPr/>
        </p:nvSpPr>
        <p:spPr>
          <a:xfrm rot="16200000">
            <a:off x="3903346" y="1480820"/>
            <a:ext cx="425451" cy="311150"/>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9C9E675F-E48F-7CB6-1801-0CB6FC9AF17F}"/>
              </a:ext>
            </a:extLst>
          </p:cNvPr>
          <p:cNvSpPr/>
          <p:nvPr/>
        </p:nvSpPr>
        <p:spPr>
          <a:xfrm>
            <a:off x="1131570" y="579120"/>
            <a:ext cx="7341870" cy="7943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工业互联网环境下多智能体系统调度机制及抗扰性研究</a:t>
            </a:r>
            <a:endParaRPr lang="en-US" sz="1600" b="1" dirty="0">
              <a:solidFill>
                <a:schemeClr val="tx1"/>
              </a:solidFill>
            </a:endParaRPr>
          </a:p>
        </p:txBody>
      </p:sp>
      <p:sp>
        <p:nvSpPr>
          <p:cNvPr id="17" name="Speech Bubble: Rectangle with Corners Rounded 16">
            <a:extLst>
              <a:ext uri="{FF2B5EF4-FFF2-40B4-BE49-F238E27FC236}">
                <a16:creationId xmlns="" xmlns:a16="http://schemas.microsoft.com/office/drawing/2014/main" id="{303C3357-4234-0B5E-81BE-B941D31AD729}"/>
              </a:ext>
            </a:extLst>
          </p:cNvPr>
          <p:cNvSpPr/>
          <p:nvPr/>
        </p:nvSpPr>
        <p:spPr>
          <a:xfrm>
            <a:off x="8689340" y="579120"/>
            <a:ext cx="3060700" cy="794383"/>
          </a:xfrm>
          <a:prstGeom prst="wedgeRoundRectCallout">
            <a:avLst>
              <a:gd name="adj1" fmla="val -55442"/>
              <a:gd name="adj2" fmla="val 12197"/>
              <a:gd name="adj3" fmla="val 1666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83F0"/>
                </a:solidFill>
              </a:rPr>
              <a:t>研究主题，并基于研究实现一套工业软件系统；</a:t>
            </a:r>
            <a:endParaRPr lang="en-US" altLang="zh-CN" sz="1200" b="1" dirty="0">
              <a:solidFill>
                <a:srgbClr val="0083F0"/>
              </a:solidFill>
            </a:endParaRPr>
          </a:p>
          <a:p>
            <a:pPr algn="ctr"/>
            <a:r>
              <a:rPr lang="zh-CN" altLang="en-US" sz="1200" b="1" dirty="0">
                <a:solidFill>
                  <a:srgbClr val="0083F0"/>
                </a:solidFill>
              </a:rPr>
              <a:t>验证</a:t>
            </a:r>
            <a:r>
              <a:rPr lang="en-US" altLang="zh-CN" sz="1200" b="1" dirty="0">
                <a:solidFill>
                  <a:srgbClr val="0083F0"/>
                </a:solidFill>
              </a:rPr>
              <a:t>4</a:t>
            </a:r>
            <a:r>
              <a:rPr lang="zh-CN" altLang="en-US" sz="1200" b="1" dirty="0">
                <a:solidFill>
                  <a:srgbClr val="0083F0"/>
                </a:solidFill>
              </a:rPr>
              <a:t>项研究成果的可行性和有效性</a:t>
            </a:r>
            <a:endParaRPr lang="en-US" sz="1200" b="1" dirty="0">
              <a:solidFill>
                <a:srgbClr val="0083F0"/>
              </a:solidFill>
            </a:endParaRPr>
          </a:p>
        </p:txBody>
      </p:sp>
    </p:spTree>
    <p:extLst>
      <p:ext uri="{BB962C8B-B14F-4D97-AF65-F5344CB8AC3E}">
        <p14:creationId xmlns:p14="http://schemas.microsoft.com/office/powerpoint/2010/main" val="279526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FBD9DE-0992-AE34-76CE-AEE16C35AB1F}"/>
            </a:ext>
          </a:extLst>
        </p:cNvPr>
        <p:cNvGrpSpPr/>
        <p:nvPr/>
      </p:nvGrpSpPr>
      <p:grpSpPr>
        <a:xfrm>
          <a:off x="0" y="0"/>
          <a:ext cx="0" cy="0"/>
          <a:chOff x="0" y="0"/>
          <a:chExt cx="0" cy="0"/>
        </a:xfrm>
      </p:grpSpPr>
      <p:sp>
        <p:nvSpPr>
          <p:cNvPr id="16" name="Rectangle 15">
            <a:extLst>
              <a:ext uri="{FF2B5EF4-FFF2-40B4-BE49-F238E27FC236}">
                <a16:creationId xmlns="" xmlns:a16="http://schemas.microsoft.com/office/drawing/2014/main" id="{5D81323F-B860-B4FB-1215-B0E55D590B0B}"/>
              </a:ext>
            </a:extLst>
          </p:cNvPr>
          <p:cNvSpPr/>
          <p:nvPr/>
        </p:nvSpPr>
        <p:spPr>
          <a:xfrm>
            <a:off x="1677471" y="350520"/>
            <a:ext cx="9192034" cy="7943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工业互联网环境下移动</a:t>
            </a:r>
            <a:r>
              <a:rPr lang="en-US" dirty="0">
                <a:solidFill>
                  <a:schemeClr val="tx1"/>
                </a:solidFill>
              </a:rPr>
              <a:t>-</a:t>
            </a:r>
            <a:r>
              <a:rPr lang="zh-CN" altLang="en-US" dirty="0">
                <a:solidFill>
                  <a:schemeClr val="tx1"/>
                </a:solidFill>
              </a:rPr>
              <a:t>固定多智能体协同调度及抗扰性研究</a:t>
            </a:r>
            <a:endParaRPr lang="en-US" sz="1600" b="1" dirty="0">
              <a:solidFill>
                <a:schemeClr val="tx1"/>
              </a:solidFill>
            </a:endParaRPr>
          </a:p>
        </p:txBody>
      </p:sp>
      <p:sp>
        <p:nvSpPr>
          <p:cNvPr id="2" name="TextBox 1">
            <a:extLst>
              <a:ext uri="{FF2B5EF4-FFF2-40B4-BE49-F238E27FC236}">
                <a16:creationId xmlns="" xmlns:a16="http://schemas.microsoft.com/office/drawing/2014/main" id="{F69B6CC6-61D9-45C2-E44F-9F8E5BFF55D6}"/>
              </a:ext>
            </a:extLst>
          </p:cNvPr>
          <p:cNvSpPr txBox="1"/>
          <p:nvPr/>
        </p:nvSpPr>
        <p:spPr>
          <a:xfrm>
            <a:off x="-621030" y="482172"/>
            <a:ext cx="1227667" cy="369332"/>
          </a:xfrm>
          <a:prstGeom prst="rect">
            <a:avLst/>
          </a:prstGeom>
          <a:noFill/>
        </p:spPr>
        <p:txBody>
          <a:bodyPr wrap="square" rtlCol="0">
            <a:spAutoFit/>
          </a:bodyPr>
          <a:lstStyle/>
          <a:p>
            <a:r>
              <a:rPr lang="zh-CN" altLang="en-US" dirty="0"/>
              <a:t>研究目标</a:t>
            </a:r>
            <a:endParaRPr lang="en-US" dirty="0"/>
          </a:p>
        </p:txBody>
      </p:sp>
      <p:sp>
        <p:nvSpPr>
          <p:cNvPr id="3" name="TextBox 2">
            <a:extLst>
              <a:ext uri="{FF2B5EF4-FFF2-40B4-BE49-F238E27FC236}">
                <a16:creationId xmlns="" xmlns:a16="http://schemas.microsoft.com/office/drawing/2014/main" id="{52975A1F-3B8D-B7B6-EEFC-5306E6F9C327}"/>
              </a:ext>
            </a:extLst>
          </p:cNvPr>
          <p:cNvSpPr txBox="1"/>
          <p:nvPr/>
        </p:nvSpPr>
        <p:spPr>
          <a:xfrm>
            <a:off x="-621030" y="1804206"/>
            <a:ext cx="1227667" cy="369332"/>
          </a:xfrm>
          <a:prstGeom prst="rect">
            <a:avLst/>
          </a:prstGeom>
          <a:noFill/>
        </p:spPr>
        <p:txBody>
          <a:bodyPr wrap="square" rtlCol="0">
            <a:spAutoFit/>
          </a:bodyPr>
          <a:lstStyle/>
          <a:p>
            <a:r>
              <a:rPr lang="zh-CN" altLang="en-US" dirty="0"/>
              <a:t>研究问题</a:t>
            </a:r>
            <a:endParaRPr lang="en-US" dirty="0"/>
          </a:p>
        </p:txBody>
      </p:sp>
      <p:sp>
        <p:nvSpPr>
          <p:cNvPr id="18" name="TextBox 17">
            <a:extLst>
              <a:ext uri="{FF2B5EF4-FFF2-40B4-BE49-F238E27FC236}">
                <a16:creationId xmlns="" xmlns:a16="http://schemas.microsoft.com/office/drawing/2014/main" id="{CB4656BF-DD88-3A3E-7600-2079CA3DE3F2}"/>
              </a:ext>
            </a:extLst>
          </p:cNvPr>
          <p:cNvSpPr txBox="1"/>
          <p:nvPr/>
        </p:nvSpPr>
        <p:spPr>
          <a:xfrm>
            <a:off x="-621030" y="3235503"/>
            <a:ext cx="1227667" cy="369332"/>
          </a:xfrm>
          <a:prstGeom prst="rect">
            <a:avLst/>
          </a:prstGeom>
          <a:noFill/>
        </p:spPr>
        <p:txBody>
          <a:bodyPr wrap="square" rtlCol="0">
            <a:spAutoFit/>
          </a:bodyPr>
          <a:lstStyle/>
          <a:p>
            <a:r>
              <a:rPr lang="zh-CN" altLang="en-US" dirty="0"/>
              <a:t>关键挑战</a:t>
            </a:r>
            <a:endParaRPr lang="en-US" dirty="0"/>
          </a:p>
        </p:txBody>
      </p:sp>
      <p:sp>
        <p:nvSpPr>
          <p:cNvPr id="19" name="TextBox 18">
            <a:extLst>
              <a:ext uri="{FF2B5EF4-FFF2-40B4-BE49-F238E27FC236}">
                <a16:creationId xmlns="" xmlns:a16="http://schemas.microsoft.com/office/drawing/2014/main" id="{7136297B-8FAE-F6C5-0719-E2612D344BB5}"/>
              </a:ext>
            </a:extLst>
          </p:cNvPr>
          <p:cNvSpPr txBox="1"/>
          <p:nvPr/>
        </p:nvSpPr>
        <p:spPr>
          <a:xfrm>
            <a:off x="-621030" y="5173874"/>
            <a:ext cx="1227667" cy="369332"/>
          </a:xfrm>
          <a:prstGeom prst="rect">
            <a:avLst/>
          </a:prstGeom>
          <a:noFill/>
        </p:spPr>
        <p:txBody>
          <a:bodyPr wrap="square" rtlCol="0">
            <a:spAutoFit/>
          </a:bodyPr>
          <a:lstStyle/>
          <a:p>
            <a:r>
              <a:rPr lang="zh-CN" altLang="en-US" dirty="0"/>
              <a:t>研究内容</a:t>
            </a:r>
            <a:endParaRPr lang="en-US" dirty="0"/>
          </a:p>
        </p:txBody>
      </p:sp>
      <p:sp>
        <p:nvSpPr>
          <p:cNvPr id="20" name="Rectangle 19">
            <a:extLst>
              <a:ext uri="{FF2B5EF4-FFF2-40B4-BE49-F238E27FC236}">
                <a16:creationId xmlns="" xmlns:a16="http://schemas.microsoft.com/office/drawing/2014/main" id="{3FF33CC0-0CF9-2D7F-E7D2-EF7B3D1EFF84}"/>
              </a:ext>
            </a:extLst>
          </p:cNvPr>
          <p:cNvSpPr/>
          <p:nvPr/>
        </p:nvSpPr>
        <p:spPr>
          <a:xfrm>
            <a:off x="6066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移动</a:t>
            </a:r>
            <a:r>
              <a:rPr lang="en-US" altLang="zh-CN" dirty="0">
                <a:solidFill>
                  <a:schemeClr val="tx1"/>
                </a:solidFill>
              </a:rPr>
              <a:t>-</a:t>
            </a:r>
            <a:r>
              <a:rPr lang="zh-CN" altLang="en-US" dirty="0">
                <a:solidFill>
                  <a:schemeClr val="tx1"/>
                </a:solidFill>
              </a:rPr>
              <a:t>固定多智能体的高效协同调度</a:t>
            </a:r>
            <a:endParaRPr lang="en-US" sz="1600" b="1" dirty="0">
              <a:solidFill>
                <a:schemeClr val="tx1"/>
              </a:solidFill>
            </a:endParaRPr>
          </a:p>
        </p:txBody>
      </p:sp>
      <p:sp>
        <p:nvSpPr>
          <p:cNvPr id="21" name="Rectangle 20">
            <a:extLst>
              <a:ext uri="{FF2B5EF4-FFF2-40B4-BE49-F238E27FC236}">
                <a16:creationId xmlns="" xmlns:a16="http://schemas.microsoft.com/office/drawing/2014/main" id="{B122463D-AFF6-5217-7AA3-F3FAA6891A76}"/>
              </a:ext>
            </a:extLst>
          </p:cNvPr>
          <p:cNvSpPr/>
          <p:nvPr/>
        </p:nvSpPr>
        <p:spPr>
          <a:xfrm>
            <a:off x="34895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数据注入攻击的识别</a:t>
            </a:r>
            <a:endParaRPr lang="en-US" sz="1600" b="1" dirty="0">
              <a:solidFill>
                <a:schemeClr val="tx1"/>
              </a:solidFill>
            </a:endParaRPr>
          </a:p>
        </p:txBody>
      </p:sp>
      <p:sp>
        <p:nvSpPr>
          <p:cNvPr id="22" name="Rectangle 21">
            <a:extLst>
              <a:ext uri="{FF2B5EF4-FFF2-40B4-BE49-F238E27FC236}">
                <a16:creationId xmlns="" xmlns:a16="http://schemas.microsoft.com/office/drawing/2014/main" id="{7BF23C3F-5C0E-E8EA-80C4-8F6BE71F0F3D}"/>
              </a:ext>
            </a:extLst>
          </p:cNvPr>
          <p:cNvSpPr/>
          <p:nvPr/>
        </p:nvSpPr>
        <p:spPr>
          <a:xfrm>
            <a:off x="63724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智能体异常甄别</a:t>
            </a:r>
            <a:endParaRPr lang="en-US" sz="1600" b="1" dirty="0">
              <a:solidFill>
                <a:schemeClr val="tx1"/>
              </a:solidFill>
            </a:endParaRPr>
          </a:p>
        </p:txBody>
      </p:sp>
      <p:sp>
        <p:nvSpPr>
          <p:cNvPr id="23" name="Rectangle 22">
            <a:extLst>
              <a:ext uri="{FF2B5EF4-FFF2-40B4-BE49-F238E27FC236}">
                <a16:creationId xmlns="" xmlns:a16="http://schemas.microsoft.com/office/drawing/2014/main" id="{DA3408FA-54F6-F4EF-D96C-AC326332F6EE}"/>
              </a:ext>
            </a:extLst>
          </p:cNvPr>
          <p:cNvSpPr/>
          <p:nvPr/>
        </p:nvSpPr>
        <p:spPr>
          <a:xfrm>
            <a:off x="9255337" y="1647338"/>
            <a:ext cx="2712297" cy="6097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扰动后的动态重调度</a:t>
            </a:r>
            <a:endParaRPr lang="en-US" sz="1600" b="1" dirty="0">
              <a:solidFill>
                <a:schemeClr val="tx1"/>
              </a:solidFill>
            </a:endParaRPr>
          </a:p>
        </p:txBody>
      </p:sp>
      <p:sp>
        <p:nvSpPr>
          <p:cNvPr id="26" name="Rectangle 25">
            <a:extLst>
              <a:ext uri="{FF2B5EF4-FFF2-40B4-BE49-F238E27FC236}">
                <a16:creationId xmlns="" xmlns:a16="http://schemas.microsoft.com/office/drawing/2014/main" id="{E3FE8702-08F2-77F7-8439-2DF672B76683}"/>
              </a:ext>
            </a:extLst>
          </p:cNvPr>
          <p:cNvSpPr/>
          <p:nvPr/>
        </p:nvSpPr>
        <p:spPr>
          <a:xfrm>
            <a:off x="6066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移动</a:t>
            </a:r>
            <a:r>
              <a:rPr lang="en-US" altLang="zh-CN" dirty="0">
                <a:solidFill>
                  <a:schemeClr val="tx1"/>
                </a:solidFill>
              </a:rPr>
              <a:t>-</a:t>
            </a:r>
            <a:r>
              <a:rPr lang="zh-CN" altLang="en-US" dirty="0">
                <a:solidFill>
                  <a:schemeClr val="tx1"/>
                </a:solidFill>
              </a:rPr>
              <a:t>固定多智能体调度系统存在时空耦合，联合优化难</a:t>
            </a:r>
            <a:endParaRPr lang="en-US" sz="1600" b="1" dirty="0">
              <a:solidFill>
                <a:schemeClr val="tx1"/>
              </a:solidFill>
            </a:endParaRPr>
          </a:p>
        </p:txBody>
      </p:sp>
      <p:sp>
        <p:nvSpPr>
          <p:cNvPr id="27" name="Rectangle 26">
            <a:extLst>
              <a:ext uri="{FF2B5EF4-FFF2-40B4-BE49-F238E27FC236}">
                <a16:creationId xmlns="" xmlns:a16="http://schemas.microsoft.com/office/drawing/2014/main" id="{1FDB3AEE-D598-5628-974A-7499063038B8}"/>
              </a:ext>
            </a:extLst>
          </p:cNvPr>
          <p:cNvSpPr/>
          <p:nvPr/>
        </p:nvSpPr>
        <p:spPr>
          <a:xfrm>
            <a:off x="34895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需要兼顾数据注入攻击检测的准确性和实时性</a:t>
            </a:r>
            <a:endParaRPr lang="en-US" sz="1600" b="1" dirty="0">
              <a:solidFill>
                <a:schemeClr val="tx1"/>
              </a:solidFill>
            </a:endParaRPr>
          </a:p>
        </p:txBody>
      </p:sp>
      <p:sp>
        <p:nvSpPr>
          <p:cNvPr id="28" name="Rectangle 27">
            <a:extLst>
              <a:ext uri="{FF2B5EF4-FFF2-40B4-BE49-F238E27FC236}">
                <a16:creationId xmlns="" xmlns:a16="http://schemas.microsoft.com/office/drawing/2014/main" id="{02069930-ED56-34B8-DBFA-F3E14355292F}"/>
              </a:ext>
            </a:extLst>
          </p:cNvPr>
          <p:cNvSpPr/>
          <p:nvPr/>
        </p:nvSpPr>
        <p:spPr>
          <a:xfrm>
            <a:off x="63724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如何甄别智能体异常：被劫持或仅是工况异常</a:t>
            </a:r>
            <a:endParaRPr lang="en-US" sz="1600" b="1" dirty="0">
              <a:solidFill>
                <a:schemeClr val="tx1"/>
              </a:solidFill>
            </a:endParaRPr>
          </a:p>
        </p:txBody>
      </p:sp>
      <p:sp>
        <p:nvSpPr>
          <p:cNvPr id="29" name="Rectangle 28">
            <a:extLst>
              <a:ext uri="{FF2B5EF4-FFF2-40B4-BE49-F238E27FC236}">
                <a16:creationId xmlns="" xmlns:a16="http://schemas.microsoft.com/office/drawing/2014/main" id="{64E8848A-2919-B292-DAEA-19D2FD71AEF3}"/>
              </a:ext>
            </a:extLst>
          </p:cNvPr>
          <p:cNvSpPr/>
          <p:nvPr/>
        </p:nvSpPr>
        <p:spPr>
          <a:xfrm>
            <a:off x="9255337" y="3069002"/>
            <a:ext cx="2712297" cy="8370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有界时间内的重调度方案并具近优性</a:t>
            </a:r>
            <a:endParaRPr lang="en-US" sz="1600" b="1" dirty="0">
              <a:solidFill>
                <a:schemeClr val="tx1"/>
              </a:solidFill>
            </a:endParaRPr>
          </a:p>
        </p:txBody>
      </p:sp>
      <p:sp>
        <p:nvSpPr>
          <p:cNvPr id="30" name="Rectangle: Rounded Corners 29">
            <a:extLst>
              <a:ext uri="{FF2B5EF4-FFF2-40B4-BE49-F238E27FC236}">
                <a16:creationId xmlns="" xmlns:a16="http://schemas.microsoft.com/office/drawing/2014/main" id="{7D8B47AB-80C9-33E7-6E72-D7E79D443281}"/>
              </a:ext>
            </a:extLst>
          </p:cNvPr>
          <p:cNvSpPr/>
          <p:nvPr/>
        </p:nvSpPr>
        <p:spPr>
          <a:xfrm>
            <a:off x="425753" y="1382486"/>
            <a:ext cx="11766247" cy="1132915"/>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 xmlns:a16="http://schemas.microsoft.com/office/drawing/2014/main" id="{4982B66C-1D99-5CA4-75B5-86F82BD80252}"/>
              </a:ext>
            </a:extLst>
          </p:cNvPr>
          <p:cNvSpPr/>
          <p:nvPr/>
        </p:nvSpPr>
        <p:spPr>
          <a:xfrm>
            <a:off x="425753" y="2802398"/>
            <a:ext cx="11766247" cy="1270760"/>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 xmlns:a16="http://schemas.microsoft.com/office/drawing/2014/main" id="{32C0EA59-560C-8D80-8046-46F10FE87B62}"/>
              </a:ext>
            </a:extLst>
          </p:cNvPr>
          <p:cNvSpPr/>
          <p:nvPr/>
        </p:nvSpPr>
        <p:spPr>
          <a:xfrm>
            <a:off x="425753" y="4201918"/>
            <a:ext cx="11766247" cy="2265437"/>
          </a:xfrm>
          <a:prstGeom prst="round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 xmlns:a16="http://schemas.microsoft.com/office/drawing/2014/main" id="{B96A381D-B746-E28D-27CC-B974F5D66B24}"/>
              </a:ext>
            </a:extLst>
          </p:cNvPr>
          <p:cNvSpPr/>
          <p:nvPr/>
        </p:nvSpPr>
        <p:spPr>
          <a:xfrm>
            <a:off x="606636" y="4666800"/>
            <a:ext cx="2712297" cy="13834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1</a:t>
            </a:r>
            <a:r>
              <a:rPr lang="zh-CN" altLang="en-US" dirty="0">
                <a:solidFill>
                  <a:schemeClr val="tx1"/>
                </a:solidFill>
              </a:rPr>
              <a:t>：基于时空约束和混合动态规划的移动</a:t>
            </a:r>
            <a:r>
              <a:rPr lang="en-US" dirty="0">
                <a:solidFill>
                  <a:schemeClr val="tx1"/>
                </a:solidFill>
              </a:rPr>
              <a:t>-</a:t>
            </a:r>
            <a:r>
              <a:rPr lang="zh-CN" altLang="en-US" dirty="0">
                <a:solidFill>
                  <a:schemeClr val="tx1"/>
                </a:solidFill>
              </a:rPr>
              <a:t>固定多智能体协同调度</a:t>
            </a:r>
            <a:endParaRPr lang="en-US" dirty="0">
              <a:solidFill>
                <a:schemeClr val="tx1"/>
              </a:solidFill>
            </a:endParaRPr>
          </a:p>
        </p:txBody>
      </p:sp>
      <p:sp>
        <p:nvSpPr>
          <p:cNvPr id="38" name="Rectangle 37">
            <a:extLst>
              <a:ext uri="{FF2B5EF4-FFF2-40B4-BE49-F238E27FC236}">
                <a16:creationId xmlns="" xmlns:a16="http://schemas.microsoft.com/office/drawing/2014/main" id="{0E83156C-CA7A-A819-2268-017923487F31}"/>
              </a:ext>
            </a:extLst>
          </p:cNvPr>
          <p:cNvSpPr/>
          <p:nvPr/>
        </p:nvSpPr>
        <p:spPr>
          <a:xfrm>
            <a:off x="3968760" y="4368418"/>
            <a:ext cx="3658220" cy="94218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2</a:t>
            </a:r>
            <a:r>
              <a:rPr lang="zh-CN" altLang="en-US" dirty="0">
                <a:solidFill>
                  <a:schemeClr val="tx1"/>
                </a:solidFill>
              </a:rPr>
              <a:t>：基于状态预测和动态阈值的工业多智能体系统数据注入检测</a:t>
            </a:r>
            <a:endParaRPr lang="en-US" dirty="0">
              <a:solidFill>
                <a:schemeClr val="tx1"/>
              </a:solidFill>
            </a:endParaRPr>
          </a:p>
        </p:txBody>
      </p:sp>
      <p:sp>
        <p:nvSpPr>
          <p:cNvPr id="39" name="Rectangle 38">
            <a:extLst>
              <a:ext uri="{FF2B5EF4-FFF2-40B4-BE49-F238E27FC236}">
                <a16:creationId xmlns="" xmlns:a16="http://schemas.microsoft.com/office/drawing/2014/main" id="{18187A74-1A1C-522D-CACA-602CDF70CC80}"/>
              </a:ext>
            </a:extLst>
          </p:cNvPr>
          <p:cNvSpPr/>
          <p:nvPr/>
        </p:nvSpPr>
        <p:spPr>
          <a:xfrm>
            <a:off x="5738080" y="5492367"/>
            <a:ext cx="2895600"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3</a:t>
            </a:r>
            <a:r>
              <a:rPr lang="zh-CN" altLang="en-US" dirty="0">
                <a:solidFill>
                  <a:schemeClr val="tx1"/>
                </a:solidFill>
              </a:rPr>
              <a:t>： 基于轻量化抗拜占庭协调协议的异常智能体甄别</a:t>
            </a:r>
            <a:endParaRPr lang="en-US" dirty="0">
              <a:solidFill>
                <a:schemeClr val="tx1"/>
              </a:solidFill>
            </a:endParaRPr>
          </a:p>
        </p:txBody>
      </p:sp>
      <p:sp>
        <p:nvSpPr>
          <p:cNvPr id="40" name="Rectangle 39">
            <a:extLst>
              <a:ext uri="{FF2B5EF4-FFF2-40B4-BE49-F238E27FC236}">
                <a16:creationId xmlns="" xmlns:a16="http://schemas.microsoft.com/office/drawing/2014/main" id="{A9D6EF52-DE03-4D66-2CB2-771A5752E11F}"/>
              </a:ext>
            </a:extLst>
          </p:cNvPr>
          <p:cNvSpPr/>
          <p:nvPr/>
        </p:nvSpPr>
        <p:spPr>
          <a:xfrm>
            <a:off x="9255337" y="5492367"/>
            <a:ext cx="2712297" cy="8660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内容</a:t>
            </a:r>
            <a:r>
              <a:rPr lang="en-US" altLang="zh-CN" dirty="0">
                <a:solidFill>
                  <a:schemeClr val="tx1"/>
                </a:solidFill>
              </a:rPr>
              <a:t>4</a:t>
            </a:r>
            <a:r>
              <a:rPr lang="zh-CN" altLang="en-US" dirty="0">
                <a:solidFill>
                  <a:schemeClr val="tx1"/>
                </a:solidFill>
              </a:rPr>
              <a:t>：基于状态感知分解的近优重调度算法</a:t>
            </a:r>
            <a:endParaRPr lang="en-US" dirty="0">
              <a:solidFill>
                <a:schemeClr val="tx1"/>
              </a:solidFill>
            </a:endParaRPr>
          </a:p>
        </p:txBody>
      </p:sp>
      <p:cxnSp>
        <p:nvCxnSpPr>
          <p:cNvPr id="42" name="Straight Arrow Connector 41">
            <a:extLst>
              <a:ext uri="{FF2B5EF4-FFF2-40B4-BE49-F238E27FC236}">
                <a16:creationId xmlns="" xmlns:a16="http://schemas.microsoft.com/office/drawing/2014/main" id="{C02310BC-07FF-CC80-277D-1ED364E42BDC}"/>
              </a:ext>
            </a:extLst>
          </p:cNvPr>
          <p:cNvCxnSpPr>
            <a:cxnSpLocks/>
            <a:endCxn id="20" idx="0"/>
          </p:cNvCxnSpPr>
          <p:nvPr/>
        </p:nvCxnSpPr>
        <p:spPr>
          <a:xfrm>
            <a:off x="1962786" y="1173480"/>
            <a:ext cx="0" cy="4738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334F67DC-1132-8D2C-8751-A388EF3A9BD4}"/>
              </a:ext>
            </a:extLst>
          </p:cNvPr>
          <p:cNvCxnSpPr>
            <a:cxnSpLocks/>
            <a:endCxn id="21" idx="0"/>
          </p:cNvCxnSpPr>
          <p:nvPr/>
        </p:nvCxnSpPr>
        <p:spPr>
          <a:xfrm flipH="1">
            <a:off x="4845686" y="1144903"/>
            <a:ext cx="1028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 xmlns:a16="http://schemas.microsoft.com/office/drawing/2014/main" id="{F6B16ABA-8BC5-D260-1F58-E633E10F2866}"/>
              </a:ext>
            </a:extLst>
          </p:cNvPr>
          <p:cNvCxnSpPr>
            <a:cxnSpLocks/>
            <a:endCxn id="22" idx="0"/>
          </p:cNvCxnSpPr>
          <p:nvPr/>
        </p:nvCxnSpPr>
        <p:spPr>
          <a:xfrm>
            <a:off x="7728585" y="1156799"/>
            <a:ext cx="1" cy="4905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 xmlns:a16="http://schemas.microsoft.com/office/drawing/2014/main" id="{D771E87D-479C-06FC-696B-33A6286F1D45}"/>
              </a:ext>
            </a:extLst>
          </p:cNvPr>
          <p:cNvCxnSpPr>
            <a:cxnSpLocks/>
            <a:endCxn id="23" idx="0"/>
          </p:cNvCxnSpPr>
          <p:nvPr/>
        </p:nvCxnSpPr>
        <p:spPr>
          <a:xfrm>
            <a:off x="10611485" y="1144903"/>
            <a:ext cx="1" cy="5024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 xmlns:a16="http://schemas.microsoft.com/office/drawing/2014/main" id="{B02157AB-1650-3B13-2DF7-1CD4E11D7E8A}"/>
              </a:ext>
            </a:extLst>
          </p:cNvPr>
          <p:cNvCxnSpPr>
            <a:cxnSpLocks/>
            <a:stCxn id="20" idx="2"/>
            <a:endCxn id="26" idx="0"/>
          </p:cNvCxnSpPr>
          <p:nvPr/>
        </p:nvCxnSpPr>
        <p:spPr>
          <a:xfrm>
            <a:off x="19627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 xmlns:a16="http://schemas.microsoft.com/office/drawing/2014/main" id="{9AB7F48D-9AD6-74B2-DCD1-5069039BEF40}"/>
              </a:ext>
            </a:extLst>
          </p:cNvPr>
          <p:cNvCxnSpPr>
            <a:cxnSpLocks/>
            <a:stCxn id="21" idx="2"/>
            <a:endCxn id="27" idx="0"/>
          </p:cNvCxnSpPr>
          <p:nvPr/>
        </p:nvCxnSpPr>
        <p:spPr>
          <a:xfrm>
            <a:off x="48456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 xmlns:a16="http://schemas.microsoft.com/office/drawing/2014/main" id="{1D2DB8A0-3192-94C5-5895-432A7591B9F5}"/>
              </a:ext>
            </a:extLst>
          </p:cNvPr>
          <p:cNvCxnSpPr>
            <a:cxnSpLocks/>
            <a:stCxn id="22" idx="2"/>
            <a:endCxn id="28" idx="0"/>
          </p:cNvCxnSpPr>
          <p:nvPr/>
        </p:nvCxnSpPr>
        <p:spPr>
          <a:xfrm>
            <a:off x="77285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 xmlns:a16="http://schemas.microsoft.com/office/drawing/2014/main" id="{7351AE24-6C4B-7F07-E4B7-21B3D61EEB17}"/>
              </a:ext>
            </a:extLst>
          </p:cNvPr>
          <p:cNvCxnSpPr>
            <a:cxnSpLocks/>
            <a:stCxn id="23" idx="2"/>
            <a:endCxn id="29" idx="0"/>
          </p:cNvCxnSpPr>
          <p:nvPr/>
        </p:nvCxnSpPr>
        <p:spPr>
          <a:xfrm>
            <a:off x="10611486" y="2257055"/>
            <a:ext cx="0" cy="8119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 xmlns:a16="http://schemas.microsoft.com/office/drawing/2014/main" id="{45E0BB78-BDDB-E2C3-98E0-90C3CDE2717A}"/>
              </a:ext>
            </a:extLst>
          </p:cNvPr>
          <p:cNvCxnSpPr>
            <a:cxnSpLocks/>
            <a:stCxn id="26" idx="2"/>
            <a:endCxn id="37" idx="0"/>
          </p:cNvCxnSpPr>
          <p:nvPr/>
        </p:nvCxnSpPr>
        <p:spPr>
          <a:xfrm flipH="1">
            <a:off x="1962785" y="3906077"/>
            <a:ext cx="1" cy="7607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 xmlns:a16="http://schemas.microsoft.com/office/drawing/2014/main" id="{857A0184-FF34-5D93-9201-AE02923CA1C8}"/>
              </a:ext>
            </a:extLst>
          </p:cNvPr>
          <p:cNvCxnSpPr>
            <a:cxnSpLocks/>
            <a:endCxn id="38" idx="0"/>
          </p:cNvCxnSpPr>
          <p:nvPr/>
        </p:nvCxnSpPr>
        <p:spPr>
          <a:xfrm>
            <a:off x="5797869" y="3906077"/>
            <a:ext cx="1" cy="4623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 xmlns:a16="http://schemas.microsoft.com/office/drawing/2014/main" id="{F248422B-C184-6456-A51B-69C415E65332}"/>
              </a:ext>
            </a:extLst>
          </p:cNvPr>
          <p:cNvCxnSpPr>
            <a:cxnSpLocks/>
            <a:stCxn id="28" idx="2"/>
          </p:cNvCxnSpPr>
          <p:nvPr/>
        </p:nvCxnSpPr>
        <p:spPr>
          <a:xfrm flipH="1">
            <a:off x="7728585" y="3906077"/>
            <a:ext cx="1" cy="1586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 xmlns:a16="http://schemas.microsoft.com/office/drawing/2014/main" id="{C3D5CD9A-1BB1-30E1-8432-B490882CF0AC}"/>
              </a:ext>
            </a:extLst>
          </p:cNvPr>
          <p:cNvCxnSpPr>
            <a:cxnSpLocks/>
            <a:stCxn id="29" idx="2"/>
            <a:endCxn id="40" idx="0"/>
          </p:cNvCxnSpPr>
          <p:nvPr/>
        </p:nvCxnSpPr>
        <p:spPr>
          <a:xfrm>
            <a:off x="10611486" y="3906077"/>
            <a:ext cx="0" cy="15862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 xmlns:a16="http://schemas.microsoft.com/office/drawing/2014/main" id="{137FA4DF-B5E0-12AB-9955-22B7818597A8}"/>
              </a:ext>
            </a:extLst>
          </p:cNvPr>
          <p:cNvCxnSpPr>
            <a:cxnSpLocks/>
            <a:endCxn id="38" idx="1"/>
          </p:cNvCxnSpPr>
          <p:nvPr/>
        </p:nvCxnSpPr>
        <p:spPr>
          <a:xfrm>
            <a:off x="3318933" y="4839510"/>
            <a:ext cx="6498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 xmlns:a16="http://schemas.microsoft.com/office/drawing/2014/main" id="{3DEE65F3-CE75-0CC8-AAC9-F434DC5F1A54}"/>
              </a:ext>
            </a:extLst>
          </p:cNvPr>
          <p:cNvCxnSpPr>
            <a:cxnSpLocks/>
            <a:endCxn id="39" idx="1"/>
          </p:cNvCxnSpPr>
          <p:nvPr/>
        </p:nvCxnSpPr>
        <p:spPr>
          <a:xfrm>
            <a:off x="3318933" y="5925417"/>
            <a:ext cx="241914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 xmlns:a16="http://schemas.microsoft.com/office/drawing/2014/main" id="{DBC6E5BF-951E-E70B-380A-D3A90458172C}"/>
              </a:ext>
            </a:extLst>
          </p:cNvPr>
          <p:cNvCxnSpPr>
            <a:cxnSpLocks/>
            <a:stCxn id="39" idx="3"/>
            <a:endCxn id="40" idx="1"/>
          </p:cNvCxnSpPr>
          <p:nvPr/>
        </p:nvCxnSpPr>
        <p:spPr>
          <a:xfrm>
            <a:off x="8633680" y="5925417"/>
            <a:ext cx="62165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506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F7C21AEF-996D-C8F9-312F-3AA0F6AD811F}"/>
              </a:ext>
            </a:extLst>
          </p:cNvPr>
          <p:cNvSpPr>
            <a:spLocks noChangeArrowheads="1"/>
          </p:cNvSpPr>
          <p:nvPr/>
        </p:nvSpPr>
        <p:spPr bwMode="auto">
          <a:xfrm>
            <a:off x="846985" y="2546381"/>
            <a:ext cx="6079132" cy="1271126"/>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 name="Rectangle 6">
            <a:extLst>
              <a:ext uri="{FF2B5EF4-FFF2-40B4-BE49-F238E27FC236}">
                <a16:creationId xmlns="" xmlns:a16="http://schemas.microsoft.com/office/drawing/2014/main" id="{7AD528CC-3C27-71CF-6481-20815FB1C924}"/>
              </a:ext>
            </a:extLst>
          </p:cNvPr>
          <p:cNvSpPr>
            <a:spLocks noChangeArrowheads="1"/>
          </p:cNvSpPr>
          <p:nvPr/>
        </p:nvSpPr>
        <p:spPr bwMode="auto">
          <a:xfrm>
            <a:off x="846984" y="3876576"/>
            <a:ext cx="6081120" cy="1585153"/>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231" name="Group 230">
            <a:extLst>
              <a:ext uri="{FF2B5EF4-FFF2-40B4-BE49-F238E27FC236}">
                <a16:creationId xmlns="" xmlns:a16="http://schemas.microsoft.com/office/drawing/2014/main" id="{0B21C6A1-364C-D421-7405-3D97D867A3C6}"/>
              </a:ext>
            </a:extLst>
          </p:cNvPr>
          <p:cNvGrpSpPr/>
          <p:nvPr/>
        </p:nvGrpSpPr>
        <p:grpSpPr>
          <a:xfrm>
            <a:off x="1642841" y="2564766"/>
            <a:ext cx="3160667" cy="2903318"/>
            <a:chOff x="1580467" y="2564766"/>
            <a:chExt cx="3343148" cy="2903318"/>
          </a:xfrm>
          <a:solidFill>
            <a:schemeClr val="accent2">
              <a:lumMod val="20000"/>
              <a:lumOff val="80000"/>
              <a:alpha val="50000"/>
            </a:schemeClr>
          </a:solidFill>
        </p:grpSpPr>
        <p:sp>
          <p:nvSpPr>
            <p:cNvPr id="229" name="Rectangle 228">
              <a:extLst>
                <a:ext uri="{FF2B5EF4-FFF2-40B4-BE49-F238E27FC236}">
                  <a16:creationId xmlns="" xmlns:a16="http://schemas.microsoft.com/office/drawing/2014/main" id="{AD89ADED-BB02-E97C-6E00-B60FFFA1556A}"/>
                </a:ext>
              </a:extLst>
            </p:cNvPr>
            <p:cNvSpPr/>
            <p:nvPr/>
          </p:nvSpPr>
          <p:spPr>
            <a:xfrm>
              <a:off x="3060921" y="2564766"/>
              <a:ext cx="1862694" cy="29033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 xmlns:a16="http://schemas.microsoft.com/office/drawing/2014/main" id="{99829A26-CF21-5A59-A829-9EED7F2A7F01}"/>
                </a:ext>
              </a:extLst>
            </p:cNvPr>
            <p:cNvSpPr/>
            <p:nvPr/>
          </p:nvSpPr>
          <p:spPr>
            <a:xfrm>
              <a:off x="1580467" y="4633694"/>
              <a:ext cx="1483710" cy="8343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 xmlns:a16="http://schemas.microsoft.com/office/drawing/2014/main" id="{C9D1B001-914F-83BE-F266-08756AD91321}"/>
              </a:ext>
            </a:extLst>
          </p:cNvPr>
          <p:cNvSpPr>
            <a:spLocks noChangeArrowheads="1"/>
          </p:cNvSpPr>
          <p:nvPr/>
        </p:nvSpPr>
        <p:spPr bwMode="auto">
          <a:xfrm>
            <a:off x="857645" y="822855"/>
            <a:ext cx="6071111" cy="841132"/>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 name="Rectangle 89">
            <a:extLst>
              <a:ext uri="{FF2B5EF4-FFF2-40B4-BE49-F238E27FC236}">
                <a16:creationId xmlns="" xmlns:a16="http://schemas.microsoft.com/office/drawing/2014/main" id="{BB0CFEF1-8150-D269-A995-08F3C79263F0}"/>
              </a:ext>
            </a:extLst>
          </p:cNvPr>
          <p:cNvSpPr>
            <a:spLocks noChangeArrowheads="1"/>
          </p:cNvSpPr>
          <p:nvPr/>
        </p:nvSpPr>
        <p:spPr bwMode="auto">
          <a:xfrm>
            <a:off x="849102" y="1694140"/>
            <a:ext cx="6079132" cy="812565"/>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 name="Line 7">
            <a:extLst>
              <a:ext uri="{FF2B5EF4-FFF2-40B4-BE49-F238E27FC236}">
                <a16:creationId xmlns="" xmlns:a16="http://schemas.microsoft.com/office/drawing/2014/main" id="{42C42FD4-81CD-0B63-D887-6FB80A001863}"/>
              </a:ext>
            </a:extLst>
          </p:cNvPr>
          <p:cNvSpPr>
            <a:spLocks noChangeShapeType="1"/>
          </p:cNvSpPr>
          <p:nvPr/>
        </p:nvSpPr>
        <p:spPr bwMode="auto">
          <a:xfrm flipV="1">
            <a:off x="871160" y="1594952"/>
            <a:ext cx="5501400"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9" name="Line 11">
            <a:extLst>
              <a:ext uri="{FF2B5EF4-FFF2-40B4-BE49-F238E27FC236}">
                <a16:creationId xmlns="" xmlns:a16="http://schemas.microsoft.com/office/drawing/2014/main" id="{84214C76-AFC6-F233-586E-A10342436280}"/>
              </a:ext>
            </a:extLst>
          </p:cNvPr>
          <p:cNvSpPr>
            <a:spLocks noChangeAspect="1" noChangeShapeType="1"/>
          </p:cNvSpPr>
          <p:nvPr>
            <p:custDataLst>
              <p:tags r:id="rId1"/>
            </p:custDataLst>
          </p:nvPr>
        </p:nvSpPr>
        <p:spPr bwMode="auto">
          <a:xfrm rot="5400000">
            <a:off x="3282691" y="1482765"/>
            <a:ext cx="172988"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0" name="Line 13">
            <a:extLst>
              <a:ext uri="{FF2B5EF4-FFF2-40B4-BE49-F238E27FC236}">
                <a16:creationId xmlns="" xmlns:a16="http://schemas.microsoft.com/office/drawing/2014/main" id="{A64C353A-598A-D095-A7AD-C3295D1C8409}"/>
              </a:ext>
            </a:extLst>
          </p:cNvPr>
          <p:cNvSpPr>
            <a:spLocks noChangeAspect="1" noChangeShapeType="1"/>
          </p:cNvSpPr>
          <p:nvPr>
            <p:custDataLst>
              <p:tags r:id="rId2"/>
            </p:custDataLst>
          </p:nvPr>
        </p:nvSpPr>
        <p:spPr bwMode="auto">
          <a:xfrm rot="5400000">
            <a:off x="5228814" y="2034559"/>
            <a:ext cx="2287493"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1" name="Text Box 14">
            <a:extLst>
              <a:ext uri="{FF2B5EF4-FFF2-40B4-BE49-F238E27FC236}">
                <a16:creationId xmlns="" xmlns:a16="http://schemas.microsoft.com/office/drawing/2014/main" id="{84D6CB88-CE15-869F-04AF-CEE8EBB5E8B9}"/>
              </a:ext>
            </a:extLst>
          </p:cNvPr>
          <p:cNvSpPr txBox="1">
            <a:spLocks noChangeAspect="1" noChangeArrowheads="1"/>
          </p:cNvSpPr>
          <p:nvPr>
            <p:custDataLst>
              <p:tags r:id="rId3"/>
            </p:custDataLst>
          </p:nvPr>
        </p:nvSpPr>
        <p:spPr bwMode="auto">
          <a:xfrm>
            <a:off x="2448227" y="1845185"/>
            <a:ext cx="615950"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SIEM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 name="Text Box 15">
            <a:extLst>
              <a:ext uri="{FF2B5EF4-FFF2-40B4-BE49-F238E27FC236}">
                <a16:creationId xmlns="" xmlns:a16="http://schemas.microsoft.com/office/drawing/2014/main" id="{255CDB42-7153-7393-726F-264BA6990607}"/>
              </a:ext>
            </a:extLst>
          </p:cNvPr>
          <p:cNvSpPr txBox="1">
            <a:spLocks noChangeAspect="1" noChangeArrowheads="1"/>
          </p:cNvSpPr>
          <p:nvPr>
            <p:custDataLst>
              <p:tags r:id="rId4"/>
            </p:custDataLst>
          </p:nvPr>
        </p:nvSpPr>
        <p:spPr bwMode="auto">
          <a:xfrm>
            <a:off x="2549058" y="2648800"/>
            <a:ext cx="472861"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l"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SCADA</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 name="Text Box 16">
            <a:extLst>
              <a:ext uri="{FF2B5EF4-FFF2-40B4-BE49-F238E27FC236}">
                <a16:creationId xmlns="" xmlns:a16="http://schemas.microsoft.com/office/drawing/2014/main" id="{A08D37DB-2765-A446-7EF9-20660972ED33}"/>
              </a:ext>
            </a:extLst>
          </p:cNvPr>
          <p:cNvSpPr txBox="1">
            <a:spLocks noChangeAspect="1" noChangeArrowheads="1"/>
          </p:cNvSpPr>
          <p:nvPr>
            <p:custDataLst>
              <p:tags r:id="rId5"/>
            </p:custDataLst>
          </p:nvPr>
        </p:nvSpPr>
        <p:spPr bwMode="auto">
          <a:xfrm>
            <a:off x="1529110" y="2566386"/>
            <a:ext cx="810683" cy="30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Engineer Station</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 name="Line 18">
            <a:extLst>
              <a:ext uri="{FF2B5EF4-FFF2-40B4-BE49-F238E27FC236}">
                <a16:creationId xmlns="" xmlns:a16="http://schemas.microsoft.com/office/drawing/2014/main" id="{02B75E5E-C4F0-7B23-9A51-15C883DB9B94}"/>
              </a:ext>
            </a:extLst>
          </p:cNvPr>
          <p:cNvSpPr>
            <a:spLocks noChangeAspect="1" noChangeShapeType="1"/>
          </p:cNvSpPr>
          <p:nvPr>
            <p:custDataLst>
              <p:tags r:id="rId6"/>
            </p:custDataLst>
          </p:nvPr>
        </p:nvSpPr>
        <p:spPr bwMode="auto">
          <a:xfrm rot="5400000">
            <a:off x="2733489" y="1510221"/>
            <a:ext cx="16064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15" name="Picture 19" descr="G_SY02_XX_00298P">
            <a:extLst>
              <a:ext uri="{FF2B5EF4-FFF2-40B4-BE49-F238E27FC236}">
                <a16:creationId xmlns="" xmlns:a16="http://schemas.microsoft.com/office/drawing/2014/main" id="{7410DF85-98BD-FB4B-9D5B-D4285A26BC13}"/>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957789" y="1167244"/>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20">
            <a:extLst>
              <a:ext uri="{FF2B5EF4-FFF2-40B4-BE49-F238E27FC236}">
                <a16:creationId xmlns="" xmlns:a16="http://schemas.microsoft.com/office/drawing/2014/main" id="{13C864C3-7CE4-43C5-1C5B-CAE902B1E8F4}"/>
              </a:ext>
            </a:extLst>
          </p:cNvPr>
          <p:cNvSpPr>
            <a:spLocks noChangeArrowheads="1"/>
          </p:cNvSpPr>
          <p:nvPr/>
        </p:nvSpPr>
        <p:spPr bwMode="auto">
          <a:xfrm>
            <a:off x="1087735" y="4041628"/>
            <a:ext cx="5520784" cy="466590"/>
          </a:xfrm>
          <a:custGeom>
            <a:avLst/>
            <a:gdLst>
              <a:gd name="T0" fmla="*/ 512853179 w 21600"/>
              <a:gd name="T1" fmla="*/ 0 h 21600"/>
              <a:gd name="T2" fmla="*/ 150199481 w 21600"/>
              <a:gd name="T3" fmla="*/ 1476774 h 21600"/>
              <a:gd name="T4" fmla="*/ 0 w 21600"/>
              <a:gd name="T5" fmla="*/ 5042401 h 21600"/>
              <a:gd name="T6" fmla="*/ 150199481 w 21600"/>
              <a:gd name="T7" fmla="*/ 8608051 h 21600"/>
              <a:gd name="T8" fmla="*/ 512853179 w 21600"/>
              <a:gd name="T9" fmla="*/ 10084824 h 21600"/>
              <a:gd name="T10" fmla="*/ 875506931 w 21600"/>
              <a:gd name="T11" fmla="*/ 8608051 h 21600"/>
              <a:gd name="T12" fmla="*/ 1025706358 w 21600"/>
              <a:gd name="T13" fmla="*/ 5042401 h 21600"/>
              <a:gd name="T14" fmla="*/ 875506931 w 21600"/>
              <a:gd name="T15" fmla="*/ 147677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62" y="10800"/>
                </a:moveTo>
                <a:cubicBezTo>
                  <a:pt x="1962" y="15681"/>
                  <a:pt x="5919" y="19638"/>
                  <a:pt x="10800" y="19638"/>
                </a:cubicBezTo>
                <a:cubicBezTo>
                  <a:pt x="15681" y="19638"/>
                  <a:pt x="19638" y="15681"/>
                  <a:pt x="19638" y="10800"/>
                </a:cubicBezTo>
                <a:cubicBezTo>
                  <a:pt x="19638" y="5919"/>
                  <a:pt x="15681" y="1962"/>
                  <a:pt x="10800" y="1962"/>
                </a:cubicBezTo>
                <a:cubicBezTo>
                  <a:pt x="5919" y="1962"/>
                  <a:pt x="1962" y="5919"/>
                  <a:pt x="1962" y="10800"/>
                </a:cubicBezTo>
                <a:close/>
              </a:path>
            </a:pathLst>
          </a:custGeom>
          <a:solidFill>
            <a:srgbClr val="007749"/>
          </a:solidFill>
          <a:ln>
            <a:noFill/>
          </a:ln>
          <a:extLst>
            <a:ext uri="{91240B29-F687-4F45-9708-019B960494DF}">
              <a14:hiddenLine xmlns:a14="http://schemas.microsoft.com/office/drawing/2010/main" w="9525">
                <a:solidFill>
                  <a:srgbClr val="000000"/>
                </a:solidFill>
                <a:round/>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7" name="Line 36">
            <a:extLst>
              <a:ext uri="{FF2B5EF4-FFF2-40B4-BE49-F238E27FC236}">
                <a16:creationId xmlns="" xmlns:a16="http://schemas.microsoft.com/office/drawing/2014/main" id="{1B46F544-DB71-88AE-BE6F-2EA2B2B62D65}"/>
              </a:ext>
            </a:extLst>
          </p:cNvPr>
          <p:cNvSpPr>
            <a:spLocks noChangeShapeType="1"/>
          </p:cNvSpPr>
          <p:nvPr/>
        </p:nvSpPr>
        <p:spPr bwMode="auto">
          <a:xfrm flipV="1">
            <a:off x="871160" y="3299579"/>
            <a:ext cx="5501396"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0" name="Line 39">
            <a:extLst>
              <a:ext uri="{FF2B5EF4-FFF2-40B4-BE49-F238E27FC236}">
                <a16:creationId xmlns="" xmlns:a16="http://schemas.microsoft.com/office/drawing/2014/main" id="{E8FEF557-385D-47FF-7645-9D4DC810F494}"/>
              </a:ext>
            </a:extLst>
          </p:cNvPr>
          <p:cNvSpPr>
            <a:spLocks noChangeAspect="1" noChangeShapeType="1"/>
          </p:cNvSpPr>
          <p:nvPr>
            <p:custDataLst>
              <p:tags r:id="rId7"/>
            </p:custDataLst>
          </p:nvPr>
        </p:nvSpPr>
        <p:spPr bwMode="auto">
          <a:xfrm rot="5400000">
            <a:off x="3219635" y="3682059"/>
            <a:ext cx="779536"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1" name="Line 40">
            <a:extLst>
              <a:ext uri="{FF2B5EF4-FFF2-40B4-BE49-F238E27FC236}">
                <a16:creationId xmlns="" xmlns:a16="http://schemas.microsoft.com/office/drawing/2014/main" id="{A3C245C1-789B-B6D2-612D-BA466763FD80}"/>
              </a:ext>
            </a:extLst>
          </p:cNvPr>
          <p:cNvSpPr>
            <a:spLocks noChangeAspect="1" noChangeShapeType="1"/>
          </p:cNvSpPr>
          <p:nvPr>
            <p:custDataLst>
              <p:tags r:id="rId8"/>
            </p:custDataLst>
          </p:nvPr>
        </p:nvSpPr>
        <p:spPr bwMode="auto">
          <a:xfrm rot="5400000">
            <a:off x="3780554" y="3675714"/>
            <a:ext cx="79223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22" name="Picture 41" descr="G_SY02_XX_00155P">
            <a:extLst>
              <a:ext uri="{FF2B5EF4-FFF2-40B4-BE49-F238E27FC236}">
                <a16:creationId xmlns="" xmlns:a16="http://schemas.microsoft.com/office/drawing/2014/main" id="{6C5CCA3F-F211-3FB1-F2FF-5BF43DB802B1}"/>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3335894" y="3768423"/>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2" descr="G_SY02_XX_00155P">
            <a:extLst>
              <a:ext uri="{FF2B5EF4-FFF2-40B4-BE49-F238E27FC236}">
                <a16:creationId xmlns="" xmlns:a16="http://schemas.microsoft.com/office/drawing/2014/main" id="{4C9AE494-EB92-70FD-7D2C-B29D8C8491B2}"/>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3960639" y="3766467"/>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45">
            <a:extLst>
              <a:ext uri="{FF2B5EF4-FFF2-40B4-BE49-F238E27FC236}">
                <a16:creationId xmlns="" xmlns:a16="http://schemas.microsoft.com/office/drawing/2014/main" id="{A5CB59D1-D4BE-C09B-46D7-F0A516957DAD}"/>
              </a:ext>
            </a:extLst>
          </p:cNvPr>
          <p:cNvSpPr>
            <a:spLocks noChangeAspect="1" noChangeShapeType="1"/>
          </p:cNvSpPr>
          <p:nvPr>
            <p:custDataLst>
              <p:tags r:id="rId9"/>
            </p:custDataLst>
          </p:nvPr>
        </p:nvSpPr>
        <p:spPr bwMode="auto">
          <a:xfrm rot="5400000">
            <a:off x="1836751" y="3212110"/>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30" name="Line 49">
            <a:extLst>
              <a:ext uri="{FF2B5EF4-FFF2-40B4-BE49-F238E27FC236}">
                <a16:creationId xmlns="" xmlns:a16="http://schemas.microsoft.com/office/drawing/2014/main" id="{E64B3042-AF44-967C-B1F8-37958D54A1FA}"/>
              </a:ext>
            </a:extLst>
          </p:cNvPr>
          <p:cNvSpPr>
            <a:spLocks noChangeAspect="1" noChangeShapeType="1"/>
          </p:cNvSpPr>
          <p:nvPr>
            <p:custDataLst>
              <p:tags r:id="rId10"/>
            </p:custDataLst>
          </p:nvPr>
        </p:nvSpPr>
        <p:spPr bwMode="auto">
          <a:xfrm rot="5400000">
            <a:off x="1108367" y="3208935"/>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1" name="Picture 50" descr="G_SY02_XX_00298P">
            <a:extLst>
              <a:ext uri="{FF2B5EF4-FFF2-40B4-BE49-F238E27FC236}">
                <a16:creationId xmlns="" xmlns:a16="http://schemas.microsoft.com/office/drawing/2014/main" id="{08D42C95-E001-CC50-209E-EAB1E38D08C9}"/>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970966" y="2868516"/>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51">
            <a:extLst>
              <a:ext uri="{FF2B5EF4-FFF2-40B4-BE49-F238E27FC236}">
                <a16:creationId xmlns="" xmlns:a16="http://schemas.microsoft.com/office/drawing/2014/main" id="{1139C2CE-BEBD-3246-E048-D60C6762F7E3}"/>
              </a:ext>
            </a:extLst>
          </p:cNvPr>
          <p:cNvSpPr txBox="1">
            <a:spLocks noChangeAspect="1" noChangeArrowheads="1"/>
          </p:cNvSpPr>
          <p:nvPr>
            <p:custDataLst>
              <p:tags r:id="rId11"/>
            </p:custDataLst>
          </p:nvPr>
        </p:nvSpPr>
        <p:spPr bwMode="auto">
          <a:xfrm>
            <a:off x="807984" y="2579673"/>
            <a:ext cx="810683" cy="30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err="1">
                <a:ln>
                  <a:noFill/>
                </a:ln>
                <a:solidFill>
                  <a:srgbClr val="000000"/>
                </a:solidFill>
                <a:effectLst/>
                <a:uLnTx/>
                <a:uFillTx/>
                <a:latin typeface="Siemens Sans Global" pitchFamily="2" charset="-122"/>
                <a:ea typeface="Siemens Sans Global" pitchFamily="2" charset="-122"/>
                <a:cs typeface="Siemens Sans Global" pitchFamily="2" charset="-122"/>
              </a:rPr>
              <a:t>Maintain</a:t>
            </a: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 Station</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3" name="Picture 52" descr="G_SY02_XX_00298P">
            <a:extLst>
              <a:ext uri="{FF2B5EF4-FFF2-40B4-BE49-F238E27FC236}">
                <a16:creationId xmlns="" xmlns:a16="http://schemas.microsoft.com/office/drawing/2014/main" id="{DB8B0598-38BA-2462-25C0-FFAA0FC4644E}"/>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692094" y="2862484"/>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Line 53">
            <a:extLst>
              <a:ext uri="{FF2B5EF4-FFF2-40B4-BE49-F238E27FC236}">
                <a16:creationId xmlns="" xmlns:a16="http://schemas.microsoft.com/office/drawing/2014/main" id="{B7E67466-0670-B883-72EB-299020EF7C36}"/>
              </a:ext>
            </a:extLst>
          </p:cNvPr>
          <p:cNvSpPr>
            <a:spLocks noChangeAspect="1" noChangeShapeType="1"/>
          </p:cNvSpPr>
          <p:nvPr>
            <p:custDataLst>
              <p:tags r:id="rId12"/>
            </p:custDataLst>
          </p:nvPr>
        </p:nvSpPr>
        <p:spPr bwMode="auto">
          <a:xfrm rot="5400000">
            <a:off x="2727401" y="3215283"/>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6" name="Picture 55" descr="G_SY02_XX_00298P">
            <a:extLst>
              <a:ext uri="{FF2B5EF4-FFF2-40B4-BE49-F238E27FC236}">
                <a16:creationId xmlns="" xmlns:a16="http://schemas.microsoft.com/office/drawing/2014/main" id="{4CE0B017-4C39-DF21-78AC-504C099231F7}"/>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64159" y="2868833"/>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Line 57">
            <a:extLst>
              <a:ext uri="{FF2B5EF4-FFF2-40B4-BE49-F238E27FC236}">
                <a16:creationId xmlns="" xmlns:a16="http://schemas.microsoft.com/office/drawing/2014/main" id="{72FADCA3-3A5F-7731-7F6D-F9BAD1A597AD}"/>
              </a:ext>
            </a:extLst>
          </p:cNvPr>
          <p:cNvSpPr>
            <a:spLocks noChangeAspect="1" noChangeShapeType="1"/>
          </p:cNvSpPr>
          <p:nvPr>
            <p:custDataLst>
              <p:tags r:id="rId13"/>
            </p:custDataLst>
          </p:nvPr>
        </p:nvSpPr>
        <p:spPr bwMode="auto">
          <a:xfrm rot="5400000">
            <a:off x="3737925" y="3212110"/>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9" name="Picture 58">
            <a:extLst>
              <a:ext uri="{FF2B5EF4-FFF2-40B4-BE49-F238E27FC236}">
                <a16:creationId xmlns="" xmlns:a16="http://schemas.microsoft.com/office/drawing/2014/main" id="{F2276D91-05D4-6EA7-03A0-27346387663C}"/>
              </a:ext>
            </a:extLst>
          </p:cNvPr>
          <p:cNvPicPr>
            <a:picLocks noChangeAspect="1" noChangeArrowheads="1"/>
          </p:cNvPicPr>
          <p:nvPr>
            <p:custDataLst>
              <p:tags r:id="rId14"/>
            </p:custDataLst>
          </p:nvPr>
        </p:nvPicPr>
        <p:blipFill>
          <a:blip r:embed="rId50">
            <a:extLst>
              <a:ext uri="{28A0092B-C50C-407E-A947-70E740481C1C}">
                <a14:useLocalDpi xmlns:a14="http://schemas.microsoft.com/office/drawing/2010/main" val="0"/>
              </a:ext>
            </a:extLst>
          </a:blip>
          <a:srcRect/>
          <a:stretch>
            <a:fillRect/>
          </a:stretch>
        </p:blipFill>
        <p:spPr bwMode="auto">
          <a:xfrm>
            <a:off x="3453160" y="2859310"/>
            <a:ext cx="730251" cy="31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59">
            <a:extLst>
              <a:ext uri="{FF2B5EF4-FFF2-40B4-BE49-F238E27FC236}">
                <a16:creationId xmlns="" xmlns:a16="http://schemas.microsoft.com/office/drawing/2014/main" id="{E2941FCF-56B1-6962-D6C1-D6CDDAB22FD0}"/>
              </a:ext>
            </a:extLst>
          </p:cNvPr>
          <p:cNvSpPr txBox="1">
            <a:spLocks noChangeAspect="1" noChangeArrowheads="1"/>
          </p:cNvSpPr>
          <p:nvPr>
            <p:custDataLst>
              <p:tags r:id="rId15"/>
            </p:custDataLst>
          </p:nvPr>
        </p:nvSpPr>
        <p:spPr bwMode="auto">
          <a:xfrm>
            <a:off x="3302877" y="2641788"/>
            <a:ext cx="107738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作业</a:t>
            </a:r>
            <a:r>
              <a:rPr kumimoji="0" lang="zh-CN" altLang="en-US"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调度</a:t>
            </a:r>
            <a:r>
              <a:rPr lang="zh-CN" altLang="en-US" sz="999" b="0" kern="0" dirty="0">
                <a:solidFill>
                  <a:srgbClr val="000000"/>
                </a:solidFill>
                <a:latin typeface="Siemens Sans Global" pitchFamily="2" charset="-122"/>
                <a:ea typeface="Siemens Sans Global" pitchFamily="2" charset="-122"/>
                <a:cs typeface="Siemens Sans Global" pitchFamily="2" charset="-122"/>
              </a:rPr>
              <a:t>服务器</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44" name="Picture 67" descr="G_SY02_XX_00298P">
            <a:extLst>
              <a:ext uri="{FF2B5EF4-FFF2-40B4-BE49-F238E27FC236}">
                <a16:creationId xmlns="" xmlns:a16="http://schemas.microsoft.com/office/drawing/2014/main" id="{B5E17D03-A2A9-5462-BF72-EDA4EEFB81BB}"/>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75856" y="1164070"/>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68">
            <a:extLst>
              <a:ext uri="{FF2B5EF4-FFF2-40B4-BE49-F238E27FC236}">
                <a16:creationId xmlns="" xmlns:a16="http://schemas.microsoft.com/office/drawing/2014/main" id="{0FA629DC-89A5-64A2-83E5-42B4C23D722D}"/>
              </a:ext>
            </a:extLst>
          </p:cNvPr>
          <p:cNvGrpSpPr>
            <a:grpSpLocks/>
          </p:cNvGrpSpPr>
          <p:nvPr/>
        </p:nvGrpSpPr>
        <p:grpSpPr bwMode="auto">
          <a:xfrm>
            <a:off x="5881824" y="3074784"/>
            <a:ext cx="802217" cy="434850"/>
            <a:chOff x="3447" y="2086"/>
            <a:chExt cx="526" cy="372"/>
          </a:xfrm>
        </p:grpSpPr>
        <p:pic>
          <p:nvPicPr>
            <p:cNvPr id="46" name="Picture 69" descr="airespaceswitch">
              <a:extLst>
                <a:ext uri="{FF2B5EF4-FFF2-40B4-BE49-F238E27FC236}">
                  <a16:creationId xmlns="" xmlns:a16="http://schemas.microsoft.com/office/drawing/2014/main" id="{1B854DF5-5858-8646-DA11-01E34337C111}"/>
                </a:ext>
              </a:extLst>
            </p:cNvPr>
            <p:cNvPicPr>
              <a:picLocks noChangeAspect="1" noChangeArrowheads="1"/>
            </p:cNvPicPr>
            <p:nvPr/>
          </p:nvPicPr>
          <p:blipFill>
            <a:blip r:embed="rId51" cstate="print">
              <a:extLst>
                <a:ext uri="{28A0092B-C50C-407E-A947-70E740481C1C}">
                  <a14:useLocalDpi xmlns:a14="http://schemas.microsoft.com/office/drawing/2010/main" val="0"/>
                </a:ext>
              </a:extLst>
            </a:blip>
            <a:srcRect/>
            <a:stretch>
              <a:fillRect/>
            </a:stretch>
          </p:blipFill>
          <p:spPr bwMode="auto">
            <a:xfrm>
              <a:off x="3447" y="2136"/>
              <a:ext cx="52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70" descr="airespaceswitch">
              <a:extLst>
                <a:ext uri="{FF2B5EF4-FFF2-40B4-BE49-F238E27FC236}">
                  <a16:creationId xmlns="" xmlns:a16="http://schemas.microsoft.com/office/drawing/2014/main" id="{A54BD118-C4F9-6486-DA99-397880A74F9C}"/>
                </a:ext>
              </a:extLst>
            </p:cNvPr>
            <p:cNvPicPr>
              <a:picLocks noChangeAspect="1" noChangeArrowheads="1"/>
            </p:cNvPicPr>
            <p:nvPr/>
          </p:nvPicPr>
          <p:blipFill>
            <a:blip r:embed="rId51" cstate="print">
              <a:extLst>
                <a:ext uri="{28A0092B-C50C-407E-A947-70E740481C1C}">
                  <a14:useLocalDpi xmlns:a14="http://schemas.microsoft.com/office/drawing/2010/main" val="0"/>
                </a:ext>
              </a:extLst>
            </a:blip>
            <a:srcRect/>
            <a:stretch>
              <a:fillRect/>
            </a:stretch>
          </p:blipFill>
          <p:spPr bwMode="auto">
            <a:xfrm>
              <a:off x="3451" y="2086"/>
              <a:ext cx="52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 name="Line 72">
            <a:extLst>
              <a:ext uri="{FF2B5EF4-FFF2-40B4-BE49-F238E27FC236}">
                <a16:creationId xmlns="" xmlns:a16="http://schemas.microsoft.com/office/drawing/2014/main" id="{EC25DF71-C87A-024E-4166-A86E1DF19FCA}"/>
              </a:ext>
            </a:extLst>
          </p:cNvPr>
          <p:cNvSpPr>
            <a:spLocks noChangeAspect="1" noChangeShapeType="1"/>
          </p:cNvSpPr>
          <p:nvPr>
            <p:custDataLst>
              <p:tags r:id="rId16"/>
            </p:custDataLst>
          </p:nvPr>
        </p:nvSpPr>
        <p:spPr bwMode="auto">
          <a:xfrm rot="5400000">
            <a:off x="2142450" y="1529360"/>
            <a:ext cx="9318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49" name="Picture 73" descr="G_SY02_XX_00298P">
            <a:extLst>
              <a:ext uri="{FF2B5EF4-FFF2-40B4-BE49-F238E27FC236}">
                <a16:creationId xmlns="" xmlns:a16="http://schemas.microsoft.com/office/drawing/2014/main" id="{AEB82B79-034B-2C17-D838-3FEE7CDE7C2A}"/>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139752" y="1164070"/>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Line 74">
            <a:extLst>
              <a:ext uri="{FF2B5EF4-FFF2-40B4-BE49-F238E27FC236}">
                <a16:creationId xmlns="" xmlns:a16="http://schemas.microsoft.com/office/drawing/2014/main" id="{8BF35083-6607-0341-BFCB-50F51C19A365}"/>
              </a:ext>
            </a:extLst>
          </p:cNvPr>
          <p:cNvSpPr>
            <a:spLocks noChangeAspect="1" noChangeShapeType="1"/>
          </p:cNvSpPr>
          <p:nvPr>
            <p:custDataLst>
              <p:tags r:id="rId17"/>
            </p:custDataLst>
          </p:nvPr>
        </p:nvSpPr>
        <p:spPr bwMode="auto">
          <a:xfrm rot="5400000">
            <a:off x="3946001" y="1531472"/>
            <a:ext cx="112683"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51" name="Picture 75" descr="G_SY01_XX_00274V">
            <a:extLst>
              <a:ext uri="{FF2B5EF4-FFF2-40B4-BE49-F238E27FC236}">
                <a16:creationId xmlns="" xmlns:a16="http://schemas.microsoft.com/office/drawing/2014/main" id="{3EEAC125-76DA-0743-F1D9-1BCC304F1630}"/>
              </a:ext>
            </a:extLst>
          </p:cNvPr>
          <p:cNvPicPr>
            <a:picLocks noChangeAspect="1" noChangeArrowheads="1"/>
          </p:cNvPicPr>
          <p:nvPr>
            <p:custDataLst>
              <p:tags r:id="rId18"/>
            </p:custDataLst>
          </p:nvPr>
        </p:nvPicPr>
        <p:blipFill>
          <a:blip r:embed="rId52" cstate="print">
            <a:extLst>
              <a:ext uri="{28A0092B-C50C-407E-A947-70E740481C1C}">
                <a14:useLocalDpi xmlns:a14="http://schemas.microsoft.com/office/drawing/2010/main" val="0"/>
              </a:ext>
            </a:extLst>
          </a:blip>
          <a:srcRect/>
          <a:stretch>
            <a:fillRect/>
          </a:stretch>
        </p:blipFill>
        <p:spPr bwMode="auto">
          <a:xfrm>
            <a:off x="3762053" y="1159308"/>
            <a:ext cx="486833" cy="31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87">
            <a:extLst>
              <a:ext uri="{FF2B5EF4-FFF2-40B4-BE49-F238E27FC236}">
                <a16:creationId xmlns="" xmlns:a16="http://schemas.microsoft.com/office/drawing/2014/main" id="{BEAAAAD5-A502-2E78-E996-753B42BC9D04}"/>
              </a:ext>
            </a:extLst>
          </p:cNvPr>
          <p:cNvSpPr txBox="1">
            <a:spLocks noChangeAspect="1" noChangeArrowheads="1"/>
          </p:cNvSpPr>
          <p:nvPr>
            <p:custDataLst>
              <p:tags r:id="rId19"/>
            </p:custDataLst>
          </p:nvPr>
        </p:nvSpPr>
        <p:spPr bwMode="auto">
          <a:xfrm>
            <a:off x="3151733"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sp>
        <p:nvSpPr>
          <p:cNvPr id="55" name="Text Box 88">
            <a:extLst>
              <a:ext uri="{FF2B5EF4-FFF2-40B4-BE49-F238E27FC236}">
                <a16:creationId xmlns="" xmlns:a16="http://schemas.microsoft.com/office/drawing/2014/main" id="{DD7D25A6-107B-3579-95DB-A0623892291B}"/>
              </a:ext>
            </a:extLst>
          </p:cNvPr>
          <p:cNvSpPr txBox="1">
            <a:spLocks noChangeAspect="1" noChangeArrowheads="1"/>
          </p:cNvSpPr>
          <p:nvPr>
            <p:custDataLst>
              <p:tags r:id="rId20"/>
            </p:custDataLst>
          </p:nvPr>
        </p:nvSpPr>
        <p:spPr bwMode="auto">
          <a:xfrm>
            <a:off x="3774625" y="925761"/>
            <a:ext cx="474261"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Laptop</a:t>
            </a:r>
          </a:p>
        </p:txBody>
      </p:sp>
      <p:sp>
        <p:nvSpPr>
          <p:cNvPr id="57" name="Text Box 92">
            <a:extLst>
              <a:ext uri="{FF2B5EF4-FFF2-40B4-BE49-F238E27FC236}">
                <a16:creationId xmlns="" xmlns:a16="http://schemas.microsoft.com/office/drawing/2014/main" id="{D4FBFEA1-B13F-5EC9-30BD-7B5411FF97B2}"/>
              </a:ext>
            </a:extLst>
          </p:cNvPr>
          <p:cNvSpPr txBox="1">
            <a:spLocks noChangeAspect="1" noChangeArrowheads="1"/>
          </p:cNvSpPr>
          <p:nvPr>
            <p:custDataLst>
              <p:tags r:id="rId21"/>
            </p:custDataLst>
          </p:nvPr>
        </p:nvSpPr>
        <p:spPr bwMode="auto">
          <a:xfrm>
            <a:off x="1680579" y="1717946"/>
            <a:ext cx="44080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WEB</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Server</a:t>
            </a:r>
          </a:p>
        </p:txBody>
      </p:sp>
      <p:sp>
        <p:nvSpPr>
          <p:cNvPr id="59" name="Line 94">
            <a:extLst>
              <a:ext uri="{FF2B5EF4-FFF2-40B4-BE49-F238E27FC236}">
                <a16:creationId xmlns="" xmlns:a16="http://schemas.microsoft.com/office/drawing/2014/main" id="{C0083AC2-AA23-B1D7-4CE6-FABD169D3F19}"/>
              </a:ext>
            </a:extLst>
          </p:cNvPr>
          <p:cNvSpPr>
            <a:spLocks noChangeShapeType="1"/>
          </p:cNvSpPr>
          <p:nvPr/>
        </p:nvSpPr>
        <p:spPr bwMode="auto">
          <a:xfrm flipV="1">
            <a:off x="841640" y="2436567"/>
            <a:ext cx="5530917" cy="13612"/>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0" name="Line 95">
            <a:extLst>
              <a:ext uri="{FF2B5EF4-FFF2-40B4-BE49-F238E27FC236}">
                <a16:creationId xmlns="" xmlns:a16="http://schemas.microsoft.com/office/drawing/2014/main" id="{AA1312F9-115A-67AF-AB5B-9FB1EF742DAE}"/>
              </a:ext>
            </a:extLst>
          </p:cNvPr>
          <p:cNvSpPr>
            <a:spLocks noChangeAspect="1" noChangeShapeType="1"/>
          </p:cNvSpPr>
          <p:nvPr>
            <p:custDataLst>
              <p:tags r:id="rId22"/>
            </p:custDataLst>
          </p:nvPr>
        </p:nvSpPr>
        <p:spPr bwMode="auto">
          <a:xfrm rot="5400000">
            <a:off x="1069470" y="2374188"/>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1" name="Line 96">
            <a:extLst>
              <a:ext uri="{FF2B5EF4-FFF2-40B4-BE49-F238E27FC236}">
                <a16:creationId xmlns="" xmlns:a16="http://schemas.microsoft.com/office/drawing/2014/main" id="{63D9B667-2826-2EC0-1DAA-2B6B79FB6772}"/>
              </a:ext>
            </a:extLst>
          </p:cNvPr>
          <p:cNvSpPr>
            <a:spLocks noChangeAspect="1" noChangeShapeType="1"/>
          </p:cNvSpPr>
          <p:nvPr>
            <p:custDataLst>
              <p:tags r:id="rId23"/>
            </p:custDataLst>
          </p:nvPr>
        </p:nvSpPr>
        <p:spPr bwMode="auto">
          <a:xfrm rot="5400000">
            <a:off x="1804752" y="2338484"/>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2" name="Line 97">
            <a:extLst>
              <a:ext uri="{FF2B5EF4-FFF2-40B4-BE49-F238E27FC236}">
                <a16:creationId xmlns="" xmlns:a16="http://schemas.microsoft.com/office/drawing/2014/main" id="{1A26CB94-43CE-19FA-8F21-AF4E7F47108A}"/>
              </a:ext>
            </a:extLst>
          </p:cNvPr>
          <p:cNvSpPr>
            <a:spLocks noChangeAspect="1" noChangeShapeType="1"/>
          </p:cNvSpPr>
          <p:nvPr>
            <p:custDataLst>
              <p:tags r:id="rId24"/>
            </p:custDataLst>
          </p:nvPr>
        </p:nvSpPr>
        <p:spPr bwMode="auto">
          <a:xfrm rot="5400000">
            <a:off x="2714468" y="2331715"/>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64" name="Picture 99" descr="G_SY02_XX_00298P">
            <a:extLst>
              <a:ext uri="{FF2B5EF4-FFF2-40B4-BE49-F238E27FC236}">
                <a16:creationId xmlns="" xmlns:a16="http://schemas.microsoft.com/office/drawing/2014/main" id="{363BE285-92EB-767A-F791-4F516C3F7D1F}"/>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783073" y="2045061"/>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100" descr="G_SY02_XX_00298P">
            <a:extLst>
              <a:ext uri="{FF2B5EF4-FFF2-40B4-BE49-F238E27FC236}">
                <a16:creationId xmlns="" xmlns:a16="http://schemas.microsoft.com/office/drawing/2014/main" id="{FE195681-3440-B0AB-BE1C-34B6301EF87D}"/>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60612" y="2019485"/>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101" descr="G_SY02_XX_00293P">
            <a:extLst>
              <a:ext uri="{FF2B5EF4-FFF2-40B4-BE49-F238E27FC236}">
                <a16:creationId xmlns="" xmlns:a16="http://schemas.microsoft.com/office/drawing/2014/main" id="{A2F084F7-8148-E5BF-FA04-6A714F08E9FB}"/>
              </a:ext>
            </a:extLst>
          </p:cNvPr>
          <p:cNvPicPr>
            <a:picLocks noChangeAspect="1" noChangeArrowheads="1"/>
          </p:cNvPicPr>
          <p:nvPr/>
        </p:nvPicPr>
        <p:blipFill>
          <a:blip r:embed="rId53" cstate="print">
            <a:extLst>
              <a:ext uri="{28A0092B-C50C-407E-A947-70E740481C1C}">
                <a14:useLocalDpi xmlns:a14="http://schemas.microsoft.com/office/drawing/2010/main" val="0"/>
              </a:ext>
            </a:extLst>
          </a:blip>
          <a:srcRect/>
          <a:stretch>
            <a:fillRect/>
          </a:stretch>
        </p:blipFill>
        <p:spPr bwMode="auto">
          <a:xfrm>
            <a:off x="1050529" y="2003613"/>
            <a:ext cx="220133" cy="34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102" descr="G_SY02_XX_00298P">
            <a:extLst>
              <a:ext uri="{FF2B5EF4-FFF2-40B4-BE49-F238E27FC236}">
                <a16:creationId xmlns="" xmlns:a16="http://schemas.microsoft.com/office/drawing/2014/main" id="{8C4F2144-3420-8AD7-FFFC-74FD454E9664}"/>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659399" y="2022659"/>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03" descr="Security firewall">
            <a:extLst>
              <a:ext uri="{FF2B5EF4-FFF2-40B4-BE49-F238E27FC236}">
                <a16:creationId xmlns="" xmlns:a16="http://schemas.microsoft.com/office/drawing/2014/main" id="{A2A35D06-F82D-2D2D-E61E-1D977B32D4C7}"/>
              </a:ext>
            </a:extLst>
          </p:cNvPr>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6077151" y="852716"/>
            <a:ext cx="586318" cy="37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 name="Group 104">
            <a:extLst>
              <a:ext uri="{FF2B5EF4-FFF2-40B4-BE49-F238E27FC236}">
                <a16:creationId xmlns="" xmlns:a16="http://schemas.microsoft.com/office/drawing/2014/main" id="{2022DBEB-2E09-0983-3B1B-8731A9C1A405}"/>
              </a:ext>
            </a:extLst>
          </p:cNvPr>
          <p:cNvGrpSpPr>
            <a:grpSpLocks noChangeAspect="1"/>
          </p:cNvGrpSpPr>
          <p:nvPr/>
        </p:nvGrpSpPr>
        <p:grpSpPr bwMode="auto">
          <a:xfrm>
            <a:off x="3388811" y="3432539"/>
            <a:ext cx="406400" cy="309474"/>
            <a:chOff x="4450" y="816"/>
            <a:chExt cx="397" cy="514"/>
          </a:xfrm>
        </p:grpSpPr>
        <p:sp>
          <p:nvSpPr>
            <p:cNvPr id="70" name="Freeform 105">
              <a:extLst>
                <a:ext uri="{FF2B5EF4-FFF2-40B4-BE49-F238E27FC236}">
                  <a16:creationId xmlns="" xmlns:a16="http://schemas.microsoft.com/office/drawing/2014/main" id="{0D3094DB-3965-2D32-0704-82B60890113C}"/>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1" name="Freeform 106">
              <a:extLst>
                <a:ext uri="{FF2B5EF4-FFF2-40B4-BE49-F238E27FC236}">
                  <a16:creationId xmlns="" xmlns:a16="http://schemas.microsoft.com/office/drawing/2014/main" id="{9802DED0-8157-5B20-298C-90F46F6D1C28}"/>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2" name="Freeform 107">
              <a:extLst>
                <a:ext uri="{FF2B5EF4-FFF2-40B4-BE49-F238E27FC236}">
                  <a16:creationId xmlns="" xmlns:a16="http://schemas.microsoft.com/office/drawing/2014/main" id="{5BD7B5D6-C40F-E51A-D91F-8EA1F6BB5E5B}"/>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3" name="Freeform 108">
              <a:extLst>
                <a:ext uri="{FF2B5EF4-FFF2-40B4-BE49-F238E27FC236}">
                  <a16:creationId xmlns="" xmlns:a16="http://schemas.microsoft.com/office/drawing/2014/main" id="{5D01B35D-3CAC-B94A-B55A-57D7D705EBE4}"/>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4" name="Freeform 109">
              <a:extLst>
                <a:ext uri="{FF2B5EF4-FFF2-40B4-BE49-F238E27FC236}">
                  <a16:creationId xmlns="" xmlns:a16="http://schemas.microsoft.com/office/drawing/2014/main" id="{9E04CC5B-96F0-EBDD-58B3-205A00250CC1}"/>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5" name="Freeform 110">
              <a:extLst>
                <a:ext uri="{FF2B5EF4-FFF2-40B4-BE49-F238E27FC236}">
                  <a16:creationId xmlns="" xmlns:a16="http://schemas.microsoft.com/office/drawing/2014/main" id="{95B8B7D9-A4D3-9584-E05E-237250F901CC}"/>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6" name="Freeform 111">
              <a:extLst>
                <a:ext uri="{FF2B5EF4-FFF2-40B4-BE49-F238E27FC236}">
                  <a16:creationId xmlns="" xmlns:a16="http://schemas.microsoft.com/office/drawing/2014/main" id="{4F068006-A5F0-58A8-2A60-94CDF2A1DB7E}"/>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7" name="Freeform 112">
              <a:extLst>
                <a:ext uri="{FF2B5EF4-FFF2-40B4-BE49-F238E27FC236}">
                  <a16:creationId xmlns="" xmlns:a16="http://schemas.microsoft.com/office/drawing/2014/main" id="{E719A235-BAA1-C888-12A2-A83753339241}"/>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78" name="Group 113">
            <a:extLst>
              <a:ext uri="{FF2B5EF4-FFF2-40B4-BE49-F238E27FC236}">
                <a16:creationId xmlns="" xmlns:a16="http://schemas.microsoft.com/office/drawing/2014/main" id="{F1F038A3-F04A-A684-6FDE-329B1DD70F1C}"/>
              </a:ext>
            </a:extLst>
          </p:cNvPr>
          <p:cNvGrpSpPr>
            <a:grpSpLocks noChangeAspect="1"/>
          </p:cNvGrpSpPr>
          <p:nvPr/>
        </p:nvGrpSpPr>
        <p:grpSpPr bwMode="auto">
          <a:xfrm>
            <a:off x="3962884" y="3441751"/>
            <a:ext cx="406400" cy="309474"/>
            <a:chOff x="4450" y="816"/>
            <a:chExt cx="397" cy="514"/>
          </a:xfrm>
        </p:grpSpPr>
        <p:sp>
          <p:nvSpPr>
            <p:cNvPr id="79" name="Freeform 114">
              <a:extLst>
                <a:ext uri="{FF2B5EF4-FFF2-40B4-BE49-F238E27FC236}">
                  <a16:creationId xmlns="" xmlns:a16="http://schemas.microsoft.com/office/drawing/2014/main" id="{F35578F2-EB85-46A2-1229-E566CFB9E07F}"/>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0" name="Freeform 115">
              <a:extLst>
                <a:ext uri="{FF2B5EF4-FFF2-40B4-BE49-F238E27FC236}">
                  <a16:creationId xmlns="" xmlns:a16="http://schemas.microsoft.com/office/drawing/2014/main" id="{1BEE91F4-7986-AE94-AF26-7E247937ABFC}"/>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1" name="Freeform 116">
              <a:extLst>
                <a:ext uri="{FF2B5EF4-FFF2-40B4-BE49-F238E27FC236}">
                  <a16:creationId xmlns="" xmlns:a16="http://schemas.microsoft.com/office/drawing/2014/main" id="{087D80D5-02B2-FC8B-7B2F-674FC0738417}"/>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2" name="Freeform 117">
              <a:extLst>
                <a:ext uri="{FF2B5EF4-FFF2-40B4-BE49-F238E27FC236}">
                  <a16:creationId xmlns="" xmlns:a16="http://schemas.microsoft.com/office/drawing/2014/main" id="{0AEF3978-6556-92A3-3789-D5F3EE4CC17C}"/>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3" name="Freeform 118">
              <a:extLst>
                <a:ext uri="{FF2B5EF4-FFF2-40B4-BE49-F238E27FC236}">
                  <a16:creationId xmlns="" xmlns:a16="http://schemas.microsoft.com/office/drawing/2014/main" id="{BE15B41F-357A-8AA4-326C-48CAAEA3E1C6}"/>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4" name="Freeform 119">
              <a:extLst>
                <a:ext uri="{FF2B5EF4-FFF2-40B4-BE49-F238E27FC236}">
                  <a16:creationId xmlns="" xmlns:a16="http://schemas.microsoft.com/office/drawing/2014/main" id="{450768E1-71C8-BC9E-EEFF-7AECEDBBF87A}"/>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5" name="Freeform 120">
              <a:extLst>
                <a:ext uri="{FF2B5EF4-FFF2-40B4-BE49-F238E27FC236}">
                  <a16:creationId xmlns="" xmlns:a16="http://schemas.microsoft.com/office/drawing/2014/main" id="{BD5CC0DC-D5D2-CF98-8F3A-BC0825A10B92}"/>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6" name="Freeform 121">
              <a:extLst>
                <a:ext uri="{FF2B5EF4-FFF2-40B4-BE49-F238E27FC236}">
                  <a16:creationId xmlns="" xmlns:a16="http://schemas.microsoft.com/office/drawing/2014/main" id="{712A0519-BAB5-F315-1BCB-F0E39BE89E13}"/>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pic>
        <p:nvPicPr>
          <p:cNvPr id="114" name="Picture 170" descr="G_SY02_XX_00105P">
            <a:extLst>
              <a:ext uri="{FF2B5EF4-FFF2-40B4-BE49-F238E27FC236}">
                <a16:creationId xmlns="" xmlns:a16="http://schemas.microsoft.com/office/drawing/2014/main" id="{4F09CE85-3D58-E3DD-E380-B1204E01B595}"/>
              </a:ext>
            </a:extLst>
          </p:cNvPr>
          <p:cNvPicPr>
            <a:picLocks noChangeAspect="1" noChangeArrowheads="1"/>
          </p:cNvPicPr>
          <p:nvPr/>
        </p:nvPicPr>
        <p:blipFill>
          <a:blip r:embed="rId55" cstate="print">
            <a:extLst>
              <a:ext uri="{28A0092B-C50C-407E-A947-70E740481C1C}">
                <a14:useLocalDpi xmlns:a14="http://schemas.microsoft.com/office/drawing/2010/main" val="0"/>
              </a:ext>
            </a:extLst>
          </a:blip>
          <a:srcRect/>
          <a:stretch>
            <a:fillRect/>
          </a:stretch>
        </p:blipFill>
        <p:spPr bwMode="auto">
          <a:xfrm>
            <a:off x="5720529" y="4595120"/>
            <a:ext cx="613833" cy="296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171">
            <a:extLst>
              <a:ext uri="{FF2B5EF4-FFF2-40B4-BE49-F238E27FC236}">
                <a16:creationId xmlns="" xmlns:a16="http://schemas.microsoft.com/office/drawing/2014/main" id="{A27BC7E7-1C36-37CC-D5B8-77B38EFA966D}"/>
              </a:ext>
            </a:extLst>
          </p:cNvPr>
          <p:cNvSpPr txBox="1">
            <a:spLocks noChangeAspect="1" noChangeArrowheads="1"/>
          </p:cNvSpPr>
          <p:nvPr>
            <p:custDataLst>
              <p:tags r:id="rId25"/>
            </p:custDataLst>
          </p:nvPr>
        </p:nvSpPr>
        <p:spPr bwMode="auto">
          <a:xfrm>
            <a:off x="6075986" y="4662937"/>
            <a:ext cx="759882"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HMI</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124" name="Picture 184" descr="S7_400_standard_300dpi_CMYK">
            <a:extLst>
              <a:ext uri="{FF2B5EF4-FFF2-40B4-BE49-F238E27FC236}">
                <a16:creationId xmlns="" xmlns:a16="http://schemas.microsoft.com/office/drawing/2014/main" id="{040D26F8-E23C-CFB9-3D8C-A7539F41EE66}"/>
              </a:ext>
            </a:extLst>
          </p:cNvPr>
          <p:cNvPicPr>
            <a:picLocks noChangeAspect="1" noChangeArrowheads="1"/>
          </p:cNvPicPr>
          <p:nvPr>
            <p:custDataLst>
              <p:tags r:id="rId26"/>
            </p:custDataLst>
          </p:nvPr>
        </p:nvPicPr>
        <p:blipFill>
          <a:blip r:embed="rId56" cstate="print">
            <a:extLst>
              <a:ext uri="{28A0092B-C50C-407E-A947-70E740481C1C}">
                <a14:useLocalDpi xmlns:a14="http://schemas.microsoft.com/office/drawing/2010/main" val="0"/>
              </a:ext>
            </a:extLst>
          </a:blip>
          <a:srcRect/>
          <a:stretch>
            <a:fillRect/>
          </a:stretch>
        </p:blipFill>
        <p:spPr bwMode="auto">
          <a:xfrm>
            <a:off x="5715192" y="4942651"/>
            <a:ext cx="465666" cy="453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Line 204">
            <a:extLst>
              <a:ext uri="{FF2B5EF4-FFF2-40B4-BE49-F238E27FC236}">
                <a16:creationId xmlns="" xmlns:a16="http://schemas.microsoft.com/office/drawing/2014/main" id="{E4773ABB-7A2E-5AAD-48BA-733FC6BF341A}"/>
              </a:ext>
            </a:extLst>
          </p:cNvPr>
          <p:cNvSpPr>
            <a:spLocks noChangeAspect="1" noChangeShapeType="1"/>
          </p:cNvSpPr>
          <p:nvPr>
            <p:custDataLst>
              <p:tags r:id="rId27"/>
            </p:custDataLst>
          </p:nvPr>
        </p:nvSpPr>
        <p:spPr bwMode="auto">
          <a:xfrm rot="5400000">
            <a:off x="4974914" y="4789122"/>
            <a:ext cx="66020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3" name="Line 208">
            <a:extLst>
              <a:ext uri="{FF2B5EF4-FFF2-40B4-BE49-F238E27FC236}">
                <a16:creationId xmlns="" xmlns:a16="http://schemas.microsoft.com/office/drawing/2014/main" id="{80FD1DCC-1469-B895-A21A-46EEB1847B24}"/>
              </a:ext>
            </a:extLst>
          </p:cNvPr>
          <p:cNvSpPr>
            <a:spLocks noChangeAspect="1" noChangeShapeType="1"/>
          </p:cNvSpPr>
          <p:nvPr>
            <p:custDataLst>
              <p:tags r:id="rId28"/>
            </p:custDataLst>
          </p:nvPr>
        </p:nvSpPr>
        <p:spPr bwMode="auto">
          <a:xfrm rot="10800000" flipH="1">
            <a:off x="5317338" y="4782916"/>
            <a:ext cx="403191"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4" name="Line 209">
            <a:extLst>
              <a:ext uri="{FF2B5EF4-FFF2-40B4-BE49-F238E27FC236}">
                <a16:creationId xmlns="" xmlns:a16="http://schemas.microsoft.com/office/drawing/2014/main" id="{81931907-010B-4EE6-271A-71B26BA14F4E}"/>
              </a:ext>
            </a:extLst>
          </p:cNvPr>
          <p:cNvSpPr>
            <a:spLocks noChangeAspect="1" noChangeShapeType="1"/>
          </p:cNvSpPr>
          <p:nvPr>
            <p:custDataLst>
              <p:tags r:id="rId29"/>
            </p:custDataLst>
          </p:nvPr>
        </p:nvSpPr>
        <p:spPr bwMode="auto">
          <a:xfrm rot="10800000" flipH="1">
            <a:off x="5317337" y="5102320"/>
            <a:ext cx="40319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45" name="Group 223">
            <a:extLst>
              <a:ext uri="{FF2B5EF4-FFF2-40B4-BE49-F238E27FC236}">
                <a16:creationId xmlns="" xmlns:a16="http://schemas.microsoft.com/office/drawing/2014/main" id="{0C4A58DD-B4F0-A7EC-161B-E800AABC0EA9}"/>
              </a:ext>
            </a:extLst>
          </p:cNvPr>
          <p:cNvGrpSpPr>
            <a:grpSpLocks noChangeAspect="1"/>
          </p:cNvGrpSpPr>
          <p:nvPr/>
        </p:nvGrpSpPr>
        <p:grpSpPr bwMode="auto">
          <a:xfrm>
            <a:off x="6120679" y="2531825"/>
            <a:ext cx="482600" cy="466590"/>
            <a:chOff x="4450" y="816"/>
            <a:chExt cx="397" cy="514"/>
          </a:xfrm>
        </p:grpSpPr>
        <p:sp>
          <p:nvSpPr>
            <p:cNvPr id="146" name="Freeform 224">
              <a:extLst>
                <a:ext uri="{FF2B5EF4-FFF2-40B4-BE49-F238E27FC236}">
                  <a16:creationId xmlns="" xmlns:a16="http://schemas.microsoft.com/office/drawing/2014/main" id="{34B70854-3E9B-BD80-2415-70EEA2108D58}"/>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7" name="Freeform 225">
              <a:extLst>
                <a:ext uri="{FF2B5EF4-FFF2-40B4-BE49-F238E27FC236}">
                  <a16:creationId xmlns="" xmlns:a16="http://schemas.microsoft.com/office/drawing/2014/main" id="{4472EFD4-0F79-6005-B270-F36C61DDC2FF}"/>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8" name="Freeform 226">
              <a:extLst>
                <a:ext uri="{FF2B5EF4-FFF2-40B4-BE49-F238E27FC236}">
                  <a16:creationId xmlns="" xmlns:a16="http://schemas.microsoft.com/office/drawing/2014/main" id="{A1E2A039-438E-32C9-2546-C8C144E59D70}"/>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9" name="Freeform 227">
              <a:extLst>
                <a:ext uri="{FF2B5EF4-FFF2-40B4-BE49-F238E27FC236}">
                  <a16:creationId xmlns="" xmlns:a16="http://schemas.microsoft.com/office/drawing/2014/main" id="{AC50DC8A-8782-98CF-0F33-1266894795E4}"/>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0" name="Freeform 228">
              <a:extLst>
                <a:ext uri="{FF2B5EF4-FFF2-40B4-BE49-F238E27FC236}">
                  <a16:creationId xmlns="" xmlns:a16="http://schemas.microsoft.com/office/drawing/2014/main" id="{98531112-44FC-E066-3BA4-4FA89CE7DACA}"/>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1" name="Freeform 229">
              <a:extLst>
                <a:ext uri="{FF2B5EF4-FFF2-40B4-BE49-F238E27FC236}">
                  <a16:creationId xmlns="" xmlns:a16="http://schemas.microsoft.com/office/drawing/2014/main" id="{FBD87C1C-C873-4D77-18D6-E6646FC766E8}"/>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2" name="Freeform 230">
              <a:extLst>
                <a:ext uri="{FF2B5EF4-FFF2-40B4-BE49-F238E27FC236}">
                  <a16:creationId xmlns="" xmlns:a16="http://schemas.microsoft.com/office/drawing/2014/main" id="{BF053B30-73EE-9078-BC30-698771EFE30A}"/>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3" name="Freeform 231">
              <a:extLst>
                <a:ext uri="{FF2B5EF4-FFF2-40B4-BE49-F238E27FC236}">
                  <a16:creationId xmlns="" xmlns:a16="http://schemas.microsoft.com/office/drawing/2014/main" id="{5389AC1D-0C60-117F-8800-58003428597D}"/>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154" name="Group 233">
            <a:extLst>
              <a:ext uri="{FF2B5EF4-FFF2-40B4-BE49-F238E27FC236}">
                <a16:creationId xmlns="" xmlns:a16="http://schemas.microsoft.com/office/drawing/2014/main" id="{7246D618-9DA6-5A7C-4B42-F97623C72508}"/>
              </a:ext>
            </a:extLst>
          </p:cNvPr>
          <p:cNvGrpSpPr>
            <a:grpSpLocks noChangeAspect="1"/>
          </p:cNvGrpSpPr>
          <p:nvPr/>
        </p:nvGrpSpPr>
        <p:grpSpPr bwMode="auto">
          <a:xfrm>
            <a:off x="6101806" y="1678269"/>
            <a:ext cx="482600" cy="466590"/>
            <a:chOff x="4450" y="816"/>
            <a:chExt cx="397" cy="514"/>
          </a:xfrm>
        </p:grpSpPr>
        <p:sp>
          <p:nvSpPr>
            <p:cNvPr id="155" name="Freeform 234">
              <a:extLst>
                <a:ext uri="{FF2B5EF4-FFF2-40B4-BE49-F238E27FC236}">
                  <a16:creationId xmlns="" xmlns:a16="http://schemas.microsoft.com/office/drawing/2014/main" id="{C3D8C1DF-024B-5FC2-4992-2EAF55048DC3}"/>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6" name="Freeform 235">
              <a:extLst>
                <a:ext uri="{FF2B5EF4-FFF2-40B4-BE49-F238E27FC236}">
                  <a16:creationId xmlns="" xmlns:a16="http://schemas.microsoft.com/office/drawing/2014/main" id="{527B1E94-0ADE-1DF0-090A-67B99C85A900}"/>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7" name="Freeform 236">
              <a:extLst>
                <a:ext uri="{FF2B5EF4-FFF2-40B4-BE49-F238E27FC236}">
                  <a16:creationId xmlns="" xmlns:a16="http://schemas.microsoft.com/office/drawing/2014/main" id="{6DB81078-BEAF-EF10-43E3-3D3A83297295}"/>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8" name="Freeform 237">
              <a:extLst>
                <a:ext uri="{FF2B5EF4-FFF2-40B4-BE49-F238E27FC236}">
                  <a16:creationId xmlns="" xmlns:a16="http://schemas.microsoft.com/office/drawing/2014/main" id="{840C4674-2376-1AD1-1B90-76AB6EE01671}"/>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9" name="Freeform 238">
              <a:extLst>
                <a:ext uri="{FF2B5EF4-FFF2-40B4-BE49-F238E27FC236}">
                  <a16:creationId xmlns="" xmlns:a16="http://schemas.microsoft.com/office/drawing/2014/main" id="{88510754-9AA5-9E86-2469-93A240F831F9}"/>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0" name="Freeform 239">
              <a:extLst>
                <a:ext uri="{FF2B5EF4-FFF2-40B4-BE49-F238E27FC236}">
                  <a16:creationId xmlns="" xmlns:a16="http://schemas.microsoft.com/office/drawing/2014/main" id="{CF581A71-9889-02DA-CF7C-02A2A1349832}"/>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1" name="Freeform 240">
              <a:extLst>
                <a:ext uri="{FF2B5EF4-FFF2-40B4-BE49-F238E27FC236}">
                  <a16:creationId xmlns="" xmlns:a16="http://schemas.microsoft.com/office/drawing/2014/main" id="{2E921D4C-D66E-B9E4-0351-69F137E6A1A4}"/>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2" name="Freeform 241">
              <a:extLst>
                <a:ext uri="{FF2B5EF4-FFF2-40B4-BE49-F238E27FC236}">
                  <a16:creationId xmlns="" xmlns:a16="http://schemas.microsoft.com/office/drawing/2014/main" id="{B5E4D30A-3C0C-A249-CE0D-5AD055DB2922}"/>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sp>
        <p:nvSpPr>
          <p:cNvPr id="163" name="Line 242">
            <a:extLst>
              <a:ext uri="{FF2B5EF4-FFF2-40B4-BE49-F238E27FC236}">
                <a16:creationId xmlns="" xmlns:a16="http://schemas.microsoft.com/office/drawing/2014/main" id="{72F3D370-AEFA-A608-06A7-F8C19956F40A}"/>
              </a:ext>
            </a:extLst>
          </p:cNvPr>
          <p:cNvSpPr>
            <a:spLocks noChangeAspect="1" noChangeShapeType="1"/>
          </p:cNvSpPr>
          <p:nvPr>
            <p:custDataLst>
              <p:tags r:id="rId30"/>
            </p:custDataLst>
          </p:nvPr>
        </p:nvSpPr>
        <p:spPr bwMode="auto">
          <a:xfrm rot="5400000">
            <a:off x="1520728" y="1553577"/>
            <a:ext cx="8275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5" name="Line 244">
            <a:extLst>
              <a:ext uri="{FF2B5EF4-FFF2-40B4-BE49-F238E27FC236}">
                <a16:creationId xmlns="" xmlns:a16="http://schemas.microsoft.com/office/drawing/2014/main" id="{7B242CEB-E030-27F5-8A50-550112DF598A}"/>
              </a:ext>
            </a:extLst>
          </p:cNvPr>
          <p:cNvSpPr>
            <a:spLocks noChangeAspect="1" noChangeShapeType="1"/>
          </p:cNvSpPr>
          <p:nvPr>
            <p:custDataLst>
              <p:tags r:id="rId31"/>
            </p:custDataLst>
          </p:nvPr>
        </p:nvSpPr>
        <p:spPr bwMode="auto">
          <a:xfrm rot="5400000">
            <a:off x="3965294" y="2400287"/>
            <a:ext cx="9125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6" name="Text Box 245">
            <a:extLst>
              <a:ext uri="{FF2B5EF4-FFF2-40B4-BE49-F238E27FC236}">
                <a16:creationId xmlns="" xmlns:a16="http://schemas.microsoft.com/office/drawing/2014/main" id="{98E1A01D-4EB2-33E0-1B8A-0817008050B9}"/>
              </a:ext>
            </a:extLst>
          </p:cNvPr>
          <p:cNvSpPr txBox="1">
            <a:spLocks noChangeAspect="1" noChangeArrowheads="1"/>
          </p:cNvSpPr>
          <p:nvPr>
            <p:custDataLst>
              <p:tags r:id="rId32"/>
            </p:custDataLst>
          </p:nvPr>
        </p:nvSpPr>
        <p:spPr bwMode="auto">
          <a:xfrm>
            <a:off x="3848842" y="1837566"/>
            <a:ext cx="33019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MES</a:t>
            </a:r>
          </a:p>
        </p:txBody>
      </p:sp>
      <p:sp>
        <p:nvSpPr>
          <p:cNvPr id="167" name="Text Box 246">
            <a:extLst>
              <a:ext uri="{FF2B5EF4-FFF2-40B4-BE49-F238E27FC236}">
                <a16:creationId xmlns="" xmlns:a16="http://schemas.microsoft.com/office/drawing/2014/main" id="{7AAD43CF-B1A3-C7CC-68C4-F69C8E0E90BC}"/>
              </a:ext>
            </a:extLst>
          </p:cNvPr>
          <p:cNvSpPr txBox="1">
            <a:spLocks noChangeArrowheads="1"/>
          </p:cNvSpPr>
          <p:nvPr/>
        </p:nvSpPr>
        <p:spPr bwMode="auto">
          <a:xfrm>
            <a:off x="1023462" y="1814077"/>
            <a:ext cx="325385"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algn="ctr" eaLnBrk="1" hangingPunct="1">
              <a:buClr>
                <a:srgbClr val="FF9900"/>
              </a:buClr>
              <a:buSzPct val="80000"/>
              <a:buFont typeface="Wingdings" pitchFamily="2" charset="2"/>
              <a:buNone/>
            </a:pPr>
            <a:r>
              <a:rPr lang="en-US" altLang="zh-CN" sz="999" b="0" dirty="0">
                <a:solidFill>
                  <a:srgbClr val="000000"/>
                </a:solidFill>
                <a:latin typeface="Siemens Sans Global" pitchFamily="2" charset="-122"/>
                <a:ea typeface="Siemens Sans Global" pitchFamily="2" charset="-122"/>
                <a:cs typeface="Siemens Sans Global" pitchFamily="2" charset="-122"/>
              </a:rPr>
              <a:t>DNS</a:t>
            </a:r>
          </a:p>
        </p:txBody>
      </p:sp>
      <p:pic>
        <p:nvPicPr>
          <p:cNvPr id="168" name="Picture 247" descr="G_SY02_XX_00293P">
            <a:extLst>
              <a:ext uri="{FF2B5EF4-FFF2-40B4-BE49-F238E27FC236}">
                <a16:creationId xmlns="" xmlns:a16="http://schemas.microsoft.com/office/drawing/2014/main" id="{6192960D-D7A5-446D-131F-65DD19C600F1}"/>
              </a:ext>
            </a:extLst>
          </p:cNvPr>
          <p:cNvPicPr>
            <a:picLocks noChangeAspect="1" noChangeArrowheads="1"/>
          </p:cNvPicPr>
          <p:nvPr/>
        </p:nvPicPr>
        <p:blipFill>
          <a:blip r:embed="rId53" cstate="print">
            <a:extLst>
              <a:ext uri="{28A0092B-C50C-407E-A947-70E740481C1C}">
                <a14:useLocalDpi xmlns:a14="http://schemas.microsoft.com/office/drawing/2010/main" val="0"/>
              </a:ext>
            </a:extLst>
          </a:blip>
          <a:srcRect/>
          <a:stretch>
            <a:fillRect/>
          </a:stretch>
        </p:blipFill>
        <p:spPr bwMode="auto">
          <a:xfrm>
            <a:off x="1447673" y="1156133"/>
            <a:ext cx="220133" cy="34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Text Box 245">
            <a:extLst>
              <a:ext uri="{FF2B5EF4-FFF2-40B4-BE49-F238E27FC236}">
                <a16:creationId xmlns="" xmlns:a16="http://schemas.microsoft.com/office/drawing/2014/main" id="{006A981A-6903-A98B-0BC6-9EE7E25BE003}"/>
              </a:ext>
            </a:extLst>
          </p:cNvPr>
          <p:cNvSpPr txBox="1">
            <a:spLocks noChangeAspect="1" noChangeArrowheads="1"/>
          </p:cNvSpPr>
          <p:nvPr>
            <p:custDataLst>
              <p:tags r:id="rId33"/>
            </p:custDataLst>
          </p:nvPr>
        </p:nvSpPr>
        <p:spPr bwMode="auto">
          <a:xfrm>
            <a:off x="1409318" y="958242"/>
            <a:ext cx="288515"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en-GB" altLang="zh-CN" sz="999" b="0" kern="0" dirty="0">
                <a:solidFill>
                  <a:srgbClr val="000000"/>
                </a:solidFill>
                <a:latin typeface="Siemens Sans Global" pitchFamily="2" charset="-122"/>
                <a:ea typeface="Siemens Sans Global" pitchFamily="2" charset="-122"/>
                <a:cs typeface="Siemens Sans Global" pitchFamily="2" charset="-122"/>
              </a:rPr>
              <a:t>ERP</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06" name="Text Box 87">
            <a:extLst>
              <a:ext uri="{FF2B5EF4-FFF2-40B4-BE49-F238E27FC236}">
                <a16:creationId xmlns="" xmlns:a16="http://schemas.microsoft.com/office/drawing/2014/main" id="{2F5BF571-8829-A5DD-79F3-4A99BF7848F5}"/>
              </a:ext>
            </a:extLst>
          </p:cNvPr>
          <p:cNvSpPr txBox="1">
            <a:spLocks noChangeAspect="1" noChangeArrowheads="1"/>
          </p:cNvSpPr>
          <p:nvPr>
            <p:custDataLst>
              <p:tags r:id="rId34"/>
            </p:custDataLst>
          </p:nvPr>
        </p:nvSpPr>
        <p:spPr bwMode="auto">
          <a:xfrm>
            <a:off x="2626617"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sp>
        <p:nvSpPr>
          <p:cNvPr id="207" name="Text Box 87">
            <a:extLst>
              <a:ext uri="{FF2B5EF4-FFF2-40B4-BE49-F238E27FC236}">
                <a16:creationId xmlns="" xmlns:a16="http://schemas.microsoft.com/office/drawing/2014/main" id="{EA824741-8607-EE63-70EC-FEECC191A2A7}"/>
              </a:ext>
            </a:extLst>
          </p:cNvPr>
          <p:cNvSpPr txBox="1">
            <a:spLocks noChangeAspect="1" noChangeArrowheads="1"/>
          </p:cNvSpPr>
          <p:nvPr>
            <p:custDataLst>
              <p:tags r:id="rId35"/>
            </p:custDataLst>
          </p:nvPr>
        </p:nvSpPr>
        <p:spPr bwMode="auto">
          <a:xfrm>
            <a:off x="2010115"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grpSp>
        <p:nvGrpSpPr>
          <p:cNvPr id="210" name="Group 188">
            <a:extLst>
              <a:ext uri="{FF2B5EF4-FFF2-40B4-BE49-F238E27FC236}">
                <a16:creationId xmlns="" xmlns:a16="http://schemas.microsoft.com/office/drawing/2014/main" id="{D7C6DAD9-E3F2-A5CD-162F-ADB1870D7732}"/>
              </a:ext>
            </a:extLst>
          </p:cNvPr>
          <p:cNvGrpSpPr>
            <a:grpSpLocks/>
          </p:cNvGrpSpPr>
          <p:nvPr/>
        </p:nvGrpSpPr>
        <p:grpSpPr bwMode="auto">
          <a:xfrm rot="2367133">
            <a:off x="6568862" y="4335760"/>
            <a:ext cx="352167" cy="335531"/>
            <a:chOff x="1133" y="2082"/>
            <a:chExt cx="197" cy="183"/>
          </a:xfrm>
        </p:grpSpPr>
        <p:sp>
          <p:nvSpPr>
            <p:cNvPr id="211" name="Arc 189">
              <a:extLst>
                <a:ext uri="{FF2B5EF4-FFF2-40B4-BE49-F238E27FC236}">
                  <a16:creationId xmlns="" xmlns:a16="http://schemas.microsoft.com/office/drawing/2014/main" id="{2EEE90A8-7795-0540-F394-4D5A5D8C3273}"/>
                </a:ext>
              </a:extLst>
            </p:cNvPr>
            <p:cNvSpPr>
              <a:spLocks/>
            </p:cNvSpPr>
            <p:nvPr/>
          </p:nvSpPr>
          <p:spPr bwMode="auto">
            <a:xfrm rot="-8015738" flipH="1" flipV="1">
              <a:off x="1161" y="2096"/>
              <a:ext cx="183" cy="155"/>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lIns="36000" tIns="0" rIns="36000" bIns="0" anchor="ctr">
              <a:spAutoFit/>
            </a:bodyPr>
            <a:lstStyle/>
            <a:p>
              <a:endParaRPr lang="en-US"/>
            </a:p>
          </p:txBody>
        </p:sp>
        <p:sp>
          <p:nvSpPr>
            <p:cNvPr id="212" name="Arc 190">
              <a:extLst>
                <a:ext uri="{FF2B5EF4-FFF2-40B4-BE49-F238E27FC236}">
                  <a16:creationId xmlns="" xmlns:a16="http://schemas.microsoft.com/office/drawing/2014/main" id="{5E0CF40D-1116-57BC-9E8B-0CA432C76D3B}"/>
                </a:ext>
              </a:extLst>
            </p:cNvPr>
            <p:cNvSpPr>
              <a:spLocks/>
            </p:cNvSpPr>
            <p:nvPr/>
          </p:nvSpPr>
          <p:spPr bwMode="auto">
            <a:xfrm rot="-8015738" flipH="1" flipV="1">
              <a:off x="1154" y="2125"/>
              <a:ext cx="118" cy="10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sp>
          <p:nvSpPr>
            <p:cNvPr id="213" name="Arc 191">
              <a:extLst>
                <a:ext uri="{FF2B5EF4-FFF2-40B4-BE49-F238E27FC236}">
                  <a16:creationId xmlns="" xmlns:a16="http://schemas.microsoft.com/office/drawing/2014/main" id="{6E165536-7935-29CC-853E-F7CF9781A490}"/>
                </a:ext>
              </a:extLst>
            </p:cNvPr>
            <p:cNvSpPr>
              <a:spLocks/>
            </p:cNvSpPr>
            <p:nvPr/>
          </p:nvSpPr>
          <p:spPr bwMode="auto">
            <a:xfrm rot="-8015738" flipH="1" flipV="1">
              <a:off x="1124" y="2140"/>
              <a:ext cx="87" cy="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grpSp>
      <p:grpSp>
        <p:nvGrpSpPr>
          <p:cNvPr id="214" name="Group 192">
            <a:extLst>
              <a:ext uri="{FF2B5EF4-FFF2-40B4-BE49-F238E27FC236}">
                <a16:creationId xmlns="" xmlns:a16="http://schemas.microsoft.com/office/drawing/2014/main" id="{7B9E4AD0-0F4A-C8BD-F18F-97597ED88C78}"/>
              </a:ext>
            </a:extLst>
          </p:cNvPr>
          <p:cNvGrpSpPr>
            <a:grpSpLocks/>
          </p:cNvGrpSpPr>
          <p:nvPr/>
        </p:nvGrpSpPr>
        <p:grpSpPr bwMode="auto">
          <a:xfrm rot="17904904" flipH="1">
            <a:off x="878755" y="4389923"/>
            <a:ext cx="338766" cy="322761"/>
            <a:chOff x="1133" y="2082"/>
            <a:chExt cx="197" cy="183"/>
          </a:xfrm>
        </p:grpSpPr>
        <p:sp>
          <p:nvSpPr>
            <p:cNvPr id="215" name="Arc 193">
              <a:extLst>
                <a:ext uri="{FF2B5EF4-FFF2-40B4-BE49-F238E27FC236}">
                  <a16:creationId xmlns="" xmlns:a16="http://schemas.microsoft.com/office/drawing/2014/main" id="{99670CB6-F926-A881-3BB2-B5F556D451D7}"/>
                </a:ext>
              </a:extLst>
            </p:cNvPr>
            <p:cNvSpPr>
              <a:spLocks/>
            </p:cNvSpPr>
            <p:nvPr/>
          </p:nvSpPr>
          <p:spPr bwMode="auto">
            <a:xfrm rot="-8015738" flipH="1" flipV="1">
              <a:off x="1161" y="2096"/>
              <a:ext cx="183" cy="155"/>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lIns="36000" tIns="0" rIns="36000" bIns="0" anchor="ctr">
              <a:spAutoFit/>
            </a:bodyPr>
            <a:lstStyle/>
            <a:p>
              <a:endParaRPr lang="en-US"/>
            </a:p>
          </p:txBody>
        </p:sp>
        <p:sp>
          <p:nvSpPr>
            <p:cNvPr id="216" name="Arc 194">
              <a:extLst>
                <a:ext uri="{FF2B5EF4-FFF2-40B4-BE49-F238E27FC236}">
                  <a16:creationId xmlns="" xmlns:a16="http://schemas.microsoft.com/office/drawing/2014/main" id="{8A17D08C-FA19-D0F4-E5A5-83E584837F95}"/>
                </a:ext>
              </a:extLst>
            </p:cNvPr>
            <p:cNvSpPr>
              <a:spLocks/>
            </p:cNvSpPr>
            <p:nvPr/>
          </p:nvSpPr>
          <p:spPr bwMode="auto">
            <a:xfrm rot="-8015738" flipH="1" flipV="1">
              <a:off x="1154" y="2125"/>
              <a:ext cx="118" cy="10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sp>
          <p:nvSpPr>
            <p:cNvPr id="217" name="Arc 195">
              <a:extLst>
                <a:ext uri="{FF2B5EF4-FFF2-40B4-BE49-F238E27FC236}">
                  <a16:creationId xmlns="" xmlns:a16="http://schemas.microsoft.com/office/drawing/2014/main" id="{9BE3C5B6-B6D5-ECFF-65C8-EDF9FFDA4EB8}"/>
                </a:ext>
              </a:extLst>
            </p:cNvPr>
            <p:cNvSpPr>
              <a:spLocks/>
            </p:cNvSpPr>
            <p:nvPr/>
          </p:nvSpPr>
          <p:spPr bwMode="auto">
            <a:xfrm rot="-8015738" flipH="1" flipV="1">
              <a:off x="1124" y="2140"/>
              <a:ext cx="87" cy="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grpSp>
      <p:pic>
        <p:nvPicPr>
          <p:cNvPr id="218" name="Picture 196" descr="G_SY02_XX_00160P">
            <a:extLst>
              <a:ext uri="{FF2B5EF4-FFF2-40B4-BE49-F238E27FC236}">
                <a16:creationId xmlns="" xmlns:a16="http://schemas.microsoft.com/office/drawing/2014/main" id="{F6C7A536-14C4-6D4E-2B21-BB53FF88F14E}"/>
              </a:ext>
            </a:extLst>
          </p:cNvPr>
          <p:cNvPicPr>
            <a:picLocks noChangeAspect="1" noChangeArrowheads="1"/>
          </p:cNvPicPr>
          <p:nvPr/>
        </p:nvPicPr>
        <p:blipFill>
          <a:blip r:embed="rId57" cstate="print">
            <a:extLst>
              <a:ext uri="{28A0092B-C50C-407E-A947-70E740481C1C}">
                <a14:useLocalDpi xmlns:a14="http://schemas.microsoft.com/office/drawing/2010/main" val="0"/>
              </a:ext>
            </a:extLst>
          </a:blip>
          <a:srcRect/>
          <a:stretch>
            <a:fillRect/>
          </a:stretch>
        </p:blipFill>
        <p:spPr bwMode="auto">
          <a:xfrm>
            <a:off x="1039832" y="3869285"/>
            <a:ext cx="578835" cy="536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9" name="Picture 197" descr="G_SY02_XX_00160P">
            <a:extLst>
              <a:ext uri="{FF2B5EF4-FFF2-40B4-BE49-F238E27FC236}">
                <a16:creationId xmlns="" xmlns:a16="http://schemas.microsoft.com/office/drawing/2014/main" id="{4EC3F705-E370-3DFD-D0E0-6EF7F4D02AA8}"/>
              </a:ext>
            </a:extLst>
          </p:cNvPr>
          <p:cNvPicPr>
            <a:picLocks noChangeAspect="1" noChangeArrowheads="1"/>
          </p:cNvPicPr>
          <p:nvPr/>
        </p:nvPicPr>
        <p:blipFill>
          <a:blip r:embed="rId57" cstate="print">
            <a:extLst>
              <a:ext uri="{28A0092B-C50C-407E-A947-70E740481C1C}">
                <a14:useLocalDpi xmlns:a14="http://schemas.microsoft.com/office/drawing/2010/main" val="0"/>
              </a:ext>
            </a:extLst>
          </a:blip>
          <a:srcRect/>
          <a:stretch>
            <a:fillRect/>
          </a:stretch>
        </p:blipFill>
        <p:spPr bwMode="auto">
          <a:xfrm>
            <a:off x="6084596" y="3876576"/>
            <a:ext cx="601737" cy="5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 name="Text Box 171">
            <a:extLst>
              <a:ext uri="{FF2B5EF4-FFF2-40B4-BE49-F238E27FC236}">
                <a16:creationId xmlns="" xmlns:a16="http://schemas.microsoft.com/office/drawing/2014/main" id="{302ADC6D-C568-1F97-3A44-3FC3B5F7E9F9}"/>
              </a:ext>
            </a:extLst>
          </p:cNvPr>
          <p:cNvSpPr txBox="1">
            <a:spLocks noChangeAspect="1" noChangeArrowheads="1"/>
          </p:cNvSpPr>
          <p:nvPr>
            <p:custDataLst>
              <p:tags r:id="rId36"/>
            </p:custDataLst>
          </p:nvPr>
        </p:nvSpPr>
        <p:spPr bwMode="auto">
          <a:xfrm>
            <a:off x="5964048" y="5082251"/>
            <a:ext cx="759882"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PLC</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22" name="Text Box 171">
            <a:extLst>
              <a:ext uri="{FF2B5EF4-FFF2-40B4-BE49-F238E27FC236}">
                <a16:creationId xmlns="" xmlns:a16="http://schemas.microsoft.com/office/drawing/2014/main" id="{D9C0FEE9-8B9C-5043-D50E-DCECF99498F8}"/>
              </a:ext>
            </a:extLst>
          </p:cNvPr>
          <p:cNvSpPr txBox="1">
            <a:spLocks noChangeAspect="1" noChangeArrowheads="1"/>
          </p:cNvSpPr>
          <p:nvPr>
            <p:custDataLst>
              <p:tags r:id="rId37"/>
            </p:custDataLst>
          </p:nvPr>
        </p:nvSpPr>
        <p:spPr bwMode="auto">
          <a:xfrm>
            <a:off x="4410561" y="3860281"/>
            <a:ext cx="91216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US"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Router</a:t>
            </a:r>
            <a:r>
              <a:rPr lang="en-US" altLang="zh-CN" sz="999" b="0" kern="0" dirty="0">
                <a:solidFill>
                  <a:srgbClr val="000000"/>
                </a:solidFill>
                <a:latin typeface="Siemens Sans Global" pitchFamily="2" charset="-122"/>
                <a:ea typeface="Siemens Sans Global" pitchFamily="2" charset="-122"/>
                <a:cs typeface="Siemens Sans Global" pitchFamily="2" charset="-122"/>
              </a:rPr>
              <a:t>/Switch</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223" name="图片 12">
            <a:extLst>
              <a:ext uri="{FF2B5EF4-FFF2-40B4-BE49-F238E27FC236}">
                <a16:creationId xmlns="" xmlns:a16="http://schemas.microsoft.com/office/drawing/2014/main" id="{C6647604-C4D5-5BF0-9676-CC28608DC08A}"/>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2938768" y="4685125"/>
            <a:ext cx="834390" cy="834390"/>
          </a:xfrm>
          <a:prstGeom prst="rect">
            <a:avLst/>
          </a:prstGeom>
        </p:spPr>
      </p:pic>
      <p:pic>
        <p:nvPicPr>
          <p:cNvPr id="224" name="图片 13">
            <a:extLst>
              <a:ext uri="{FF2B5EF4-FFF2-40B4-BE49-F238E27FC236}">
                <a16:creationId xmlns="" xmlns:a16="http://schemas.microsoft.com/office/drawing/2014/main" id="{FF873046-868B-A58E-4609-9671D2488C36}"/>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3499397" y="4678773"/>
            <a:ext cx="834390" cy="834390"/>
          </a:xfrm>
          <a:prstGeom prst="rect">
            <a:avLst/>
          </a:prstGeom>
        </p:spPr>
      </p:pic>
      <p:pic>
        <p:nvPicPr>
          <p:cNvPr id="225" name="图片 14">
            <a:extLst>
              <a:ext uri="{FF2B5EF4-FFF2-40B4-BE49-F238E27FC236}">
                <a16:creationId xmlns="" xmlns:a16="http://schemas.microsoft.com/office/drawing/2014/main" id="{C6D49314-08F7-F8ED-C9FD-BE00B9D5937A}"/>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4089224" y="4685125"/>
            <a:ext cx="834390" cy="834390"/>
          </a:xfrm>
          <a:prstGeom prst="rect">
            <a:avLst/>
          </a:prstGeom>
        </p:spPr>
      </p:pic>
      <p:pic>
        <p:nvPicPr>
          <p:cNvPr id="226" name="图片 15">
            <a:extLst>
              <a:ext uri="{FF2B5EF4-FFF2-40B4-BE49-F238E27FC236}">
                <a16:creationId xmlns="" xmlns:a16="http://schemas.microsoft.com/office/drawing/2014/main" id="{0860ABA5-CD82-E97F-0E97-B2FA72B50D23}"/>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1622097" y="4703451"/>
            <a:ext cx="456806" cy="306230"/>
          </a:xfrm>
          <a:prstGeom prst="rect">
            <a:avLst/>
          </a:prstGeom>
        </p:spPr>
      </p:pic>
      <p:pic>
        <p:nvPicPr>
          <p:cNvPr id="227" name="图片 16">
            <a:extLst>
              <a:ext uri="{FF2B5EF4-FFF2-40B4-BE49-F238E27FC236}">
                <a16:creationId xmlns="" xmlns:a16="http://schemas.microsoft.com/office/drawing/2014/main" id="{217BC1CA-8E5E-4CBD-6E16-1112DB89F789}"/>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2056436" y="4703451"/>
            <a:ext cx="456806" cy="306230"/>
          </a:xfrm>
          <a:prstGeom prst="rect">
            <a:avLst/>
          </a:prstGeom>
        </p:spPr>
      </p:pic>
      <p:pic>
        <p:nvPicPr>
          <p:cNvPr id="228" name="图片 17">
            <a:extLst>
              <a:ext uri="{FF2B5EF4-FFF2-40B4-BE49-F238E27FC236}">
                <a16:creationId xmlns="" xmlns:a16="http://schemas.microsoft.com/office/drawing/2014/main" id="{107222B9-51DD-DDE0-ADDD-6BB67DC26612}"/>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2498394" y="4703451"/>
            <a:ext cx="456806" cy="306230"/>
          </a:xfrm>
          <a:prstGeom prst="rect">
            <a:avLst/>
          </a:prstGeom>
        </p:spPr>
      </p:pic>
      <p:sp>
        <p:nvSpPr>
          <p:cNvPr id="232" name="Text Box 59">
            <a:extLst>
              <a:ext uri="{FF2B5EF4-FFF2-40B4-BE49-F238E27FC236}">
                <a16:creationId xmlns="" xmlns:a16="http://schemas.microsoft.com/office/drawing/2014/main" id="{DCD1DAA7-8C01-401E-EDD6-FFCB05E35934}"/>
              </a:ext>
            </a:extLst>
          </p:cNvPr>
          <p:cNvSpPr txBox="1">
            <a:spLocks noChangeAspect="1" noChangeArrowheads="1"/>
          </p:cNvSpPr>
          <p:nvPr>
            <p:custDataLst>
              <p:tags r:id="rId38"/>
            </p:custDataLst>
          </p:nvPr>
        </p:nvSpPr>
        <p:spPr bwMode="auto">
          <a:xfrm>
            <a:off x="3239887" y="4706036"/>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机械臂</a:t>
            </a:r>
            <a:r>
              <a:rPr lang="en-US" altLang="zh-CN" sz="999" b="0" kern="0" dirty="0">
                <a:solidFill>
                  <a:srgbClr val="000000"/>
                </a:solidFill>
                <a:latin typeface="Siemens Sans Global" pitchFamily="2" charset="-122"/>
                <a:ea typeface="Siemens Sans Global" pitchFamily="2" charset="-122"/>
                <a:cs typeface="Siemens Sans Global" pitchFamily="2" charset="-122"/>
              </a:rPr>
              <a:t>(Robot Arm)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33" name="Text Box 59">
            <a:extLst>
              <a:ext uri="{FF2B5EF4-FFF2-40B4-BE49-F238E27FC236}">
                <a16:creationId xmlns="" xmlns:a16="http://schemas.microsoft.com/office/drawing/2014/main" id="{F4BF1BF3-FD5F-AA63-94C4-CE5829246EE5}"/>
              </a:ext>
            </a:extLst>
          </p:cNvPr>
          <p:cNvSpPr txBox="1">
            <a:spLocks noChangeAspect="1" noChangeArrowheads="1"/>
          </p:cNvSpPr>
          <p:nvPr>
            <p:custDataLst>
              <p:tags r:id="rId39"/>
            </p:custDataLst>
          </p:nvPr>
        </p:nvSpPr>
        <p:spPr bwMode="auto">
          <a:xfrm>
            <a:off x="1556402" y="5047123"/>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智能搬运机器人</a:t>
            </a:r>
            <a:r>
              <a:rPr lang="en-US" altLang="zh-CN" sz="999" b="0" kern="0" dirty="0">
                <a:solidFill>
                  <a:srgbClr val="000000"/>
                </a:solidFill>
                <a:latin typeface="Siemens Sans Global" pitchFamily="2" charset="-122"/>
                <a:ea typeface="Siemens Sans Global" pitchFamily="2" charset="-122"/>
                <a:cs typeface="Siemens Sans Global" pitchFamily="2" charset="-122"/>
              </a:rPr>
              <a:t>(AGV)</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8" name="Group 17">
            <a:extLst>
              <a:ext uri="{FF2B5EF4-FFF2-40B4-BE49-F238E27FC236}">
                <a16:creationId xmlns="" xmlns:a16="http://schemas.microsoft.com/office/drawing/2014/main" id="{7E44B891-0ED6-6EDD-776F-543EEEFC2C1E}"/>
              </a:ext>
            </a:extLst>
          </p:cNvPr>
          <p:cNvGrpSpPr/>
          <p:nvPr/>
        </p:nvGrpSpPr>
        <p:grpSpPr>
          <a:xfrm>
            <a:off x="8263548" y="2570860"/>
            <a:ext cx="3160667" cy="2903318"/>
            <a:chOff x="1580467" y="2564766"/>
            <a:chExt cx="3343148" cy="2903318"/>
          </a:xfrm>
          <a:solidFill>
            <a:schemeClr val="accent2">
              <a:lumMod val="20000"/>
              <a:lumOff val="80000"/>
              <a:alpha val="50000"/>
            </a:schemeClr>
          </a:solidFill>
        </p:grpSpPr>
        <p:sp>
          <p:nvSpPr>
            <p:cNvPr id="19" name="Rectangle 18">
              <a:extLst>
                <a:ext uri="{FF2B5EF4-FFF2-40B4-BE49-F238E27FC236}">
                  <a16:creationId xmlns="" xmlns:a16="http://schemas.microsoft.com/office/drawing/2014/main" id="{E16FC898-EB8D-BC1D-8468-3EE45D557214}"/>
                </a:ext>
              </a:extLst>
            </p:cNvPr>
            <p:cNvSpPr/>
            <p:nvPr/>
          </p:nvSpPr>
          <p:spPr>
            <a:xfrm>
              <a:off x="3060921" y="2564766"/>
              <a:ext cx="1862694" cy="29033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 xmlns:a16="http://schemas.microsoft.com/office/drawing/2014/main" id="{F70F2FF0-E88C-1604-14AF-3A22B11A2CFF}"/>
                </a:ext>
              </a:extLst>
            </p:cNvPr>
            <p:cNvSpPr/>
            <p:nvPr/>
          </p:nvSpPr>
          <p:spPr>
            <a:xfrm>
              <a:off x="1580467" y="4633694"/>
              <a:ext cx="1483710" cy="8343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AutoShape 20">
            <a:extLst>
              <a:ext uri="{FF2B5EF4-FFF2-40B4-BE49-F238E27FC236}">
                <a16:creationId xmlns="" xmlns:a16="http://schemas.microsoft.com/office/drawing/2014/main" id="{AF57CFFF-AB6C-C67A-F34C-504BEDE44FA9}"/>
              </a:ext>
            </a:extLst>
          </p:cNvPr>
          <p:cNvSpPr>
            <a:spLocks noChangeArrowheads="1"/>
          </p:cNvSpPr>
          <p:nvPr/>
        </p:nvSpPr>
        <p:spPr bwMode="auto">
          <a:xfrm>
            <a:off x="7708442" y="4047722"/>
            <a:ext cx="5520784" cy="466590"/>
          </a:xfrm>
          <a:custGeom>
            <a:avLst/>
            <a:gdLst>
              <a:gd name="T0" fmla="*/ 512853179 w 21600"/>
              <a:gd name="T1" fmla="*/ 0 h 21600"/>
              <a:gd name="T2" fmla="*/ 150199481 w 21600"/>
              <a:gd name="T3" fmla="*/ 1476774 h 21600"/>
              <a:gd name="T4" fmla="*/ 0 w 21600"/>
              <a:gd name="T5" fmla="*/ 5042401 h 21600"/>
              <a:gd name="T6" fmla="*/ 150199481 w 21600"/>
              <a:gd name="T7" fmla="*/ 8608051 h 21600"/>
              <a:gd name="T8" fmla="*/ 512853179 w 21600"/>
              <a:gd name="T9" fmla="*/ 10084824 h 21600"/>
              <a:gd name="T10" fmla="*/ 875506931 w 21600"/>
              <a:gd name="T11" fmla="*/ 8608051 h 21600"/>
              <a:gd name="T12" fmla="*/ 1025706358 w 21600"/>
              <a:gd name="T13" fmla="*/ 5042401 h 21600"/>
              <a:gd name="T14" fmla="*/ 875506931 w 21600"/>
              <a:gd name="T15" fmla="*/ 147677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62" y="10800"/>
                </a:moveTo>
                <a:cubicBezTo>
                  <a:pt x="1962" y="15681"/>
                  <a:pt x="5919" y="19638"/>
                  <a:pt x="10800" y="19638"/>
                </a:cubicBezTo>
                <a:cubicBezTo>
                  <a:pt x="15681" y="19638"/>
                  <a:pt x="19638" y="15681"/>
                  <a:pt x="19638" y="10800"/>
                </a:cubicBezTo>
                <a:cubicBezTo>
                  <a:pt x="19638" y="5919"/>
                  <a:pt x="15681" y="1962"/>
                  <a:pt x="10800" y="1962"/>
                </a:cubicBezTo>
                <a:cubicBezTo>
                  <a:pt x="5919" y="1962"/>
                  <a:pt x="1962" y="5919"/>
                  <a:pt x="1962" y="10800"/>
                </a:cubicBezTo>
                <a:close/>
              </a:path>
            </a:pathLst>
          </a:custGeom>
          <a:solidFill>
            <a:srgbClr val="007749"/>
          </a:solidFill>
          <a:ln>
            <a:noFill/>
          </a:ln>
          <a:extLst>
            <a:ext uri="{91240B29-F687-4F45-9708-019B960494DF}">
              <a14:hiddenLine xmlns:a14="http://schemas.microsoft.com/office/drawing/2010/main" w="9525">
                <a:solidFill>
                  <a:srgbClr val="000000"/>
                </a:solidFill>
                <a:round/>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6" name="Line 36">
            <a:extLst>
              <a:ext uri="{FF2B5EF4-FFF2-40B4-BE49-F238E27FC236}">
                <a16:creationId xmlns="" xmlns:a16="http://schemas.microsoft.com/office/drawing/2014/main" id="{828C122C-53C6-2540-D9E8-84C6F09426C3}"/>
              </a:ext>
            </a:extLst>
          </p:cNvPr>
          <p:cNvSpPr>
            <a:spLocks noChangeShapeType="1"/>
          </p:cNvSpPr>
          <p:nvPr/>
        </p:nvSpPr>
        <p:spPr bwMode="auto">
          <a:xfrm flipV="1">
            <a:off x="9720943" y="3305673"/>
            <a:ext cx="1638300"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8" name="Line 39">
            <a:extLst>
              <a:ext uri="{FF2B5EF4-FFF2-40B4-BE49-F238E27FC236}">
                <a16:creationId xmlns="" xmlns:a16="http://schemas.microsoft.com/office/drawing/2014/main" id="{2A0C61DE-EFD3-4C18-A8CE-A34B803ECCAC}"/>
              </a:ext>
            </a:extLst>
          </p:cNvPr>
          <p:cNvSpPr>
            <a:spLocks noChangeAspect="1" noChangeShapeType="1"/>
          </p:cNvSpPr>
          <p:nvPr>
            <p:custDataLst>
              <p:tags r:id="rId40"/>
            </p:custDataLst>
          </p:nvPr>
        </p:nvSpPr>
        <p:spPr bwMode="auto">
          <a:xfrm rot="5400000">
            <a:off x="9840342" y="3688153"/>
            <a:ext cx="779536"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3" name="Line 40">
            <a:extLst>
              <a:ext uri="{FF2B5EF4-FFF2-40B4-BE49-F238E27FC236}">
                <a16:creationId xmlns="" xmlns:a16="http://schemas.microsoft.com/office/drawing/2014/main" id="{1EDE9106-8F82-B29A-8B3B-43CAE4EB9F98}"/>
              </a:ext>
            </a:extLst>
          </p:cNvPr>
          <p:cNvSpPr>
            <a:spLocks noChangeAspect="1" noChangeShapeType="1"/>
          </p:cNvSpPr>
          <p:nvPr>
            <p:custDataLst>
              <p:tags r:id="rId41"/>
            </p:custDataLst>
          </p:nvPr>
        </p:nvSpPr>
        <p:spPr bwMode="auto">
          <a:xfrm rot="5400000">
            <a:off x="10401261" y="3681808"/>
            <a:ext cx="79223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87" name="Picture 41" descr="G_SY02_XX_00155P">
            <a:extLst>
              <a:ext uri="{FF2B5EF4-FFF2-40B4-BE49-F238E27FC236}">
                <a16:creationId xmlns="" xmlns:a16="http://schemas.microsoft.com/office/drawing/2014/main" id="{2278CE8E-EED3-0ADC-7915-C8A8C6FE991B}"/>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9956601" y="3774517"/>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42" descr="G_SY02_XX_00155P">
            <a:extLst>
              <a:ext uri="{FF2B5EF4-FFF2-40B4-BE49-F238E27FC236}">
                <a16:creationId xmlns="" xmlns:a16="http://schemas.microsoft.com/office/drawing/2014/main" id="{D12CDDA4-7C62-A831-03D9-08383F4D5BFC}"/>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10581346" y="3772561"/>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Line 57">
            <a:extLst>
              <a:ext uri="{FF2B5EF4-FFF2-40B4-BE49-F238E27FC236}">
                <a16:creationId xmlns="" xmlns:a16="http://schemas.microsoft.com/office/drawing/2014/main" id="{88E0CAAF-B0EF-4544-FAC9-09A422DBF0CD}"/>
              </a:ext>
            </a:extLst>
          </p:cNvPr>
          <p:cNvSpPr>
            <a:spLocks noChangeAspect="1" noChangeShapeType="1"/>
          </p:cNvSpPr>
          <p:nvPr>
            <p:custDataLst>
              <p:tags r:id="rId42"/>
            </p:custDataLst>
          </p:nvPr>
        </p:nvSpPr>
        <p:spPr bwMode="auto">
          <a:xfrm rot="5400000">
            <a:off x="10358632" y="3218204"/>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97" name="Picture 58">
            <a:extLst>
              <a:ext uri="{FF2B5EF4-FFF2-40B4-BE49-F238E27FC236}">
                <a16:creationId xmlns="" xmlns:a16="http://schemas.microsoft.com/office/drawing/2014/main" id="{B14E76D7-7443-25E4-FE1D-778D74FB0B3A}"/>
              </a:ext>
            </a:extLst>
          </p:cNvPr>
          <p:cNvPicPr>
            <a:picLocks noChangeAspect="1" noChangeArrowheads="1"/>
          </p:cNvPicPr>
          <p:nvPr>
            <p:custDataLst>
              <p:tags r:id="rId43"/>
            </p:custDataLst>
          </p:nvPr>
        </p:nvPicPr>
        <p:blipFill>
          <a:blip r:embed="rId50">
            <a:extLst>
              <a:ext uri="{28A0092B-C50C-407E-A947-70E740481C1C}">
                <a14:useLocalDpi xmlns:a14="http://schemas.microsoft.com/office/drawing/2010/main" val="0"/>
              </a:ext>
            </a:extLst>
          </a:blip>
          <a:srcRect/>
          <a:stretch>
            <a:fillRect/>
          </a:stretch>
        </p:blipFill>
        <p:spPr bwMode="auto">
          <a:xfrm>
            <a:off x="10073867" y="2865404"/>
            <a:ext cx="730251" cy="31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Text Box 59">
            <a:extLst>
              <a:ext uri="{FF2B5EF4-FFF2-40B4-BE49-F238E27FC236}">
                <a16:creationId xmlns="" xmlns:a16="http://schemas.microsoft.com/office/drawing/2014/main" id="{DC8A253F-C7E6-1E3F-B45A-CD47AC9A99FB}"/>
              </a:ext>
            </a:extLst>
          </p:cNvPr>
          <p:cNvSpPr txBox="1">
            <a:spLocks noChangeAspect="1" noChangeArrowheads="1"/>
          </p:cNvSpPr>
          <p:nvPr>
            <p:custDataLst>
              <p:tags r:id="rId44"/>
            </p:custDataLst>
          </p:nvPr>
        </p:nvSpPr>
        <p:spPr bwMode="auto">
          <a:xfrm>
            <a:off x="9923584" y="2647882"/>
            <a:ext cx="107738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作业</a:t>
            </a:r>
            <a:r>
              <a:rPr kumimoji="0" lang="zh-CN" altLang="en-US"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调度</a:t>
            </a:r>
            <a:r>
              <a:rPr lang="zh-CN" altLang="en-US" sz="999" b="0" kern="0" dirty="0">
                <a:solidFill>
                  <a:srgbClr val="000000"/>
                </a:solidFill>
                <a:latin typeface="Siemens Sans Global" pitchFamily="2" charset="-122"/>
                <a:ea typeface="Siemens Sans Global" pitchFamily="2" charset="-122"/>
                <a:cs typeface="Siemens Sans Global" pitchFamily="2" charset="-122"/>
              </a:rPr>
              <a:t>服务器</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21" name="Group 104">
            <a:extLst>
              <a:ext uri="{FF2B5EF4-FFF2-40B4-BE49-F238E27FC236}">
                <a16:creationId xmlns="" xmlns:a16="http://schemas.microsoft.com/office/drawing/2014/main" id="{0BA74DAA-A6A2-FED2-7159-3C5C84FB3272}"/>
              </a:ext>
            </a:extLst>
          </p:cNvPr>
          <p:cNvGrpSpPr>
            <a:grpSpLocks noChangeAspect="1"/>
          </p:cNvGrpSpPr>
          <p:nvPr/>
        </p:nvGrpSpPr>
        <p:grpSpPr bwMode="auto">
          <a:xfrm>
            <a:off x="10009518" y="3438633"/>
            <a:ext cx="406400" cy="309474"/>
            <a:chOff x="4450" y="816"/>
            <a:chExt cx="397" cy="514"/>
          </a:xfrm>
        </p:grpSpPr>
        <p:sp>
          <p:nvSpPr>
            <p:cNvPr id="122" name="Freeform 105">
              <a:extLst>
                <a:ext uri="{FF2B5EF4-FFF2-40B4-BE49-F238E27FC236}">
                  <a16:creationId xmlns="" xmlns:a16="http://schemas.microsoft.com/office/drawing/2014/main" id="{5669D2A3-EE21-AA43-1A03-267DDECBC565}"/>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3" name="Freeform 106">
              <a:extLst>
                <a:ext uri="{FF2B5EF4-FFF2-40B4-BE49-F238E27FC236}">
                  <a16:creationId xmlns="" xmlns:a16="http://schemas.microsoft.com/office/drawing/2014/main" id="{FB717D98-7F3C-E5E5-B000-2BEC28DE97AC}"/>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5" name="Freeform 107">
              <a:extLst>
                <a:ext uri="{FF2B5EF4-FFF2-40B4-BE49-F238E27FC236}">
                  <a16:creationId xmlns="" xmlns:a16="http://schemas.microsoft.com/office/drawing/2014/main" id="{7F49DE13-76E9-3CB7-6720-B76FB0EAA2E5}"/>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6" name="Freeform 108">
              <a:extLst>
                <a:ext uri="{FF2B5EF4-FFF2-40B4-BE49-F238E27FC236}">
                  <a16:creationId xmlns="" xmlns:a16="http://schemas.microsoft.com/office/drawing/2014/main" id="{6380B5CD-5E92-981D-5B29-92D11FEB6497}"/>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7" name="Freeform 109">
              <a:extLst>
                <a:ext uri="{FF2B5EF4-FFF2-40B4-BE49-F238E27FC236}">
                  <a16:creationId xmlns="" xmlns:a16="http://schemas.microsoft.com/office/drawing/2014/main" id="{2EF115AF-5407-B7EC-FCEB-CB5ACDED4CEC}"/>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8" name="Freeform 110">
              <a:extLst>
                <a:ext uri="{FF2B5EF4-FFF2-40B4-BE49-F238E27FC236}">
                  <a16:creationId xmlns="" xmlns:a16="http://schemas.microsoft.com/office/drawing/2014/main" id="{27E91822-852C-75B7-D2D7-D96BAECE188C}"/>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9" name="Freeform 111">
              <a:extLst>
                <a:ext uri="{FF2B5EF4-FFF2-40B4-BE49-F238E27FC236}">
                  <a16:creationId xmlns="" xmlns:a16="http://schemas.microsoft.com/office/drawing/2014/main" id="{3F0086A3-D8A4-C504-471B-0DDBE0AFE7D0}"/>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1" name="Freeform 112">
              <a:extLst>
                <a:ext uri="{FF2B5EF4-FFF2-40B4-BE49-F238E27FC236}">
                  <a16:creationId xmlns="" xmlns:a16="http://schemas.microsoft.com/office/drawing/2014/main" id="{D4093E03-1F73-3E19-3E16-B5A60A6CA9E1}"/>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132" name="Group 113">
            <a:extLst>
              <a:ext uri="{FF2B5EF4-FFF2-40B4-BE49-F238E27FC236}">
                <a16:creationId xmlns="" xmlns:a16="http://schemas.microsoft.com/office/drawing/2014/main" id="{7542288F-33F5-75CE-A845-D85CFCF51616}"/>
              </a:ext>
            </a:extLst>
          </p:cNvPr>
          <p:cNvGrpSpPr>
            <a:grpSpLocks noChangeAspect="1"/>
          </p:cNvGrpSpPr>
          <p:nvPr/>
        </p:nvGrpSpPr>
        <p:grpSpPr bwMode="auto">
          <a:xfrm>
            <a:off x="10583591" y="3447845"/>
            <a:ext cx="406400" cy="309474"/>
            <a:chOff x="4450" y="816"/>
            <a:chExt cx="397" cy="514"/>
          </a:xfrm>
        </p:grpSpPr>
        <p:sp>
          <p:nvSpPr>
            <p:cNvPr id="135" name="Freeform 114">
              <a:extLst>
                <a:ext uri="{FF2B5EF4-FFF2-40B4-BE49-F238E27FC236}">
                  <a16:creationId xmlns="" xmlns:a16="http://schemas.microsoft.com/office/drawing/2014/main" id="{CC2224D4-BBFB-1DF5-18E9-766C089CA6AE}"/>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6" name="Freeform 115">
              <a:extLst>
                <a:ext uri="{FF2B5EF4-FFF2-40B4-BE49-F238E27FC236}">
                  <a16:creationId xmlns="" xmlns:a16="http://schemas.microsoft.com/office/drawing/2014/main" id="{B8D0535D-E4AA-BABF-4445-DE76C15A4437}"/>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7" name="Freeform 116">
              <a:extLst>
                <a:ext uri="{FF2B5EF4-FFF2-40B4-BE49-F238E27FC236}">
                  <a16:creationId xmlns="" xmlns:a16="http://schemas.microsoft.com/office/drawing/2014/main" id="{F9EAB2E4-67F3-2BB9-A7D0-EAFC1020E92A}"/>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8" name="Freeform 117">
              <a:extLst>
                <a:ext uri="{FF2B5EF4-FFF2-40B4-BE49-F238E27FC236}">
                  <a16:creationId xmlns="" xmlns:a16="http://schemas.microsoft.com/office/drawing/2014/main" id="{630E06A4-2A3F-742B-ADF5-89B0DFCDE314}"/>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9" name="Freeform 118">
              <a:extLst>
                <a:ext uri="{FF2B5EF4-FFF2-40B4-BE49-F238E27FC236}">
                  <a16:creationId xmlns="" xmlns:a16="http://schemas.microsoft.com/office/drawing/2014/main" id="{42C7FDAF-3391-D82E-8FD3-9A7E7CF50C7E}"/>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0" name="Freeform 119">
              <a:extLst>
                <a:ext uri="{FF2B5EF4-FFF2-40B4-BE49-F238E27FC236}">
                  <a16:creationId xmlns="" xmlns:a16="http://schemas.microsoft.com/office/drawing/2014/main" id="{DF5E033B-2C32-4490-C1ED-5E1B6E354EF6}"/>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1" name="Freeform 120">
              <a:extLst>
                <a:ext uri="{FF2B5EF4-FFF2-40B4-BE49-F238E27FC236}">
                  <a16:creationId xmlns="" xmlns:a16="http://schemas.microsoft.com/office/drawing/2014/main" id="{6EE4EAE9-46EC-7740-34D6-BFF8CC20EF2D}"/>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2" name="Freeform 121">
              <a:extLst>
                <a:ext uri="{FF2B5EF4-FFF2-40B4-BE49-F238E27FC236}">
                  <a16:creationId xmlns="" xmlns:a16="http://schemas.microsoft.com/office/drawing/2014/main" id="{FBA19A1C-B67E-650D-EF1B-BE8F0621CF1F}"/>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pic>
        <p:nvPicPr>
          <p:cNvPr id="236" name="图片 12">
            <a:extLst>
              <a:ext uri="{FF2B5EF4-FFF2-40B4-BE49-F238E27FC236}">
                <a16:creationId xmlns="" xmlns:a16="http://schemas.microsoft.com/office/drawing/2014/main" id="{2919B846-BE78-B4DF-895B-AFF5C1AF87FA}"/>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9559475" y="4691219"/>
            <a:ext cx="834390" cy="834390"/>
          </a:xfrm>
          <a:prstGeom prst="rect">
            <a:avLst/>
          </a:prstGeom>
        </p:spPr>
      </p:pic>
      <p:pic>
        <p:nvPicPr>
          <p:cNvPr id="237" name="图片 13">
            <a:extLst>
              <a:ext uri="{FF2B5EF4-FFF2-40B4-BE49-F238E27FC236}">
                <a16:creationId xmlns="" xmlns:a16="http://schemas.microsoft.com/office/drawing/2014/main" id="{D93E3AD2-9CD9-D8E3-B2D4-99F615B191D8}"/>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10120104" y="4684867"/>
            <a:ext cx="834390" cy="834390"/>
          </a:xfrm>
          <a:prstGeom prst="rect">
            <a:avLst/>
          </a:prstGeom>
        </p:spPr>
      </p:pic>
      <p:pic>
        <p:nvPicPr>
          <p:cNvPr id="238" name="图片 14">
            <a:extLst>
              <a:ext uri="{FF2B5EF4-FFF2-40B4-BE49-F238E27FC236}">
                <a16:creationId xmlns="" xmlns:a16="http://schemas.microsoft.com/office/drawing/2014/main" id="{E3CCA00C-1EE7-1439-6067-9C15006590C3}"/>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10709931" y="4691219"/>
            <a:ext cx="834390" cy="834390"/>
          </a:xfrm>
          <a:prstGeom prst="rect">
            <a:avLst/>
          </a:prstGeom>
        </p:spPr>
      </p:pic>
      <p:pic>
        <p:nvPicPr>
          <p:cNvPr id="239" name="图片 15">
            <a:extLst>
              <a:ext uri="{FF2B5EF4-FFF2-40B4-BE49-F238E27FC236}">
                <a16:creationId xmlns="" xmlns:a16="http://schemas.microsoft.com/office/drawing/2014/main" id="{E5F6F744-4A0B-6AFC-E258-BE3DCD5BF1BE}"/>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8242804" y="4709545"/>
            <a:ext cx="456806" cy="306230"/>
          </a:xfrm>
          <a:prstGeom prst="rect">
            <a:avLst/>
          </a:prstGeom>
        </p:spPr>
      </p:pic>
      <p:pic>
        <p:nvPicPr>
          <p:cNvPr id="240" name="图片 16">
            <a:extLst>
              <a:ext uri="{FF2B5EF4-FFF2-40B4-BE49-F238E27FC236}">
                <a16:creationId xmlns="" xmlns:a16="http://schemas.microsoft.com/office/drawing/2014/main" id="{8F5C9024-8FBD-F2E0-E9F0-3AE6FCF36DCF}"/>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8677143" y="4709545"/>
            <a:ext cx="456806" cy="306230"/>
          </a:xfrm>
          <a:prstGeom prst="rect">
            <a:avLst/>
          </a:prstGeom>
        </p:spPr>
      </p:pic>
      <p:pic>
        <p:nvPicPr>
          <p:cNvPr id="241" name="图片 17">
            <a:extLst>
              <a:ext uri="{FF2B5EF4-FFF2-40B4-BE49-F238E27FC236}">
                <a16:creationId xmlns="" xmlns:a16="http://schemas.microsoft.com/office/drawing/2014/main" id="{2BB6AC3C-59B6-1D5A-8E1A-12A1A71B40D3}"/>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9119101" y="4709545"/>
            <a:ext cx="456806" cy="306230"/>
          </a:xfrm>
          <a:prstGeom prst="rect">
            <a:avLst/>
          </a:prstGeom>
        </p:spPr>
      </p:pic>
      <p:sp>
        <p:nvSpPr>
          <p:cNvPr id="242" name="Text Box 59">
            <a:extLst>
              <a:ext uri="{FF2B5EF4-FFF2-40B4-BE49-F238E27FC236}">
                <a16:creationId xmlns="" xmlns:a16="http://schemas.microsoft.com/office/drawing/2014/main" id="{4E301489-224E-22EA-351F-B5E9FCA5F1D7}"/>
              </a:ext>
            </a:extLst>
          </p:cNvPr>
          <p:cNvSpPr txBox="1">
            <a:spLocks noChangeAspect="1" noChangeArrowheads="1"/>
          </p:cNvSpPr>
          <p:nvPr>
            <p:custDataLst>
              <p:tags r:id="rId45"/>
            </p:custDataLst>
          </p:nvPr>
        </p:nvSpPr>
        <p:spPr bwMode="auto">
          <a:xfrm>
            <a:off x="9860594" y="4712130"/>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机械臂</a:t>
            </a:r>
            <a:r>
              <a:rPr lang="en-US" altLang="zh-CN" sz="999" b="0" kern="0" dirty="0">
                <a:solidFill>
                  <a:srgbClr val="000000"/>
                </a:solidFill>
                <a:latin typeface="Siemens Sans Global" pitchFamily="2" charset="-122"/>
                <a:ea typeface="Siemens Sans Global" pitchFamily="2" charset="-122"/>
                <a:cs typeface="Siemens Sans Global" pitchFamily="2" charset="-122"/>
              </a:rPr>
              <a:t>(Robot Arm)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43" name="Text Box 59">
            <a:extLst>
              <a:ext uri="{FF2B5EF4-FFF2-40B4-BE49-F238E27FC236}">
                <a16:creationId xmlns="" xmlns:a16="http://schemas.microsoft.com/office/drawing/2014/main" id="{2BECA511-8E36-6C30-CB9A-65C23D880FDA}"/>
              </a:ext>
            </a:extLst>
          </p:cNvPr>
          <p:cNvSpPr txBox="1">
            <a:spLocks noChangeAspect="1" noChangeArrowheads="1"/>
          </p:cNvSpPr>
          <p:nvPr>
            <p:custDataLst>
              <p:tags r:id="rId46"/>
            </p:custDataLst>
          </p:nvPr>
        </p:nvSpPr>
        <p:spPr bwMode="auto">
          <a:xfrm>
            <a:off x="8177109" y="5053217"/>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智能搬运机器人</a:t>
            </a:r>
            <a:r>
              <a:rPr lang="en-US" altLang="zh-CN" sz="999" b="0" kern="0" dirty="0">
                <a:solidFill>
                  <a:srgbClr val="000000"/>
                </a:solidFill>
                <a:latin typeface="Siemens Sans Global" pitchFamily="2" charset="-122"/>
                <a:ea typeface="Siemens Sans Global" pitchFamily="2" charset="-122"/>
                <a:cs typeface="Siemens Sans Global" pitchFamily="2" charset="-122"/>
              </a:rPr>
              <a:t>(AGV)</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45" name="TextBox 244">
            <a:extLst>
              <a:ext uri="{FF2B5EF4-FFF2-40B4-BE49-F238E27FC236}">
                <a16:creationId xmlns="" xmlns:a16="http://schemas.microsoft.com/office/drawing/2014/main" id="{24AE5C86-A8AA-6B37-647B-08425B5A97C8}"/>
              </a:ext>
            </a:extLst>
          </p:cNvPr>
          <p:cNvSpPr txBox="1"/>
          <p:nvPr/>
        </p:nvSpPr>
        <p:spPr>
          <a:xfrm>
            <a:off x="11482902" y="4453294"/>
            <a:ext cx="2840438" cy="1024961"/>
          </a:xfrm>
          <a:prstGeom prst="rect">
            <a:avLst/>
          </a:prstGeom>
          <a:noFill/>
        </p:spPr>
        <p:txBody>
          <a:bodyPr wrap="square">
            <a:spAutoFit/>
          </a:bodyPr>
          <a:lstStyle/>
          <a:p>
            <a:pPr indent="457200">
              <a:lnSpc>
                <a:spcPct val="150000"/>
              </a:lnSpc>
            </a:pPr>
            <a:r>
              <a:rPr lang="zh-CN" altLang="en-US" sz="1400" b="1" spc="100" dirty="0">
                <a:solidFill>
                  <a:schemeClr val="tx1">
                    <a:lumMod val="65000"/>
                    <a:lumOff val="35000"/>
                  </a:schemeClr>
                </a:solidFill>
                <a:highlight>
                  <a:srgbClr val="FFFF00"/>
                </a:highlight>
              </a:rPr>
              <a:t>分布式任务执行：多智能体自主完成具体执行动作，并具备一定的自主决策能力</a:t>
            </a:r>
            <a:endParaRPr lang="en-US" sz="1400" b="1" spc="100" dirty="0">
              <a:solidFill>
                <a:schemeClr val="tx1">
                  <a:lumMod val="65000"/>
                  <a:lumOff val="35000"/>
                </a:schemeClr>
              </a:solidFill>
              <a:highlight>
                <a:srgbClr val="FFFF00"/>
              </a:highlight>
            </a:endParaRPr>
          </a:p>
        </p:txBody>
      </p:sp>
      <p:sp>
        <p:nvSpPr>
          <p:cNvPr id="246" name="TextBox 245">
            <a:extLst>
              <a:ext uri="{FF2B5EF4-FFF2-40B4-BE49-F238E27FC236}">
                <a16:creationId xmlns="" xmlns:a16="http://schemas.microsoft.com/office/drawing/2014/main" id="{96D7CB7F-6F4A-387E-BC0F-A602A3E29EFC}"/>
              </a:ext>
            </a:extLst>
          </p:cNvPr>
          <p:cNvSpPr txBox="1"/>
          <p:nvPr/>
        </p:nvSpPr>
        <p:spPr>
          <a:xfrm>
            <a:off x="11366500" y="2536392"/>
            <a:ext cx="2840438" cy="701795"/>
          </a:xfrm>
          <a:prstGeom prst="rect">
            <a:avLst/>
          </a:prstGeom>
          <a:noFill/>
        </p:spPr>
        <p:txBody>
          <a:bodyPr wrap="square">
            <a:spAutoFit/>
          </a:bodyPr>
          <a:lstStyle/>
          <a:p>
            <a:pPr indent="457200">
              <a:lnSpc>
                <a:spcPct val="150000"/>
              </a:lnSpc>
            </a:pPr>
            <a:r>
              <a:rPr lang="zh-CN" altLang="en-US" sz="1400" b="1" spc="100" dirty="0">
                <a:solidFill>
                  <a:schemeClr val="tx1">
                    <a:lumMod val="65000"/>
                    <a:lumOff val="35000"/>
                  </a:schemeClr>
                </a:solidFill>
                <a:highlight>
                  <a:srgbClr val="FFFF00"/>
                </a:highlight>
              </a:rPr>
              <a:t>调度服务器进行任务的集中调度：全局任务规划与分配</a:t>
            </a:r>
            <a:endParaRPr lang="en-US" sz="1400" b="1" spc="100" dirty="0">
              <a:solidFill>
                <a:schemeClr val="tx1">
                  <a:lumMod val="65000"/>
                  <a:lumOff val="35000"/>
                </a:schemeClr>
              </a:solidFill>
              <a:highlight>
                <a:srgbClr val="FFFF00"/>
              </a:highlight>
            </a:endParaRPr>
          </a:p>
        </p:txBody>
      </p:sp>
    </p:spTree>
    <p:extLst>
      <p:ext uri="{BB962C8B-B14F-4D97-AF65-F5344CB8AC3E}">
        <p14:creationId xmlns:p14="http://schemas.microsoft.com/office/powerpoint/2010/main" val="148091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45"/>
                                        </p:tgtEl>
                                        <p:attrNameLst>
                                          <p:attrName>style.visibility</p:attrName>
                                        </p:attrNameLst>
                                      </p:cBhvr>
                                      <p:to>
                                        <p:strVal val="visible"/>
                                      </p:to>
                                    </p:set>
                                    <p:animEffect transition="in" filter="blinds(horizontal)">
                                      <p:cBhvr>
                                        <p:cTn id="14" dur="500"/>
                                        <p:tgtEl>
                                          <p:spTgt spid="145"/>
                                        </p:tgtEl>
                                      </p:cBhvr>
                                    </p:animEffect>
                                  </p:childTnLst>
                                </p:cTn>
                              </p:par>
                              <p:par>
                                <p:cTn id="15" presetID="3" presetClass="entr" presetSubtype="10" fill="hold" nodeType="withEffect">
                                  <p:stCondLst>
                                    <p:cond delay="0"/>
                                  </p:stCondLst>
                                  <p:childTnLst>
                                    <p:set>
                                      <p:cBhvr>
                                        <p:cTn id="16" dur="1" fill="hold">
                                          <p:stCondLst>
                                            <p:cond delay="0"/>
                                          </p:stCondLst>
                                        </p:cTn>
                                        <p:tgtEl>
                                          <p:spTgt spid="154"/>
                                        </p:tgtEl>
                                        <p:attrNameLst>
                                          <p:attrName>style.visibility</p:attrName>
                                        </p:attrNameLst>
                                      </p:cBhvr>
                                      <p:to>
                                        <p:strVal val="visible"/>
                                      </p:to>
                                    </p:set>
                                    <p:animEffect transition="in" filter="blinds(horizontal)">
                                      <p:cBhvr>
                                        <p:cTn id="17" dur="500"/>
                                        <p:tgtEl>
                                          <p:spTgt spid="154"/>
                                        </p:tgtEl>
                                      </p:cBhvr>
                                    </p:animEffect>
                                  </p:childTnLst>
                                </p:cTn>
                              </p:par>
                              <p:par>
                                <p:cTn id="18" presetID="3" presetClass="entr" presetSubtype="10" fill="hold" nodeType="withEffect">
                                  <p:stCondLst>
                                    <p:cond delay="0"/>
                                  </p:stCondLst>
                                  <p:childTnLst>
                                    <p:set>
                                      <p:cBhvr>
                                        <p:cTn id="19" dur="1" fill="hold">
                                          <p:stCondLst>
                                            <p:cond delay="0"/>
                                          </p:stCondLst>
                                        </p:cTn>
                                        <p:tgtEl>
                                          <p:spTgt spid="69"/>
                                        </p:tgtEl>
                                        <p:attrNameLst>
                                          <p:attrName>style.visibility</p:attrName>
                                        </p:attrNameLst>
                                      </p:cBhvr>
                                      <p:to>
                                        <p:strVal val="visible"/>
                                      </p:to>
                                    </p:set>
                                    <p:animEffect transition="in" filter="blinds(horizontal)">
                                      <p:cBhvr>
                                        <p:cTn id="20" dur="500"/>
                                        <p:tgtEl>
                                          <p:spTgt spid="69"/>
                                        </p:tgtEl>
                                      </p:cBhvr>
                                    </p:animEffect>
                                  </p:childTnLst>
                                </p:cTn>
                              </p:par>
                              <p:par>
                                <p:cTn id="21" presetID="3" presetClass="entr" presetSubtype="10"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blinds(horizontal)">
                                      <p:cBhvr>
                                        <p:cTn id="23" dur="500"/>
                                        <p:tgtEl>
                                          <p:spTgt spid="78"/>
                                        </p:tgtEl>
                                      </p:cBhvr>
                                    </p:animEffect>
                                  </p:childTnLst>
                                </p:cTn>
                              </p:par>
                              <p:par>
                                <p:cTn id="24" presetID="3" presetClass="entr" presetSubtype="10" fill="hold" nodeType="withEffect">
                                  <p:stCondLst>
                                    <p:cond delay="0"/>
                                  </p:stCondLst>
                                  <p:childTnLst>
                                    <p:set>
                                      <p:cBhvr>
                                        <p:cTn id="25" dur="1" fill="hold">
                                          <p:stCondLst>
                                            <p:cond delay="0"/>
                                          </p:stCondLst>
                                        </p:cTn>
                                        <p:tgtEl>
                                          <p:spTgt spid="121"/>
                                        </p:tgtEl>
                                        <p:attrNameLst>
                                          <p:attrName>style.visibility</p:attrName>
                                        </p:attrNameLst>
                                      </p:cBhvr>
                                      <p:to>
                                        <p:strVal val="visible"/>
                                      </p:to>
                                    </p:set>
                                    <p:animEffect transition="in" filter="blinds(horizontal)">
                                      <p:cBhvr>
                                        <p:cTn id="26" dur="500"/>
                                        <p:tgtEl>
                                          <p:spTgt spid="121"/>
                                        </p:tgtEl>
                                      </p:cBhvr>
                                    </p:animEffect>
                                  </p:childTnLst>
                                </p:cTn>
                              </p:par>
                              <p:par>
                                <p:cTn id="27" presetID="3" presetClass="entr" presetSubtype="10" fill="hold" nodeType="withEffect">
                                  <p:stCondLst>
                                    <p:cond delay="0"/>
                                  </p:stCondLst>
                                  <p:childTnLst>
                                    <p:set>
                                      <p:cBhvr>
                                        <p:cTn id="28" dur="1" fill="hold">
                                          <p:stCondLst>
                                            <p:cond delay="0"/>
                                          </p:stCondLst>
                                        </p:cTn>
                                        <p:tgtEl>
                                          <p:spTgt spid="132"/>
                                        </p:tgtEl>
                                        <p:attrNameLst>
                                          <p:attrName>style.visibility</p:attrName>
                                        </p:attrNameLst>
                                      </p:cBhvr>
                                      <p:to>
                                        <p:strVal val="visible"/>
                                      </p:to>
                                    </p:set>
                                    <p:animEffect transition="in" filter="blinds(horizontal)">
                                      <p:cBhvr>
                                        <p:cTn id="29"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2A64DCC-0B15-F946-4B82-67E8BD645CE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6593CB93-81BF-BDD3-4A70-20DDD5624722}"/>
              </a:ext>
            </a:extLst>
          </p:cNvPr>
          <p:cNvSpPr>
            <a:spLocks noChangeArrowheads="1"/>
          </p:cNvSpPr>
          <p:nvPr/>
        </p:nvSpPr>
        <p:spPr bwMode="auto">
          <a:xfrm>
            <a:off x="846985" y="2546381"/>
            <a:ext cx="6079132" cy="1271126"/>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 name="Rectangle 6">
            <a:extLst>
              <a:ext uri="{FF2B5EF4-FFF2-40B4-BE49-F238E27FC236}">
                <a16:creationId xmlns="" xmlns:a16="http://schemas.microsoft.com/office/drawing/2014/main" id="{4876C7DC-D4BF-55FD-CF3C-50750E47A5A1}"/>
              </a:ext>
            </a:extLst>
          </p:cNvPr>
          <p:cNvSpPr>
            <a:spLocks noChangeArrowheads="1"/>
          </p:cNvSpPr>
          <p:nvPr/>
        </p:nvSpPr>
        <p:spPr bwMode="auto">
          <a:xfrm>
            <a:off x="846984" y="3876576"/>
            <a:ext cx="6081120" cy="1585153"/>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231" name="Group 230">
            <a:extLst>
              <a:ext uri="{FF2B5EF4-FFF2-40B4-BE49-F238E27FC236}">
                <a16:creationId xmlns="" xmlns:a16="http://schemas.microsoft.com/office/drawing/2014/main" id="{02B53B28-8273-C701-EDC8-CE8172B79BF7}"/>
              </a:ext>
            </a:extLst>
          </p:cNvPr>
          <p:cNvGrpSpPr/>
          <p:nvPr/>
        </p:nvGrpSpPr>
        <p:grpSpPr>
          <a:xfrm>
            <a:off x="1642841" y="2564766"/>
            <a:ext cx="3160667" cy="2903318"/>
            <a:chOff x="1580467" y="2564766"/>
            <a:chExt cx="3343148" cy="2903318"/>
          </a:xfrm>
          <a:solidFill>
            <a:schemeClr val="accent2">
              <a:lumMod val="20000"/>
              <a:lumOff val="80000"/>
              <a:alpha val="50000"/>
            </a:schemeClr>
          </a:solidFill>
        </p:grpSpPr>
        <p:sp>
          <p:nvSpPr>
            <p:cNvPr id="229" name="Rectangle 228">
              <a:extLst>
                <a:ext uri="{FF2B5EF4-FFF2-40B4-BE49-F238E27FC236}">
                  <a16:creationId xmlns="" xmlns:a16="http://schemas.microsoft.com/office/drawing/2014/main" id="{07AAA1CC-CB6C-7169-534F-8BC28957CEC5}"/>
                </a:ext>
              </a:extLst>
            </p:cNvPr>
            <p:cNvSpPr/>
            <p:nvPr/>
          </p:nvSpPr>
          <p:spPr>
            <a:xfrm>
              <a:off x="3060921" y="2564766"/>
              <a:ext cx="1862694" cy="29033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 xmlns:a16="http://schemas.microsoft.com/office/drawing/2014/main" id="{BC115F2A-DED3-E3D4-269D-7317E99E341B}"/>
                </a:ext>
              </a:extLst>
            </p:cNvPr>
            <p:cNvSpPr/>
            <p:nvPr/>
          </p:nvSpPr>
          <p:spPr>
            <a:xfrm>
              <a:off x="1580467" y="4633694"/>
              <a:ext cx="1483710" cy="8343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 xmlns:a16="http://schemas.microsoft.com/office/drawing/2014/main" id="{1DFAEACB-05A8-56FF-593B-7DDAD7FC1F6E}"/>
              </a:ext>
            </a:extLst>
          </p:cNvPr>
          <p:cNvSpPr>
            <a:spLocks noChangeArrowheads="1"/>
          </p:cNvSpPr>
          <p:nvPr/>
        </p:nvSpPr>
        <p:spPr bwMode="auto">
          <a:xfrm>
            <a:off x="857645" y="822855"/>
            <a:ext cx="6071111" cy="841132"/>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 name="Rectangle 89">
            <a:extLst>
              <a:ext uri="{FF2B5EF4-FFF2-40B4-BE49-F238E27FC236}">
                <a16:creationId xmlns="" xmlns:a16="http://schemas.microsoft.com/office/drawing/2014/main" id="{F1886C50-AB6C-6FDC-BD99-1CFED0470C77}"/>
              </a:ext>
            </a:extLst>
          </p:cNvPr>
          <p:cNvSpPr>
            <a:spLocks noChangeArrowheads="1"/>
          </p:cNvSpPr>
          <p:nvPr/>
        </p:nvSpPr>
        <p:spPr bwMode="auto">
          <a:xfrm>
            <a:off x="849102" y="1694140"/>
            <a:ext cx="6079132" cy="812565"/>
          </a:xfrm>
          <a:prstGeom prst="rect">
            <a:avLst/>
          </a:prstGeom>
          <a:solidFill>
            <a:srgbClr val="B6C5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 name="Line 7">
            <a:extLst>
              <a:ext uri="{FF2B5EF4-FFF2-40B4-BE49-F238E27FC236}">
                <a16:creationId xmlns="" xmlns:a16="http://schemas.microsoft.com/office/drawing/2014/main" id="{443AB796-F4C2-FC96-D67E-F1131DFA43EA}"/>
              </a:ext>
            </a:extLst>
          </p:cNvPr>
          <p:cNvSpPr>
            <a:spLocks noChangeShapeType="1"/>
          </p:cNvSpPr>
          <p:nvPr/>
        </p:nvSpPr>
        <p:spPr bwMode="auto">
          <a:xfrm flipV="1">
            <a:off x="871160" y="1594952"/>
            <a:ext cx="5501400"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9" name="Line 11">
            <a:extLst>
              <a:ext uri="{FF2B5EF4-FFF2-40B4-BE49-F238E27FC236}">
                <a16:creationId xmlns="" xmlns:a16="http://schemas.microsoft.com/office/drawing/2014/main" id="{6EB72190-64FC-39CA-EEFA-1B4B585BCA9B}"/>
              </a:ext>
            </a:extLst>
          </p:cNvPr>
          <p:cNvSpPr>
            <a:spLocks noChangeAspect="1" noChangeShapeType="1"/>
          </p:cNvSpPr>
          <p:nvPr>
            <p:custDataLst>
              <p:tags r:id="rId1"/>
            </p:custDataLst>
          </p:nvPr>
        </p:nvSpPr>
        <p:spPr bwMode="auto">
          <a:xfrm rot="5400000">
            <a:off x="3282691" y="1482765"/>
            <a:ext cx="172988"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0" name="Line 13">
            <a:extLst>
              <a:ext uri="{FF2B5EF4-FFF2-40B4-BE49-F238E27FC236}">
                <a16:creationId xmlns="" xmlns:a16="http://schemas.microsoft.com/office/drawing/2014/main" id="{3BD130AB-D15F-F718-2E46-07388D044316}"/>
              </a:ext>
            </a:extLst>
          </p:cNvPr>
          <p:cNvSpPr>
            <a:spLocks noChangeAspect="1" noChangeShapeType="1"/>
          </p:cNvSpPr>
          <p:nvPr>
            <p:custDataLst>
              <p:tags r:id="rId2"/>
            </p:custDataLst>
          </p:nvPr>
        </p:nvSpPr>
        <p:spPr bwMode="auto">
          <a:xfrm rot="5400000">
            <a:off x="5228814" y="2034559"/>
            <a:ext cx="2287493"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1" name="Text Box 14">
            <a:extLst>
              <a:ext uri="{FF2B5EF4-FFF2-40B4-BE49-F238E27FC236}">
                <a16:creationId xmlns="" xmlns:a16="http://schemas.microsoft.com/office/drawing/2014/main" id="{242809BF-3415-AD0D-903E-BE5CC629E8EA}"/>
              </a:ext>
            </a:extLst>
          </p:cNvPr>
          <p:cNvSpPr txBox="1">
            <a:spLocks noChangeAspect="1" noChangeArrowheads="1"/>
          </p:cNvSpPr>
          <p:nvPr>
            <p:custDataLst>
              <p:tags r:id="rId3"/>
            </p:custDataLst>
          </p:nvPr>
        </p:nvSpPr>
        <p:spPr bwMode="auto">
          <a:xfrm>
            <a:off x="2448227" y="1845185"/>
            <a:ext cx="615950"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SIEM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 name="Text Box 15">
            <a:extLst>
              <a:ext uri="{FF2B5EF4-FFF2-40B4-BE49-F238E27FC236}">
                <a16:creationId xmlns="" xmlns:a16="http://schemas.microsoft.com/office/drawing/2014/main" id="{E1C108F2-83D2-AED4-362E-A25E71DD0C92}"/>
              </a:ext>
            </a:extLst>
          </p:cNvPr>
          <p:cNvSpPr txBox="1">
            <a:spLocks noChangeAspect="1" noChangeArrowheads="1"/>
          </p:cNvSpPr>
          <p:nvPr>
            <p:custDataLst>
              <p:tags r:id="rId4"/>
            </p:custDataLst>
          </p:nvPr>
        </p:nvSpPr>
        <p:spPr bwMode="auto">
          <a:xfrm>
            <a:off x="2549058" y="2648800"/>
            <a:ext cx="472861"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l"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SCADA</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 name="Text Box 16">
            <a:extLst>
              <a:ext uri="{FF2B5EF4-FFF2-40B4-BE49-F238E27FC236}">
                <a16:creationId xmlns="" xmlns:a16="http://schemas.microsoft.com/office/drawing/2014/main" id="{E2317210-D532-444C-7A5D-3B12A02448C6}"/>
              </a:ext>
            </a:extLst>
          </p:cNvPr>
          <p:cNvSpPr txBox="1">
            <a:spLocks noChangeAspect="1" noChangeArrowheads="1"/>
          </p:cNvSpPr>
          <p:nvPr>
            <p:custDataLst>
              <p:tags r:id="rId5"/>
            </p:custDataLst>
          </p:nvPr>
        </p:nvSpPr>
        <p:spPr bwMode="auto">
          <a:xfrm>
            <a:off x="1529110" y="2566386"/>
            <a:ext cx="810683" cy="30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Engineer Station</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 name="Line 18">
            <a:extLst>
              <a:ext uri="{FF2B5EF4-FFF2-40B4-BE49-F238E27FC236}">
                <a16:creationId xmlns="" xmlns:a16="http://schemas.microsoft.com/office/drawing/2014/main" id="{961B81D7-78BC-D47D-3823-F4644D9899DF}"/>
              </a:ext>
            </a:extLst>
          </p:cNvPr>
          <p:cNvSpPr>
            <a:spLocks noChangeAspect="1" noChangeShapeType="1"/>
          </p:cNvSpPr>
          <p:nvPr>
            <p:custDataLst>
              <p:tags r:id="rId6"/>
            </p:custDataLst>
          </p:nvPr>
        </p:nvSpPr>
        <p:spPr bwMode="auto">
          <a:xfrm rot="5400000">
            <a:off x="2733489" y="1510221"/>
            <a:ext cx="16064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15" name="Picture 19" descr="G_SY02_XX_00298P">
            <a:extLst>
              <a:ext uri="{FF2B5EF4-FFF2-40B4-BE49-F238E27FC236}">
                <a16:creationId xmlns="" xmlns:a16="http://schemas.microsoft.com/office/drawing/2014/main" id="{A4BB2B35-A12A-A174-A2F4-7006BB12C02C}"/>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957789" y="1167244"/>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20">
            <a:extLst>
              <a:ext uri="{FF2B5EF4-FFF2-40B4-BE49-F238E27FC236}">
                <a16:creationId xmlns="" xmlns:a16="http://schemas.microsoft.com/office/drawing/2014/main" id="{E936B926-D272-5B5D-803C-56687AB7DC27}"/>
              </a:ext>
            </a:extLst>
          </p:cNvPr>
          <p:cNvSpPr>
            <a:spLocks noChangeArrowheads="1"/>
          </p:cNvSpPr>
          <p:nvPr/>
        </p:nvSpPr>
        <p:spPr bwMode="auto">
          <a:xfrm>
            <a:off x="1087735" y="4041628"/>
            <a:ext cx="5520784" cy="466590"/>
          </a:xfrm>
          <a:custGeom>
            <a:avLst/>
            <a:gdLst>
              <a:gd name="T0" fmla="*/ 512853179 w 21600"/>
              <a:gd name="T1" fmla="*/ 0 h 21600"/>
              <a:gd name="T2" fmla="*/ 150199481 w 21600"/>
              <a:gd name="T3" fmla="*/ 1476774 h 21600"/>
              <a:gd name="T4" fmla="*/ 0 w 21600"/>
              <a:gd name="T5" fmla="*/ 5042401 h 21600"/>
              <a:gd name="T6" fmla="*/ 150199481 w 21600"/>
              <a:gd name="T7" fmla="*/ 8608051 h 21600"/>
              <a:gd name="T8" fmla="*/ 512853179 w 21600"/>
              <a:gd name="T9" fmla="*/ 10084824 h 21600"/>
              <a:gd name="T10" fmla="*/ 875506931 w 21600"/>
              <a:gd name="T11" fmla="*/ 8608051 h 21600"/>
              <a:gd name="T12" fmla="*/ 1025706358 w 21600"/>
              <a:gd name="T13" fmla="*/ 5042401 h 21600"/>
              <a:gd name="T14" fmla="*/ 875506931 w 21600"/>
              <a:gd name="T15" fmla="*/ 147677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62" y="10800"/>
                </a:moveTo>
                <a:cubicBezTo>
                  <a:pt x="1962" y="15681"/>
                  <a:pt x="5919" y="19638"/>
                  <a:pt x="10800" y="19638"/>
                </a:cubicBezTo>
                <a:cubicBezTo>
                  <a:pt x="15681" y="19638"/>
                  <a:pt x="19638" y="15681"/>
                  <a:pt x="19638" y="10800"/>
                </a:cubicBezTo>
                <a:cubicBezTo>
                  <a:pt x="19638" y="5919"/>
                  <a:pt x="15681" y="1962"/>
                  <a:pt x="10800" y="1962"/>
                </a:cubicBezTo>
                <a:cubicBezTo>
                  <a:pt x="5919" y="1962"/>
                  <a:pt x="1962" y="5919"/>
                  <a:pt x="1962" y="10800"/>
                </a:cubicBezTo>
                <a:close/>
              </a:path>
            </a:pathLst>
          </a:custGeom>
          <a:solidFill>
            <a:srgbClr val="007749"/>
          </a:solidFill>
          <a:ln>
            <a:noFill/>
          </a:ln>
          <a:extLst>
            <a:ext uri="{91240B29-F687-4F45-9708-019B960494DF}">
              <a14:hiddenLine xmlns:a14="http://schemas.microsoft.com/office/drawing/2010/main" w="9525">
                <a:solidFill>
                  <a:srgbClr val="000000"/>
                </a:solidFill>
                <a:round/>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7" name="Line 36">
            <a:extLst>
              <a:ext uri="{FF2B5EF4-FFF2-40B4-BE49-F238E27FC236}">
                <a16:creationId xmlns="" xmlns:a16="http://schemas.microsoft.com/office/drawing/2014/main" id="{883C3E14-0392-E640-D697-CB1B80FBB242}"/>
              </a:ext>
            </a:extLst>
          </p:cNvPr>
          <p:cNvSpPr>
            <a:spLocks noChangeShapeType="1"/>
          </p:cNvSpPr>
          <p:nvPr/>
        </p:nvSpPr>
        <p:spPr bwMode="auto">
          <a:xfrm flipV="1">
            <a:off x="871160" y="3299579"/>
            <a:ext cx="5501396"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0" name="Line 39">
            <a:extLst>
              <a:ext uri="{FF2B5EF4-FFF2-40B4-BE49-F238E27FC236}">
                <a16:creationId xmlns="" xmlns:a16="http://schemas.microsoft.com/office/drawing/2014/main" id="{34D99C11-363D-D1EC-CEBF-40019F134557}"/>
              </a:ext>
            </a:extLst>
          </p:cNvPr>
          <p:cNvSpPr>
            <a:spLocks noChangeAspect="1" noChangeShapeType="1"/>
          </p:cNvSpPr>
          <p:nvPr>
            <p:custDataLst>
              <p:tags r:id="rId7"/>
            </p:custDataLst>
          </p:nvPr>
        </p:nvSpPr>
        <p:spPr bwMode="auto">
          <a:xfrm rot="5400000">
            <a:off x="3219635" y="3682059"/>
            <a:ext cx="779536"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1" name="Line 40">
            <a:extLst>
              <a:ext uri="{FF2B5EF4-FFF2-40B4-BE49-F238E27FC236}">
                <a16:creationId xmlns="" xmlns:a16="http://schemas.microsoft.com/office/drawing/2014/main" id="{092AD2DD-E282-1D26-E24D-DAC97CBFF284}"/>
              </a:ext>
            </a:extLst>
          </p:cNvPr>
          <p:cNvSpPr>
            <a:spLocks noChangeAspect="1" noChangeShapeType="1"/>
          </p:cNvSpPr>
          <p:nvPr>
            <p:custDataLst>
              <p:tags r:id="rId8"/>
            </p:custDataLst>
          </p:nvPr>
        </p:nvSpPr>
        <p:spPr bwMode="auto">
          <a:xfrm rot="5400000">
            <a:off x="3780554" y="3675714"/>
            <a:ext cx="79223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22" name="Picture 41" descr="G_SY02_XX_00155P">
            <a:extLst>
              <a:ext uri="{FF2B5EF4-FFF2-40B4-BE49-F238E27FC236}">
                <a16:creationId xmlns="" xmlns:a16="http://schemas.microsoft.com/office/drawing/2014/main" id="{6E8FA5F6-4D02-C06A-86E4-0B2594A63FCB}"/>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3335894" y="3768423"/>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42" descr="G_SY02_XX_00155P">
            <a:extLst>
              <a:ext uri="{FF2B5EF4-FFF2-40B4-BE49-F238E27FC236}">
                <a16:creationId xmlns="" xmlns:a16="http://schemas.microsoft.com/office/drawing/2014/main" id="{53CD3CDD-D0F7-8C4C-6FD1-97CA5DFB96C0}"/>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3960639" y="3766467"/>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45">
            <a:extLst>
              <a:ext uri="{FF2B5EF4-FFF2-40B4-BE49-F238E27FC236}">
                <a16:creationId xmlns="" xmlns:a16="http://schemas.microsoft.com/office/drawing/2014/main" id="{569F1568-C117-FB7F-A6FE-FA1E93D34CDD}"/>
              </a:ext>
            </a:extLst>
          </p:cNvPr>
          <p:cNvSpPr>
            <a:spLocks noChangeAspect="1" noChangeShapeType="1"/>
          </p:cNvSpPr>
          <p:nvPr>
            <p:custDataLst>
              <p:tags r:id="rId9"/>
            </p:custDataLst>
          </p:nvPr>
        </p:nvSpPr>
        <p:spPr bwMode="auto">
          <a:xfrm rot="5400000">
            <a:off x="1836751" y="3212110"/>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30" name="Line 49">
            <a:extLst>
              <a:ext uri="{FF2B5EF4-FFF2-40B4-BE49-F238E27FC236}">
                <a16:creationId xmlns="" xmlns:a16="http://schemas.microsoft.com/office/drawing/2014/main" id="{64F88DC8-3473-5D87-D835-4B265953BFE1}"/>
              </a:ext>
            </a:extLst>
          </p:cNvPr>
          <p:cNvSpPr>
            <a:spLocks noChangeAspect="1" noChangeShapeType="1"/>
          </p:cNvSpPr>
          <p:nvPr>
            <p:custDataLst>
              <p:tags r:id="rId10"/>
            </p:custDataLst>
          </p:nvPr>
        </p:nvSpPr>
        <p:spPr bwMode="auto">
          <a:xfrm rot="5400000">
            <a:off x="1108367" y="3208935"/>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1" name="Picture 50" descr="G_SY02_XX_00298P">
            <a:extLst>
              <a:ext uri="{FF2B5EF4-FFF2-40B4-BE49-F238E27FC236}">
                <a16:creationId xmlns="" xmlns:a16="http://schemas.microsoft.com/office/drawing/2014/main" id="{33F6E16C-510F-A77B-B99E-E865083F8805}"/>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970966" y="2868516"/>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Box 51">
            <a:extLst>
              <a:ext uri="{FF2B5EF4-FFF2-40B4-BE49-F238E27FC236}">
                <a16:creationId xmlns="" xmlns:a16="http://schemas.microsoft.com/office/drawing/2014/main" id="{C8206D23-1A4A-C711-A70A-935D1ADA2DB8}"/>
              </a:ext>
            </a:extLst>
          </p:cNvPr>
          <p:cNvSpPr txBox="1">
            <a:spLocks noChangeAspect="1" noChangeArrowheads="1"/>
          </p:cNvSpPr>
          <p:nvPr>
            <p:custDataLst>
              <p:tags r:id="rId11"/>
            </p:custDataLst>
          </p:nvPr>
        </p:nvSpPr>
        <p:spPr bwMode="auto">
          <a:xfrm>
            <a:off x="807984" y="2579673"/>
            <a:ext cx="810683" cy="30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de-DE" altLang="zh-CN" sz="999" b="0" i="0" u="none" strike="noStrike" kern="0" cap="none" spc="0" normalizeH="0" baseline="0" noProof="0" dirty="0" err="1">
                <a:ln>
                  <a:noFill/>
                </a:ln>
                <a:solidFill>
                  <a:srgbClr val="000000"/>
                </a:solidFill>
                <a:effectLst/>
                <a:uLnTx/>
                <a:uFillTx/>
                <a:latin typeface="Siemens Sans Global" pitchFamily="2" charset="-122"/>
                <a:ea typeface="Siemens Sans Global" pitchFamily="2" charset="-122"/>
                <a:cs typeface="Siemens Sans Global" pitchFamily="2" charset="-122"/>
              </a:rPr>
              <a:t>Maintain</a:t>
            </a:r>
            <a:r>
              <a:rPr kumimoji="0" lang="de-DE"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 Station</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3" name="Picture 52" descr="G_SY02_XX_00298P">
            <a:extLst>
              <a:ext uri="{FF2B5EF4-FFF2-40B4-BE49-F238E27FC236}">
                <a16:creationId xmlns="" xmlns:a16="http://schemas.microsoft.com/office/drawing/2014/main" id="{B99408E4-0BB5-2726-E16B-068DE0FB95AD}"/>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692094" y="2862484"/>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Line 53">
            <a:extLst>
              <a:ext uri="{FF2B5EF4-FFF2-40B4-BE49-F238E27FC236}">
                <a16:creationId xmlns="" xmlns:a16="http://schemas.microsoft.com/office/drawing/2014/main" id="{5D345F73-91B2-F46D-9597-029CF08C09EE}"/>
              </a:ext>
            </a:extLst>
          </p:cNvPr>
          <p:cNvSpPr>
            <a:spLocks noChangeAspect="1" noChangeShapeType="1"/>
          </p:cNvSpPr>
          <p:nvPr>
            <p:custDataLst>
              <p:tags r:id="rId12"/>
            </p:custDataLst>
          </p:nvPr>
        </p:nvSpPr>
        <p:spPr bwMode="auto">
          <a:xfrm rot="5400000">
            <a:off x="2727401" y="3215283"/>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6" name="Picture 55" descr="G_SY02_XX_00298P">
            <a:extLst>
              <a:ext uri="{FF2B5EF4-FFF2-40B4-BE49-F238E27FC236}">
                <a16:creationId xmlns="" xmlns:a16="http://schemas.microsoft.com/office/drawing/2014/main" id="{9CA26801-7521-9186-D0E6-19C345A6FCA3}"/>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64159" y="2868833"/>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Line 57">
            <a:extLst>
              <a:ext uri="{FF2B5EF4-FFF2-40B4-BE49-F238E27FC236}">
                <a16:creationId xmlns="" xmlns:a16="http://schemas.microsoft.com/office/drawing/2014/main" id="{09955F91-DF8E-6B9C-B239-D07EA7C8151A}"/>
              </a:ext>
            </a:extLst>
          </p:cNvPr>
          <p:cNvSpPr>
            <a:spLocks noChangeAspect="1" noChangeShapeType="1"/>
          </p:cNvSpPr>
          <p:nvPr>
            <p:custDataLst>
              <p:tags r:id="rId13"/>
            </p:custDataLst>
          </p:nvPr>
        </p:nvSpPr>
        <p:spPr bwMode="auto">
          <a:xfrm rot="5400000">
            <a:off x="3737925" y="3212110"/>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39" name="Picture 58">
            <a:extLst>
              <a:ext uri="{FF2B5EF4-FFF2-40B4-BE49-F238E27FC236}">
                <a16:creationId xmlns="" xmlns:a16="http://schemas.microsoft.com/office/drawing/2014/main" id="{E1000B48-8DFA-A24C-23F6-437B3E5420C7}"/>
              </a:ext>
            </a:extLst>
          </p:cNvPr>
          <p:cNvPicPr>
            <a:picLocks noChangeAspect="1" noChangeArrowheads="1"/>
          </p:cNvPicPr>
          <p:nvPr>
            <p:custDataLst>
              <p:tags r:id="rId14"/>
            </p:custDataLst>
          </p:nvPr>
        </p:nvPicPr>
        <p:blipFill>
          <a:blip r:embed="rId50">
            <a:extLst>
              <a:ext uri="{28A0092B-C50C-407E-A947-70E740481C1C}">
                <a14:useLocalDpi xmlns:a14="http://schemas.microsoft.com/office/drawing/2010/main" val="0"/>
              </a:ext>
            </a:extLst>
          </a:blip>
          <a:srcRect/>
          <a:stretch>
            <a:fillRect/>
          </a:stretch>
        </p:blipFill>
        <p:spPr bwMode="auto">
          <a:xfrm>
            <a:off x="3453160" y="2859310"/>
            <a:ext cx="730251" cy="31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59">
            <a:extLst>
              <a:ext uri="{FF2B5EF4-FFF2-40B4-BE49-F238E27FC236}">
                <a16:creationId xmlns="" xmlns:a16="http://schemas.microsoft.com/office/drawing/2014/main" id="{DBCA3CDC-4C0E-76E1-2A00-E3B483116308}"/>
              </a:ext>
            </a:extLst>
          </p:cNvPr>
          <p:cNvSpPr txBox="1">
            <a:spLocks noChangeAspect="1" noChangeArrowheads="1"/>
          </p:cNvSpPr>
          <p:nvPr>
            <p:custDataLst>
              <p:tags r:id="rId15"/>
            </p:custDataLst>
          </p:nvPr>
        </p:nvSpPr>
        <p:spPr bwMode="auto">
          <a:xfrm>
            <a:off x="3302877" y="2641788"/>
            <a:ext cx="107738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lvl="0" algn="ctr" eaLnBrk="1" hangingPunct="1">
              <a:buClr>
                <a:srgbClr val="FF9900"/>
              </a:buClr>
              <a:buSzPct val="80000"/>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任务分配服务器</a:t>
            </a:r>
            <a:endParaRPr lang="en-GB" altLang="zh-CN" sz="999" b="0" kern="0" dirty="0">
              <a:solidFill>
                <a:srgbClr val="000000"/>
              </a:solidFill>
              <a:latin typeface="Siemens Sans Global" pitchFamily="2" charset="-122"/>
              <a:ea typeface="Siemens Sans Global" pitchFamily="2" charset="-122"/>
              <a:cs typeface="Siemens Sans Global" pitchFamily="2" charset="-122"/>
            </a:endParaRPr>
          </a:p>
        </p:txBody>
      </p:sp>
      <p:pic>
        <p:nvPicPr>
          <p:cNvPr id="44" name="Picture 67" descr="G_SY02_XX_00298P">
            <a:extLst>
              <a:ext uri="{FF2B5EF4-FFF2-40B4-BE49-F238E27FC236}">
                <a16:creationId xmlns="" xmlns:a16="http://schemas.microsoft.com/office/drawing/2014/main" id="{1CF3CB8C-5D25-4376-C643-5CF0903350EA}"/>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75856" y="1164070"/>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68">
            <a:extLst>
              <a:ext uri="{FF2B5EF4-FFF2-40B4-BE49-F238E27FC236}">
                <a16:creationId xmlns="" xmlns:a16="http://schemas.microsoft.com/office/drawing/2014/main" id="{F1D18DF9-3E4C-BDEF-68E2-E58416A01A28}"/>
              </a:ext>
            </a:extLst>
          </p:cNvPr>
          <p:cNvGrpSpPr>
            <a:grpSpLocks/>
          </p:cNvGrpSpPr>
          <p:nvPr/>
        </p:nvGrpSpPr>
        <p:grpSpPr bwMode="auto">
          <a:xfrm>
            <a:off x="5881824" y="3074784"/>
            <a:ext cx="802217" cy="434850"/>
            <a:chOff x="3447" y="2086"/>
            <a:chExt cx="526" cy="372"/>
          </a:xfrm>
        </p:grpSpPr>
        <p:pic>
          <p:nvPicPr>
            <p:cNvPr id="46" name="Picture 69" descr="airespaceswitch">
              <a:extLst>
                <a:ext uri="{FF2B5EF4-FFF2-40B4-BE49-F238E27FC236}">
                  <a16:creationId xmlns="" xmlns:a16="http://schemas.microsoft.com/office/drawing/2014/main" id="{040BEBB0-460E-435E-5273-0598B4422F05}"/>
                </a:ext>
              </a:extLst>
            </p:cNvPr>
            <p:cNvPicPr>
              <a:picLocks noChangeAspect="1" noChangeArrowheads="1"/>
            </p:cNvPicPr>
            <p:nvPr/>
          </p:nvPicPr>
          <p:blipFill>
            <a:blip r:embed="rId51" cstate="print">
              <a:extLst>
                <a:ext uri="{28A0092B-C50C-407E-A947-70E740481C1C}">
                  <a14:useLocalDpi xmlns:a14="http://schemas.microsoft.com/office/drawing/2010/main" val="0"/>
                </a:ext>
              </a:extLst>
            </a:blip>
            <a:srcRect/>
            <a:stretch>
              <a:fillRect/>
            </a:stretch>
          </p:blipFill>
          <p:spPr bwMode="auto">
            <a:xfrm>
              <a:off x="3447" y="2136"/>
              <a:ext cx="52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70" descr="airespaceswitch">
              <a:extLst>
                <a:ext uri="{FF2B5EF4-FFF2-40B4-BE49-F238E27FC236}">
                  <a16:creationId xmlns="" xmlns:a16="http://schemas.microsoft.com/office/drawing/2014/main" id="{9DBBD7CE-2139-0AF6-FD7D-9417F047ED89}"/>
                </a:ext>
              </a:extLst>
            </p:cNvPr>
            <p:cNvPicPr>
              <a:picLocks noChangeAspect="1" noChangeArrowheads="1"/>
            </p:cNvPicPr>
            <p:nvPr/>
          </p:nvPicPr>
          <p:blipFill>
            <a:blip r:embed="rId51" cstate="print">
              <a:extLst>
                <a:ext uri="{28A0092B-C50C-407E-A947-70E740481C1C}">
                  <a14:useLocalDpi xmlns:a14="http://schemas.microsoft.com/office/drawing/2010/main" val="0"/>
                </a:ext>
              </a:extLst>
            </a:blip>
            <a:srcRect/>
            <a:stretch>
              <a:fillRect/>
            </a:stretch>
          </p:blipFill>
          <p:spPr bwMode="auto">
            <a:xfrm>
              <a:off x="3451" y="2086"/>
              <a:ext cx="52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 name="Line 72">
            <a:extLst>
              <a:ext uri="{FF2B5EF4-FFF2-40B4-BE49-F238E27FC236}">
                <a16:creationId xmlns="" xmlns:a16="http://schemas.microsoft.com/office/drawing/2014/main" id="{34F5EFE3-430A-34AE-9173-87C74139E451}"/>
              </a:ext>
            </a:extLst>
          </p:cNvPr>
          <p:cNvSpPr>
            <a:spLocks noChangeAspect="1" noChangeShapeType="1"/>
          </p:cNvSpPr>
          <p:nvPr>
            <p:custDataLst>
              <p:tags r:id="rId16"/>
            </p:custDataLst>
          </p:nvPr>
        </p:nvSpPr>
        <p:spPr bwMode="auto">
          <a:xfrm rot="5400000">
            <a:off x="2142450" y="1529360"/>
            <a:ext cx="9318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49" name="Picture 73" descr="G_SY02_XX_00298P">
            <a:extLst>
              <a:ext uri="{FF2B5EF4-FFF2-40B4-BE49-F238E27FC236}">
                <a16:creationId xmlns="" xmlns:a16="http://schemas.microsoft.com/office/drawing/2014/main" id="{E667A3F2-04AD-88A4-F2C8-3243456F7A17}"/>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139752" y="1164070"/>
            <a:ext cx="463551"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Line 74">
            <a:extLst>
              <a:ext uri="{FF2B5EF4-FFF2-40B4-BE49-F238E27FC236}">
                <a16:creationId xmlns="" xmlns:a16="http://schemas.microsoft.com/office/drawing/2014/main" id="{85ACC1A1-0E84-F634-1FEC-AE714A6748EC}"/>
              </a:ext>
            </a:extLst>
          </p:cNvPr>
          <p:cNvSpPr>
            <a:spLocks noChangeAspect="1" noChangeShapeType="1"/>
          </p:cNvSpPr>
          <p:nvPr>
            <p:custDataLst>
              <p:tags r:id="rId17"/>
            </p:custDataLst>
          </p:nvPr>
        </p:nvSpPr>
        <p:spPr bwMode="auto">
          <a:xfrm rot="5400000">
            <a:off x="3946001" y="1531472"/>
            <a:ext cx="112683"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51" name="Picture 75" descr="G_SY01_XX_00274V">
            <a:extLst>
              <a:ext uri="{FF2B5EF4-FFF2-40B4-BE49-F238E27FC236}">
                <a16:creationId xmlns="" xmlns:a16="http://schemas.microsoft.com/office/drawing/2014/main" id="{D5C93691-2BAB-184C-3F4F-5342ED18B3FF}"/>
              </a:ext>
            </a:extLst>
          </p:cNvPr>
          <p:cNvPicPr>
            <a:picLocks noChangeAspect="1" noChangeArrowheads="1"/>
          </p:cNvPicPr>
          <p:nvPr>
            <p:custDataLst>
              <p:tags r:id="rId18"/>
            </p:custDataLst>
          </p:nvPr>
        </p:nvPicPr>
        <p:blipFill>
          <a:blip r:embed="rId52" cstate="print">
            <a:extLst>
              <a:ext uri="{28A0092B-C50C-407E-A947-70E740481C1C}">
                <a14:useLocalDpi xmlns:a14="http://schemas.microsoft.com/office/drawing/2010/main" val="0"/>
              </a:ext>
            </a:extLst>
          </a:blip>
          <a:srcRect/>
          <a:stretch>
            <a:fillRect/>
          </a:stretch>
        </p:blipFill>
        <p:spPr bwMode="auto">
          <a:xfrm>
            <a:off x="3762053" y="1159308"/>
            <a:ext cx="486833" cy="31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87">
            <a:extLst>
              <a:ext uri="{FF2B5EF4-FFF2-40B4-BE49-F238E27FC236}">
                <a16:creationId xmlns="" xmlns:a16="http://schemas.microsoft.com/office/drawing/2014/main" id="{CE78073A-F66F-7622-A10E-28FD4DC00814}"/>
              </a:ext>
            </a:extLst>
          </p:cNvPr>
          <p:cNvSpPr txBox="1">
            <a:spLocks noChangeAspect="1" noChangeArrowheads="1"/>
          </p:cNvSpPr>
          <p:nvPr>
            <p:custDataLst>
              <p:tags r:id="rId19"/>
            </p:custDataLst>
          </p:nvPr>
        </p:nvSpPr>
        <p:spPr bwMode="auto">
          <a:xfrm>
            <a:off x="3151733"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sp>
        <p:nvSpPr>
          <p:cNvPr id="55" name="Text Box 88">
            <a:extLst>
              <a:ext uri="{FF2B5EF4-FFF2-40B4-BE49-F238E27FC236}">
                <a16:creationId xmlns="" xmlns:a16="http://schemas.microsoft.com/office/drawing/2014/main" id="{12E61AEA-85FA-E6B9-2676-D55D962A7BA6}"/>
              </a:ext>
            </a:extLst>
          </p:cNvPr>
          <p:cNvSpPr txBox="1">
            <a:spLocks noChangeAspect="1" noChangeArrowheads="1"/>
          </p:cNvSpPr>
          <p:nvPr>
            <p:custDataLst>
              <p:tags r:id="rId20"/>
            </p:custDataLst>
          </p:nvPr>
        </p:nvSpPr>
        <p:spPr bwMode="auto">
          <a:xfrm>
            <a:off x="3774625" y="925761"/>
            <a:ext cx="474261"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Laptop</a:t>
            </a:r>
          </a:p>
        </p:txBody>
      </p:sp>
      <p:sp>
        <p:nvSpPr>
          <p:cNvPr id="57" name="Text Box 92">
            <a:extLst>
              <a:ext uri="{FF2B5EF4-FFF2-40B4-BE49-F238E27FC236}">
                <a16:creationId xmlns="" xmlns:a16="http://schemas.microsoft.com/office/drawing/2014/main" id="{7B943F02-C9AB-A565-8FB1-BB6A28EC4D1E}"/>
              </a:ext>
            </a:extLst>
          </p:cNvPr>
          <p:cNvSpPr txBox="1">
            <a:spLocks noChangeAspect="1" noChangeArrowheads="1"/>
          </p:cNvSpPr>
          <p:nvPr>
            <p:custDataLst>
              <p:tags r:id="rId21"/>
            </p:custDataLst>
          </p:nvPr>
        </p:nvSpPr>
        <p:spPr bwMode="auto">
          <a:xfrm>
            <a:off x="1680579" y="1717946"/>
            <a:ext cx="44080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WEB</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Server</a:t>
            </a:r>
          </a:p>
        </p:txBody>
      </p:sp>
      <p:sp>
        <p:nvSpPr>
          <p:cNvPr id="59" name="Line 94">
            <a:extLst>
              <a:ext uri="{FF2B5EF4-FFF2-40B4-BE49-F238E27FC236}">
                <a16:creationId xmlns="" xmlns:a16="http://schemas.microsoft.com/office/drawing/2014/main" id="{F8093A74-009A-8B68-36B1-DA5B6AB47A58}"/>
              </a:ext>
            </a:extLst>
          </p:cNvPr>
          <p:cNvSpPr>
            <a:spLocks noChangeShapeType="1"/>
          </p:cNvSpPr>
          <p:nvPr/>
        </p:nvSpPr>
        <p:spPr bwMode="auto">
          <a:xfrm flipV="1">
            <a:off x="841640" y="2436567"/>
            <a:ext cx="5530917" cy="13612"/>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0" name="Line 95">
            <a:extLst>
              <a:ext uri="{FF2B5EF4-FFF2-40B4-BE49-F238E27FC236}">
                <a16:creationId xmlns="" xmlns:a16="http://schemas.microsoft.com/office/drawing/2014/main" id="{0664B301-CD95-7E2A-81BF-3457A068E454}"/>
              </a:ext>
            </a:extLst>
          </p:cNvPr>
          <p:cNvSpPr>
            <a:spLocks noChangeAspect="1" noChangeShapeType="1"/>
          </p:cNvSpPr>
          <p:nvPr>
            <p:custDataLst>
              <p:tags r:id="rId22"/>
            </p:custDataLst>
          </p:nvPr>
        </p:nvSpPr>
        <p:spPr bwMode="auto">
          <a:xfrm rot="5400000">
            <a:off x="1069470" y="2374188"/>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1" name="Line 96">
            <a:extLst>
              <a:ext uri="{FF2B5EF4-FFF2-40B4-BE49-F238E27FC236}">
                <a16:creationId xmlns="" xmlns:a16="http://schemas.microsoft.com/office/drawing/2014/main" id="{D6E1B0FB-39EE-ADEB-146A-E943C2FFE489}"/>
              </a:ext>
            </a:extLst>
          </p:cNvPr>
          <p:cNvSpPr>
            <a:spLocks noChangeAspect="1" noChangeShapeType="1"/>
          </p:cNvSpPr>
          <p:nvPr>
            <p:custDataLst>
              <p:tags r:id="rId23"/>
            </p:custDataLst>
          </p:nvPr>
        </p:nvSpPr>
        <p:spPr bwMode="auto">
          <a:xfrm rot="5400000">
            <a:off x="1804752" y="2338484"/>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2" name="Line 97">
            <a:extLst>
              <a:ext uri="{FF2B5EF4-FFF2-40B4-BE49-F238E27FC236}">
                <a16:creationId xmlns="" xmlns:a16="http://schemas.microsoft.com/office/drawing/2014/main" id="{ABD7C9B6-5D58-BABA-99F2-FC03E3397E36}"/>
              </a:ext>
            </a:extLst>
          </p:cNvPr>
          <p:cNvSpPr>
            <a:spLocks noChangeAspect="1" noChangeShapeType="1"/>
          </p:cNvSpPr>
          <p:nvPr>
            <p:custDataLst>
              <p:tags r:id="rId24"/>
            </p:custDataLst>
          </p:nvPr>
        </p:nvSpPr>
        <p:spPr bwMode="auto">
          <a:xfrm rot="5400000">
            <a:off x="2714468" y="2331715"/>
            <a:ext cx="172987"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64" name="Picture 99" descr="G_SY02_XX_00298P">
            <a:extLst>
              <a:ext uri="{FF2B5EF4-FFF2-40B4-BE49-F238E27FC236}">
                <a16:creationId xmlns="" xmlns:a16="http://schemas.microsoft.com/office/drawing/2014/main" id="{749E555D-8DAD-77BB-99FD-884F3AB78DA7}"/>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783073" y="2045061"/>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100" descr="G_SY02_XX_00298P">
            <a:extLst>
              <a:ext uri="{FF2B5EF4-FFF2-40B4-BE49-F238E27FC236}">
                <a16:creationId xmlns="" xmlns:a16="http://schemas.microsoft.com/office/drawing/2014/main" id="{3BD682DD-DB69-0414-8C8F-11E097ABB8F1}"/>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2560612" y="2019485"/>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101" descr="G_SY02_XX_00293P">
            <a:extLst>
              <a:ext uri="{FF2B5EF4-FFF2-40B4-BE49-F238E27FC236}">
                <a16:creationId xmlns="" xmlns:a16="http://schemas.microsoft.com/office/drawing/2014/main" id="{6849853A-9AA8-9863-21CF-BFE4333CD3A7}"/>
              </a:ext>
            </a:extLst>
          </p:cNvPr>
          <p:cNvPicPr>
            <a:picLocks noChangeAspect="1" noChangeArrowheads="1"/>
          </p:cNvPicPr>
          <p:nvPr/>
        </p:nvPicPr>
        <p:blipFill>
          <a:blip r:embed="rId53" cstate="print">
            <a:extLst>
              <a:ext uri="{28A0092B-C50C-407E-A947-70E740481C1C}">
                <a14:useLocalDpi xmlns:a14="http://schemas.microsoft.com/office/drawing/2010/main" val="0"/>
              </a:ext>
            </a:extLst>
          </a:blip>
          <a:srcRect/>
          <a:stretch>
            <a:fillRect/>
          </a:stretch>
        </p:blipFill>
        <p:spPr bwMode="auto">
          <a:xfrm>
            <a:off x="1050529" y="2003613"/>
            <a:ext cx="220133" cy="34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102" descr="G_SY02_XX_00298P">
            <a:extLst>
              <a:ext uri="{FF2B5EF4-FFF2-40B4-BE49-F238E27FC236}">
                <a16:creationId xmlns="" xmlns:a16="http://schemas.microsoft.com/office/drawing/2014/main" id="{C7905DA5-905D-E81E-ABBD-98647C12AD32}"/>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1659399" y="2022659"/>
            <a:ext cx="463550" cy="3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03" descr="Security firewall">
            <a:extLst>
              <a:ext uri="{FF2B5EF4-FFF2-40B4-BE49-F238E27FC236}">
                <a16:creationId xmlns="" xmlns:a16="http://schemas.microsoft.com/office/drawing/2014/main" id="{B434B926-CA28-3359-FF7B-3537471E3100}"/>
              </a:ext>
            </a:extLst>
          </p:cNvPr>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6077151" y="852716"/>
            <a:ext cx="586318" cy="37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 name="Group 104">
            <a:extLst>
              <a:ext uri="{FF2B5EF4-FFF2-40B4-BE49-F238E27FC236}">
                <a16:creationId xmlns="" xmlns:a16="http://schemas.microsoft.com/office/drawing/2014/main" id="{2A834036-74DE-C4AB-F487-7B233FE18540}"/>
              </a:ext>
            </a:extLst>
          </p:cNvPr>
          <p:cNvGrpSpPr>
            <a:grpSpLocks noChangeAspect="1"/>
          </p:cNvGrpSpPr>
          <p:nvPr/>
        </p:nvGrpSpPr>
        <p:grpSpPr bwMode="auto">
          <a:xfrm>
            <a:off x="3388811" y="3432539"/>
            <a:ext cx="406400" cy="309474"/>
            <a:chOff x="4450" y="816"/>
            <a:chExt cx="397" cy="514"/>
          </a:xfrm>
        </p:grpSpPr>
        <p:sp>
          <p:nvSpPr>
            <p:cNvPr id="70" name="Freeform 105">
              <a:extLst>
                <a:ext uri="{FF2B5EF4-FFF2-40B4-BE49-F238E27FC236}">
                  <a16:creationId xmlns="" xmlns:a16="http://schemas.microsoft.com/office/drawing/2014/main" id="{E7A9E71A-F629-A1B9-0E25-CD6A128A56E7}"/>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1" name="Freeform 106">
              <a:extLst>
                <a:ext uri="{FF2B5EF4-FFF2-40B4-BE49-F238E27FC236}">
                  <a16:creationId xmlns="" xmlns:a16="http://schemas.microsoft.com/office/drawing/2014/main" id="{CAA6D0FD-317D-5506-FEDE-4A62AEDC0F45}"/>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2" name="Freeform 107">
              <a:extLst>
                <a:ext uri="{FF2B5EF4-FFF2-40B4-BE49-F238E27FC236}">
                  <a16:creationId xmlns="" xmlns:a16="http://schemas.microsoft.com/office/drawing/2014/main" id="{DB816470-7711-D748-D3A6-E507CFE78592}"/>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3" name="Freeform 108">
              <a:extLst>
                <a:ext uri="{FF2B5EF4-FFF2-40B4-BE49-F238E27FC236}">
                  <a16:creationId xmlns="" xmlns:a16="http://schemas.microsoft.com/office/drawing/2014/main" id="{E109E1C0-5D5B-50CC-44BE-EE73CA40709D}"/>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4" name="Freeform 109">
              <a:extLst>
                <a:ext uri="{FF2B5EF4-FFF2-40B4-BE49-F238E27FC236}">
                  <a16:creationId xmlns="" xmlns:a16="http://schemas.microsoft.com/office/drawing/2014/main" id="{13AA2F96-B881-2A2B-A9CA-1AAF2A1D655B}"/>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5" name="Freeform 110">
              <a:extLst>
                <a:ext uri="{FF2B5EF4-FFF2-40B4-BE49-F238E27FC236}">
                  <a16:creationId xmlns="" xmlns:a16="http://schemas.microsoft.com/office/drawing/2014/main" id="{F9731879-EAF4-9FFD-88CE-CE1E4B52C791}"/>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6" name="Freeform 111">
              <a:extLst>
                <a:ext uri="{FF2B5EF4-FFF2-40B4-BE49-F238E27FC236}">
                  <a16:creationId xmlns="" xmlns:a16="http://schemas.microsoft.com/office/drawing/2014/main" id="{5E705B77-9855-EB0A-08B2-31306674D200}"/>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77" name="Freeform 112">
              <a:extLst>
                <a:ext uri="{FF2B5EF4-FFF2-40B4-BE49-F238E27FC236}">
                  <a16:creationId xmlns="" xmlns:a16="http://schemas.microsoft.com/office/drawing/2014/main" id="{041DD3F1-9E62-8845-56CA-E59C3C30888F}"/>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78" name="Group 113">
            <a:extLst>
              <a:ext uri="{FF2B5EF4-FFF2-40B4-BE49-F238E27FC236}">
                <a16:creationId xmlns="" xmlns:a16="http://schemas.microsoft.com/office/drawing/2014/main" id="{545F2B00-C025-144D-E83A-933F692ABE4C}"/>
              </a:ext>
            </a:extLst>
          </p:cNvPr>
          <p:cNvGrpSpPr>
            <a:grpSpLocks noChangeAspect="1"/>
          </p:cNvGrpSpPr>
          <p:nvPr/>
        </p:nvGrpSpPr>
        <p:grpSpPr bwMode="auto">
          <a:xfrm>
            <a:off x="3962884" y="3441751"/>
            <a:ext cx="406400" cy="309474"/>
            <a:chOff x="4450" y="816"/>
            <a:chExt cx="397" cy="514"/>
          </a:xfrm>
        </p:grpSpPr>
        <p:sp>
          <p:nvSpPr>
            <p:cNvPr id="79" name="Freeform 114">
              <a:extLst>
                <a:ext uri="{FF2B5EF4-FFF2-40B4-BE49-F238E27FC236}">
                  <a16:creationId xmlns="" xmlns:a16="http://schemas.microsoft.com/office/drawing/2014/main" id="{FB5559E3-69B3-1BF5-3A48-CF6A16C30B28}"/>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0" name="Freeform 115">
              <a:extLst>
                <a:ext uri="{FF2B5EF4-FFF2-40B4-BE49-F238E27FC236}">
                  <a16:creationId xmlns="" xmlns:a16="http://schemas.microsoft.com/office/drawing/2014/main" id="{53A327D8-1D1B-AA62-09C8-603203CCA386}"/>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1" name="Freeform 116">
              <a:extLst>
                <a:ext uri="{FF2B5EF4-FFF2-40B4-BE49-F238E27FC236}">
                  <a16:creationId xmlns="" xmlns:a16="http://schemas.microsoft.com/office/drawing/2014/main" id="{24BDE110-5455-F584-A37F-85428EC2B9A9}"/>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2" name="Freeform 117">
              <a:extLst>
                <a:ext uri="{FF2B5EF4-FFF2-40B4-BE49-F238E27FC236}">
                  <a16:creationId xmlns="" xmlns:a16="http://schemas.microsoft.com/office/drawing/2014/main" id="{4555C918-A9F2-1308-E927-53525CA05923}"/>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3" name="Freeform 118">
              <a:extLst>
                <a:ext uri="{FF2B5EF4-FFF2-40B4-BE49-F238E27FC236}">
                  <a16:creationId xmlns="" xmlns:a16="http://schemas.microsoft.com/office/drawing/2014/main" id="{C115AC1D-5CB1-3FE4-BB44-B861A4347EA2}"/>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4" name="Freeform 119">
              <a:extLst>
                <a:ext uri="{FF2B5EF4-FFF2-40B4-BE49-F238E27FC236}">
                  <a16:creationId xmlns="" xmlns:a16="http://schemas.microsoft.com/office/drawing/2014/main" id="{FE70286E-4F24-720F-4631-710E66EEFD9D}"/>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5" name="Freeform 120">
              <a:extLst>
                <a:ext uri="{FF2B5EF4-FFF2-40B4-BE49-F238E27FC236}">
                  <a16:creationId xmlns="" xmlns:a16="http://schemas.microsoft.com/office/drawing/2014/main" id="{2800C404-CC9B-2D53-FAF0-19294B01ABCA}"/>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86" name="Freeform 121">
              <a:extLst>
                <a:ext uri="{FF2B5EF4-FFF2-40B4-BE49-F238E27FC236}">
                  <a16:creationId xmlns="" xmlns:a16="http://schemas.microsoft.com/office/drawing/2014/main" id="{2BCBE90F-60F0-ADE0-FA3C-CDEE603D5BC7}"/>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pic>
        <p:nvPicPr>
          <p:cNvPr id="114" name="Picture 170" descr="G_SY02_XX_00105P">
            <a:extLst>
              <a:ext uri="{FF2B5EF4-FFF2-40B4-BE49-F238E27FC236}">
                <a16:creationId xmlns="" xmlns:a16="http://schemas.microsoft.com/office/drawing/2014/main" id="{D338030E-C3B8-E46C-39EC-96269DBFCDA0}"/>
              </a:ext>
            </a:extLst>
          </p:cNvPr>
          <p:cNvPicPr>
            <a:picLocks noChangeAspect="1" noChangeArrowheads="1"/>
          </p:cNvPicPr>
          <p:nvPr/>
        </p:nvPicPr>
        <p:blipFill>
          <a:blip r:embed="rId55" cstate="print">
            <a:extLst>
              <a:ext uri="{28A0092B-C50C-407E-A947-70E740481C1C}">
                <a14:useLocalDpi xmlns:a14="http://schemas.microsoft.com/office/drawing/2010/main" val="0"/>
              </a:ext>
            </a:extLst>
          </a:blip>
          <a:srcRect/>
          <a:stretch>
            <a:fillRect/>
          </a:stretch>
        </p:blipFill>
        <p:spPr bwMode="auto">
          <a:xfrm>
            <a:off x="5720529" y="4595120"/>
            <a:ext cx="613833" cy="296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171">
            <a:extLst>
              <a:ext uri="{FF2B5EF4-FFF2-40B4-BE49-F238E27FC236}">
                <a16:creationId xmlns="" xmlns:a16="http://schemas.microsoft.com/office/drawing/2014/main" id="{3FB42FFD-4BC3-9EFB-32CC-ECC9E1696B3D}"/>
              </a:ext>
            </a:extLst>
          </p:cNvPr>
          <p:cNvSpPr txBox="1">
            <a:spLocks noChangeAspect="1" noChangeArrowheads="1"/>
          </p:cNvSpPr>
          <p:nvPr>
            <p:custDataLst>
              <p:tags r:id="rId25"/>
            </p:custDataLst>
          </p:nvPr>
        </p:nvSpPr>
        <p:spPr bwMode="auto">
          <a:xfrm>
            <a:off x="6075986" y="4662937"/>
            <a:ext cx="759882"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HMI</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124" name="Picture 184" descr="S7_400_standard_300dpi_CMYK">
            <a:extLst>
              <a:ext uri="{FF2B5EF4-FFF2-40B4-BE49-F238E27FC236}">
                <a16:creationId xmlns="" xmlns:a16="http://schemas.microsoft.com/office/drawing/2014/main" id="{1E967954-03B1-BB2E-C810-CD62D386C744}"/>
              </a:ext>
            </a:extLst>
          </p:cNvPr>
          <p:cNvPicPr>
            <a:picLocks noChangeAspect="1" noChangeArrowheads="1"/>
          </p:cNvPicPr>
          <p:nvPr>
            <p:custDataLst>
              <p:tags r:id="rId26"/>
            </p:custDataLst>
          </p:nvPr>
        </p:nvPicPr>
        <p:blipFill>
          <a:blip r:embed="rId56" cstate="print">
            <a:extLst>
              <a:ext uri="{28A0092B-C50C-407E-A947-70E740481C1C}">
                <a14:useLocalDpi xmlns:a14="http://schemas.microsoft.com/office/drawing/2010/main" val="0"/>
              </a:ext>
            </a:extLst>
          </a:blip>
          <a:srcRect/>
          <a:stretch>
            <a:fillRect/>
          </a:stretch>
        </p:blipFill>
        <p:spPr bwMode="auto">
          <a:xfrm>
            <a:off x="5715192" y="4942651"/>
            <a:ext cx="465666" cy="453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Line 204">
            <a:extLst>
              <a:ext uri="{FF2B5EF4-FFF2-40B4-BE49-F238E27FC236}">
                <a16:creationId xmlns="" xmlns:a16="http://schemas.microsoft.com/office/drawing/2014/main" id="{C160108A-53EF-4D01-7290-BE95E0B8BE2A}"/>
              </a:ext>
            </a:extLst>
          </p:cNvPr>
          <p:cNvSpPr>
            <a:spLocks noChangeAspect="1" noChangeShapeType="1"/>
          </p:cNvSpPr>
          <p:nvPr>
            <p:custDataLst>
              <p:tags r:id="rId27"/>
            </p:custDataLst>
          </p:nvPr>
        </p:nvSpPr>
        <p:spPr bwMode="auto">
          <a:xfrm rot="5400000">
            <a:off x="4974914" y="4789122"/>
            <a:ext cx="66020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3" name="Line 208">
            <a:extLst>
              <a:ext uri="{FF2B5EF4-FFF2-40B4-BE49-F238E27FC236}">
                <a16:creationId xmlns="" xmlns:a16="http://schemas.microsoft.com/office/drawing/2014/main" id="{DE0CCA92-76C6-E48F-D187-FE3459E35F69}"/>
              </a:ext>
            </a:extLst>
          </p:cNvPr>
          <p:cNvSpPr>
            <a:spLocks noChangeAspect="1" noChangeShapeType="1"/>
          </p:cNvSpPr>
          <p:nvPr>
            <p:custDataLst>
              <p:tags r:id="rId28"/>
            </p:custDataLst>
          </p:nvPr>
        </p:nvSpPr>
        <p:spPr bwMode="auto">
          <a:xfrm rot="10800000" flipH="1">
            <a:off x="5317338" y="4782916"/>
            <a:ext cx="403191"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4" name="Line 209">
            <a:extLst>
              <a:ext uri="{FF2B5EF4-FFF2-40B4-BE49-F238E27FC236}">
                <a16:creationId xmlns="" xmlns:a16="http://schemas.microsoft.com/office/drawing/2014/main" id="{7A130761-2600-78F8-82C5-72FA429249CD}"/>
              </a:ext>
            </a:extLst>
          </p:cNvPr>
          <p:cNvSpPr>
            <a:spLocks noChangeAspect="1" noChangeShapeType="1"/>
          </p:cNvSpPr>
          <p:nvPr>
            <p:custDataLst>
              <p:tags r:id="rId29"/>
            </p:custDataLst>
          </p:nvPr>
        </p:nvSpPr>
        <p:spPr bwMode="auto">
          <a:xfrm rot="10800000" flipH="1">
            <a:off x="5317337" y="5102320"/>
            <a:ext cx="40319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45" name="Group 223">
            <a:extLst>
              <a:ext uri="{FF2B5EF4-FFF2-40B4-BE49-F238E27FC236}">
                <a16:creationId xmlns="" xmlns:a16="http://schemas.microsoft.com/office/drawing/2014/main" id="{A208DB6D-9793-5542-B728-0FC35BA834A2}"/>
              </a:ext>
            </a:extLst>
          </p:cNvPr>
          <p:cNvGrpSpPr>
            <a:grpSpLocks noChangeAspect="1"/>
          </p:cNvGrpSpPr>
          <p:nvPr/>
        </p:nvGrpSpPr>
        <p:grpSpPr bwMode="auto">
          <a:xfrm>
            <a:off x="6120679" y="2531825"/>
            <a:ext cx="482600" cy="466590"/>
            <a:chOff x="4450" y="816"/>
            <a:chExt cx="397" cy="514"/>
          </a:xfrm>
        </p:grpSpPr>
        <p:sp>
          <p:nvSpPr>
            <p:cNvPr id="146" name="Freeform 224">
              <a:extLst>
                <a:ext uri="{FF2B5EF4-FFF2-40B4-BE49-F238E27FC236}">
                  <a16:creationId xmlns="" xmlns:a16="http://schemas.microsoft.com/office/drawing/2014/main" id="{735B3740-53B8-2E8B-5E71-FA62FE42D2F3}"/>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7" name="Freeform 225">
              <a:extLst>
                <a:ext uri="{FF2B5EF4-FFF2-40B4-BE49-F238E27FC236}">
                  <a16:creationId xmlns="" xmlns:a16="http://schemas.microsoft.com/office/drawing/2014/main" id="{62FD88B4-B06A-3829-087C-DE5600B2D0D3}"/>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8" name="Freeform 226">
              <a:extLst>
                <a:ext uri="{FF2B5EF4-FFF2-40B4-BE49-F238E27FC236}">
                  <a16:creationId xmlns="" xmlns:a16="http://schemas.microsoft.com/office/drawing/2014/main" id="{DD092270-9FAF-FBE1-1914-3E2A53FC416B}"/>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9" name="Freeform 227">
              <a:extLst>
                <a:ext uri="{FF2B5EF4-FFF2-40B4-BE49-F238E27FC236}">
                  <a16:creationId xmlns="" xmlns:a16="http://schemas.microsoft.com/office/drawing/2014/main" id="{7B2D47DC-79A8-DBEC-2B28-6B938F1939BC}"/>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0" name="Freeform 228">
              <a:extLst>
                <a:ext uri="{FF2B5EF4-FFF2-40B4-BE49-F238E27FC236}">
                  <a16:creationId xmlns="" xmlns:a16="http://schemas.microsoft.com/office/drawing/2014/main" id="{DD829959-B597-ECFC-2649-960805E02B2E}"/>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1" name="Freeform 229">
              <a:extLst>
                <a:ext uri="{FF2B5EF4-FFF2-40B4-BE49-F238E27FC236}">
                  <a16:creationId xmlns="" xmlns:a16="http://schemas.microsoft.com/office/drawing/2014/main" id="{BA9EC011-226E-F263-C0D3-F54D763A48D2}"/>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2" name="Freeform 230">
              <a:extLst>
                <a:ext uri="{FF2B5EF4-FFF2-40B4-BE49-F238E27FC236}">
                  <a16:creationId xmlns="" xmlns:a16="http://schemas.microsoft.com/office/drawing/2014/main" id="{F0967496-0EE6-51CA-C8AD-4E58EFBB645F}"/>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3" name="Freeform 231">
              <a:extLst>
                <a:ext uri="{FF2B5EF4-FFF2-40B4-BE49-F238E27FC236}">
                  <a16:creationId xmlns="" xmlns:a16="http://schemas.microsoft.com/office/drawing/2014/main" id="{E9ABF372-0025-FCBC-5B69-FCFE0E563E2F}"/>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154" name="Group 233">
            <a:extLst>
              <a:ext uri="{FF2B5EF4-FFF2-40B4-BE49-F238E27FC236}">
                <a16:creationId xmlns="" xmlns:a16="http://schemas.microsoft.com/office/drawing/2014/main" id="{60708D90-B98B-BB70-0A13-43A89DA2B830}"/>
              </a:ext>
            </a:extLst>
          </p:cNvPr>
          <p:cNvGrpSpPr>
            <a:grpSpLocks noChangeAspect="1"/>
          </p:cNvGrpSpPr>
          <p:nvPr/>
        </p:nvGrpSpPr>
        <p:grpSpPr bwMode="auto">
          <a:xfrm>
            <a:off x="6101806" y="1678269"/>
            <a:ext cx="482600" cy="466590"/>
            <a:chOff x="4450" y="816"/>
            <a:chExt cx="397" cy="514"/>
          </a:xfrm>
        </p:grpSpPr>
        <p:sp>
          <p:nvSpPr>
            <p:cNvPr id="155" name="Freeform 234">
              <a:extLst>
                <a:ext uri="{FF2B5EF4-FFF2-40B4-BE49-F238E27FC236}">
                  <a16:creationId xmlns="" xmlns:a16="http://schemas.microsoft.com/office/drawing/2014/main" id="{084045BA-CE8B-7A5A-B7AA-E10D800BA591}"/>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6" name="Freeform 235">
              <a:extLst>
                <a:ext uri="{FF2B5EF4-FFF2-40B4-BE49-F238E27FC236}">
                  <a16:creationId xmlns="" xmlns:a16="http://schemas.microsoft.com/office/drawing/2014/main" id="{B009ACC1-7CB4-5BDD-47BE-30E8157845A5}"/>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7" name="Freeform 236">
              <a:extLst>
                <a:ext uri="{FF2B5EF4-FFF2-40B4-BE49-F238E27FC236}">
                  <a16:creationId xmlns="" xmlns:a16="http://schemas.microsoft.com/office/drawing/2014/main" id="{96FF5D3D-4CB8-62A1-B2F1-C05DA8C06227}"/>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8" name="Freeform 237">
              <a:extLst>
                <a:ext uri="{FF2B5EF4-FFF2-40B4-BE49-F238E27FC236}">
                  <a16:creationId xmlns="" xmlns:a16="http://schemas.microsoft.com/office/drawing/2014/main" id="{87889138-4612-F5C0-3F5E-6546D702F4BC}"/>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59" name="Freeform 238">
              <a:extLst>
                <a:ext uri="{FF2B5EF4-FFF2-40B4-BE49-F238E27FC236}">
                  <a16:creationId xmlns="" xmlns:a16="http://schemas.microsoft.com/office/drawing/2014/main" id="{EE031665-3C87-B372-6DBA-F0D1AC8CE620}"/>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0" name="Freeform 239">
              <a:extLst>
                <a:ext uri="{FF2B5EF4-FFF2-40B4-BE49-F238E27FC236}">
                  <a16:creationId xmlns="" xmlns:a16="http://schemas.microsoft.com/office/drawing/2014/main" id="{AD52C222-22A7-4346-7890-81BF292FFCB1}"/>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1" name="Freeform 240">
              <a:extLst>
                <a:ext uri="{FF2B5EF4-FFF2-40B4-BE49-F238E27FC236}">
                  <a16:creationId xmlns="" xmlns:a16="http://schemas.microsoft.com/office/drawing/2014/main" id="{8A0C80F4-65F9-D86D-8134-9530C30B483B}"/>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2" name="Freeform 241">
              <a:extLst>
                <a:ext uri="{FF2B5EF4-FFF2-40B4-BE49-F238E27FC236}">
                  <a16:creationId xmlns="" xmlns:a16="http://schemas.microsoft.com/office/drawing/2014/main" id="{C6D81E56-E0AF-0B25-436A-EF0A7D75A078}"/>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sp>
        <p:nvSpPr>
          <p:cNvPr id="163" name="Line 242">
            <a:extLst>
              <a:ext uri="{FF2B5EF4-FFF2-40B4-BE49-F238E27FC236}">
                <a16:creationId xmlns="" xmlns:a16="http://schemas.microsoft.com/office/drawing/2014/main" id="{E221A5CB-E504-8FC7-6B1B-0C98139E060E}"/>
              </a:ext>
            </a:extLst>
          </p:cNvPr>
          <p:cNvSpPr>
            <a:spLocks noChangeAspect="1" noChangeShapeType="1"/>
          </p:cNvSpPr>
          <p:nvPr>
            <p:custDataLst>
              <p:tags r:id="rId30"/>
            </p:custDataLst>
          </p:nvPr>
        </p:nvSpPr>
        <p:spPr bwMode="auto">
          <a:xfrm rot="5400000">
            <a:off x="1520728" y="1553577"/>
            <a:ext cx="8275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5" name="Line 244">
            <a:extLst>
              <a:ext uri="{FF2B5EF4-FFF2-40B4-BE49-F238E27FC236}">
                <a16:creationId xmlns="" xmlns:a16="http://schemas.microsoft.com/office/drawing/2014/main" id="{7D3955AE-2CA2-12AF-6084-C8EC4F586592}"/>
              </a:ext>
            </a:extLst>
          </p:cNvPr>
          <p:cNvSpPr>
            <a:spLocks noChangeAspect="1" noChangeShapeType="1"/>
          </p:cNvSpPr>
          <p:nvPr>
            <p:custDataLst>
              <p:tags r:id="rId31"/>
            </p:custDataLst>
          </p:nvPr>
        </p:nvSpPr>
        <p:spPr bwMode="auto">
          <a:xfrm rot="5400000">
            <a:off x="3965294" y="2400287"/>
            <a:ext cx="91255"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66" name="Text Box 245">
            <a:extLst>
              <a:ext uri="{FF2B5EF4-FFF2-40B4-BE49-F238E27FC236}">
                <a16:creationId xmlns="" xmlns:a16="http://schemas.microsoft.com/office/drawing/2014/main" id="{27AF8618-8ECF-3AF7-894F-E4D9F1A827FC}"/>
              </a:ext>
            </a:extLst>
          </p:cNvPr>
          <p:cNvSpPr txBox="1">
            <a:spLocks noChangeAspect="1" noChangeArrowheads="1"/>
          </p:cNvSpPr>
          <p:nvPr>
            <p:custDataLst>
              <p:tags r:id="rId32"/>
            </p:custDataLst>
          </p:nvPr>
        </p:nvSpPr>
        <p:spPr bwMode="auto">
          <a:xfrm>
            <a:off x="3848842" y="1837566"/>
            <a:ext cx="33019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MES</a:t>
            </a:r>
          </a:p>
        </p:txBody>
      </p:sp>
      <p:sp>
        <p:nvSpPr>
          <p:cNvPr id="167" name="Text Box 246">
            <a:extLst>
              <a:ext uri="{FF2B5EF4-FFF2-40B4-BE49-F238E27FC236}">
                <a16:creationId xmlns="" xmlns:a16="http://schemas.microsoft.com/office/drawing/2014/main" id="{E3EE4C64-F418-467D-2E7F-68F62730DF75}"/>
              </a:ext>
            </a:extLst>
          </p:cNvPr>
          <p:cNvSpPr txBox="1">
            <a:spLocks noChangeArrowheads="1"/>
          </p:cNvSpPr>
          <p:nvPr/>
        </p:nvSpPr>
        <p:spPr bwMode="auto">
          <a:xfrm>
            <a:off x="1023462" y="1814077"/>
            <a:ext cx="325385"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algn="ctr" eaLnBrk="1" hangingPunct="1">
              <a:buClr>
                <a:srgbClr val="FF9900"/>
              </a:buClr>
              <a:buSzPct val="80000"/>
              <a:buFont typeface="Wingdings" pitchFamily="2" charset="2"/>
              <a:buNone/>
            </a:pPr>
            <a:r>
              <a:rPr lang="en-US" altLang="zh-CN" sz="999" b="0" dirty="0">
                <a:solidFill>
                  <a:srgbClr val="000000"/>
                </a:solidFill>
                <a:latin typeface="Siemens Sans Global" pitchFamily="2" charset="-122"/>
                <a:ea typeface="Siemens Sans Global" pitchFamily="2" charset="-122"/>
                <a:cs typeface="Siemens Sans Global" pitchFamily="2" charset="-122"/>
              </a:rPr>
              <a:t>DNS</a:t>
            </a:r>
          </a:p>
        </p:txBody>
      </p:sp>
      <p:pic>
        <p:nvPicPr>
          <p:cNvPr id="168" name="Picture 247" descr="G_SY02_XX_00293P">
            <a:extLst>
              <a:ext uri="{FF2B5EF4-FFF2-40B4-BE49-F238E27FC236}">
                <a16:creationId xmlns="" xmlns:a16="http://schemas.microsoft.com/office/drawing/2014/main" id="{B4784BBE-2F44-2C82-912B-8D6287E34AAE}"/>
              </a:ext>
            </a:extLst>
          </p:cNvPr>
          <p:cNvPicPr>
            <a:picLocks noChangeAspect="1" noChangeArrowheads="1"/>
          </p:cNvPicPr>
          <p:nvPr/>
        </p:nvPicPr>
        <p:blipFill>
          <a:blip r:embed="rId53" cstate="print">
            <a:extLst>
              <a:ext uri="{28A0092B-C50C-407E-A947-70E740481C1C}">
                <a14:useLocalDpi xmlns:a14="http://schemas.microsoft.com/office/drawing/2010/main" val="0"/>
              </a:ext>
            </a:extLst>
          </a:blip>
          <a:srcRect/>
          <a:stretch>
            <a:fillRect/>
          </a:stretch>
        </p:blipFill>
        <p:spPr bwMode="auto">
          <a:xfrm>
            <a:off x="1447673" y="1156133"/>
            <a:ext cx="220133" cy="34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Text Box 245">
            <a:extLst>
              <a:ext uri="{FF2B5EF4-FFF2-40B4-BE49-F238E27FC236}">
                <a16:creationId xmlns="" xmlns:a16="http://schemas.microsoft.com/office/drawing/2014/main" id="{DB048444-F90F-03B0-FFD5-BCFCCBBBE4BD}"/>
              </a:ext>
            </a:extLst>
          </p:cNvPr>
          <p:cNvSpPr txBox="1">
            <a:spLocks noChangeAspect="1" noChangeArrowheads="1"/>
          </p:cNvSpPr>
          <p:nvPr>
            <p:custDataLst>
              <p:tags r:id="rId33"/>
            </p:custDataLst>
          </p:nvPr>
        </p:nvSpPr>
        <p:spPr bwMode="auto">
          <a:xfrm>
            <a:off x="1409318" y="958242"/>
            <a:ext cx="288515"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en-GB" altLang="zh-CN" sz="999" b="0" kern="0" dirty="0">
                <a:solidFill>
                  <a:srgbClr val="000000"/>
                </a:solidFill>
                <a:latin typeface="Siemens Sans Global" pitchFamily="2" charset="-122"/>
                <a:ea typeface="Siemens Sans Global" pitchFamily="2" charset="-122"/>
                <a:cs typeface="Siemens Sans Global" pitchFamily="2" charset="-122"/>
              </a:rPr>
              <a:t>ERP</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06" name="Text Box 87">
            <a:extLst>
              <a:ext uri="{FF2B5EF4-FFF2-40B4-BE49-F238E27FC236}">
                <a16:creationId xmlns="" xmlns:a16="http://schemas.microsoft.com/office/drawing/2014/main" id="{CA935544-D401-17A7-6825-87E9C1BAA330}"/>
              </a:ext>
            </a:extLst>
          </p:cNvPr>
          <p:cNvSpPr txBox="1">
            <a:spLocks noChangeAspect="1" noChangeArrowheads="1"/>
          </p:cNvSpPr>
          <p:nvPr>
            <p:custDataLst>
              <p:tags r:id="rId34"/>
            </p:custDataLst>
          </p:nvPr>
        </p:nvSpPr>
        <p:spPr bwMode="auto">
          <a:xfrm>
            <a:off x="2626617"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sp>
        <p:nvSpPr>
          <p:cNvPr id="207" name="Text Box 87">
            <a:extLst>
              <a:ext uri="{FF2B5EF4-FFF2-40B4-BE49-F238E27FC236}">
                <a16:creationId xmlns="" xmlns:a16="http://schemas.microsoft.com/office/drawing/2014/main" id="{03090773-D594-0368-F6B9-97E5B89EDE7D}"/>
              </a:ext>
            </a:extLst>
          </p:cNvPr>
          <p:cNvSpPr txBox="1">
            <a:spLocks noChangeAspect="1" noChangeArrowheads="1"/>
          </p:cNvSpPr>
          <p:nvPr>
            <p:custDataLst>
              <p:tags r:id="rId35"/>
            </p:custDataLst>
          </p:nvPr>
        </p:nvSpPr>
        <p:spPr bwMode="auto">
          <a:xfrm>
            <a:off x="2010115" y="853010"/>
            <a:ext cx="424771" cy="30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Office</a:t>
            </a:r>
            <a:b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b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PC</a:t>
            </a:r>
          </a:p>
        </p:txBody>
      </p:sp>
      <p:grpSp>
        <p:nvGrpSpPr>
          <p:cNvPr id="210" name="Group 188">
            <a:extLst>
              <a:ext uri="{FF2B5EF4-FFF2-40B4-BE49-F238E27FC236}">
                <a16:creationId xmlns="" xmlns:a16="http://schemas.microsoft.com/office/drawing/2014/main" id="{59D35CF7-A918-4003-7D98-C1C134655ADC}"/>
              </a:ext>
            </a:extLst>
          </p:cNvPr>
          <p:cNvGrpSpPr>
            <a:grpSpLocks/>
          </p:cNvGrpSpPr>
          <p:nvPr/>
        </p:nvGrpSpPr>
        <p:grpSpPr bwMode="auto">
          <a:xfrm rot="2367133">
            <a:off x="6568862" y="4335760"/>
            <a:ext cx="352167" cy="335531"/>
            <a:chOff x="1133" y="2082"/>
            <a:chExt cx="197" cy="183"/>
          </a:xfrm>
        </p:grpSpPr>
        <p:sp>
          <p:nvSpPr>
            <p:cNvPr id="211" name="Arc 189">
              <a:extLst>
                <a:ext uri="{FF2B5EF4-FFF2-40B4-BE49-F238E27FC236}">
                  <a16:creationId xmlns="" xmlns:a16="http://schemas.microsoft.com/office/drawing/2014/main" id="{D3A4014B-E6C1-8EF9-6748-9A14DF4A3A1D}"/>
                </a:ext>
              </a:extLst>
            </p:cNvPr>
            <p:cNvSpPr>
              <a:spLocks/>
            </p:cNvSpPr>
            <p:nvPr/>
          </p:nvSpPr>
          <p:spPr bwMode="auto">
            <a:xfrm rot="-8015738" flipH="1" flipV="1">
              <a:off x="1161" y="2096"/>
              <a:ext cx="183" cy="155"/>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lIns="36000" tIns="0" rIns="36000" bIns="0" anchor="ctr">
              <a:spAutoFit/>
            </a:bodyPr>
            <a:lstStyle/>
            <a:p>
              <a:endParaRPr lang="en-US"/>
            </a:p>
          </p:txBody>
        </p:sp>
        <p:sp>
          <p:nvSpPr>
            <p:cNvPr id="212" name="Arc 190">
              <a:extLst>
                <a:ext uri="{FF2B5EF4-FFF2-40B4-BE49-F238E27FC236}">
                  <a16:creationId xmlns="" xmlns:a16="http://schemas.microsoft.com/office/drawing/2014/main" id="{B73D87E1-60A7-E1C5-CB06-1A6F69FC3294}"/>
                </a:ext>
              </a:extLst>
            </p:cNvPr>
            <p:cNvSpPr>
              <a:spLocks/>
            </p:cNvSpPr>
            <p:nvPr/>
          </p:nvSpPr>
          <p:spPr bwMode="auto">
            <a:xfrm rot="-8015738" flipH="1" flipV="1">
              <a:off x="1154" y="2125"/>
              <a:ext cx="118" cy="10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sp>
          <p:nvSpPr>
            <p:cNvPr id="213" name="Arc 191">
              <a:extLst>
                <a:ext uri="{FF2B5EF4-FFF2-40B4-BE49-F238E27FC236}">
                  <a16:creationId xmlns="" xmlns:a16="http://schemas.microsoft.com/office/drawing/2014/main" id="{CF794297-C1B3-7BF2-B4C8-E737478A0F61}"/>
                </a:ext>
              </a:extLst>
            </p:cNvPr>
            <p:cNvSpPr>
              <a:spLocks/>
            </p:cNvSpPr>
            <p:nvPr/>
          </p:nvSpPr>
          <p:spPr bwMode="auto">
            <a:xfrm rot="-8015738" flipH="1" flipV="1">
              <a:off x="1124" y="2140"/>
              <a:ext cx="87" cy="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grpSp>
      <p:grpSp>
        <p:nvGrpSpPr>
          <p:cNvPr id="214" name="Group 192">
            <a:extLst>
              <a:ext uri="{FF2B5EF4-FFF2-40B4-BE49-F238E27FC236}">
                <a16:creationId xmlns="" xmlns:a16="http://schemas.microsoft.com/office/drawing/2014/main" id="{8EB4327B-47B5-6875-28F4-90607A7DB8F5}"/>
              </a:ext>
            </a:extLst>
          </p:cNvPr>
          <p:cNvGrpSpPr>
            <a:grpSpLocks/>
          </p:cNvGrpSpPr>
          <p:nvPr/>
        </p:nvGrpSpPr>
        <p:grpSpPr bwMode="auto">
          <a:xfrm rot="17904904" flipH="1">
            <a:off x="878755" y="4389923"/>
            <a:ext cx="338766" cy="322761"/>
            <a:chOff x="1133" y="2082"/>
            <a:chExt cx="197" cy="183"/>
          </a:xfrm>
        </p:grpSpPr>
        <p:sp>
          <p:nvSpPr>
            <p:cNvPr id="215" name="Arc 193">
              <a:extLst>
                <a:ext uri="{FF2B5EF4-FFF2-40B4-BE49-F238E27FC236}">
                  <a16:creationId xmlns="" xmlns:a16="http://schemas.microsoft.com/office/drawing/2014/main" id="{846CAA0B-341A-672C-3B70-A28EE363FDBF}"/>
                </a:ext>
              </a:extLst>
            </p:cNvPr>
            <p:cNvSpPr>
              <a:spLocks/>
            </p:cNvSpPr>
            <p:nvPr/>
          </p:nvSpPr>
          <p:spPr bwMode="auto">
            <a:xfrm rot="-8015738" flipH="1" flipV="1">
              <a:off x="1161" y="2096"/>
              <a:ext cx="183" cy="155"/>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lIns="36000" tIns="0" rIns="36000" bIns="0" anchor="ctr">
              <a:spAutoFit/>
            </a:bodyPr>
            <a:lstStyle/>
            <a:p>
              <a:endParaRPr lang="en-US"/>
            </a:p>
          </p:txBody>
        </p:sp>
        <p:sp>
          <p:nvSpPr>
            <p:cNvPr id="216" name="Arc 194">
              <a:extLst>
                <a:ext uri="{FF2B5EF4-FFF2-40B4-BE49-F238E27FC236}">
                  <a16:creationId xmlns="" xmlns:a16="http://schemas.microsoft.com/office/drawing/2014/main" id="{7F2A1CA4-BA6C-DCE9-62A1-39EB6D736CE5}"/>
                </a:ext>
              </a:extLst>
            </p:cNvPr>
            <p:cNvSpPr>
              <a:spLocks/>
            </p:cNvSpPr>
            <p:nvPr/>
          </p:nvSpPr>
          <p:spPr bwMode="auto">
            <a:xfrm rot="-8015738" flipH="1" flipV="1">
              <a:off x="1154" y="2125"/>
              <a:ext cx="118" cy="10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sp>
          <p:nvSpPr>
            <p:cNvPr id="217" name="Arc 195">
              <a:extLst>
                <a:ext uri="{FF2B5EF4-FFF2-40B4-BE49-F238E27FC236}">
                  <a16:creationId xmlns="" xmlns:a16="http://schemas.microsoft.com/office/drawing/2014/main" id="{12B53DEB-4AC5-3F0F-2E7D-AFF51D7FD42D}"/>
                </a:ext>
              </a:extLst>
            </p:cNvPr>
            <p:cNvSpPr>
              <a:spLocks/>
            </p:cNvSpPr>
            <p:nvPr/>
          </p:nvSpPr>
          <p:spPr bwMode="auto">
            <a:xfrm rot="-8015738" flipH="1" flipV="1">
              <a:off x="1124" y="2140"/>
              <a:ext cx="87" cy="6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lIns="36000" tIns="0" rIns="36000" bIns="0" anchor="ctr">
              <a:spAutoFit/>
            </a:bodyPr>
            <a:lstStyle/>
            <a:p>
              <a:endParaRPr lang="en-US"/>
            </a:p>
          </p:txBody>
        </p:sp>
      </p:grpSp>
      <p:pic>
        <p:nvPicPr>
          <p:cNvPr id="218" name="Picture 196" descr="G_SY02_XX_00160P">
            <a:extLst>
              <a:ext uri="{FF2B5EF4-FFF2-40B4-BE49-F238E27FC236}">
                <a16:creationId xmlns="" xmlns:a16="http://schemas.microsoft.com/office/drawing/2014/main" id="{03F965E7-E573-5AFA-485A-298BB76279AB}"/>
              </a:ext>
            </a:extLst>
          </p:cNvPr>
          <p:cNvPicPr>
            <a:picLocks noChangeAspect="1" noChangeArrowheads="1"/>
          </p:cNvPicPr>
          <p:nvPr/>
        </p:nvPicPr>
        <p:blipFill>
          <a:blip r:embed="rId57" cstate="print">
            <a:extLst>
              <a:ext uri="{28A0092B-C50C-407E-A947-70E740481C1C}">
                <a14:useLocalDpi xmlns:a14="http://schemas.microsoft.com/office/drawing/2010/main" val="0"/>
              </a:ext>
            </a:extLst>
          </a:blip>
          <a:srcRect/>
          <a:stretch>
            <a:fillRect/>
          </a:stretch>
        </p:blipFill>
        <p:spPr bwMode="auto">
          <a:xfrm>
            <a:off x="1039832" y="3869285"/>
            <a:ext cx="578835" cy="536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9" name="Picture 197" descr="G_SY02_XX_00160P">
            <a:extLst>
              <a:ext uri="{FF2B5EF4-FFF2-40B4-BE49-F238E27FC236}">
                <a16:creationId xmlns="" xmlns:a16="http://schemas.microsoft.com/office/drawing/2014/main" id="{B9302652-6605-9BF7-FF44-51F4C308CA7C}"/>
              </a:ext>
            </a:extLst>
          </p:cNvPr>
          <p:cNvPicPr>
            <a:picLocks noChangeAspect="1" noChangeArrowheads="1"/>
          </p:cNvPicPr>
          <p:nvPr/>
        </p:nvPicPr>
        <p:blipFill>
          <a:blip r:embed="rId57" cstate="print">
            <a:extLst>
              <a:ext uri="{28A0092B-C50C-407E-A947-70E740481C1C}">
                <a14:useLocalDpi xmlns:a14="http://schemas.microsoft.com/office/drawing/2010/main" val="0"/>
              </a:ext>
            </a:extLst>
          </a:blip>
          <a:srcRect/>
          <a:stretch>
            <a:fillRect/>
          </a:stretch>
        </p:blipFill>
        <p:spPr bwMode="auto">
          <a:xfrm>
            <a:off x="6084596" y="3876576"/>
            <a:ext cx="601737" cy="5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 name="Text Box 171">
            <a:extLst>
              <a:ext uri="{FF2B5EF4-FFF2-40B4-BE49-F238E27FC236}">
                <a16:creationId xmlns="" xmlns:a16="http://schemas.microsoft.com/office/drawing/2014/main" id="{CFB1A842-ED17-978D-D893-DDBB34F66DF4}"/>
              </a:ext>
            </a:extLst>
          </p:cNvPr>
          <p:cNvSpPr txBox="1">
            <a:spLocks noChangeAspect="1" noChangeArrowheads="1"/>
          </p:cNvSpPr>
          <p:nvPr>
            <p:custDataLst>
              <p:tags r:id="rId36"/>
            </p:custDataLst>
          </p:nvPr>
        </p:nvSpPr>
        <p:spPr bwMode="auto">
          <a:xfrm>
            <a:off x="5964048" y="5082251"/>
            <a:ext cx="759882" cy="15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PLC</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22" name="Text Box 171">
            <a:extLst>
              <a:ext uri="{FF2B5EF4-FFF2-40B4-BE49-F238E27FC236}">
                <a16:creationId xmlns="" xmlns:a16="http://schemas.microsoft.com/office/drawing/2014/main" id="{D4ED3807-D06A-44F1-3EC1-45FFCC112C47}"/>
              </a:ext>
            </a:extLst>
          </p:cNvPr>
          <p:cNvSpPr txBox="1">
            <a:spLocks noChangeAspect="1" noChangeArrowheads="1"/>
          </p:cNvSpPr>
          <p:nvPr>
            <p:custDataLst>
              <p:tags r:id="rId37"/>
            </p:custDataLst>
          </p:nvPr>
        </p:nvSpPr>
        <p:spPr bwMode="auto">
          <a:xfrm>
            <a:off x="4410561" y="3860281"/>
            <a:ext cx="91216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kumimoji="0" lang="en-US"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rPr>
              <a:t>Router</a:t>
            </a:r>
            <a:r>
              <a:rPr lang="en-US" altLang="zh-CN" sz="999" b="0" kern="0" dirty="0">
                <a:solidFill>
                  <a:srgbClr val="000000"/>
                </a:solidFill>
                <a:latin typeface="Siemens Sans Global" pitchFamily="2" charset="-122"/>
                <a:ea typeface="Siemens Sans Global" pitchFamily="2" charset="-122"/>
                <a:cs typeface="Siemens Sans Global" pitchFamily="2" charset="-122"/>
              </a:rPr>
              <a:t>/Switch</a:t>
            </a:r>
            <a:endParaRPr kumimoji="0" lang="zh-CN" altLang="en-GB"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223" name="图片 12">
            <a:extLst>
              <a:ext uri="{FF2B5EF4-FFF2-40B4-BE49-F238E27FC236}">
                <a16:creationId xmlns="" xmlns:a16="http://schemas.microsoft.com/office/drawing/2014/main" id="{BF32D88F-1485-E10C-A272-DFA9D59AEC00}"/>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2938768" y="4685125"/>
            <a:ext cx="834390" cy="834390"/>
          </a:xfrm>
          <a:prstGeom prst="rect">
            <a:avLst/>
          </a:prstGeom>
        </p:spPr>
      </p:pic>
      <p:pic>
        <p:nvPicPr>
          <p:cNvPr id="224" name="图片 13">
            <a:extLst>
              <a:ext uri="{FF2B5EF4-FFF2-40B4-BE49-F238E27FC236}">
                <a16:creationId xmlns="" xmlns:a16="http://schemas.microsoft.com/office/drawing/2014/main" id="{F567822A-EB31-CBBC-7BD1-D6C7604D877C}"/>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3499397" y="4678773"/>
            <a:ext cx="834390" cy="834390"/>
          </a:xfrm>
          <a:prstGeom prst="rect">
            <a:avLst/>
          </a:prstGeom>
        </p:spPr>
      </p:pic>
      <p:pic>
        <p:nvPicPr>
          <p:cNvPr id="225" name="图片 14">
            <a:extLst>
              <a:ext uri="{FF2B5EF4-FFF2-40B4-BE49-F238E27FC236}">
                <a16:creationId xmlns="" xmlns:a16="http://schemas.microsoft.com/office/drawing/2014/main" id="{95ABA045-87A9-D4D7-4B41-C2FF33D43920}"/>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4089224" y="4685125"/>
            <a:ext cx="834390" cy="834390"/>
          </a:xfrm>
          <a:prstGeom prst="rect">
            <a:avLst/>
          </a:prstGeom>
        </p:spPr>
      </p:pic>
      <p:pic>
        <p:nvPicPr>
          <p:cNvPr id="226" name="图片 15">
            <a:extLst>
              <a:ext uri="{FF2B5EF4-FFF2-40B4-BE49-F238E27FC236}">
                <a16:creationId xmlns="" xmlns:a16="http://schemas.microsoft.com/office/drawing/2014/main" id="{B9BE7B8F-3D42-D76B-ED38-DFA781149A05}"/>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1622097" y="4703451"/>
            <a:ext cx="456806" cy="306230"/>
          </a:xfrm>
          <a:prstGeom prst="rect">
            <a:avLst/>
          </a:prstGeom>
        </p:spPr>
      </p:pic>
      <p:pic>
        <p:nvPicPr>
          <p:cNvPr id="227" name="图片 16">
            <a:extLst>
              <a:ext uri="{FF2B5EF4-FFF2-40B4-BE49-F238E27FC236}">
                <a16:creationId xmlns="" xmlns:a16="http://schemas.microsoft.com/office/drawing/2014/main" id="{67876614-2614-82A3-6C84-6702DA545117}"/>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2056436" y="4703451"/>
            <a:ext cx="456806" cy="306230"/>
          </a:xfrm>
          <a:prstGeom prst="rect">
            <a:avLst/>
          </a:prstGeom>
        </p:spPr>
      </p:pic>
      <p:pic>
        <p:nvPicPr>
          <p:cNvPr id="228" name="图片 17">
            <a:extLst>
              <a:ext uri="{FF2B5EF4-FFF2-40B4-BE49-F238E27FC236}">
                <a16:creationId xmlns="" xmlns:a16="http://schemas.microsoft.com/office/drawing/2014/main" id="{49AC844E-2575-6CF1-855A-FA903254EAAB}"/>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2498394" y="4703451"/>
            <a:ext cx="456806" cy="306230"/>
          </a:xfrm>
          <a:prstGeom prst="rect">
            <a:avLst/>
          </a:prstGeom>
        </p:spPr>
      </p:pic>
      <p:sp>
        <p:nvSpPr>
          <p:cNvPr id="232" name="Text Box 59">
            <a:extLst>
              <a:ext uri="{FF2B5EF4-FFF2-40B4-BE49-F238E27FC236}">
                <a16:creationId xmlns="" xmlns:a16="http://schemas.microsoft.com/office/drawing/2014/main" id="{75FDDCC0-8F9A-8EB8-7DBC-64D18A972AD3}"/>
              </a:ext>
            </a:extLst>
          </p:cNvPr>
          <p:cNvSpPr txBox="1">
            <a:spLocks noChangeAspect="1" noChangeArrowheads="1"/>
          </p:cNvSpPr>
          <p:nvPr>
            <p:custDataLst>
              <p:tags r:id="rId38"/>
            </p:custDataLst>
          </p:nvPr>
        </p:nvSpPr>
        <p:spPr bwMode="auto">
          <a:xfrm>
            <a:off x="3239887" y="4706036"/>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机械臂</a:t>
            </a:r>
            <a:r>
              <a:rPr lang="en-US" altLang="zh-CN" sz="999" b="0" kern="0" dirty="0">
                <a:solidFill>
                  <a:srgbClr val="000000"/>
                </a:solidFill>
                <a:latin typeface="Siemens Sans Global" pitchFamily="2" charset="-122"/>
                <a:ea typeface="Siemens Sans Global" pitchFamily="2" charset="-122"/>
                <a:cs typeface="Siemens Sans Global" pitchFamily="2" charset="-122"/>
              </a:rPr>
              <a:t>(Robot Arm)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33" name="Text Box 59">
            <a:extLst>
              <a:ext uri="{FF2B5EF4-FFF2-40B4-BE49-F238E27FC236}">
                <a16:creationId xmlns="" xmlns:a16="http://schemas.microsoft.com/office/drawing/2014/main" id="{ED0F2213-804E-5FEA-EF67-3406C029710D}"/>
              </a:ext>
            </a:extLst>
          </p:cNvPr>
          <p:cNvSpPr txBox="1">
            <a:spLocks noChangeAspect="1" noChangeArrowheads="1"/>
          </p:cNvSpPr>
          <p:nvPr>
            <p:custDataLst>
              <p:tags r:id="rId39"/>
            </p:custDataLst>
          </p:nvPr>
        </p:nvSpPr>
        <p:spPr bwMode="auto">
          <a:xfrm>
            <a:off x="1556402" y="5047123"/>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智能搬运机器人</a:t>
            </a:r>
            <a:r>
              <a:rPr lang="en-US" altLang="zh-CN" sz="999" b="0" kern="0" dirty="0">
                <a:solidFill>
                  <a:srgbClr val="000000"/>
                </a:solidFill>
                <a:latin typeface="Siemens Sans Global" pitchFamily="2" charset="-122"/>
                <a:ea typeface="Siemens Sans Global" pitchFamily="2" charset="-122"/>
                <a:cs typeface="Siemens Sans Global" pitchFamily="2" charset="-122"/>
              </a:rPr>
              <a:t>(AGV)</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8" name="Group 17">
            <a:extLst>
              <a:ext uri="{FF2B5EF4-FFF2-40B4-BE49-F238E27FC236}">
                <a16:creationId xmlns="" xmlns:a16="http://schemas.microsoft.com/office/drawing/2014/main" id="{FF7C8483-DB38-7B8A-26CE-B26F290BE1F8}"/>
              </a:ext>
            </a:extLst>
          </p:cNvPr>
          <p:cNvGrpSpPr/>
          <p:nvPr/>
        </p:nvGrpSpPr>
        <p:grpSpPr>
          <a:xfrm>
            <a:off x="8263548" y="2570860"/>
            <a:ext cx="3160667" cy="2903318"/>
            <a:chOff x="1580467" y="2564766"/>
            <a:chExt cx="3343148" cy="2903318"/>
          </a:xfrm>
          <a:solidFill>
            <a:schemeClr val="accent2">
              <a:lumMod val="20000"/>
              <a:lumOff val="80000"/>
              <a:alpha val="50000"/>
            </a:schemeClr>
          </a:solidFill>
        </p:grpSpPr>
        <p:sp>
          <p:nvSpPr>
            <p:cNvPr id="19" name="Rectangle 18">
              <a:extLst>
                <a:ext uri="{FF2B5EF4-FFF2-40B4-BE49-F238E27FC236}">
                  <a16:creationId xmlns="" xmlns:a16="http://schemas.microsoft.com/office/drawing/2014/main" id="{F32881E2-5772-C299-9CE2-47F22EB22D25}"/>
                </a:ext>
              </a:extLst>
            </p:cNvPr>
            <p:cNvSpPr/>
            <p:nvPr/>
          </p:nvSpPr>
          <p:spPr>
            <a:xfrm>
              <a:off x="3060921" y="2564766"/>
              <a:ext cx="1862694" cy="290331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 xmlns:a16="http://schemas.microsoft.com/office/drawing/2014/main" id="{21A1DB77-778E-87D9-A4DF-7A5AD994D2EA}"/>
                </a:ext>
              </a:extLst>
            </p:cNvPr>
            <p:cNvSpPr/>
            <p:nvPr/>
          </p:nvSpPr>
          <p:spPr>
            <a:xfrm>
              <a:off x="1580467" y="4633694"/>
              <a:ext cx="1483710" cy="83439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AutoShape 20">
            <a:extLst>
              <a:ext uri="{FF2B5EF4-FFF2-40B4-BE49-F238E27FC236}">
                <a16:creationId xmlns="" xmlns:a16="http://schemas.microsoft.com/office/drawing/2014/main" id="{B273B917-00DB-2503-CBF8-847632D8EF8B}"/>
              </a:ext>
            </a:extLst>
          </p:cNvPr>
          <p:cNvSpPr>
            <a:spLocks noChangeArrowheads="1"/>
          </p:cNvSpPr>
          <p:nvPr/>
        </p:nvSpPr>
        <p:spPr bwMode="auto">
          <a:xfrm>
            <a:off x="7708442" y="4047722"/>
            <a:ext cx="5520784" cy="466590"/>
          </a:xfrm>
          <a:custGeom>
            <a:avLst/>
            <a:gdLst>
              <a:gd name="T0" fmla="*/ 512853179 w 21600"/>
              <a:gd name="T1" fmla="*/ 0 h 21600"/>
              <a:gd name="T2" fmla="*/ 150199481 w 21600"/>
              <a:gd name="T3" fmla="*/ 1476774 h 21600"/>
              <a:gd name="T4" fmla="*/ 0 w 21600"/>
              <a:gd name="T5" fmla="*/ 5042401 h 21600"/>
              <a:gd name="T6" fmla="*/ 150199481 w 21600"/>
              <a:gd name="T7" fmla="*/ 8608051 h 21600"/>
              <a:gd name="T8" fmla="*/ 512853179 w 21600"/>
              <a:gd name="T9" fmla="*/ 10084824 h 21600"/>
              <a:gd name="T10" fmla="*/ 875506931 w 21600"/>
              <a:gd name="T11" fmla="*/ 8608051 h 21600"/>
              <a:gd name="T12" fmla="*/ 1025706358 w 21600"/>
              <a:gd name="T13" fmla="*/ 5042401 h 21600"/>
              <a:gd name="T14" fmla="*/ 875506931 w 21600"/>
              <a:gd name="T15" fmla="*/ 147677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62" y="10800"/>
                </a:moveTo>
                <a:cubicBezTo>
                  <a:pt x="1962" y="15681"/>
                  <a:pt x="5919" y="19638"/>
                  <a:pt x="10800" y="19638"/>
                </a:cubicBezTo>
                <a:cubicBezTo>
                  <a:pt x="15681" y="19638"/>
                  <a:pt x="19638" y="15681"/>
                  <a:pt x="19638" y="10800"/>
                </a:cubicBezTo>
                <a:cubicBezTo>
                  <a:pt x="19638" y="5919"/>
                  <a:pt x="15681" y="1962"/>
                  <a:pt x="10800" y="1962"/>
                </a:cubicBezTo>
                <a:cubicBezTo>
                  <a:pt x="5919" y="1962"/>
                  <a:pt x="1962" y="5919"/>
                  <a:pt x="1962" y="10800"/>
                </a:cubicBezTo>
                <a:close/>
              </a:path>
            </a:pathLst>
          </a:custGeom>
          <a:solidFill>
            <a:srgbClr val="007749"/>
          </a:solidFill>
          <a:ln>
            <a:noFill/>
          </a:ln>
          <a:extLst>
            <a:ext uri="{91240B29-F687-4F45-9708-019B960494DF}">
              <a14:hiddenLine xmlns:a14="http://schemas.microsoft.com/office/drawing/2010/main" w="9525">
                <a:solidFill>
                  <a:srgbClr val="000000"/>
                </a:solidFill>
                <a:round/>
                <a:headEnd/>
                <a:tailEnd/>
              </a14:hiddenLine>
            </a:ext>
          </a:extLst>
        </p:spPr>
        <p:txBody>
          <a:bodyPr wrap="none" lIns="42850" tIns="0" rIns="4285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6" name="Line 36">
            <a:extLst>
              <a:ext uri="{FF2B5EF4-FFF2-40B4-BE49-F238E27FC236}">
                <a16:creationId xmlns="" xmlns:a16="http://schemas.microsoft.com/office/drawing/2014/main" id="{56AFF91F-550C-9665-8CB8-430865744754}"/>
              </a:ext>
            </a:extLst>
          </p:cNvPr>
          <p:cNvSpPr>
            <a:spLocks noChangeShapeType="1"/>
          </p:cNvSpPr>
          <p:nvPr/>
        </p:nvSpPr>
        <p:spPr bwMode="auto">
          <a:xfrm flipV="1">
            <a:off x="9720943" y="3305673"/>
            <a:ext cx="1638300" cy="0"/>
          </a:xfrm>
          <a:prstGeom prst="line">
            <a:avLst/>
          </a:prstGeom>
          <a:noFill/>
          <a:ln w="38100">
            <a:solidFill>
              <a:srgbClr val="007749"/>
            </a:solidFill>
            <a:round/>
            <a:headEnd/>
            <a:tailEnd/>
          </a:ln>
          <a:extLst>
            <a:ext uri="{909E8E84-426E-40DD-AFC4-6F175D3DCCD1}">
              <a14:hiddenFill xmlns:a14="http://schemas.microsoft.com/office/drawing/2010/main">
                <a:noFill/>
              </a14:hiddenFill>
            </a:ext>
          </a:extLst>
        </p:spPr>
        <p:txBody>
          <a:bodyPr lIns="42850" tIns="0" rIns="4285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58" name="Line 39">
            <a:extLst>
              <a:ext uri="{FF2B5EF4-FFF2-40B4-BE49-F238E27FC236}">
                <a16:creationId xmlns="" xmlns:a16="http://schemas.microsoft.com/office/drawing/2014/main" id="{AE4CAB7E-4C70-7234-E068-4D5D197F0637}"/>
              </a:ext>
            </a:extLst>
          </p:cNvPr>
          <p:cNvSpPr>
            <a:spLocks noChangeAspect="1" noChangeShapeType="1"/>
          </p:cNvSpPr>
          <p:nvPr>
            <p:custDataLst>
              <p:tags r:id="rId40"/>
            </p:custDataLst>
          </p:nvPr>
        </p:nvSpPr>
        <p:spPr bwMode="auto">
          <a:xfrm rot="5400000">
            <a:off x="9840342" y="3688153"/>
            <a:ext cx="779536"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63" name="Line 40">
            <a:extLst>
              <a:ext uri="{FF2B5EF4-FFF2-40B4-BE49-F238E27FC236}">
                <a16:creationId xmlns="" xmlns:a16="http://schemas.microsoft.com/office/drawing/2014/main" id="{7ED6E835-2275-528D-05AD-0D7B5BED7028}"/>
              </a:ext>
            </a:extLst>
          </p:cNvPr>
          <p:cNvSpPr>
            <a:spLocks noChangeAspect="1" noChangeShapeType="1"/>
          </p:cNvSpPr>
          <p:nvPr>
            <p:custDataLst>
              <p:tags r:id="rId41"/>
            </p:custDataLst>
          </p:nvPr>
        </p:nvSpPr>
        <p:spPr bwMode="auto">
          <a:xfrm rot="5400000">
            <a:off x="10401261" y="3681808"/>
            <a:ext cx="792232"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wrap="square"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87" name="Picture 41" descr="G_SY02_XX_00155P">
            <a:extLst>
              <a:ext uri="{FF2B5EF4-FFF2-40B4-BE49-F238E27FC236}">
                <a16:creationId xmlns="" xmlns:a16="http://schemas.microsoft.com/office/drawing/2014/main" id="{902D9E80-FFF4-CE0E-F48B-E5E413B231D6}"/>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9956601" y="3774517"/>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42" descr="G_SY02_XX_00155P">
            <a:extLst>
              <a:ext uri="{FF2B5EF4-FFF2-40B4-BE49-F238E27FC236}">
                <a16:creationId xmlns="" xmlns:a16="http://schemas.microsoft.com/office/drawing/2014/main" id="{4014B26E-F474-447A-AC5F-F5DDF14C51D0}"/>
              </a:ext>
            </a:extLst>
          </p:cNvPr>
          <p:cNvPicPr>
            <a:picLocks noChangeAspect="1" noChangeArrowheads="1"/>
          </p:cNvPicPr>
          <p:nvPr/>
        </p:nvPicPr>
        <p:blipFill>
          <a:blip r:embed="rId49" cstate="print">
            <a:extLst>
              <a:ext uri="{28A0092B-C50C-407E-A947-70E740481C1C}">
                <a14:useLocalDpi xmlns:a14="http://schemas.microsoft.com/office/drawing/2010/main" val="0"/>
              </a:ext>
            </a:extLst>
          </a:blip>
          <a:srcRect r="29497"/>
          <a:stretch>
            <a:fillRect/>
          </a:stretch>
        </p:blipFill>
        <p:spPr bwMode="auto">
          <a:xfrm>
            <a:off x="10581346" y="3772561"/>
            <a:ext cx="512233" cy="23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Line 57">
            <a:extLst>
              <a:ext uri="{FF2B5EF4-FFF2-40B4-BE49-F238E27FC236}">
                <a16:creationId xmlns="" xmlns:a16="http://schemas.microsoft.com/office/drawing/2014/main" id="{5846BF5D-5C9F-D5D6-4BF0-E1B38B23EE51}"/>
              </a:ext>
            </a:extLst>
          </p:cNvPr>
          <p:cNvSpPr>
            <a:spLocks noChangeAspect="1" noChangeShapeType="1"/>
          </p:cNvSpPr>
          <p:nvPr>
            <p:custDataLst>
              <p:tags r:id="rId42"/>
            </p:custDataLst>
          </p:nvPr>
        </p:nvSpPr>
        <p:spPr bwMode="auto">
          <a:xfrm rot="5400000">
            <a:off x="10358632" y="3218204"/>
            <a:ext cx="144420" cy="0"/>
          </a:xfrm>
          <a:prstGeom prst="line">
            <a:avLst/>
          </a:prstGeom>
          <a:noFill/>
          <a:ln w="28575">
            <a:solidFill>
              <a:srgbClr val="007749"/>
            </a:solidFill>
            <a:round/>
            <a:headEnd/>
            <a:tailEnd/>
          </a:ln>
          <a:extLst>
            <a:ext uri="{909E8E84-426E-40DD-AFC4-6F175D3DCCD1}">
              <a14:hiddenFill xmlns:a14="http://schemas.microsoft.com/office/drawing/2010/main">
                <a:noFill/>
              </a14:hiddenFill>
            </a:ext>
          </a:extLst>
        </p:spPr>
        <p:txBody>
          <a:bodyPr lIns="108839" tIns="54420" rIns="108839" bIns="5442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pic>
        <p:nvPicPr>
          <p:cNvPr id="97" name="Picture 58">
            <a:extLst>
              <a:ext uri="{FF2B5EF4-FFF2-40B4-BE49-F238E27FC236}">
                <a16:creationId xmlns="" xmlns:a16="http://schemas.microsoft.com/office/drawing/2014/main" id="{A6E5FC7C-E79F-9DC2-D270-8693A856E3AC}"/>
              </a:ext>
            </a:extLst>
          </p:cNvPr>
          <p:cNvPicPr>
            <a:picLocks noChangeAspect="1" noChangeArrowheads="1"/>
          </p:cNvPicPr>
          <p:nvPr>
            <p:custDataLst>
              <p:tags r:id="rId43"/>
            </p:custDataLst>
          </p:nvPr>
        </p:nvPicPr>
        <p:blipFill>
          <a:blip r:embed="rId50">
            <a:extLst>
              <a:ext uri="{28A0092B-C50C-407E-A947-70E740481C1C}">
                <a14:useLocalDpi xmlns:a14="http://schemas.microsoft.com/office/drawing/2010/main" val="0"/>
              </a:ext>
            </a:extLst>
          </a:blip>
          <a:srcRect/>
          <a:stretch>
            <a:fillRect/>
          </a:stretch>
        </p:blipFill>
        <p:spPr bwMode="auto">
          <a:xfrm>
            <a:off x="10073867" y="2865404"/>
            <a:ext cx="730251" cy="31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Text Box 59">
            <a:extLst>
              <a:ext uri="{FF2B5EF4-FFF2-40B4-BE49-F238E27FC236}">
                <a16:creationId xmlns="" xmlns:a16="http://schemas.microsoft.com/office/drawing/2014/main" id="{50D08133-7821-EA04-7503-A4FF5E08521F}"/>
              </a:ext>
            </a:extLst>
          </p:cNvPr>
          <p:cNvSpPr txBox="1">
            <a:spLocks noChangeAspect="1" noChangeArrowheads="1"/>
          </p:cNvSpPr>
          <p:nvPr>
            <p:custDataLst>
              <p:tags r:id="rId44"/>
            </p:custDataLst>
          </p:nvPr>
        </p:nvSpPr>
        <p:spPr bwMode="auto">
          <a:xfrm>
            <a:off x="9923584" y="2647882"/>
            <a:ext cx="1077383"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任务分配服务器</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nvGrpSpPr>
          <p:cNvPr id="121" name="Group 104">
            <a:extLst>
              <a:ext uri="{FF2B5EF4-FFF2-40B4-BE49-F238E27FC236}">
                <a16:creationId xmlns="" xmlns:a16="http://schemas.microsoft.com/office/drawing/2014/main" id="{8AED164F-B45F-D1B9-B733-E3195E99B3D2}"/>
              </a:ext>
            </a:extLst>
          </p:cNvPr>
          <p:cNvGrpSpPr>
            <a:grpSpLocks noChangeAspect="1"/>
          </p:cNvGrpSpPr>
          <p:nvPr/>
        </p:nvGrpSpPr>
        <p:grpSpPr bwMode="auto">
          <a:xfrm>
            <a:off x="10009518" y="3438633"/>
            <a:ext cx="406400" cy="309474"/>
            <a:chOff x="4450" y="816"/>
            <a:chExt cx="397" cy="514"/>
          </a:xfrm>
        </p:grpSpPr>
        <p:sp>
          <p:nvSpPr>
            <p:cNvPr id="122" name="Freeform 105">
              <a:extLst>
                <a:ext uri="{FF2B5EF4-FFF2-40B4-BE49-F238E27FC236}">
                  <a16:creationId xmlns="" xmlns:a16="http://schemas.microsoft.com/office/drawing/2014/main" id="{4675E996-77C4-4DC4-FC5E-20CBC87C722B}"/>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3" name="Freeform 106">
              <a:extLst>
                <a:ext uri="{FF2B5EF4-FFF2-40B4-BE49-F238E27FC236}">
                  <a16:creationId xmlns="" xmlns:a16="http://schemas.microsoft.com/office/drawing/2014/main" id="{2476DA35-A20B-D849-5BC2-F7896EA22E4D}"/>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5" name="Freeform 107">
              <a:extLst>
                <a:ext uri="{FF2B5EF4-FFF2-40B4-BE49-F238E27FC236}">
                  <a16:creationId xmlns="" xmlns:a16="http://schemas.microsoft.com/office/drawing/2014/main" id="{A5DFDBB8-40C2-5E47-1829-008001C42024}"/>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6" name="Freeform 108">
              <a:extLst>
                <a:ext uri="{FF2B5EF4-FFF2-40B4-BE49-F238E27FC236}">
                  <a16:creationId xmlns="" xmlns:a16="http://schemas.microsoft.com/office/drawing/2014/main" id="{B1E47ECE-8CC6-8B5A-6A49-C0DB0CE17CBB}"/>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7" name="Freeform 109">
              <a:extLst>
                <a:ext uri="{FF2B5EF4-FFF2-40B4-BE49-F238E27FC236}">
                  <a16:creationId xmlns="" xmlns:a16="http://schemas.microsoft.com/office/drawing/2014/main" id="{92659805-1F2A-0476-30BE-413283E4F53A}"/>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8" name="Freeform 110">
              <a:extLst>
                <a:ext uri="{FF2B5EF4-FFF2-40B4-BE49-F238E27FC236}">
                  <a16:creationId xmlns="" xmlns:a16="http://schemas.microsoft.com/office/drawing/2014/main" id="{F11D7131-12C5-957A-99B5-56E12E9731EF}"/>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29" name="Freeform 111">
              <a:extLst>
                <a:ext uri="{FF2B5EF4-FFF2-40B4-BE49-F238E27FC236}">
                  <a16:creationId xmlns="" xmlns:a16="http://schemas.microsoft.com/office/drawing/2014/main" id="{5450C41E-97FD-D19A-491F-6884E18878BE}"/>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1" name="Freeform 112">
              <a:extLst>
                <a:ext uri="{FF2B5EF4-FFF2-40B4-BE49-F238E27FC236}">
                  <a16:creationId xmlns="" xmlns:a16="http://schemas.microsoft.com/office/drawing/2014/main" id="{98EAD136-EA5D-8AF6-3033-C05CB5DE5662}"/>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grpSp>
        <p:nvGrpSpPr>
          <p:cNvPr id="132" name="Group 113">
            <a:extLst>
              <a:ext uri="{FF2B5EF4-FFF2-40B4-BE49-F238E27FC236}">
                <a16:creationId xmlns="" xmlns:a16="http://schemas.microsoft.com/office/drawing/2014/main" id="{2B849DFA-DEC1-7CF6-DFB2-9390A2F537F8}"/>
              </a:ext>
            </a:extLst>
          </p:cNvPr>
          <p:cNvGrpSpPr>
            <a:grpSpLocks noChangeAspect="1"/>
          </p:cNvGrpSpPr>
          <p:nvPr/>
        </p:nvGrpSpPr>
        <p:grpSpPr bwMode="auto">
          <a:xfrm>
            <a:off x="10583591" y="3447845"/>
            <a:ext cx="406400" cy="309474"/>
            <a:chOff x="4450" y="816"/>
            <a:chExt cx="397" cy="514"/>
          </a:xfrm>
        </p:grpSpPr>
        <p:sp>
          <p:nvSpPr>
            <p:cNvPr id="135" name="Freeform 114">
              <a:extLst>
                <a:ext uri="{FF2B5EF4-FFF2-40B4-BE49-F238E27FC236}">
                  <a16:creationId xmlns="" xmlns:a16="http://schemas.microsoft.com/office/drawing/2014/main" id="{91032B22-9D88-CC67-4467-845D99EEC4E3}"/>
                </a:ext>
              </a:extLst>
            </p:cNvPr>
            <p:cNvSpPr>
              <a:spLocks noChangeAspect="1"/>
            </p:cNvSpPr>
            <p:nvPr/>
          </p:nvSpPr>
          <p:spPr bwMode="auto">
            <a:xfrm>
              <a:off x="4464" y="819"/>
              <a:ext cx="380" cy="189"/>
            </a:xfrm>
            <a:custGeom>
              <a:avLst/>
              <a:gdLst>
                <a:gd name="T0" fmla="*/ 0 w 380"/>
                <a:gd name="T1" fmla="*/ 29 h 189"/>
                <a:gd name="T2" fmla="*/ 63 w 380"/>
                <a:gd name="T3" fmla="*/ 0 h 189"/>
                <a:gd name="T4" fmla="*/ 380 w 380"/>
                <a:gd name="T5" fmla="*/ 137 h 189"/>
                <a:gd name="T6" fmla="*/ 309 w 380"/>
                <a:gd name="T7" fmla="*/ 189 h 189"/>
                <a:gd name="T8" fmla="*/ 0 w 380"/>
                <a:gd name="T9" fmla="*/ 29 h 189"/>
                <a:gd name="T10" fmla="*/ 0 60000 65536"/>
                <a:gd name="T11" fmla="*/ 0 60000 65536"/>
                <a:gd name="T12" fmla="*/ 0 60000 65536"/>
                <a:gd name="T13" fmla="*/ 0 60000 65536"/>
                <a:gd name="T14" fmla="*/ 0 60000 65536"/>
                <a:gd name="T15" fmla="*/ 0 w 380"/>
                <a:gd name="T16" fmla="*/ 0 h 189"/>
                <a:gd name="T17" fmla="*/ 380 w 380"/>
                <a:gd name="T18" fmla="*/ 189 h 189"/>
              </a:gdLst>
              <a:ahLst/>
              <a:cxnLst>
                <a:cxn ang="T10">
                  <a:pos x="T0" y="T1"/>
                </a:cxn>
                <a:cxn ang="T11">
                  <a:pos x="T2" y="T3"/>
                </a:cxn>
                <a:cxn ang="T12">
                  <a:pos x="T4" y="T5"/>
                </a:cxn>
                <a:cxn ang="T13">
                  <a:pos x="T6" y="T7"/>
                </a:cxn>
                <a:cxn ang="T14">
                  <a:pos x="T8" y="T9"/>
                </a:cxn>
              </a:cxnLst>
              <a:rect l="T15" t="T16" r="T17" b="T18"/>
              <a:pathLst>
                <a:path w="380" h="189">
                  <a:moveTo>
                    <a:pt x="0" y="29"/>
                  </a:moveTo>
                  <a:lnTo>
                    <a:pt x="63" y="0"/>
                  </a:lnTo>
                  <a:lnTo>
                    <a:pt x="380" y="137"/>
                  </a:lnTo>
                  <a:lnTo>
                    <a:pt x="309" y="189"/>
                  </a:lnTo>
                  <a:lnTo>
                    <a:pt x="0" y="29"/>
                  </a:lnTo>
                  <a:close/>
                </a:path>
              </a:pathLst>
            </a:custGeom>
            <a:solidFill>
              <a:srgbClr val="FF9999"/>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6" name="Freeform 115">
              <a:extLst>
                <a:ext uri="{FF2B5EF4-FFF2-40B4-BE49-F238E27FC236}">
                  <a16:creationId xmlns="" xmlns:a16="http://schemas.microsoft.com/office/drawing/2014/main" id="{9BDE15B5-4614-5592-2F8B-BEA3B55CEA26}"/>
                </a:ext>
              </a:extLst>
            </p:cNvPr>
            <p:cNvSpPr>
              <a:spLocks noChangeAspect="1"/>
            </p:cNvSpPr>
            <p:nvPr/>
          </p:nvSpPr>
          <p:spPr bwMode="auto">
            <a:xfrm>
              <a:off x="4758" y="957"/>
              <a:ext cx="78" cy="362"/>
            </a:xfrm>
            <a:custGeom>
              <a:avLst/>
              <a:gdLst>
                <a:gd name="T0" fmla="*/ 12 w 78"/>
                <a:gd name="T1" fmla="*/ 53 h 362"/>
                <a:gd name="T2" fmla="*/ 0 w 78"/>
                <a:gd name="T3" fmla="*/ 362 h 362"/>
                <a:gd name="T4" fmla="*/ 53 w 78"/>
                <a:gd name="T5" fmla="*/ 321 h 362"/>
                <a:gd name="T6" fmla="*/ 78 w 78"/>
                <a:gd name="T7" fmla="*/ 0 h 362"/>
                <a:gd name="T8" fmla="*/ 12 w 78"/>
                <a:gd name="T9" fmla="*/ 53 h 362"/>
                <a:gd name="T10" fmla="*/ 0 60000 65536"/>
                <a:gd name="T11" fmla="*/ 0 60000 65536"/>
                <a:gd name="T12" fmla="*/ 0 60000 65536"/>
                <a:gd name="T13" fmla="*/ 0 60000 65536"/>
                <a:gd name="T14" fmla="*/ 0 60000 65536"/>
                <a:gd name="T15" fmla="*/ 0 w 78"/>
                <a:gd name="T16" fmla="*/ 0 h 362"/>
                <a:gd name="T17" fmla="*/ 78 w 78"/>
                <a:gd name="T18" fmla="*/ 362 h 362"/>
              </a:gdLst>
              <a:ahLst/>
              <a:cxnLst>
                <a:cxn ang="T10">
                  <a:pos x="T0" y="T1"/>
                </a:cxn>
                <a:cxn ang="T11">
                  <a:pos x="T2" y="T3"/>
                </a:cxn>
                <a:cxn ang="T12">
                  <a:pos x="T4" y="T5"/>
                </a:cxn>
                <a:cxn ang="T13">
                  <a:pos x="T6" y="T7"/>
                </a:cxn>
                <a:cxn ang="T14">
                  <a:pos x="T8" y="T9"/>
                </a:cxn>
              </a:cxnLst>
              <a:rect l="T15" t="T16" r="T17" b="T18"/>
              <a:pathLst>
                <a:path w="78" h="362">
                  <a:moveTo>
                    <a:pt x="12" y="53"/>
                  </a:moveTo>
                  <a:lnTo>
                    <a:pt x="0" y="362"/>
                  </a:lnTo>
                  <a:lnTo>
                    <a:pt x="53" y="321"/>
                  </a:lnTo>
                  <a:lnTo>
                    <a:pt x="78" y="0"/>
                  </a:lnTo>
                  <a:lnTo>
                    <a:pt x="12" y="53"/>
                  </a:lnTo>
                  <a:close/>
                </a:path>
              </a:pathLst>
            </a:custGeom>
            <a:solidFill>
              <a:srgbClr val="9900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7" name="Freeform 116">
              <a:extLst>
                <a:ext uri="{FF2B5EF4-FFF2-40B4-BE49-F238E27FC236}">
                  <a16:creationId xmlns="" xmlns:a16="http://schemas.microsoft.com/office/drawing/2014/main" id="{225BDC96-46FD-05FF-5E29-00AC1F9ED0F3}"/>
                </a:ext>
              </a:extLst>
            </p:cNvPr>
            <p:cNvSpPr>
              <a:spLocks noChangeAspect="1"/>
            </p:cNvSpPr>
            <p:nvPr/>
          </p:nvSpPr>
          <p:spPr bwMode="auto">
            <a:xfrm>
              <a:off x="4452" y="849"/>
              <a:ext cx="321" cy="474"/>
            </a:xfrm>
            <a:custGeom>
              <a:avLst/>
              <a:gdLst>
                <a:gd name="T0" fmla="*/ 20 w 321"/>
                <a:gd name="T1" fmla="*/ 0 h 474"/>
                <a:gd name="T2" fmla="*/ 321 w 321"/>
                <a:gd name="T3" fmla="*/ 155 h 474"/>
                <a:gd name="T4" fmla="*/ 303 w 321"/>
                <a:gd name="T5" fmla="*/ 474 h 474"/>
                <a:gd name="T6" fmla="*/ 20 w 321"/>
                <a:gd name="T7" fmla="*/ 305 h 474"/>
                <a:gd name="T8" fmla="*/ 0 w 321"/>
                <a:gd name="T9" fmla="*/ 18 h 474"/>
                <a:gd name="T10" fmla="*/ 20 w 321"/>
                <a:gd name="T11" fmla="*/ 0 h 474"/>
                <a:gd name="T12" fmla="*/ 0 60000 65536"/>
                <a:gd name="T13" fmla="*/ 0 60000 65536"/>
                <a:gd name="T14" fmla="*/ 0 60000 65536"/>
                <a:gd name="T15" fmla="*/ 0 60000 65536"/>
                <a:gd name="T16" fmla="*/ 0 60000 65536"/>
                <a:gd name="T17" fmla="*/ 0 60000 65536"/>
                <a:gd name="T18" fmla="*/ 0 w 321"/>
                <a:gd name="T19" fmla="*/ 0 h 474"/>
                <a:gd name="T20" fmla="*/ 321 w 321"/>
                <a:gd name="T21" fmla="*/ 474 h 474"/>
              </a:gdLst>
              <a:ahLst/>
              <a:cxnLst>
                <a:cxn ang="T12">
                  <a:pos x="T0" y="T1"/>
                </a:cxn>
                <a:cxn ang="T13">
                  <a:pos x="T2" y="T3"/>
                </a:cxn>
                <a:cxn ang="T14">
                  <a:pos x="T4" y="T5"/>
                </a:cxn>
                <a:cxn ang="T15">
                  <a:pos x="T6" y="T7"/>
                </a:cxn>
                <a:cxn ang="T16">
                  <a:pos x="T8" y="T9"/>
                </a:cxn>
                <a:cxn ang="T17">
                  <a:pos x="T10" y="T11"/>
                </a:cxn>
              </a:cxnLst>
              <a:rect l="T18" t="T19" r="T20" b="T21"/>
              <a:pathLst>
                <a:path w="321" h="474">
                  <a:moveTo>
                    <a:pt x="20" y="0"/>
                  </a:moveTo>
                  <a:lnTo>
                    <a:pt x="321" y="155"/>
                  </a:lnTo>
                  <a:lnTo>
                    <a:pt x="303" y="474"/>
                  </a:lnTo>
                  <a:lnTo>
                    <a:pt x="20" y="305"/>
                  </a:lnTo>
                  <a:lnTo>
                    <a:pt x="0" y="18"/>
                  </a:lnTo>
                  <a:lnTo>
                    <a:pt x="20" y="0"/>
                  </a:lnTo>
                  <a:close/>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8" name="Freeform 117">
              <a:extLst>
                <a:ext uri="{FF2B5EF4-FFF2-40B4-BE49-F238E27FC236}">
                  <a16:creationId xmlns="" xmlns:a16="http://schemas.microsoft.com/office/drawing/2014/main" id="{229F60DD-6AA1-4613-6CB3-D145D079C36F}"/>
                </a:ext>
              </a:extLst>
            </p:cNvPr>
            <p:cNvSpPr>
              <a:spLocks noChangeAspect="1" noEditPoints="1"/>
            </p:cNvSpPr>
            <p:nvPr/>
          </p:nvSpPr>
          <p:spPr bwMode="auto">
            <a:xfrm>
              <a:off x="4450" y="816"/>
              <a:ext cx="397" cy="514"/>
            </a:xfrm>
            <a:custGeom>
              <a:avLst/>
              <a:gdLst>
                <a:gd name="T0" fmla="*/ 365 w 163"/>
                <a:gd name="T1" fmla="*/ 472 h 195"/>
                <a:gd name="T2" fmla="*/ 22 w 163"/>
                <a:gd name="T3" fmla="*/ 348 h 195"/>
                <a:gd name="T4" fmla="*/ 0 w 163"/>
                <a:gd name="T5" fmla="*/ 42 h 195"/>
                <a:gd name="T6" fmla="*/ 73 w 163"/>
                <a:gd name="T7" fmla="*/ 0 h 195"/>
                <a:gd name="T8" fmla="*/ 166 w 163"/>
                <a:gd name="T9" fmla="*/ 277 h 195"/>
                <a:gd name="T10" fmla="*/ 295 w 163"/>
                <a:gd name="T11" fmla="*/ 419 h 195"/>
                <a:gd name="T12" fmla="*/ 212 w 163"/>
                <a:gd name="T13" fmla="*/ 443 h 195"/>
                <a:gd name="T14" fmla="*/ 319 w 163"/>
                <a:gd name="T15" fmla="*/ 200 h 195"/>
                <a:gd name="T16" fmla="*/ 321 w 163"/>
                <a:gd name="T17" fmla="*/ 261 h 195"/>
                <a:gd name="T18" fmla="*/ 378 w 163"/>
                <a:gd name="T19" fmla="*/ 153 h 195"/>
                <a:gd name="T20" fmla="*/ 339 w 163"/>
                <a:gd name="T21" fmla="*/ 174 h 195"/>
                <a:gd name="T22" fmla="*/ 334 w 163"/>
                <a:gd name="T23" fmla="*/ 121 h 195"/>
                <a:gd name="T24" fmla="*/ 321 w 163"/>
                <a:gd name="T25" fmla="*/ 113 h 195"/>
                <a:gd name="T26" fmla="*/ 166 w 163"/>
                <a:gd name="T27" fmla="*/ 103 h 195"/>
                <a:gd name="T28" fmla="*/ 212 w 163"/>
                <a:gd name="T29" fmla="*/ 69 h 195"/>
                <a:gd name="T30" fmla="*/ 66 w 163"/>
                <a:gd name="T31" fmla="*/ 50 h 195"/>
                <a:gd name="T32" fmla="*/ 114 w 163"/>
                <a:gd name="T33" fmla="*/ 26 h 195"/>
                <a:gd name="T34" fmla="*/ 24 w 163"/>
                <a:gd name="T35" fmla="*/ 32 h 195"/>
                <a:gd name="T36" fmla="*/ 161 w 163"/>
                <a:gd name="T37" fmla="*/ 108 h 195"/>
                <a:gd name="T38" fmla="*/ 292 w 163"/>
                <a:gd name="T39" fmla="*/ 264 h 195"/>
                <a:gd name="T40" fmla="*/ 222 w 163"/>
                <a:gd name="T41" fmla="*/ 300 h 195"/>
                <a:gd name="T42" fmla="*/ 166 w 163"/>
                <a:gd name="T43" fmla="*/ 277 h 195"/>
                <a:gd name="T44" fmla="*/ 156 w 163"/>
                <a:gd name="T45" fmla="*/ 271 h 195"/>
                <a:gd name="T46" fmla="*/ 61 w 163"/>
                <a:gd name="T47" fmla="*/ 287 h 195"/>
                <a:gd name="T48" fmla="*/ 54 w 163"/>
                <a:gd name="T49" fmla="*/ 282 h 195"/>
                <a:gd name="T50" fmla="*/ 17 w 163"/>
                <a:gd name="T51" fmla="*/ 203 h 195"/>
                <a:gd name="T52" fmla="*/ 54 w 163"/>
                <a:gd name="T53" fmla="*/ 282 h 195"/>
                <a:gd name="T54" fmla="*/ 58 w 163"/>
                <a:gd name="T55" fmla="*/ 134 h 195"/>
                <a:gd name="T56" fmla="*/ 151 w 163"/>
                <a:gd name="T57" fmla="*/ 105 h 195"/>
                <a:gd name="T58" fmla="*/ 58 w 163"/>
                <a:gd name="T59" fmla="*/ 61 h 195"/>
                <a:gd name="T60" fmla="*/ 46 w 163"/>
                <a:gd name="T61" fmla="*/ 55 h 195"/>
                <a:gd name="T62" fmla="*/ 10 w 163"/>
                <a:gd name="T63" fmla="*/ 45 h 195"/>
                <a:gd name="T64" fmla="*/ 15 w 163"/>
                <a:gd name="T65" fmla="*/ 111 h 195"/>
                <a:gd name="T66" fmla="*/ 119 w 163"/>
                <a:gd name="T67" fmla="*/ 177 h 195"/>
                <a:gd name="T68" fmla="*/ 214 w 163"/>
                <a:gd name="T69" fmla="*/ 298 h 195"/>
                <a:gd name="T70" fmla="*/ 214 w 163"/>
                <a:gd name="T71" fmla="*/ 224 h 195"/>
                <a:gd name="T72" fmla="*/ 112 w 163"/>
                <a:gd name="T73" fmla="*/ 240 h 195"/>
                <a:gd name="T74" fmla="*/ 15 w 163"/>
                <a:gd name="T75" fmla="*/ 124 h 195"/>
                <a:gd name="T76" fmla="*/ 112 w 163"/>
                <a:gd name="T77" fmla="*/ 240 h 195"/>
                <a:gd name="T78" fmla="*/ 317 w 163"/>
                <a:gd name="T79" fmla="*/ 409 h 195"/>
                <a:gd name="T80" fmla="*/ 363 w 163"/>
                <a:gd name="T81" fmla="*/ 314 h 195"/>
                <a:gd name="T82" fmla="*/ 317 w 163"/>
                <a:gd name="T83" fmla="*/ 416 h 195"/>
                <a:gd name="T84" fmla="*/ 351 w 163"/>
                <a:gd name="T85" fmla="*/ 461 h 195"/>
                <a:gd name="T86" fmla="*/ 317 w 163"/>
                <a:gd name="T87" fmla="*/ 416 h 195"/>
                <a:gd name="T88" fmla="*/ 370 w 163"/>
                <a:gd name="T89" fmla="*/ 237 h 195"/>
                <a:gd name="T90" fmla="*/ 319 w 163"/>
                <a:gd name="T91" fmla="*/ 335 h 195"/>
                <a:gd name="T92" fmla="*/ 22 w 163"/>
                <a:gd name="T93" fmla="*/ 279 h 195"/>
                <a:gd name="T94" fmla="*/ 105 w 163"/>
                <a:gd name="T95" fmla="*/ 385 h 195"/>
                <a:gd name="T96" fmla="*/ 22 w 163"/>
                <a:gd name="T97" fmla="*/ 279 h 195"/>
                <a:gd name="T98" fmla="*/ 205 w 163"/>
                <a:gd name="T99" fmla="*/ 374 h 195"/>
                <a:gd name="T100" fmla="*/ 202 w 163"/>
                <a:gd name="T101" fmla="*/ 438 h 195"/>
                <a:gd name="T102" fmla="*/ 112 w 163"/>
                <a:gd name="T103" fmla="*/ 327 h 19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3"/>
                <a:gd name="T157" fmla="*/ 0 h 195"/>
                <a:gd name="T158" fmla="*/ 163 w 163"/>
                <a:gd name="T159" fmla="*/ 195 h 195"/>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3" h="195">
                  <a:moveTo>
                    <a:pt x="163" y="52"/>
                  </a:moveTo>
                  <a:lnTo>
                    <a:pt x="150" y="179"/>
                  </a:lnTo>
                  <a:lnTo>
                    <a:pt x="126" y="195"/>
                  </a:lnTo>
                  <a:lnTo>
                    <a:pt x="9" y="132"/>
                  </a:lnTo>
                  <a:lnTo>
                    <a:pt x="6" y="128"/>
                  </a:lnTo>
                  <a:lnTo>
                    <a:pt x="0" y="16"/>
                  </a:lnTo>
                  <a:lnTo>
                    <a:pt x="4" y="10"/>
                  </a:lnTo>
                  <a:lnTo>
                    <a:pt x="30" y="0"/>
                  </a:lnTo>
                  <a:lnTo>
                    <a:pt x="163" y="52"/>
                  </a:lnTo>
                  <a:moveTo>
                    <a:pt x="68" y="105"/>
                  </a:moveTo>
                  <a:lnTo>
                    <a:pt x="68" y="131"/>
                  </a:lnTo>
                  <a:lnTo>
                    <a:pt x="121" y="159"/>
                  </a:lnTo>
                  <a:lnTo>
                    <a:pt x="86" y="143"/>
                  </a:lnTo>
                  <a:lnTo>
                    <a:pt x="87" y="168"/>
                  </a:lnTo>
                  <a:lnTo>
                    <a:pt x="124" y="188"/>
                  </a:lnTo>
                  <a:lnTo>
                    <a:pt x="131" y="76"/>
                  </a:lnTo>
                  <a:lnTo>
                    <a:pt x="133" y="73"/>
                  </a:lnTo>
                  <a:lnTo>
                    <a:pt x="132" y="99"/>
                  </a:lnTo>
                  <a:lnTo>
                    <a:pt x="152" y="86"/>
                  </a:lnTo>
                  <a:lnTo>
                    <a:pt x="155" y="58"/>
                  </a:lnTo>
                  <a:lnTo>
                    <a:pt x="135" y="71"/>
                  </a:lnTo>
                  <a:lnTo>
                    <a:pt x="139" y="66"/>
                  </a:lnTo>
                  <a:lnTo>
                    <a:pt x="156" y="53"/>
                  </a:lnTo>
                  <a:lnTo>
                    <a:pt x="137" y="46"/>
                  </a:lnTo>
                  <a:lnTo>
                    <a:pt x="112" y="57"/>
                  </a:lnTo>
                  <a:lnTo>
                    <a:pt x="132" y="43"/>
                  </a:lnTo>
                  <a:lnTo>
                    <a:pt x="93" y="28"/>
                  </a:lnTo>
                  <a:lnTo>
                    <a:pt x="68" y="39"/>
                  </a:lnTo>
                  <a:lnTo>
                    <a:pt x="72" y="34"/>
                  </a:lnTo>
                  <a:lnTo>
                    <a:pt x="87" y="26"/>
                  </a:lnTo>
                  <a:lnTo>
                    <a:pt x="53" y="12"/>
                  </a:lnTo>
                  <a:lnTo>
                    <a:pt x="27" y="19"/>
                  </a:lnTo>
                  <a:lnTo>
                    <a:pt x="28" y="15"/>
                  </a:lnTo>
                  <a:lnTo>
                    <a:pt x="47" y="10"/>
                  </a:lnTo>
                  <a:lnTo>
                    <a:pt x="29" y="4"/>
                  </a:lnTo>
                  <a:lnTo>
                    <a:pt x="10" y="12"/>
                  </a:lnTo>
                  <a:lnTo>
                    <a:pt x="128" y="68"/>
                  </a:lnTo>
                  <a:lnTo>
                    <a:pt x="66" y="41"/>
                  </a:lnTo>
                  <a:lnTo>
                    <a:pt x="66" y="72"/>
                  </a:lnTo>
                  <a:lnTo>
                    <a:pt x="120" y="100"/>
                  </a:lnTo>
                  <a:lnTo>
                    <a:pt x="92" y="87"/>
                  </a:lnTo>
                  <a:lnTo>
                    <a:pt x="91" y="114"/>
                  </a:lnTo>
                  <a:lnTo>
                    <a:pt x="120" y="128"/>
                  </a:lnTo>
                  <a:lnTo>
                    <a:pt x="68" y="105"/>
                  </a:lnTo>
                  <a:moveTo>
                    <a:pt x="64" y="130"/>
                  </a:moveTo>
                  <a:lnTo>
                    <a:pt x="64" y="103"/>
                  </a:lnTo>
                  <a:lnTo>
                    <a:pt x="25" y="86"/>
                  </a:lnTo>
                  <a:lnTo>
                    <a:pt x="25" y="109"/>
                  </a:lnTo>
                  <a:lnTo>
                    <a:pt x="64" y="130"/>
                  </a:lnTo>
                  <a:moveTo>
                    <a:pt x="22" y="107"/>
                  </a:moveTo>
                  <a:lnTo>
                    <a:pt x="21" y="84"/>
                  </a:lnTo>
                  <a:lnTo>
                    <a:pt x="7" y="77"/>
                  </a:lnTo>
                  <a:lnTo>
                    <a:pt x="8" y="100"/>
                  </a:lnTo>
                  <a:lnTo>
                    <a:pt x="22" y="107"/>
                  </a:lnTo>
                  <a:moveTo>
                    <a:pt x="24" y="23"/>
                  </a:moveTo>
                  <a:lnTo>
                    <a:pt x="24" y="51"/>
                  </a:lnTo>
                  <a:lnTo>
                    <a:pt x="63" y="71"/>
                  </a:lnTo>
                  <a:lnTo>
                    <a:pt x="62" y="40"/>
                  </a:lnTo>
                  <a:lnTo>
                    <a:pt x="66" y="41"/>
                  </a:lnTo>
                  <a:lnTo>
                    <a:pt x="24" y="23"/>
                  </a:lnTo>
                  <a:moveTo>
                    <a:pt x="20" y="49"/>
                  </a:moveTo>
                  <a:lnTo>
                    <a:pt x="19" y="21"/>
                  </a:lnTo>
                  <a:lnTo>
                    <a:pt x="6" y="15"/>
                  </a:lnTo>
                  <a:lnTo>
                    <a:pt x="4" y="17"/>
                  </a:lnTo>
                  <a:lnTo>
                    <a:pt x="5" y="42"/>
                  </a:lnTo>
                  <a:lnTo>
                    <a:pt x="6" y="42"/>
                  </a:lnTo>
                  <a:lnTo>
                    <a:pt x="20" y="49"/>
                  </a:lnTo>
                  <a:moveTo>
                    <a:pt x="49" y="67"/>
                  </a:moveTo>
                  <a:lnTo>
                    <a:pt x="49" y="93"/>
                  </a:lnTo>
                  <a:lnTo>
                    <a:pt x="88" y="113"/>
                  </a:lnTo>
                  <a:lnTo>
                    <a:pt x="87" y="85"/>
                  </a:lnTo>
                  <a:lnTo>
                    <a:pt x="88" y="85"/>
                  </a:lnTo>
                  <a:lnTo>
                    <a:pt x="49" y="67"/>
                  </a:lnTo>
                  <a:moveTo>
                    <a:pt x="46" y="91"/>
                  </a:moveTo>
                  <a:lnTo>
                    <a:pt x="45" y="65"/>
                  </a:lnTo>
                  <a:lnTo>
                    <a:pt x="6" y="47"/>
                  </a:lnTo>
                  <a:lnTo>
                    <a:pt x="7" y="71"/>
                  </a:lnTo>
                  <a:lnTo>
                    <a:pt x="46" y="91"/>
                  </a:lnTo>
                  <a:moveTo>
                    <a:pt x="147" y="144"/>
                  </a:moveTo>
                  <a:lnTo>
                    <a:pt x="130" y="155"/>
                  </a:lnTo>
                  <a:lnTo>
                    <a:pt x="131" y="131"/>
                  </a:lnTo>
                  <a:lnTo>
                    <a:pt x="149" y="119"/>
                  </a:lnTo>
                  <a:lnTo>
                    <a:pt x="147" y="144"/>
                  </a:lnTo>
                  <a:moveTo>
                    <a:pt x="130" y="158"/>
                  </a:moveTo>
                  <a:lnTo>
                    <a:pt x="146" y="148"/>
                  </a:lnTo>
                  <a:lnTo>
                    <a:pt x="144" y="175"/>
                  </a:lnTo>
                  <a:lnTo>
                    <a:pt x="129" y="185"/>
                  </a:lnTo>
                  <a:lnTo>
                    <a:pt x="130" y="158"/>
                  </a:lnTo>
                  <a:moveTo>
                    <a:pt x="132" y="103"/>
                  </a:moveTo>
                  <a:lnTo>
                    <a:pt x="152" y="90"/>
                  </a:lnTo>
                  <a:lnTo>
                    <a:pt x="149" y="115"/>
                  </a:lnTo>
                  <a:lnTo>
                    <a:pt x="131" y="127"/>
                  </a:lnTo>
                  <a:lnTo>
                    <a:pt x="132" y="103"/>
                  </a:lnTo>
                  <a:moveTo>
                    <a:pt x="9" y="106"/>
                  </a:moveTo>
                  <a:lnTo>
                    <a:pt x="43" y="122"/>
                  </a:lnTo>
                  <a:lnTo>
                    <a:pt x="43" y="146"/>
                  </a:lnTo>
                  <a:lnTo>
                    <a:pt x="10" y="128"/>
                  </a:lnTo>
                  <a:lnTo>
                    <a:pt x="9" y="106"/>
                  </a:lnTo>
                  <a:moveTo>
                    <a:pt x="46" y="124"/>
                  </a:moveTo>
                  <a:lnTo>
                    <a:pt x="84" y="142"/>
                  </a:lnTo>
                  <a:lnTo>
                    <a:pt x="83" y="142"/>
                  </a:lnTo>
                  <a:lnTo>
                    <a:pt x="83" y="166"/>
                  </a:lnTo>
                  <a:lnTo>
                    <a:pt x="47" y="148"/>
                  </a:lnTo>
                  <a:lnTo>
                    <a:pt x="46" y="124"/>
                  </a:lnTo>
                </a:path>
              </a:pathLst>
            </a:custGeom>
            <a:solidFill>
              <a:srgbClr val="CC3300"/>
            </a:solidFill>
            <a:ln>
              <a:noFill/>
            </a:ln>
            <a:extLst>
              <a:ext uri="{91240B29-F687-4F45-9708-019B960494DF}">
                <a14:hiddenLine xmlns:a14="http://schemas.microsoft.com/office/drawing/2010/main" w="12700" cap="flat" cmpd="sng">
                  <a:solidFill>
                    <a:srgbClr val="000000"/>
                  </a:solidFill>
                  <a:prstDash val="solid"/>
                  <a:round/>
                  <a:headEnd type="none" w="med" len="med"/>
                  <a:tailEnd type="none" w="med" len="med"/>
                </a14:hiddenLine>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39" name="Freeform 118">
              <a:extLst>
                <a:ext uri="{FF2B5EF4-FFF2-40B4-BE49-F238E27FC236}">
                  <a16:creationId xmlns="" xmlns:a16="http://schemas.microsoft.com/office/drawing/2014/main" id="{AEEB7DF1-DA1C-EA2C-C0A9-92D32489982E}"/>
                </a:ext>
              </a:extLst>
            </p:cNvPr>
            <p:cNvSpPr>
              <a:spLocks noChangeAspect="1"/>
            </p:cNvSpPr>
            <p:nvPr/>
          </p:nvSpPr>
          <p:spPr bwMode="auto">
            <a:xfrm>
              <a:off x="4513" y="914"/>
              <a:ext cx="185" cy="297"/>
            </a:xfrm>
            <a:custGeom>
              <a:avLst/>
              <a:gdLst>
                <a:gd name="T0" fmla="*/ 146 w 76"/>
                <a:gd name="T1" fmla="*/ 0 h 113"/>
                <a:gd name="T2" fmla="*/ 75 w 76"/>
                <a:gd name="T3" fmla="*/ 68 h 113"/>
                <a:gd name="T4" fmla="*/ 66 w 76"/>
                <a:gd name="T5" fmla="*/ 39 h 113"/>
                <a:gd name="T6" fmla="*/ 44 w 76"/>
                <a:gd name="T7" fmla="*/ 121 h 113"/>
                <a:gd name="T8" fmla="*/ 24 w 76"/>
                <a:gd name="T9" fmla="*/ 84 h 113"/>
                <a:gd name="T10" fmla="*/ 17 w 76"/>
                <a:gd name="T11" fmla="*/ 171 h 113"/>
                <a:gd name="T12" fmla="*/ 2 w 76"/>
                <a:gd name="T13" fmla="*/ 155 h 113"/>
                <a:gd name="T14" fmla="*/ 19 w 76"/>
                <a:gd name="T15" fmla="*/ 213 h 113"/>
                <a:gd name="T16" fmla="*/ 100 w 76"/>
                <a:gd name="T17" fmla="*/ 292 h 113"/>
                <a:gd name="T18" fmla="*/ 168 w 76"/>
                <a:gd name="T19" fmla="*/ 171 h 113"/>
                <a:gd name="T20" fmla="*/ 180 w 76"/>
                <a:gd name="T21" fmla="*/ 147 h 113"/>
                <a:gd name="T22" fmla="*/ 158 w 76"/>
                <a:gd name="T23" fmla="*/ 152 h 113"/>
                <a:gd name="T24" fmla="*/ 163 w 76"/>
                <a:gd name="T25" fmla="*/ 39 h 113"/>
                <a:gd name="T26" fmla="*/ 129 w 76"/>
                <a:gd name="T27" fmla="*/ 39 h 113"/>
                <a:gd name="T28" fmla="*/ 146 w 76"/>
                <a:gd name="T29" fmla="*/ 0 h 11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
                <a:gd name="T46" fmla="*/ 0 h 113"/>
                <a:gd name="T47" fmla="*/ 76 w 76"/>
                <a:gd name="T48" fmla="*/ 113 h 11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 h="113">
                  <a:moveTo>
                    <a:pt x="60" y="0"/>
                  </a:moveTo>
                  <a:cubicBezTo>
                    <a:pt x="60" y="0"/>
                    <a:pt x="32" y="7"/>
                    <a:pt x="31" y="26"/>
                  </a:cubicBezTo>
                  <a:cubicBezTo>
                    <a:pt x="28" y="21"/>
                    <a:pt x="27" y="15"/>
                    <a:pt x="27" y="15"/>
                  </a:cubicBezTo>
                  <a:cubicBezTo>
                    <a:pt x="27" y="15"/>
                    <a:pt x="18" y="32"/>
                    <a:pt x="18" y="46"/>
                  </a:cubicBezTo>
                  <a:cubicBezTo>
                    <a:pt x="12" y="45"/>
                    <a:pt x="10" y="32"/>
                    <a:pt x="10" y="32"/>
                  </a:cubicBezTo>
                  <a:cubicBezTo>
                    <a:pt x="10" y="32"/>
                    <a:pt x="0" y="47"/>
                    <a:pt x="7" y="65"/>
                  </a:cubicBezTo>
                  <a:cubicBezTo>
                    <a:pt x="4" y="57"/>
                    <a:pt x="5" y="63"/>
                    <a:pt x="1" y="59"/>
                  </a:cubicBezTo>
                  <a:cubicBezTo>
                    <a:pt x="1" y="59"/>
                    <a:pt x="3" y="77"/>
                    <a:pt x="8" y="81"/>
                  </a:cubicBezTo>
                  <a:cubicBezTo>
                    <a:pt x="12" y="85"/>
                    <a:pt x="23" y="113"/>
                    <a:pt x="41" y="111"/>
                  </a:cubicBezTo>
                  <a:cubicBezTo>
                    <a:pt x="58" y="110"/>
                    <a:pt x="73" y="96"/>
                    <a:pt x="69" y="65"/>
                  </a:cubicBezTo>
                  <a:cubicBezTo>
                    <a:pt x="75" y="58"/>
                    <a:pt x="76" y="56"/>
                    <a:pt x="74" y="56"/>
                  </a:cubicBezTo>
                  <a:lnTo>
                    <a:pt x="65" y="58"/>
                  </a:lnTo>
                  <a:cubicBezTo>
                    <a:pt x="65" y="58"/>
                    <a:pt x="45" y="37"/>
                    <a:pt x="67" y="15"/>
                  </a:cubicBezTo>
                  <a:cubicBezTo>
                    <a:pt x="57" y="14"/>
                    <a:pt x="51" y="16"/>
                    <a:pt x="53" y="15"/>
                  </a:cubicBezTo>
                  <a:cubicBezTo>
                    <a:pt x="54" y="14"/>
                    <a:pt x="55" y="2"/>
                    <a:pt x="60" y="0"/>
                  </a:cubicBezTo>
                </a:path>
              </a:pathLst>
            </a:custGeom>
            <a:solidFill>
              <a:srgbClr val="FFFF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0" name="Freeform 119">
              <a:extLst>
                <a:ext uri="{FF2B5EF4-FFF2-40B4-BE49-F238E27FC236}">
                  <a16:creationId xmlns="" xmlns:a16="http://schemas.microsoft.com/office/drawing/2014/main" id="{DC31637C-ABDA-4C44-4170-746364F9D8E9}"/>
                </a:ext>
              </a:extLst>
            </p:cNvPr>
            <p:cNvSpPr>
              <a:spLocks noChangeAspect="1"/>
            </p:cNvSpPr>
            <p:nvPr/>
          </p:nvSpPr>
          <p:spPr bwMode="auto">
            <a:xfrm>
              <a:off x="4523" y="927"/>
              <a:ext cx="161" cy="269"/>
            </a:xfrm>
            <a:custGeom>
              <a:avLst/>
              <a:gdLst>
                <a:gd name="T0" fmla="*/ 122 w 66"/>
                <a:gd name="T1" fmla="*/ 0 h 102"/>
                <a:gd name="T2" fmla="*/ 66 w 66"/>
                <a:gd name="T3" fmla="*/ 82 h 102"/>
                <a:gd name="T4" fmla="*/ 59 w 66"/>
                <a:gd name="T5" fmla="*/ 58 h 102"/>
                <a:gd name="T6" fmla="*/ 39 w 66"/>
                <a:gd name="T7" fmla="*/ 124 h 102"/>
                <a:gd name="T8" fmla="*/ 22 w 66"/>
                <a:gd name="T9" fmla="*/ 92 h 102"/>
                <a:gd name="T10" fmla="*/ 12 w 66"/>
                <a:gd name="T11" fmla="*/ 166 h 102"/>
                <a:gd name="T12" fmla="*/ 0 w 66"/>
                <a:gd name="T13" fmla="*/ 153 h 102"/>
                <a:gd name="T14" fmla="*/ 15 w 66"/>
                <a:gd name="T15" fmla="*/ 200 h 102"/>
                <a:gd name="T16" fmla="*/ 85 w 66"/>
                <a:gd name="T17" fmla="*/ 266 h 102"/>
                <a:gd name="T18" fmla="*/ 149 w 66"/>
                <a:gd name="T19" fmla="*/ 166 h 102"/>
                <a:gd name="T20" fmla="*/ 159 w 66"/>
                <a:gd name="T21" fmla="*/ 145 h 102"/>
                <a:gd name="T22" fmla="*/ 137 w 66"/>
                <a:gd name="T23" fmla="*/ 150 h 102"/>
                <a:gd name="T24" fmla="*/ 139 w 66"/>
                <a:gd name="T25" fmla="*/ 32 h 102"/>
                <a:gd name="T26" fmla="*/ 112 w 66"/>
                <a:gd name="T27" fmla="*/ 58 h 102"/>
                <a:gd name="T28" fmla="*/ 122 w 66"/>
                <a:gd name="T29" fmla="*/ 0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6"/>
                <a:gd name="T46" fmla="*/ 0 h 102"/>
                <a:gd name="T47" fmla="*/ 66 w 66"/>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6" h="102">
                  <a:moveTo>
                    <a:pt x="50" y="0"/>
                  </a:moveTo>
                  <a:cubicBezTo>
                    <a:pt x="50" y="0"/>
                    <a:pt x="28" y="16"/>
                    <a:pt x="27" y="31"/>
                  </a:cubicBezTo>
                  <a:cubicBezTo>
                    <a:pt x="25" y="27"/>
                    <a:pt x="24" y="22"/>
                    <a:pt x="24" y="22"/>
                  </a:cubicBezTo>
                  <a:cubicBezTo>
                    <a:pt x="24" y="22"/>
                    <a:pt x="15" y="35"/>
                    <a:pt x="16" y="47"/>
                  </a:cubicBezTo>
                  <a:cubicBezTo>
                    <a:pt x="11" y="47"/>
                    <a:pt x="9" y="35"/>
                    <a:pt x="9" y="35"/>
                  </a:cubicBezTo>
                  <a:cubicBezTo>
                    <a:pt x="9" y="35"/>
                    <a:pt x="0" y="48"/>
                    <a:pt x="5" y="63"/>
                  </a:cubicBezTo>
                  <a:cubicBezTo>
                    <a:pt x="3" y="57"/>
                    <a:pt x="4" y="62"/>
                    <a:pt x="0" y="58"/>
                  </a:cubicBezTo>
                  <a:cubicBezTo>
                    <a:pt x="0" y="58"/>
                    <a:pt x="2" y="73"/>
                    <a:pt x="6" y="76"/>
                  </a:cubicBezTo>
                  <a:cubicBezTo>
                    <a:pt x="10" y="80"/>
                    <a:pt x="20" y="102"/>
                    <a:pt x="35" y="101"/>
                  </a:cubicBezTo>
                  <a:cubicBezTo>
                    <a:pt x="51" y="100"/>
                    <a:pt x="64" y="89"/>
                    <a:pt x="61" y="63"/>
                  </a:cubicBezTo>
                  <a:cubicBezTo>
                    <a:pt x="62" y="59"/>
                    <a:pt x="66" y="55"/>
                    <a:pt x="65" y="55"/>
                  </a:cubicBezTo>
                  <a:lnTo>
                    <a:pt x="56" y="57"/>
                  </a:lnTo>
                  <a:cubicBezTo>
                    <a:pt x="46" y="44"/>
                    <a:pt x="44" y="18"/>
                    <a:pt x="57" y="12"/>
                  </a:cubicBezTo>
                  <a:cubicBezTo>
                    <a:pt x="49" y="13"/>
                    <a:pt x="48" y="17"/>
                    <a:pt x="46" y="22"/>
                  </a:cubicBezTo>
                  <a:cubicBezTo>
                    <a:pt x="43" y="15"/>
                    <a:pt x="45" y="2"/>
                    <a:pt x="50" y="0"/>
                  </a:cubicBezTo>
                </a:path>
              </a:pathLst>
            </a:custGeom>
            <a:solidFill>
              <a:srgbClr val="0087B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1" name="Freeform 120">
              <a:extLst>
                <a:ext uri="{FF2B5EF4-FFF2-40B4-BE49-F238E27FC236}">
                  <a16:creationId xmlns="" xmlns:a16="http://schemas.microsoft.com/office/drawing/2014/main" id="{BA685C38-87D6-4A90-7DCF-3F9F4DA90F75}"/>
                </a:ext>
              </a:extLst>
            </p:cNvPr>
            <p:cNvSpPr>
              <a:spLocks noChangeAspect="1"/>
            </p:cNvSpPr>
            <p:nvPr/>
          </p:nvSpPr>
          <p:spPr bwMode="auto">
            <a:xfrm>
              <a:off x="4538" y="998"/>
              <a:ext cx="117" cy="182"/>
            </a:xfrm>
            <a:custGeom>
              <a:avLst/>
              <a:gdLst>
                <a:gd name="T0" fmla="*/ 80 w 48"/>
                <a:gd name="T1" fmla="*/ 0 h 69"/>
                <a:gd name="T2" fmla="*/ 41 w 48"/>
                <a:gd name="T3" fmla="*/ 42 h 69"/>
                <a:gd name="T4" fmla="*/ 34 w 48"/>
                <a:gd name="T5" fmla="*/ 26 h 69"/>
                <a:gd name="T6" fmla="*/ 27 w 48"/>
                <a:gd name="T7" fmla="*/ 74 h 69"/>
                <a:gd name="T8" fmla="*/ 12 w 48"/>
                <a:gd name="T9" fmla="*/ 53 h 69"/>
                <a:gd name="T10" fmla="*/ 15 w 48"/>
                <a:gd name="T11" fmla="*/ 106 h 69"/>
                <a:gd name="T12" fmla="*/ 2 w 48"/>
                <a:gd name="T13" fmla="*/ 95 h 69"/>
                <a:gd name="T14" fmla="*/ 17 w 48"/>
                <a:gd name="T15" fmla="*/ 132 h 69"/>
                <a:gd name="T16" fmla="*/ 73 w 48"/>
                <a:gd name="T17" fmla="*/ 179 h 69"/>
                <a:gd name="T18" fmla="*/ 107 w 48"/>
                <a:gd name="T19" fmla="*/ 106 h 69"/>
                <a:gd name="T20" fmla="*/ 112 w 48"/>
                <a:gd name="T21" fmla="*/ 90 h 69"/>
                <a:gd name="T22" fmla="*/ 98 w 48"/>
                <a:gd name="T23" fmla="*/ 95 h 69"/>
                <a:gd name="T24" fmla="*/ 93 w 48"/>
                <a:gd name="T25" fmla="*/ 24 h 69"/>
                <a:gd name="T26" fmla="*/ 73 w 48"/>
                <a:gd name="T27" fmla="*/ 26 h 69"/>
                <a:gd name="T28" fmla="*/ 80 w 48"/>
                <a:gd name="T29" fmla="*/ 0 h 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69"/>
                <a:gd name="T47" fmla="*/ 48 w 48"/>
                <a:gd name="T48" fmla="*/ 69 h 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69">
                  <a:moveTo>
                    <a:pt x="33" y="0"/>
                  </a:moveTo>
                  <a:cubicBezTo>
                    <a:pt x="33" y="0"/>
                    <a:pt x="17" y="5"/>
                    <a:pt x="17" y="16"/>
                  </a:cubicBezTo>
                  <a:cubicBezTo>
                    <a:pt x="16" y="13"/>
                    <a:pt x="14" y="10"/>
                    <a:pt x="14" y="10"/>
                  </a:cubicBezTo>
                  <a:cubicBezTo>
                    <a:pt x="14" y="10"/>
                    <a:pt x="10" y="20"/>
                    <a:pt x="11" y="28"/>
                  </a:cubicBezTo>
                  <a:cubicBezTo>
                    <a:pt x="8" y="28"/>
                    <a:pt x="5" y="20"/>
                    <a:pt x="5" y="20"/>
                  </a:cubicBezTo>
                  <a:cubicBezTo>
                    <a:pt x="5" y="20"/>
                    <a:pt x="0" y="29"/>
                    <a:pt x="6" y="40"/>
                  </a:cubicBezTo>
                  <a:cubicBezTo>
                    <a:pt x="3" y="36"/>
                    <a:pt x="4" y="39"/>
                    <a:pt x="1" y="36"/>
                  </a:cubicBezTo>
                  <a:cubicBezTo>
                    <a:pt x="1" y="36"/>
                    <a:pt x="4" y="47"/>
                    <a:pt x="7" y="50"/>
                  </a:cubicBezTo>
                  <a:cubicBezTo>
                    <a:pt x="11" y="53"/>
                    <a:pt x="19" y="69"/>
                    <a:pt x="30" y="68"/>
                  </a:cubicBezTo>
                  <a:cubicBezTo>
                    <a:pt x="40" y="67"/>
                    <a:pt x="48" y="59"/>
                    <a:pt x="44" y="40"/>
                  </a:cubicBezTo>
                  <a:cubicBezTo>
                    <a:pt x="47" y="36"/>
                    <a:pt x="47" y="34"/>
                    <a:pt x="46" y="34"/>
                  </a:cubicBezTo>
                  <a:lnTo>
                    <a:pt x="40" y="36"/>
                  </a:lnTo>
                  <a:cubicBezTo>
                    <a:pt x="40" y="36"/>
                    <a:pt x="27" y="23"/>
                    <a:pt x="38" y="9"/>
                  </a:cubicBezTo>
                  <a:cubicBezTo>
                    <a:pt x="33" y="9"/>
                    <a:pt x="29" y="11"/>
                    <a:pt x="30" y="10"/>
                  </a:cubicBezTo>
                  <a:cubicBezTo>
                    <a:pt x="30" y="9"/>
                    <a:pt x="30" y="1"/>
                    <a:pt x="33" y="0"/>
                  </a:cubicBezTo>
                </a:path>
              </a:pathLst>
            </a:custGeom>
            <a:solidFill>
              <a:srgbClr val="00BEDC"/>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142" name="Freeform 121">
              <a:extLst>
                <a:ext uri="{FF2B5EF4-FFF2-40B4-BE49-F238E27FC236}">
                  <a16:creationId xmlns="" xmlns:a16="http://schemas.microsoft.com/office/drawing/2014/main" id="{A7F1ABE8-97D3-0F93-B91A-DB146708E1C3}"/>
                </a:ext>
              </a:extLst>
            </p:cNvPr>
            <p:cNvSpPr>
              <a:spLocks noChangeAspect="1"/>
            </p:cNvSpPr>
            <p:nvPr/>
          </p:nvSpPr>
          <p:spPr bwMode="auto">
            <a:xfrm>
              <a:off x="4560" y="1053"/>
              <a:ext cx="78" cy="108"/>
            </a:xfrm>
            <a:custGeom>
              <a:avLst/>
              <a:gdLst>
                <a:gd name="T0" fmla="*/ 41 w 32"/>
                <a:gd name="T1" fmla="*/ 0 h 41"/>
                <a:gd name="T2" fmla="*/ 22 w 32"/>
                <a:gd name="T3" fmla="*/ 26 h 41"/>
                <a:gd name="T4" fmla="*/ 17 w 32"/>
                <a:gd name="T5" fmla="*/ 16 h 41"/>
                <a:gd name="T6" fmla="*/ 17 w 32"/>
                <a:gd name="T7" fmla="*/ 45 h 41"/>
                <a:gd name="T8" fmla="*/ 5 w 32"/>
                <a:gd name="T9" fmla="*/ 32 h 41"/>
                <a:gd name="T10" fmla="*/ 12 w 32"/>
                <a:gd name="T11" fmla="*/ 63 h 41"/>
                <a:gd name="T12" fmla="*/ 5 w 32"/>
                <a:gd name="T13" fmla="*/ 58 h 41"/>
                <a:gd name="T14" fmla="*/ 17 w 32"/>
                <a:gd name="T15" fmla="*/ 79 h 41"/>
                <a:gd name="T16" fmla="*/ 54 w 32"/>
                <a:gd name="T17" fmla="*/ 108 h 41"/>
                <a:gd name="T18" fmla="*/ 68 w 32"/>
                <a:gd name="T19" fmla="*/ 63 h 41"/>
                <a:gd name="T20" fmla="*/ 68 w 32"/>
                <a:gd name="T21" fmla="*/ 55 h 41"/>
                <a:gd name="T22" fmla="*/ 61 w 32"/>
                <a:gd name="T23" fmla="*/ 55 h 41"/>
                <a:gd name="T24" fmla="*/ 51 w 32"/>
                <a:gd name="T25" fmla="*/ 16 h 41"/>
                <a:gd name="T26" fmla="*/ 39 w 32"/>
                <a:gd name="T27" fmla="*/ 16 h 41"/>
                <a:gd name="T28" fmla="*/ 41 w 32"/>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41"/>
                <a:gd name="T47" fmla="*/ 32 w 32"/>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41">
                  <a:moveTo>
                    <a:pt x="17" y="0"/>
                  </a:moveTo>
                  <a:cubicBezTo>
                    <a:pt x="17" y="0"/>
                    <a:pt x="8" y="3"/>
                    <a:pt x="9" y="10"/>
                  </a:cubicBezTo>
                  <a:cubicBezTo>
                    <a:pt x="8" y="8"/>
                    <a:pt x="7" y="6"/>
                    <a:pt x="7" y="6"/>
                  </a:cubicBezTo>
                  <a:cubicBezTo>
                    <a:pt x="7" y="6"/>
                    <a:pt x="5" y="12"/>
                    <a:pt x="7" y="17"/>
                  </a:cubicBezTo>
                  <a:cubicBezTo>
                    <a:pt x="5" y="17"/>
                    <a:pt x="2" y="12"/>
                    <a:pt x="2" y="12"/>
                  </a:cubicBezTo>
                  <a:cubicBezTo>
                    <a:pt x="2" y="12"/>
                    <a:pt x="0" y="17"/>
                    <a:pt x="5" y="24"/>
                  </a:cubicBezTo>
                  <a:cubicBezTo>
                    <a:pt x="3" y="21"/>
                    <a:pt x="4" y="24"/>
                    <a:pt x="2" y="22"/>
                  </a:cubicBezTo>
                  <a:cubicBezTo>
                    <a:pt x="2" y="22"/>
                    <a:pt x="5" y="28"/>
                    <a:pt x="7" y="30"/>
                  </a:cubicBezTo>
                  <a:cubicBezTo>
                    <a:pt x="9" y="31"/>
                    <a:pt x="16" y="41"/>
                    <a:pt x="22" y="41"/>
                  </a:cubicBezTo>
                  <a:cubicBezTo>
                    <a:pt x="28" y="40"/>
                    <a:pt x="32" y="35"/>
                    <a:pt x="28" y="24"/>
                  </a:cubicBezTo>
                  <a:cubicBezTo>
                    <a:pt x="29" y="22"/>
                    <a:pt x="29" y="21"/>
                    <a:pt x="28" y="21"/>
                  </a:cubicBezTo>
                  <a:lnTo>
                    <a:pt x="25" y="21"/>
                  </a:lnTo>
                  <a:cubicBezTo>
                    <a:pt x="25" y="21"/>
                    <a:pt x="16" y="14"/>
                    <a:pt x="21" y="6"/>
                  </a:cubicBezTo>
                  <a:cubicBezTo>
                    <a:pt x="18" y="6"/>
                    <a:pt x="16" y="6"/>
                    <a:pt x="16" y="6"/>
                  </a:cubicBezTo>
                  <a:cubicBezTo>
                    <a:pt x="16" y="6"/>
                    <a:pt x="15" y="1"/>
                    <a:pt x="17" y="0"/>
                  </a:cubicBezTo>
                </a:path>
              </a:pathLst>
            </a:custGeom>
            <a:solidFill>
              <a:srgbClr val="FF33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99" b="0" i="0" u="none" strike="noStrike" kern="0" cap="none" spc="0" normalizeH="0" baseline="0" noProof="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grpSp>
      <p:pic>
        <p:nvPicPr>
          <p:cNvPr id="236" name="图片 12">
            <a:extLst>
              <a:ext uri="{FF2B5EF4-FFF2-40B4-BE49-F238E27FC236}">
                <a16:creationId xmlns="" xmlns:a16="http://schemas.microsoft.com/office/drawing/2014/main" id="{4766402F-39A8-3A6B-DE5E-D90E13F1D349}"/>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9559475" y="4691219"/>
            <a:ext cx="834390" cy="834390"/>
          </a:xfrm>
          <a:prstGeom prst="rect">
            <a:avLst/>
          </a:prstGeom>
        </p:spPr>
      </p:pic>
      <p:pic>
        <p:nvPicPr>
          <p:cNvPr id="237" name="图片 13">
            <a:extLst>
              <a:ext uri="{FF2B5EF4-FFF2-40B4-BE49-F238E27FC236}">
                <a16:creationId xmlns="" xmlns:a16="http://schemas.microsoft.com/office/drawing/2014/main" id="{4756B548-1354-ACC3-609A-B39F9013E69B}"/>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10120104" y="4684867"/>
            <a:ext cx="834390" cy="834390"/>
          </a:xfrm>
          <a:prstGeom prst="rect">
            <a:avLst/>
          </a:prstGeom>
        </p:spPr>
      </p:pic>
      <p:pic>
        <p:nvPicPr>
          <p:cNvPr id="238" name="图片 14">
            <a:extLst>
              <a:ext uri="{FF2B5EF4-FFF2-40B4-BE49-F238E27FC236}">
                <a16:creationId xmlns="" xmlns:a16="http://schemas.microsoft.com/office/drawing/2014/main" id="{55AED3D0-6035-19CC-0378-F30BD9734979}"/>
              </a:ext>
            </a:extLst>
          </p:cNvPr>
          <p:cNvPicPr>
            <a:picLocks noChangeAspect="1"/>
          </p:cNvPicPr>
          <p:nvPr/>
        </p:nvPicPr>
        <p:blipFill>
          <a:blip r:embed="rId58" cstate="print">
            <a:extLst>
              <a:ext uri="{28A0092B-C50C-407E-A947-70E740481C1C}">
                <a14:useLocalDpi xmlns:a14="http://schemas.microsoft.com/office/drawing/2010/main" val="0"/>
              </a:ext>
            </a:extLst>
          </a:blip>
          <a:stretch>
            <a:fillRect/>
          </a:stretch>
        </p:blipFill>
        <p:spPr>
          <a:xfrm>
            <a:off x="10709931" y="4691219"/>
            <a:ext cx="834390" cy="834390"/>
          </a:xfrm>
          <a:prstGeom prst="rect">
            <a:avLst/>
          </a:prstGeom>
        </p:spPr>
      </p:pic>
      <p:pic>
        <p:nvPicPr>
          <p:cNvPr id="239" name="图片 15">
            <a:extLst>
              <a:ext uri="{FF2B5EF4-FFF2-40B4-BE49-F238E27FC236}">
                <a16:creationId xmlns="" xmlns:a16="http://schemas.microsoft.com/office/drawing/2014/main" id="{23019663-457B-F1C6-354B-C71B29C62523}"/>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8242804" y="4709545"/>
            <a:ext cx="456806" cy="306230"/>
          </a:xfrm>
          <a:prstGeom prst="rect">
            <a:avLst/>
          </a:prstGeom>
        </p:spPr>
      </p:pic>
      <p:pic>
        <p:nvPicPr>
          <p:cNvPr id="240" name="图片 16">
            <a:extLst>
              <a:ext uri="{FF2B5EF4-FFF2-40B4-BE49-F238E27FC236}">
                <a16:creationId xmlns="" xmlns:a16="http://schemas.microsoft.com/office/drawing/2014/main" id="{4030AA1A-91A3-B481-5D64-2FA64A0237D4}"/>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8677143" y="4709545"/>
            <a:ext cx="456806" cy="306230"/>
          </a:xfrm>
          <a:prstGeom prst="rect">
            <a:avLst/>
          </a:prstGeom>
        </p:spPr>
      </p:pic>
      <p:pic>
        <p:nvPicPr>
          <p:cNvPr id="241" name="图片 17">
            <a:extLst>
              <a:ext uri="{FF2B5EF4-FFF2-40B4-BE49-F238E27FC236}">
                <a16:creationId xmlns="" xmlns:a16="http://schemas.microsoft.com/office/drawing/2014/main" id="{E498D1EC-B07B-6A54-7AD2-C90EAE4DEF6B}"/>
              </a:ext>
            </a:extLst>
          </p:cNvPr>
          <p:cNvPicPr>
            <a:picLocks noChangeAspect="1"/>
          </p:cNvPicPr>
          <p:nvPr/>
        </p:nvPicPr>
        <p:blipFill>
          <a:blip r:embed="rId59" cstate="print">
            <a:extLst>
              <a:ext uri="{28A0092B-C50C-407E-A947-70E740481C1C}">
                <a14:useLocalDpi xmlns:a14="http://schemas.microsoft.com/office/drawing/2010/main" val="0"/>
              </a:ext>
            </a:extLst>
          </a:blip>
          <a:stretch>
            <a:fillRect/>
          </a:stretch>
        </p:blipFill>
        <p:spPr>
          <a:xfrm>
            <a:off x="9119101" y="4709545"/>
            <a:ext cx="456806" cy="306230"/>
          </a:xfrm>
          <a:prstGeom prst="rect">
            <a:avLst/>
          </a:prstGeom>
        </p:spPr>
      </p:pic>
      <p:sp>
        <p:nvSpPr>
          <p:cNvPr id="242" name="Text Box 59">
            <a:extLst>
              <a:ext uri="{FF2B5EF4-FFF2-40B4-BE49-F238E27FC236}">
                <a16:creationId xmlns="" xmlns:a16="http://schemas.microsoft.com/office/drawing/2014/main" id="{5BC1708D-8C45-2023-8949-EE71B789CB4D}"/>
              </a:ext>
            </a:extLst>
          </p:cNvPr>
          <p:cNvSpPr txBox="1">
            <a:spLocks noChangeAspect="1" noChangeArrowheads="1"/>
          </p:cNvSpPr>
          <p:nvPr>
            <p:custDataLst>
              <p:tags r:id="rId45"/>
            </p:custDataLst>
          </p:nvPr>
        </p:nvSpPr>
        <p:spPr bwMode="auto">
          <a:xfrm>
            <a:off x="9860594" y="4712130"/>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机械臂</a:t>
            </a:r>
            <a:r>
              <a:rPr lang="en-US" altLang="zh-CN" sz="999" b="0" kern="0" dirty="0">
                <a:solidFill>
                  <a:srgbClr val="000000"/>
                </a:solidFill>
                <a:latin typeface="Siemens Sans Global" pitchFamily="2" charset="-122"/>
                <a:ea typeface="Siemens Sans Global" pitchFamily="2" charset="-122"/>
                <a:cs typeface="Siemens Sans Global" pitchFamily="2" charset="-122"/>
              </a:rPr>
              <a:t>(Robot Arm)</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43" name="Text Box 59">
            <a:extLst>
              <a:ext uri="{FF2B5EF4-FFF2-40B4-BE49-F238E27FC236}">
                <a16:creationId xmlns="" xmlns:a16="http://schemas.microsoft.com/office/drawing/2014/main" id="{410D29FF-1938-DE15-92CF-D962D37888E9}"/>
              </a:ext>
            </a:extLst>
          </p:cNvPr>
          <p:cNvSpPr txBox="1">
            <a:spLocks noChangeAspect="1" noChangeArrowheads="1"/>
          </p:cNvSpPr>
          <p:nvPr>
            <p:custDataLst>
              <p:tags r:id="rId46"/>
            </p:custDataLst>
          </p:nvPr>
        </p:nvSpPr>
        <p:spPr bwMode="auto">
          <a:xfrm>
            <a:off x="8177109" y="5053217"/>
            <a:ext cx="1471387" cy="1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2850" tIns="0" rIns="42850" bIns="0">
            <a:spAutoFit/>
          </a:bodyPr>
          <a:lstStyle>
            <a:lvl1pPr algn="l" eaLnBrk="0" hangingPunct="0">
              <a:defRPr sz="1000" b="1">
                <a:solidFill>
                  <a:schemeClr val="tx1"/>
                </a:solidFill>
                <a:latin typeface="Arial" charset="0"/>
                <a:ea typeface="楷体_GB2312" pitchFamily="49" charset="-122"/>
              </a:defRPr>
            </a:lvl1pPr>
            <a:lvl2pPr marL="742950" indent="-285750" algn="l" eaLnBrk="0" hangingPunct="0">
              <a:defRPr sz="1000" b="1">
                <a:solidFill>
                  <a:schemeClr val="tx1"/>
                </a:solidFill>
                <a:latin typeface="Arial" charset="0"/>
                <a:ea typeface="楷体_GB2312" pitchFamily="49" charset="-122"/>
              </a:defRPr>
            </a:lvl2pPr>
            <a:lvl3pPr marL="1143000" indent="-228600" algn="l" eaLnBrk="0" hangingPunct="0">
              <a:defRPr sz="1000" b="1">
                <a:solidFill>
                  <a:schemeClr val="tx1"/>
                </a:solidFill>
                <a:latin typeface="Arial" charset="0"/>
                <a:ea typeface="楷体_GB2312" pitchFamily="49" charset="-122"/>
              </a:defRPr>
            </a:lvl3pPr>
            <a:lvl4pPr marL="1600200" indent="-228600" algn="l" eaLnBrk="0" hangingPunct="0">
              <a:defRPr sz="1000" b="1">
                <a:solidFill>
                  <a:schemeClr val="tx1"/>
                </a:solidFill>
                <a:latin typeface="Arial" charset="0"/>
                <a:ea typeface="楷体_GB2312" pitchFamily="49" charset="-122"/>
              </a:defRPr>
            </a:lvl4pPr>
            <a:lvl5pPr marL="2057400" indent="-228600" algn="l" eaLnBrk="0" hangingPunct="0">
              <a:defRPr sz="1000" b="1">
                <a:solidFill>
                  <a:schemeClr val="tx1"/>
                </a:solidFill>
                <a:latin typeface="Arial" charset="0"/>
                <a:ea typeface="楷体_GB2312" pitchFamily="49" charset="-122"/>
              </a:defRPr>
            </a:lvl5pPr>
            <a:lvl6pPr marL="2514600" indent="-228600" eaLnBrk="0" fontAlgn="base" hangingPunct="0">
              <a:spcBef>
                <a:spcPct val="0"/>
              </a:spcBef>
              <a:spcAft>
                <a:spcPct val="0"/>
              </a:spcAft>
              <a:defRPr sz="1000" b="1">
                <a:solidFill>
                  <a:schemeClr val="tx1"/>
                </a:solidFill>
                <a:latin typeface="Arial" charset="0"/>
                <a:ea typeface="楷体_GB2312" pitchFamily="49" charset="-122"/>
              </a:defRPr>
            </a:lvl6pPr>
            <a:lvl7pPr marL="2971800" indent="-228600" eaLnBrk="0" fontAlgn="base" hangingPunct="0">
              <a:spcBef>
                <a:spcPct val="0"/>
              </a:spcBef>
              <a:spcAft>
                <a:spcPct val="0"/>
              </a:spcAft>
              <a:defRPr sz="1000" b="1">
                <a:solidFill>
                  <a:schemeClr val="tx1"/>
                </a:solidFill>
                <a:latin typeface="Arial" charset="0"/>
                <a:ea typeface="楷体_GB2312" pitchFamily="49" charset="-122"/>
              </a:defRPr>
            </a:lvl7pPr>
            <a:lvl8pPr marL="3429000" indent="-228600" eaLnBrk="0" fontAlgn="base" hangingPunct="0">
              <a:spcBef>
                <a:spcPct val="0"/>
              </a:spcBef>
              <a:spcAft>
                <a:spcPct val="0"/>
              </a:spcAft>
              <a:defRPr sz="1000" b="1">
                <a:solidFill>
                  <a:schemeClr val="tx1"/>
                </a:solidFill>
                <a:latin typeface="Arial" charset="0"/>
                <a:ea typeface="楷体_GB2312" pitchFamily="49" charset="-122"/>
              </a:defRPr>
            </a:lvl8pPr>
            <a:lvl9pPr marL="3886200" indent="-228600" eaLnBrk="0" fontAlgn="base" hangingPunct="0">
              <a:spcBef>
                <a:spcPct val="0"/>
              </a:spcBef>
              <a:spcAft>
                <a:spcPct val="0"/>
              </a:spcAft>
              <a:defRPr sz="1000" b="1">
                <a:solidFill>
                  <a:schemeClr val="tx1"/>
                </a:solidFill>
                <a:latin typeface="Arial" charset="0"/>
                <a:ea typeface="楷体_GB2312" pitchFamily="49" charset="-122"/>
              </a:defRPr>
            </a:lvl9pPr>
          </a:lstStyle>
          <a:p>
            <a:pPr marL="0" marR="0" lvl="0" indent="0" algn="ctr" defTabSz="914400" eaLnBrk="1" fontAlgn="auto" latinLnBrk="0" hangingPunct="1">
              <a:lnSpc>
                <a:spcPct val="100000"/>
              </a:lnSpc>
              <a:spcBef>
                <a:spcPts val="0"/>
              </a:spcBef>
              <a:spcAft>
                <a:spcPts val="0"/>
              </a:spcAft>
              <a:buClr>
                <a:srgbClr val="FF9900"/>
              </a:buClr>
              <a:buSzPct val="80000"/>
              <a:buFont typeface="Wingdings" pitchFamily="2" charset="2"/>
              <a:buNone/>
              <a:tabLst/>
              <a:defRPr/>
            </a:pPr>
            <a:r>
              <a:rPr lang="zh-CN" altLang="en-US" sz="999" b="0" kern="0" dirty="0">
                <a:solidFill>
                  <a:srgbClr val="000000"/>
                </a:solidFill>
                <a:latin typeface="Siemens Sans Global" pitchFamily="2" charset="-122"/>
                <a:ea typeface="Siemens Sans Global" pitchFamily="2" charset="-122"/>
                <a:cs typeface="Siemens Sans Global" pitchFamily="2" charset="-122"/>
              </a:rPr>
              <a:t>智能搬运机器人</a:t>
            </a:r>
            <a:r>
              <a:rPr lang="en-US" altLang="zh-CN" sz="999" b="0" kern="0" dirty="0">
                <a:solidFill>
                  <a:srgbClr val="000000"/>
                </a:solidFill>
                <a:latin typeface="Siemens Sans Global" pitchFamily="2" charset="-122"/>
                <a:ea typeface="Siemens Sans Global" pitchFamily="2" charset="-122"/>
                <a:cs typeface="Siemens Sans Global" pitchFamily="2" charset="-122"/>
              </a:rPr>
              <a:t>(AGV)</a:t>
            </a:r>
            <a:endParaRPr kumimoji="0" lang="en-GB" altLang="zh-CN" sz="999" b="0" i="0" u="none" strike="noStrike" kern="0" cap="none" spc="0" normalizeH="0" baseline="0" noProof="0" dirty="0">
              <a:ln>
                <a:noFill/>
              </a:ln>
              <a:solidFill>
                <a:srgbClr val="000000"/>
              </a:solidFill>
              <a:effectLst/>
              <a:uLnTx/>
              <a:uFillTx/>
              <a:latin typeface="Siemens Sans Global" pitchFamily="2" charset="-122"/>
              <a:ea typeface="Siemens Sans Global" pitchFamily="2" charset="-122"/>
              <a:cs typeface="Siemens Sans Global" pitchFamily="2" charset="-122"/>
            </a:endParaRPr>
          </a:p>
        </p:txBody>
      </p:sp>
      <p:sp>
        <p:nvSpPr>
          <p:cNvPr id="245" name="TextBox 244">
            <a:extLst>
              <a:ext uri="{FF2B5EF4-FFF2-40B4-BE49-F238E27FC236}">
                <a16:creationId xmlns="" xmlns:a16="http://schemas.microsoft.com/office/drawing/2014/main" id="{3315C529-75B8-DF13-4FA5-6FBD90D02D34}"/>
              </a:ext>
            </a:extLst>
          </p:cNvPr>
          <p:cNvSpPr txBox="1"/>
          <p:nvPr/>
        </p:nvSpPr>
        <p:spPr>
          <a:xfrm>
            <a:off x="11482902" y="4453294"/>
            <a:ext cx="2840438" cy="1024961"/>
          </a:xfrm>
          <a:prstGeom prst="rect">
            <a:avLst/>
          </a:prstGeom>
          <a:noFill/>
        </p:spPr>
        <p:txBody>
          <a:bodyPr wrap="square">
            <a:spAutoFit/>
          </a:bodyPr>
          <a:lstStyle/>
          <a:p>
            <a:pPr indent="457200">
              <a:lnSpc>
                <a:spcPct val="150000"/>
              </a:lnSpc>
            </a:pPr>
            <a:r>
              <a:rPr lang="zh-CN" altLang="en-US" sz="1400" b="1" spc="100" dirty="0">
                <a:solidFill>
                  <a:schemeClr val="tx1">
                    <a:lumMod val="65000"/>
                    <a:lumOff val="35000"/>
                  </a:schemeClr>
                </a:solidFill>
                <a:highlight>
                  <a:srgbClr val="FFFF00"/>
                </a:highlight>
              </a:rPr>
              <a:t>分布式任务执行：多智能体自主完成具体执行动作，并具备一定的自主决策能力</a:t>
            </a:r>
            <a:endParaRPr lang="en-US" sz="1400" b="1" spc="100" dirty="0">
              <a:solidFill>
                <a:schemeClr val="tx1">
                  <a:lumMod val="65000"/>
                  <a:lumOff val="35000"/>
                </a:schemeClr>
              </a:solidFill>
              <a:highlight>
                <a:srgbClr val="FFFF00"/>
              </a:highlight>
            </a:endParaRPr>
          </a:p>
        </p:txBody>
      </p:sp>
      <p:sp>
        <p:nvSpPr>
          <p:cNvPr id="246" name="TextBox 245">
            <a:extLst>
              <a:ext uri="{FF2B5EF4-FFF2-40B4-BE49-F238E27FC236}">
                <a16:creationId xmlns="" xmlns:a16="http://schemas.microsoft.com/office/drawing/2014/main" id="{5F2A4304-2BED-DFF7-7B5F-15083F3C67B1}"/>
              </a:ext>
            </a:extLst>
          </p:cNvPr>
          <p:cNvSpPr txBox="1"/>
          <p:nvPr/>
        </p:nvSpPr>
        <p:spPr>
          <a:xfrm>
            <a:off x="11366500" y="2536392"/>
            <a:ext cx="2840438" cy="701795"/>
          </a:xfrm>
          <a:prstGeom prst="rect">
            <a:avLst/>
          </a:prstGeom>
          <a:noFill/>
        </p:spPr>
        <p:txBody>
          <a:bodyPr wrap="square">
            <a:spAutoFit/>
          </a:bodyPr>
          <a:lstStyle/>
          <a:p>
            <a:pPr indent="457200">
              <a:lnSpc>
                <a:spcPct val="150000"/>
              </a:lnSpc>
            </a:pPr>
            <a:r>
              <a:rPr lang="zh-CN" altLang="en-US" sz="1400" b="1" spc="100" dirty="0">
                <a:solidFill>
                  <a:schemeClr val="tx1">
                    <a:lumMod val="65000"/>
                    <a:lumOff val="35000"/>
                  </a:schemeClr>
                </a:solidFill>
                <a:highlight>
                  <a:srgbClr val="FFFF00"/>
                </a:highlight>
              </a:rPr>
              <a:t>调度服务器进行任务的集中调度：全局任务规划与分配</a:t>
            </a:r>
            <a:endParaRPr lang="en-US" sz="1400" b="1" spc="100" dirty="0">
              <a:solidFill>
                <a:schemeClr val="tx1">
                  <a:lumMod val="65000"/>
                  <a:lumOff val="35000"/>
                </a:schemeClr>
              </a:solidFill>
              <a:highlight>
                <a:srgbClr val="FFFF00"/>
              </a:highlight>
            </a:endParaRPr>
          </a:p>
        </p:txBody>
      </p:sp>
    </p:spTree>
    <p:extLst>
      <p:ext uri="{BB962C8B-B14F-4D97-AF65-F5344CB8AC3E}">
        <p14:creationId xmlns:p14="http://schemas.microsoft.com/office/powerpoint/2010/main" val="119428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45"/>
                                        </p:tgtEl>
                                        <p:attrNameLst>
                                          <p:attrName>style.visibility</p:attrName>
                                        </p:attrNameLst>
                                      </p:cBhvr>
                                      <p:to>
                                        <p:strVal val="visible"/>
                                      </p:to>
                                    </p:set>
                                    <p:animEffect transition="in" filter="blinds(horizontal)">
                                      <p:cBhvr>
                                        <p:cTn id="14" dur="500"/>
                                        <p:tgtEl>
                                          <p:spTgt spid="145"/>
                                        </p:tgtEl>
                                      </p:cBhvr>
                                    </p:animEffect>
                                  </p:childTnLst>
                                </p:cTn>
                              </p:par>
                              <p:par>
                                <p:cTn id="15" presetID="3" presetClass="entr" presetSubtype="10" fill="hold" nodeType="withEffect">
                                  <p:stCondLst>
                                    <p:cond delay="0"/>
                                  </p:stCondLst>
                                  <p:childTnLst>
                                    <p:set>
                                      <p:cBhvr>
                                        <p:cTn id="16" dur="1" fill="hold">
                                          <p:stCondLst>
                                            <p:cond delay="0"/>
                                          </p:stCondLst>
                                        </p:cTn>
                                        <p:tgtEl>
                                          <p:spTgt spid="154"/>
                                        </p:tgtEl>
                                        <p:attrNameLst>
                                          <p:attrName>style.visibility</p:attrName>
                                        </p:attrNameLst>
                                      </p:cBhvr>
                                      <p:to>
                                        <p:strVal val="visible"/>
                                      </p:to>
                                    </p:set>
                                    <p:animEffect transition="in" filter="blinds(horizontal)">
                                      <p:cBhvr>
                                        <p:cTn id="17" dur="500"/>
                                        <p:tgtEl>
                                          <p:spTgt spid="154"/>
                                        </p:tgtEl>
                                      </p:cBhvr>
                                    </p:animEffect>
                                  </p:childTnLst>
                                </p:cTn>
                              </p:par>
                              <p:par>
                                <p:cTn id="18" presetID="3" presetClass="entr" presetSubtype="10" fill="hold" nodeType="withEffect">
                                  <p:stCondLst>
                                    <p:cond delay="0"/>
                                  </p:stCondLst>
                                  <p:childTnLst>
                                    <p:set>
                                      <p:cBhvr>
                                        <p:cTn id="19" dur="1" fill="hold">
                                          <p:stCondLst>
                                            <p:cond delay="0"/>
                                          </p:stCondLst>
                                        </p:cTn>
                                        <p:tgtEl>
                                          <p:spTgt spid="69"/>
                                        </p:tgtEl>
                                        <p:attrNameLst>
                                          <p:attrName>style.visibility</p:attrName>
                                        </p:attrNameLst>
                                      </p:cBhvr>
                                      <p:to>
                                        <p:strVal val="visible"/>
                                      </p:to>
                                    </p:set>
                                    <p:animEffect transition="in" filter="blinds(horizontal)">
                                      <p:cBhvr>
                                        <p:cTn id="20" dur="500"/>
                                        <p:tgtEl>
                                          <p:spTgt spid="69"/>
                                        </p:tgtEl>
                                      </p:cBhvr>
                                    </p:animEffect>
                                  </p:childTnLst>
                                </p:cTn>
                              </p:par>
                              <p:par>
                                <p:cTn id="21" presetID="3" presetClass="entr" presetSubtype="10"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blinds(horizontal)">
                                      <p:cBhvr>
                                        <p:cTn id="23" dur="500"/>
                                        <p:tgtEl>
                                          <p:spTgt spid="78"/>
                                        </p:tgtEl>
                                      </p:cBhvr>
                                    </p:animEffect>
                                  </p:childTnLst>
                                </p:cTn>
                              </p:par>
                              <p:par>
                                <p:cTn id="24" presetID="3" presetClass="entr" presetSubtype="10" fill="hold" nodeType="withEffect">
                                  <p:stCondLst>
                                    <p:cond delay="0"/>
                                  </p:stCondLst>
                                  <p:childTnLst>
                                    <p:set>
                                      <p:cBhvr>
                                        <p:cTn id="25" dur="1" fill="hold">
                                          <p:stCondLst>
                                            <p:cond delay="0"/>
                                          </p:stCondLst>
                                        </p:cTn>
                                        <p:tgtEl>
                                          <p:spTgt spid="121"/>
                                        </p:tgtEl>
                                        <p:attrNameLst>
                                          <p:attrName>style.visibility</p:attrName>
                                        </p:attrNameLst>
                                      </p:cBhvr>
                                      <p:to>
                                        <p:strVal val="visible"/>
                                      </p:to>
                                    </p:set>
                                    <p:animEffect transition="in" filter="blinds(horizontal)">
                                      <p:cBhvr>
                                        <p:cTn id="26" dur="500"/>
                                        <p:tgtEl>
                                          <p:spTgt spid="121"/>
                                        </p:tgtEl>
                                      </p:cBhvr>
                                    </p:animEffect>
                                  </p:childTnLst>
                                </p:cTn>
                              </p:par>
                              <p:par>
                                <p:cTn id="27" presetID="3" presetClass="entr" presetSubtype="10" fill="hold" nodeType="withEffect">
                                  <p:stCondLst>
                                    <p:cond delay="0"/>
                                  </p:stCondLst>
                                  <p:childTnLst>
                                    <p:set>
                                      <p:cBhvr>
                                        <p:cTn id="28" dur="1" fill="hold">
                                          <p:stCondLst>
                                            <p:cond delay="0"/>
                                          </p:stCondLst>
                                        </p:cTn>
                                        <p:tgtEl>
                                          <p:spTgt spid="132"/>
                                        </p:tgtEl>
                                        <p:attrNameLst>
                                          <p:attrName>style.visibility</p:attrName>
                                        </p:attrNameLst>
                                      </p:cBhvr>
                                      <p:to>
                                        <p:strVal val="visible"/>
                                      </p:to>
                                    </p:set>
                                    <p:animEffect transition="in" filter="blinds(horizontal)">
                                      <p:cBhvr>
                                        <p:cTn id="29"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253005" y="527901"/>
            <a:ext cx="3223967"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目前工业领域调度系统的特点：</a:t>
            </a:r>
          </a:p>
        </p:txBody>
      </p:sp>
      <p:sp>
        <p:nvSpPr>
          <p:cNvPr id="5" name="左大括号 4"/>
          <p:cNvSpPr/>
          <p:nvPr/>
        </p:nvSpPr>
        <p:spPr>
          <a:xfrm>
            <a:off x="5560256" y="-119057"/>
            <a:ext cx="188485" cy="14517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p:cNvSpPr/>
          <p:nvPr/>
        </p:nvSpPr>
        <p:spPr>
          <a:xfrm>
            <a:off x="2253005" y="2177592"/>
            <a:ext cx="3223967"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基于时序逻辑和混合动态规划的异构智能体制造系统调度</a:t>
            </a:r>
            <a:endParaRPr lang="zh-CN" altLang="en-US" dirty="0">
              <a:solidFill>
                <a:schemeClr val="tx1"/>
              </a:solidFill>
            </a:endParaRPr>
          </a:p>
        </p:txBody>
      </p:sp>
      <p:cxnSp>
        <p:nvCxnSpPr>
          <p:cNvPr id="9" name="直接箭头连接符 8"/>
          <p:cNvCxnSpPr>
            <a:stCxn id="4" idx="2"/>
            <a:endCxn id="87" idx="0"/>
          </p:cNvCxnSpPr>
          <p:nvPr/>
        </p:nvCxnSpPr>
        <p:spPr>
          <a:xfrm flipH="1">
            <a:off x="3864988" y="1150070"/>
            <a:ext cx="1" cy="264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769152" y="-559224"/>
            <a:ext cx="5571241" cy="2031325"/>
          </a:xfrm>
          <a:prstGeom prst="rect">
            <a:avLst/>
          </a:prstGeom>
          <a:noFill/>
        </p:spPr>
        <p:txBody>
          <a:bodyPr wrap="square" rtlCol="0">
            <a:spAutoFit/>
          </a:bodyPr>
          <a:lstStyle/>
          <a:p>
            <a:r>
              <a:rPr lang="zh-CN" altLang="en-US" dirty="0">
                <a:solidFill>
                  <a:srgbClr val="00B0F0"/>
                </a:solidFill>
              </a:rPr>
              <a:t>工业自动化设备、智能设备，比如</a:t>
            </a:r>
            <a:r>
              <a:rPr lang="en-US" altLang="zh-CN" dirty="0">
                <a:solidFill>
                  <a:srgbClr val="00B0F0"/>
                </a:solidFill>
              </a:rPr>
              <a:t>AGV</a:t>
            </a:r>
            <a:r>
              <a:rPr lang="zh-CN" altLang="en-US" dirty="0">
                <a:solidFill>
                  <a:srgbClr val="00B0F0"/>
                </a:solidFill>
              </a:rPr>
              <a:t>（自动导引车）和</a:t>
            </a:r>
            <a:r>
              <a:rPr lang="en-US" altLang="zh-CN" dirty="0">
                <a:solidFill>
                  <a:srgbClr val="00B0F0"/>
                </a:solidFill>
              </a:rPr>
              <a:t>Robot Arm</a:t>
            </a:r>
            <a:r>
              <a:rPr lang="zh-CN" altLang="en-US" dirty="0">
                <a:solidFill>
                  <a:srgbClr val="00B0F0"/>
                </a:solidFill>
              </a:rPr>
              <a:t>（机器人手臂），越来越多地同时存在于一个制造场景。传统的</a:t>
            </a:r>
            <a:r>
              <a:rPr lang="en-US" altLang="zh-CN" dirty="0">
                <a:solidFill>
                  <a:srgbClr val="00B0F0"/>
                </a:solidFill>
              </a:rPr>
              <a:t>/</a:t>
            </a:r>
            <a:r>
              <a:rPr lang="zh-CN" altLang="en-US" dirty="0">
                <a:solidFill>
                  <a:srgbClr val="00B0F0"/>
                </a:solidFill>
              </a:rPr>
              <a:t>现有的调度方式，是把</a:t>
            </a:r>
            <a:r>
              <a:rPr lang="en-US" altLang="zh-CN" dirty="0">
                <a:solidFill>
                  <a:srgbClr val="00B0F0"/>
                </a:solidFill>
              </a:rPr>
              <a:t>AGV</a:t>
            </a:r>
            <a:r>
              <a:rPr lang="zh-CN" altLang="en-US" dirty="0">
                <a:solidFill>
                  <a:srgbClr val="00B0F0"/>
                </a:solidFill>
              </a:rPr>
              <a:t>的调度和</a:t>
            </a:r>
            <a:r>
              <a:rPr lang="en-US" altLang="zh-CN" dirty="0">
                <a:solidFill>
                  <a:srgbClr val="00B0F0"/>
                </a:solidFill>
              </a:rPr>
              <a:t>Robot Arm</a:t>
            </a:r>
            <a:r>
              <a:rPr lang="zh-CN" altLang="en-US" dirty="0">
                <a:solidFill>
                  <a:srgbClr val="00B0F0"/>
                </a:solidFill>
              </a:rPr>
              <a:t>分开，</a:t>
            </a:r>
            <a:r>
              <a:rPr lang="en-US" altLang="zh-CN" dirty="0">
                <a:solidFill>
                  <a:srgbClr val="00B0F0"/>
                </a:solidFill>
              </a:rPr>
              <a:t>Robot Arm</a:t>
            </a:r>
            <a:r>
              <a:rPr lang="zh-CN" altLang="en-US" dirty="0">
                <a:solidFill>
                  <a:srgbClr val="00B0F0"/>
                </a:solidFill>
              </a:rPr>
              <a:t>作为物料需求的一方，通过接口向</a:t>
            </a:r>
            <a:r>
              <a:rPr lang="en-US" altLang="zh-CN" dirty="0">
                <a:solidFill>
                  <a:srgbClr val="00B0F0"/>
                </a:solidFill>
              </a:rPr>
              <a:t>AGV</a:t>
            </a:r>
            <a:r>
              <a:rPr lang="zh-CN" altLang="en-US" dirty="0">
                <a:solidFill>
                  <a:srgbClr val="00B0F0"/>
                </a:solidFill>
              </a:rPr>
              <a:t>调度系统发送需求，</a:t>
            </a:r>
            <a:r>
              <a:rPr lang="en-US" altLang="zh-CN" dirty="0">
                <a:solidFill>
                  <a:srgbClr val="00B0F0"/>
                </a:solidFill>
              </a:rPr>
              <a:t>AGV</a:t>
            </a:r>
            <a:r>
              <a:rPr lang="zh-CN" altLang="en-US" dirty="0">
                <a:solidFill>
                  <a:srgbClr val="00B0F0"/>
                </a:solidFill>
              </a:rPr>
              <a:t>调度系统来调度合适的</a:t>
            </a:r>
            <a:r>
              <a:rPr lang="en-US" altLang="zh-CN" dirty="0">
                <a:solidFill>
                  <a:srgbClr val="00B0F0"/>
                </a:solidFill>
              </a:rPr>
              <a:t>AGV</a:t>
            </a:r>
            <a:r>
              <a:rPr lang="zh-CN" altLang="en-US" dirty="0">
                <a:solidFill>
                  <a:srgbClr val="00B0F0"/>
                </a:solidFill>
              </a:rPr>
              <a:t>来完成运输物料的任务。这种独立调度方式存在协调性差、资源利用效率低等问题。</a:t>
            </a:r>
          </a:p>
        </p:txBody>
      </p:sp>
      <p:sp>
        <p:nvSpPr>
          <p:cNvPr id="13" name="矩形 12"/>
          <p:cNvSpPr/>
          <p:nvPr/>
        </p:nvSpPr>
        <p:spPr>
          <a:xfrm>
            <a:off x="7066292" y="4805142"/>
            <a:ext cx="3223967"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时空特征增强与任务耦合的轻量化拜占庭共识机制</a:t>
            </a:r>
            <a:endParaRPr lang="zh-CN" altLang="en-US" b="1" kern="100" dirty="0">
              <a:solidFill>
                <a:schemeClr val="tx1"/>
              </a:solidFill>
              <a:latin typeface="Calibri" panose="020F0502020204030204" pitchFamily="34" charset="0"/>
              <a:cs typeface="Times New Roman" panose="02020603050405020304" pitchFamily="18" charset="0"/>
            </a:endParaRPr>
          </a:p>
        </p:txBody>
      </p:sp>
      <p:cxnSp>
        <p:nvCxnSpPr>
          <p:cNvPr id="14" name="直接箭头连接符 13"/>
          <p:cNvCxnSpPr>
            <a:stCxn id="7" idx="2"/>
            <a:endCxn id="41" idx="0"/>
          </p:cNvCxnSpPr>
          <p:nvPr/>
        </p:nvCxnSpPr>
        <p:spPr>
          <a:xfrm>
            <a:off x="3864989" y="2799761"/>
            <a:ext cx="1944399" cy="298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98134" y="4842709"/>
            <a:ext cx="3412406" cy="6221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0"/>
              </a:spcAft>
            </a:pPr>
            <a:r>
              <a:rPr lang="zh-CN" altLang="en-US" b="1" kern="100" dirty="0">
                <a:solidFill>
                  <a:schemeClr val="tx1"/>
                </a:solidFill>
                <a:latin typeface="Calibri" panose="020F0502020204030204" pitchFamily="34" charset="0"/>
                <a:cs typeface="Times New Roman" panose="02020603050405020304" pitchFamily="18" charset="0"/>
              </a:rPr>
              <a:t>基于状态预测和动态阈值的工业多智能体系统数据注入检测</a:t>
            </a:r>
            <a:endParaRPr lang="zh-CN" altLang="zh-CN" b="1" kern="100" dirty="0">
              <a:solidFill>
                <a:schemeClr val="tx1"/>
              </a:solidFill>
              <a:latin typeface="Calibri" panose="020F0502020204030204" pitchFamily="34" charset="0"/>
              <a:cs typeface="Times New Roman" panose="02020603050405020304" pitchFamily="18" charset="0"/>
            </a:endParaRPr>
          </a:p>
        </p:txBody>
      </p:sp>
      <p:sp>
        <p:nvSpPr>
          <p:cNvPr id="23" name="左大括号 22"/>
          <p:cNvSpPr/>
          <p:nvPr/>
        </p:nvSpPr>
        <p:spPr>
          <a:xfrm>
            <a:off x="5580667" y="1911666"/>
            <a:ext cx="188485" cy="100866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5769153" y="1815837"/>
            <a:ext cx="5571241" cy="1200329"/>
          </a:xfrm>
          <a:prstGeom prst="rect">
            <a:avLst/>
          </a:prstGeom>
          <a:noFill/>
        </p:spPr>
        <p:txBody>
          <a:bodyPr wrap="square" rtlCol="0">
            <a:spAutoFit/>
          </a:bodyPr>
          <a:lstStyle/>
          <a:p>
            <a:r>
              <a:rPr lang="zh-CN" altLang="en-US" dirty="0">
                <a:solidFill>
                  <a:srgbClr val="00B0F0"/>
                </a:solidFill>
              </a:rPr>
              <a:t>通过构建时序逻辑模型，精确描述</a:t>
            </a:r>
            <a:r>
              <a:rPr lang="en-US" altLang="zh-CN" dirty="0">
                <a:solidFill>
                  <a:srgbClr val="00B0F0"/>
                </a:solidFill>
              </a:rPr>
              <a:t>AGV</a:t>
            </a:r>
            <a:r>
              <a:rPr lang="zh-CN" altLang="en-US" dirty="0">
                <a:solidFill>
                  <a:srgbClr val="00B0F0"/>
                </a:solidFill>
              </a:rPr>
              <a:t>和</a:t>
            </a:r>
            <a:r>
              <a:rPr lang="en-US" altLang="zh-CN" dirty="0">
                <a:solidFill>
                  <a:srgbClr val="00B0F0"/>
                </a:solidFill>
              </a:rPr>
              <a:t>Robot Arm</a:t>
            </a:r>
            <a:r>
              <a:rPr lang="zh-CN" altLang="en-US" dirty="0">
                <a:solidFill>
                  <a:srgbClr val="00B0F0"/>
                </a:solidFill>
              </a:rPr>
              <a:t>在任务执行过程中的状态转移与时序约束；并结合混合动态规划算法，进行全局优化，旨在实现任务分配的最优方案。</a:t>
            </a:r>
          </a:p>
        </p:txBody>
      </p:sp>
      <p:sp>
        <p:nvSpPr>
          <p:cNvPr id="27" name="文本框 26"/>
          <p:cNvSpPr txBox="1"/>
          <p:nvPr/>
        </p:nvSpPr>
        <p:spPr>
          <a:xfrm>
            <a:off x="934001" y="1788512"/>
            <a:ext cx="1928272" cy="646331"/>
          </a:xfrm>
          <a:prstGeom prst="rect">
            <a:avLst/>
          </a:prstGeom>
          <a:noFill/>
        </p:spPr>
        <p:txBody>
          <a:bodyPr wrap="square" rtlCol="0">
            <a:spAutoFit/>
          </a:bodyPr>
          <a:lstStyle/>
          <a:p>
            <a:r>
              <a:rPr lang="zh-CN" altLang="en-US" dirty="0">
                <a:solidFill>
                  <a:srgbClr val="FF0000"/>
                </a:solidFill>
              </a:rPr>
              <a:t>创新点</a:t>
            </a:r>
            <a:r>
              <a:rPr lang="en-US" altLang="zh-CN" dirty="0">
                <a:solidFill>
                  <a:srgbClr val="FF0000"/>
                </a:solidFill>
              </a:rPr>
              <a:t>1--</a:t>
            </a:r>
            <a:r>
              <a:rPr lang="zh-CN" altLang="en-US" dirty="0">
                <a:solidFill>
                  <a:srgbClr val="FF0000"/>
                </a:solidFill>
              </a:rPr>
              <a:t>小论文，已提交会议</a:t>
            </a:r>
          </a:p>
        </p:txBody>
      </p:sp>
      <p:sp>
        <p:nvSpPr>
          <p:cNvPr id="28" name="文本框 27"/>
          <p:cNvSpPr txBox="1"/>
          <p:nvPr/>
        </p:nvSpPr>
        <p:spPr>
          <a:xfrm>
            <a:off x="5969249" y="4840795"/>
            <a:ext cx="1392275" cy="646331"/>
          </a:xfrm>
          <a:prstGeom prst="rect">
            <a:avLst/>
          </a:prstGeom>
          <a:noFill/>
        </p:spPr>
        <p:txBody>
          <a:bodyPr wrap="square" rtlCol="0">
            <a:spAutoFit/>
          </a:bodyPr>
          <a:lstStyle/>
          <a:p>
            <a:r>
              <a:rPr lang="zh-CN" altLang="en-US" dirty="0">
                <a:solidFill>
                  <a:srgbClr val="FF0000"/>
                </a:solidFill>
              </a:rPr>
              <a:t>创新点</a:t>
            </a:r>
            <a:r>
              <a:rPr lang="en-US" altLang="zh-CN" dirty="0">
                <a:solidFill>
                  <a:srgbClr val="FF0000"/>
                </a:solidFill>
              </a:rPr>
              <a:t>4—</a:t>
            </a:r>
            <a:r>
              <a:rPr lang="zh-CN" altLang="en-US" dirty="0">
                <a:solidFill>
                  <a:srgbClr val="FF0000"/>
                </a:solidFill>
              </a:rPr>
              <a:t>小论文</a:t>
            </a:r>
          </a:p>
        </p:txBody>
      </p:sp>
      <p:sp>
        <p:nvSpPr>
          <p:cNvPr id="29" name="文本框 28"/>
          <p:cNvSpPr txBox="1"/>
          <p:nvPr/>
        </p:nvSpPr>
        <p:spPr>
          <a:xfrm>
            <a:off x="567173" y="4259973"/>
            <a:ext cx="1338607" cy="646331"/>
          </a:xfrm>
          <a:prstGeom prst="rect">
            <a:avLst/>
          </a:prstGeom>
          <a:noFill/>
        </p:spPr>
        <p:txBody>
          <a:bodyPr wrap="square" rtlCol="0">
            <a:spAutoFit/>
          </a:bodyPr>
          <a:lstStyle/>
          <a:p>
            <a:r>
              <a:rPr lang="zh-CN" altLang="en-US" dirty="0">
                <a:solidFill>
                  <a:srgbClr val="FF0000"/>
                </a:solidFill>
              </a:rPr>
              <a:t>创新点</a:t>
            </a:r>
            <a:r>
              <a:rPr lang="en-US" altLang="zh-CN" dirty="0">
                <a:solidFill>
                  <a:srgbClr val="FF0000"/>
                </a:solidFill>
              </a:rPr>
              <a:t>2—</a:t>
            </a:r>
            <a:r>
              <a:rPr lang="zh-CN" altLang="en-US" dirty="0">
                <a:solidFill>
                  <a:srgbClr val="FF0000"/>
                </a:solidFill>
              </a:rPr>
              <a:t>小论文</a:t>
            </a:r>
          </a:p>
        </p:txBody>
      </p:sp>
      <p:cxnSp>
        <p:nvCxnSpPr>
          <p:cNvPr id="30" name="直接箭头连接符 29"/>
          <p:cNvCxnSpPr>
            <a:stCxn id="7" idx="2"/>
            <a:endCxn id="12" idx="0"/>
          </p:cNvCxnSpPr>
          <p:nvPr/>
        </p:nvCxnSpPr>
        <p:spPr>
          <a:xfrm flipH="1">
            <a:off x="2862274" y="2799761"/>
            <a:ext cx="1002715" cy="307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4551838" y="2566522"/>
            <a:ext cx="6400802" cy="2031325"/>
          </a:xfrm>
          <a:prstGeom prst="rect">
            <a:avLst/>
          </a:prstGeom>
          <a:noFill/>
        </p:spPr>
        <p:txBody>
          <a:bodyPr wrap="square" rtlCol="0">
            <a:spAutoFit/>
          </a:bodyPr>
          <a:lstStyle/>
          <a:p>
            <a:r>
              <a:rPr lang="zh-CN" altLang="en-US" dirty="0">
                <a:solidFill>
                  <a:schemeClr val="accent6">
                    <a:lumMod val="75000"/>
                  </a:schemeClr>
                </a:solidFill>
              </a:rPr>
              <a:t>存在</a:t>
            </a:r>
            <a:r>
              <a:rPr lang="en-US" altLang="zh-CN" dirty="0">
                <a:solidFill>
                  <a:srgbClr val="FF0000"/>
                </a:solidFill>
              </a:rPr>
              <a:t>2</a:t>
            </a:r>
            <a:r>
              <a:rPr lang="zh-CN" altLang="en-US" dirty="0">
                <a:solidFill>
                  <a:srgbClr val="FF0000"/>
                </a:solidFill>
              </a:rPr>
              <a:t>种扰动</a:t>
            </a:r>
            <a:r>
              <a:rPr lang="zh-CN" altLang="en-US" dirty="0">
                <a:solidFill>
                  <a:schemeClr val="accent6">
                    <a:lumMod val="75000"/>
                  </a:schemeClr>
                </a:solidFill>
              </a:rPr>
              <a:t>情况：</a:t>
            </a:r>
            <a:endParaRPr lang="en-US" altLang="zh-CN" dirty="0">
              <a:solidFill>
                <a:schemeClr val="accent6">
                  <a:lumMod val="75000"/>
                </a:schemeClr>
              </a:solidFill>
            </a:endParaRPr>
          </a:p>
          <a:p>
            <a:r>
              <a:rPr lang="en-US" altLang="zh-CN" dirty="0">
                <a:solidFill>
                  <a:schemeClr val="accent6">
                    <a:lumMod val="75000"/>
                  </a:schemeClr>
                </a:solidFill>
              </a:rPr>
              <a:t>1</a:t>
            </a:r>
            <a:r>
              <a:rPr lang="zh-CN" altLang="en-US" dirty="0">
                <a:solidFill>
                  <a:schemeClr val="accent6">
                    <a:lumMod val="75000"/>
                  </a:schemeClr>
                </a:solidFill>
              </a:rPr>
              <a:t>）</a:t>
            </a:r>
            <a:r>
              <a:rPr lang="zh-CN" altLang="en-US" dirty="0">
                <a:solidFill>
                  <a:srgbClr val="FF0000"/>
                </a:solidFill>
              </a:rPr>
              <a:t>网络外部攻击造成的扰动</a:t>
            </a:r>
            <a:r>
              <a:rPr lang="zh-CN" altLang="en-US" dirty="0">
                <a:solidFill>
                  <a:schemeClr val="accent6">
                    <a:lumMod val="75000"/>
                  </a:schemeClr>
                </a:solidFill>
              </a:rPr>
              <a:t>：比如错误数据注入攻击，扰乱系统运行，考验系统的鲁棒性</a:t>
            </a:r>
            <a:endParaRPr lang="en-US" altLang="zh-CN" dirty="0">
              <a:solidFill>
                <a:schemeClr val="accent6">
                  <a:lumMod val="75000"/>
                </a:schemeClr>
              </a:solidFill>
            </a:endParaRPr>
          </a:p>
          <a:p>
            <a:r>
              <a:rPr lang="en-US" altLang="zh-CN" dirty="0">
                <a:solidFill>
                  <a:schemeClr val="accent6">
                    <a:lumMod val="75000"/>
                  </a:schemeClr>
                </a:solidFill>
              </a:rPr>
              <a:t>2</a:t>
            </a:r>
            <a:r>
              <a:rPr lang="zh-CN" altLang="en-US" dirty="0">
                <a:solidFill>
                  <a:schemeClr val="accent6">
                    <a:lumMod val="75000"/>
                  </a:schemeClr>
                </a:solidFill>
              </a:rPr>
              <a:t>）</a:t>
            </a:r>
            <a:r>
              <a:rPr lang="zh-CN" altLang="en-US" dirty="0">
                <a:solidFill>
                  <a:srgbClr val="FF0000"/>
                </a:solidFill>
              </a:rPr>
              <a:t>网络单点故障造成的扰动</a:t>
            </a:r>
            <a:r>
              <a:rPr lang="en-US" altLang="zh-CN" dirty="0">
                <a:solidFill>
                  <a:srgbClr val="FF0000"/>
                </a:solidFill>
              </a:rPr>
              <a:t>(</a:t>
            </a:r>
            <a:r>
              <a:rPr lang="zh-CN" altLang="en-US" dirty="0">
                <a:solidFill>
                  <a:srgbClr val="FF0000"/>
                </a:solidFill>
              </a:rPr>
              <a:t>网络单点故障智能体重调度问题</a:t>
            </a:r>
            <a:r>
              <a:rPr lang="en-US" altLang="zh-CN" dirty="0">
                <a:solidFill>
                  <a:srgbClr val="FF0000"/>
                </a:solidFill>
              </a:rPr>
              <a:t>)</a:t>
            </a:r>
            <a:r>
              <a:rPr lang="zh-CN" altLang="en-US" dirty="0">
                <a:solidFill>
                  <a:schemeClr val="accent6">
                    <a:lumMod val="75000"/>
                  </a:schemeClr>
                </a:solidFill>
              </a:rPr>
              <a:t>：比如</a:t>
            </a:r>
            <a:r>
              <a:rPr lang="en-US" altLang="zh-CN" dirty="0">
                <a:solidFill>
                  <a:schemeClr val="accent6">
                    <a:lumMod val="75000"/>
                  </a:schemeClr>
                </a:solidFill>
              </a:rPr>
              <a:t>AGV</a:t>
            </a:r>
            <a:r>
              <a:rPr lang="zh-CN" altLang="en-US" dirty="0">
                <a:solidFill>
                  <a:schemeClr val="accent6">
                    <a:lumMod val="75000"/>
                  </a:schemeClr>
                </a:solidFill>
              </a:rPr>
              <a:t>缺电要退出队列，或者充满电请求加入；这需要扰动观测和重调度机制；</a:t>
            </a:r>
            <a:r>
              <a:rPr lang="en-US" altLang="zh-CN" dirty="0">
                <a:solidFill>
                  <a:schemeClr val="accent6">
                    <a:lumMod val="75000"/>
                  </a:schemeClr>
                </a:solidFill>
              </a:rPr>
              <a:t/>
            </a:r>
            <a:br>
              <a:rPr lang="en-US" altLang="zh-CN" dirty="0">
                <a:solidFill>
                  <a:schemeClr val="accent6">
                    <a:lumMod val="75000"/>
                  </a:schemeClr>
                </a:solidFill>
              </a:rPr>
            </a:br>
            <a:endParaRPr lang="zh-CN" altLang="en-US" dirty="0">
              <a:solidFill>
                <a:schemeClr val="accent6">
                  <a:lumMod val="75000"/>
                </a:schemeClr>
              </a:solidFill>
            </a:endParaRPr>
          </a:p>
        </p:txBody>
      </p:sp>
      <p:sp>
        <p:nvSpPr>
          <p:cNvPr id="35" name="矩形 34"/>
          <p:cNvSpPr/>
          <p:nvPr/>
        </p:nvSpPr>
        <p:spPr>
          <a:xfrm>
            <a:off x="7066292" y="6111121"/>
            <a:ext cx="3223967" cy="6516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kern="100" dirty="0">
                <a:solidFill>
                  <a:schemeClr val="tx1"/>
                </a:solidFill>
                <a:latin typeface="Calibri" panose="020F0502020204030204" pitchFamily="34" charset="0"/>
                <a:cs typeface="Times New Roman" panose="02020603050405020304" pitchFamily="18" charset="0"/>
              </a:rPr>
              <a:t>基于任务状态感知和扰动触发的被动式分段重调度</a:t>
            </a:r>
          </a:p>
        </p:txBody>
      </p:sp>
      <p:sp>
        <p:nvSpPr>
          <p:cNvPr id="36" name="左大括号 35"/>
          <p:cNvSpPr/>
          <p:nvPr/>
        </p:nvSpPr>
        <p:spPr>
          <a:xfrm flipH="1">
            <a:off x="354095" y="4649458"/>
            <a:ext cx="282855" cy="100866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矩形 38"/>
          <p:cNvSpPr/>
          <p:nvPr/>
        </p:nvSpPr>
        <p:spPr>
          <a:xfrm>
            <a:off x="-3510043" y="4484238"/>
            <a:ext cx="3853069" cy="1754326"/>
          </a:xfrm>
          <a:prstGeom prst="rect">
            <a:avLst/>
          </a:prstGeom>
        </p:spPr>
        <p:txBody>
          <a:bodyPr wrap="square">
            <a:spAutoFit/>
          </a:bodyPr>
          <a:lstStyle/>
          <a:p>
            <a:r>
              <a:rPr lang="zh-CN" altLang="zh-CN" dirty="0">
                <a:solidFill>
                  <a:srgbClr val="00B0F0"/>
                </a:solidFill>
                <a:latin typeface="Calibri" panose="020F0502020204030204" pitchFamily="34" charset="0"/>
                <a:cs typeface="Times New Roman" panose="02020603050405020304" pitchFamily="18" charset="0"/>
              </a:rPr>
              <a:t>利用马尔可夫状态转移矩阵建立智能体的状态预测模型，通过</a:t>
            </a:r>
            <a:r>
              <a:rPr lang="zh-CN" altLang="en-US" dirty="0">
                <a:solidFill>
                  <a:srgbClr val="00B0F0"/>
                </a:solidFill>
                <a:latin typeface="Calibri" panose="020F0502020204030204" pitchFamily="34" charset="0"/>
                <a:cs typeface="Times New Roman" panose="02020603050405020304" pitchFamily="18" charset="0"/>
              </a:rPr>
              <a:t>基于贝叶斯网络推理的动态</a:t>
            </a:r>
            <a:r>
              <a:rPr lang="zh-CN" altLang="zh-CN" dirty="0">
                <a:solidFill>
                  <a:srgbClr val="00B0F0"/>
                </a:solidFill>
                <a:latin typeface="Calibri" panose="020F0502020204030204" pitchFamily="34" charset="0"/>
                <a:cs typeface="Times New Roman" panose="02020603050405020304" pitchFamily="18" charset="0"/>
              </a:rPr>
              <a:t>容错阈值判断预测值与实际状态之间的偏差，从而及时识别潜在的虚假数据注入</a:t>
            </a:r>
            <a:r>
              <a:rPr lang="zh-CN" altLang="en-US" dirty="0">
                <a:solidFill>
                  <a:srgbClr val="00B0F0"/>
                </a:solidFill>
                <a:latin typeface="Calibri" panose="020F0502020204030204" pitchFamily="34" charset="0"/>
                <a:cs typeface="Times New Roman" panose="02020603050405020304" pitchFamily="18" charset="0"/>
              </a:rPr>
              <a:t>或</a:t>
            </a:r>
            <a:r>
              <a:rPr lang="zh-CN" altLang="zh-CN" dirty="0">
                <a:solidFill>
                  <a:srgbClr val="00B0F0"/>
                </a:solidFill>
                <a:latin typeface="Calibri" panose="020F0502020204030204" pitchFamily="34" charset="0"/>
                <a:cs typeface="Times New Roman" panose="02020603050405020304" pitchFamily="18" charset="0"/>
              </a:rPr>
              <a:t>数据篡改行为。</a:t>
            </a:r>
            <a:endParaRPr lang="zh-CN" altLang="en-US" dirty="0">
              <a:solidFill>
                <a:srgbClr val="00B0F0"/>
              </a:solidFill>
            </a:endParaRPr>
          </a:p>
        </p:txBody>
      </p:sp>
      <p:cxnSp>
        <p:nvCxnSpPr>
          <p:cNvPr id="42" name="直接箭头连接符 41"/>
          <p:cNvCxnSpPr>
            <a:stCxn id="13" idx="2"/>
            <a:endCxn id="78" idx="0"/>
          </p:cNvCxnSpPr>
          <p:nvPr/>
        </p:nvCxnSpPr>
        <p:spPr>
          <a:xfrm flipH="1">
            <a:off x="8678275" y="5427311"/>
            <a:ext cx="1" cy="169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5969249" y="6111121"/>
            <a:ext cx="1338607" cy="646331"/>
          </a:xfrm>
          <a:prstGeom prst="rect">
            <a:avLst/>
          </a:prstGeom>
          <a:noFill/>
        </p:spPr>
        <p:txBody>
          <a:bodyPr wrap="square" rtlCol="0">
            <a:spAutoFit/>
          </a:bodyPr>
          <a:lstStyle/>
          <a:p>
            <a:r>
              <a:rPr lang="zh-CN" altLang="en-US" dirty="0">
                <a:solidFill>
                  <a:srgbClr val="FF0000"/>
                </a:solidFill>
              </a:rPr>
              <a:t>创新点</a:t>
            </a:r>
            <a:r>
              <a:rPr lang="en-US" altLang="zh-CN" dirty="0">
                <a:solidFill>
                  <a:srgbClr val="FF0000"/>
                </a:solidFill>
              </a:rPr>
              <a:t>3—</a:t>
            </a:r>
            <a:r>
              <a:rPr lang="zh-CN" altLang="en-US" dirty="0">
                <a:solidFill>
                  <a:srgbClr val="FF0000"/>
                </a:solidFill>
              </a:rPr>
              <a:t>小论文</a:t>
            </a:r>
          </a:p>
        </p:txBody>
      </p:sp>
      <p:sp>
        <p:nvSpPr>
          <p:cNvPr id="25" name="矩形 24"/>
          <p:cNvSpPr/>
          <p:nvPr/>
        </p:nvSpPr>
        <p:spPr>
          <a:xfrm>
            <a:off x="7090063" y="2851483"/>
            <a:ext cx="5169030" cy="1200329"/>
          </a:xfrm>
          <a:prstGeom prst="rect">
            <a:avLst/>
          </a:prstGeom>
        </p:spPr>
        <p:txBody>
          <a:bodyPr wrap="square">
            <a:spAutoFit/>
          </a:bodyPr>
          <a:lstStyle/>
          <a:p>
            <a:r>
              <a:rPr lang="zh-CN" altLang="en-US" dirty="0"/>
              <a:t>安全问题：工业设备联网越来越多，工业互联网暴露的风险也越来越多。但是实施类似于</a:t>
            </a:r>
            <a:r>
              <a:rPr lang="en-US" altLang="zh-CN" dirty="0"/>
              <a:t>IT</a:t>
            </a:r>
            <a:r>
              <a:rPr lang="zh-CN" altLang="en-US" dirty="0"/>
              <a:t>网络那样的</a:t>
            </a:r>
            <a:r>
              <a:rPr lang="en-US" altLang="zh-CN" dirty="0"/>
              <a:t>“</a:t>
            </a:r>
            <a:r>
              <a:rPr lang="zh-CN" altLang="en-US" dirty="0"/>
              <a:t>零信任</a:t>
            </a:r>
            <a:r>
              <a:rPr lang="en-US" altLang="zh-CN" dirty="0"/>
              <a:t>”</a:t>
            </a:r>
            <a:r>
              <a:rPr lang="zh-CN" altLang="en-US" dirty="0"/>
              <a:t>等方案在工业领域不现实，防护代价太高，那就要对攻击及时发现。</a:t>
            </a:r>
          </a:p>
        </p:txBody>
      </p:sp>
      <p:sp>
        <p:nvSpPr>
          <p:cNvPr id="12" name="椭圆 11"/>
          <p:cNvSpPr/>
          <p:nvPr/>
        </p:nvSpPr>
        <p:spPr>
          <a:xfrm>
            <a:off x="1751528" y="3106827"/>
            <a:ext cx="2221491" cy="6170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网络外部攻击</a:t>
            </a:r>
          </a:p>
        </p:txBody>
      </p:sp>
      <p:cxnSp>
        <p:nvCxnSpPr>
          <p:cNvPr id="38" name="直接箭头连接符 37"/>
          <p:cNvCxnSpPr>
            <a:stCxn id="12" idx="4"/>
            <a:endCxn id="52" idx="0"/>
          </p:cNvCxnSpPr>
          <p:nvPr/>
        </p:nvCxnSpPr>
        <p:spPr>
          <a:xfrm flipH="1">
            <a:off x="2654305" y="3723857"/>
            <a:ext cx="207969" cy="363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4698642" y="3097774"/>
            <a:ext cx="2221491" cy="6170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网络内部智能体单点故障</a:t>
            </a:r>
          </a:p>
        </p:txBody>
      </p:sp>
      <p:cxnSp>
        <p:nvCxnSpPr>
          <p:cNvPr id="47" name="直接箭头连接符 46"/>
          <p:cNvCxnSpPr>
            <a:stCxn id="41" idx="4"/>
            <a:endCxn id="69" idx="0"/>
          </p:cNvCxnSpPr>
          <p:nvPr/>
        </p:nvCxnSpPr>
        <p:spPr>
          <a:xfrm>
            <a:off x="5809388" y="3714804"/>
            <a:ext cx="895674" cy="372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圆角矩形 51"/>
          <p:cNvSpPr/>
          <p:nvPr/>
        </p:nvSpPr>
        <p:spPr>
          <a:xfrm>
            <a:off x="1671565" y="4087465"/>
            <a:ext cx="1965479" cy="34501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方法：检测发现</a:t>
            </a:r>
          </a:p>
        </p:txBody>
      </p:sp>
      <p:cxnSp>
        <p:nvCxnSpPr>
          <p:cNvPr id="58" name="直接箭头连接符 57"/>
          <p:cNvCxnSpPr>
            <a:stCxn id="52" idx="2"/>
            <a:endCxn id="22" idx="0"/>
          </p:cNvCxnSpPr>
          <p:nvPr/>
        </p:nvCxnSpPr>
        <p:spPr>
          <a:xfrm flipH="1">
            <a:off x="2404337" y="4432481"/>
            <a:ext cx="249968" cy="410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圆角矩形 68"/>
          <p:cNvSpPr/>
          <p:nvPr/>
        </p:nvSpPr>
        <p:spPr>
          <a:xfrm>
            <a:off x="4256383" y="4087465"/>
            <a:ext cx="4897357" cy="34501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方法：首先排除和防御恶意节点“伪装”故障</a:t>
            </a:r>
          </a:p>
        </p:txBody>
      </p:sp>
      <p:cxnSp>
        <p:nvCxnSpPr>
          <p:cNvPr id="73" name="直接箭头连接符 72"/>
          <p:cNvCxnSpPr>
            <a:stCxn id="69" idx="2"/>
            <a:endCxn id="13" idx="0"/>
          </p:cNvCxnSpPr>
          <p:nvPr/>
        </p:nvCxnSpPr>
        <p:spPr>
          <a:xfrm>
            <a:off x="6705062" y="4432481"/>
            <a:ext cx="1973214" cy="372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圆角矩形 77"/>
          <p:cNvSpPr/>
          <p:nvPr/>
        </p:nvSpPr>
        <p:spPr>
          <a:xfrm>
            <a:off x="6217021" y="5596708"/>
            <a:ext cx="4922508" cy="34501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方法：确认了是智能体单点故障后</a:t>
            </a:r>
            <a:r>
              <a:rPr lang="en-US" altLang="zh-CN" dirty="0">
                <a:solidFill>
                  <a:schemeClr val="tx1"/>
                </a:solidFill>
              </a:rPr>
              <a:t>,</a:t>
            </a:r>
            <a:r>
              <a:rPr lang="zh-CN" altLang="en-US" dirty="0">
                <a:solidFill>
                  <a:schemeClr val="tx1"/>
                </a:solidFill>
              </a:rPr>
              <a:t>进行重调度</a:t>
            </a:r>
          </a:p>
        </p:txBody>
      </p:sp>
      <p:cxnSp>
        <p:nvCxnSpPr>
          <p:cNvPr id="81" name="直接箭头连接符 80"/>
          <p:cNvCxnSpPr>
            <a:stCxn id="78" idx="2"/>
            <a:endCxn id="35" idx="0"/>
          </p:cNvCxnSpPr>
          <p:nvPr/>
        </p:nvCxnSpPr>
        <p:spPr>
          <a:xfrm>
            <a:off x="8678275" y="5941724"/>
            <a:ext cx="1" cy="169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圆角矩形 86"/>
          <p:cNvSpPr/>
          <p:nvPr/>
        </p:nvSpPr>
        <p:spPr>
          <a:xfrm>
            <a:off x="1679000" y="1414359"/>
            <a:ext cx="4371975" cy="345016"/>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方法：作为混合异构智能体进行综合调度</a:t>
            </a:r>
          </a:p>
        </p:txBody>
      </p:sp>
      <p:cxnSp>
        <p:nvCxnSpPr>
          <p:cNvPr id="91" name="直接箭头连接符 90"/>
          <p:cNvCxnSpPr>
            <a:stCxn id="87" idx="2"/>
            <a:endCxn id="7" idx="0"/>
          </p:cNvCxnSpPr>
          <p:nvPr/>
        </p:nvCxnSpPr>
        <p:spPr>
          <a:xfrm>
            <a:off x="3864988" y="1759375"/>
            <a:ext cx="1" cy="418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5236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032000" y="719668"/>
          <a:ext cx="4830616" cy="4038186"/>
        </p:xfrm>
        <a:graphic>
          <a:graphicData uri="http://schemas.openxmlformats.org/drawingml/2006/table">
            <a:tbl>
              <a:tblPr firstRow="1" bandRow="1">
                <a:tableStyleId>{D7AC3CCA-C797-4891-BE02-D94E43425B78}</a:tableStyleId>
              </a:tblPr>
              <a:tblGrid>
                <a:gridCol w="690088">
                  <a:extLst>
                    <a:ext uri="{9D8B030D-6E8A-4147-A177-3AD203B41FA5}">
                      <a16:colId xmlns="" xmlns:a16="http://schemas.microsoft.com/office/drawing/2014/main" val="20000"/>
                    </a:ext>
                  </a:extLst>
                </a:gridCol>
                <a:gridCol w="690088">
                  <a:extLst>
                    <a:ext uri="{9D8B030D-6E8A-4147-A177-3AD203B41FA5}">
                      <a16:colId xmlns="" xmlns:a16="http://schemas.microsoft.com/office/drawing/2014/main" val="20001"/>
                    </a:ext>
                  </a:extLst>
                </a:gridCol>
                <a:gridCol w="690088">
                  <a:extLst>
                    <a:ext uri="{9D8B030D-6E8A-4147-A177-3AD203B41FA5}">
                      <a16:colId xmlns="" xmlns:a16="http://schemas.microsoft.com/office/drawing/2014/main" val="20002"/>
                    </a:ext>
                  </a:extLst>
                </a:gridCol>
                <a:gridCol w="690088">
                  <a:extLst>
                    <a:ext uri="{9D8B030D-6E8A-4147-A177-3AD203B41FA5}">
                      <a16:colId xmlns="" xmlns:a16="http://schemas.microsoft.com/office/drawing/2014/main" val="20003"/>
                    </a:ext>
                  </a:extLst>
                </a:gridCol>
                <a:gridCol w="690088">
                  <a:extLst>
                    <a:ext uri="{9D8B030D-6E8A-4147-A177-3AD203B41FA5}">
                      <a16:colId xmlns="" xmlns:a16="http://schemas.microsoft.com/office/drawing/2014/main" val="20004"/>
                    </a:ext>
                  </a:extLst>
                </a:gridCol>
                <a:gridCol w="690088">
                  <a:extLst>
                    <a:ext uri="{9D8B030D-6E8A-4147-A177-3AD203B41FA5}">
                      <a16:colId xmlns="" xmlns:a16="http://schemas.microsoft.com/office/drawing/2014/main" val="20005"/>
                    </a:ext>
                  </a:extLst>
                </a:gridCol>
                <a:gridCol w="690088">
                  <a:extLst>
                    <a:ext uri="{9D8B030D-6E8A-4147-A177-3AD203B41FA5}">
                      <a16:colId xmlns="" xmlns:a16="http://schemas.microsoft.com/office/drawing/2014/main" val="20006"/>
                    </a:ext>
                  </a:extLst>
                </a:gridCol>
              </a:tblGrid>
              <a:tr h="673031">
                <a:tc>
                  <a:txBody>
                    <a:bodyPr/>
                    <a:lstStyle/>
                    <a:p>
                      <a:endParaRPr lang="zh-CN" altLang="en-US" dirty="0"/>
                    </a:p>
                  </a:txBody>
                  <a:tcPr>
                    <a:noFill/>
                  </a:tcPr>
                </a:tc>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dirty="0"/>
                    </a:p>
                  </a:txBody>
                  <a:tcPr>
                    <a:noFill/>
                  </a:tcPr>
                </a:tc>
                <a:tc>
                  <a:txBody>
                    <a:bodyPr/>
                    <a:lstStyle/>
                    <a:p>
                      <a:endParaRPr lang="zh-CN" altLang="en-US"/>
                    </a:p>
                  </a:txBody>
                  <a:tcPr>
                    <a:lnB w="12700" cap="flat" cmpd="sng" algn="ctr">
                      <a:solidFill>
                        <a:schemeClr val="tx1"/>
                      </a:solidFill>
                      <a:prstDash val="solid"/>
                      <a:round/>
                      <a:headEnd type="none" w="med" len="med"/>
                      <a:tailEnd type="none" w="med" len="med"/>
                    </a:lnB>
                    <a:noFill/>
                  </a:tcPr>
                </a:tc>
                <a:tc>
                  <a:txBody>
                    <a:bodyPr/>
                    <a:lstStyle/>
                    <a:p>
                      <a:endParaRPr lang="zh-CN" altLang="en-US"/>
                    </a:p>
                  </a:txBody>
                  <a:tcPr>
                    <a:noFill/>
                  </a:tcPr>
                </a:tc>
                <a:extLst>
                  <a:ext uri="{0D108BD9-81ED-4DB2-BD59-A6C34878D82A}">
                    <a16:rowId xmlns="" xmlns:a16="http://schemas.microsoft.com/office/drawing/2014/main" val="10000"/>
                  </a:ext>
                </a:extLst>
              </a:tr>
              <a:tr h="673031">
                <a:tc>
                  <a:txBody>
                    <a:bodyPr/>
                    <a:lstStyle/>
                    <a:p>
                      <a:endParaRPr lang="zh-CN" altLang="en-US" dirty="0"/>
                    </a:p>
                  </a:txBody>
                  <a:tcPr>
                    <a:noFill/>
                  </a:tcPr>
                </a:tc>
                <a:tc>
                  <a:txBody>
                    <a:bodyPr/>
                    <a:lstStyle/>
                    <a:p>
                      <a:endParaRPr lang="zh-CN" altLang="en-US"/>
                    </a:p>
                  </a:txBody>
                  <a:tcPr>
                    <a:noFill/>
                  </a:tcPr>
                </a:tc>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lnR w="12700" cap="flat" cmpd="sng" algn="ctr">
                      <a:solidFill>
                        <a:schemeClr val="tx1"/>
                      </a:solidFill>
                      <a:prstDash val="solid"/>
                      <a:round/>
                      <a:headEnd type="none" w="med" len="med"/>
                      <a:tailEnd type="none" w="med" len="med"/>
                    </a:ln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p>
                  </a:txBody>
                  <a:tcPr>
                    <a:lnL w="12700" cap="flat" cmpd="sng" algn="ctr">
                      <a:solidFill>
                        <a:schemeClr val="tx1"/>
                      </a:solidFill>
                      <a:prstDash val="solid"/>
                      <a:round/>
                      <a:headEnd type="none" w="med" len="med"/>
                      <a:tailEnd type="none" w="med" len="med"/>
                    </a:lnL>
                    <a:noFill/>
                  </a:tcPr>
                </a:tc>
                <a:extLst>
                  <a:ext uri="{0D108BD9-81ED-4DB2-BD59-A6C34878D82A}">
                    <a16:rowId xmlns="" xmlns:a16="http://schemas.microsoft.com/office/drawing/2014/main" val="10001"/>
                  </a:ext>
                </a:extLst>
              </a:tr>
              <a:tr h="673031">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lnT w="12700" cap="flat" cmpd="sng" algn="ctr">
                      <a:solidFill>
                        <a:schemeClr val="tx1"/>
                      </a:solidFill>
                      <a:prstDash val="solid"/>
                      <a:round/>
                      <a:headEnd type="none" w="med" len="med"/>
                      <a:tailEnd type="none" w="med" len="med"/>
                    </a:lnT>
                    <a:noFill/>
                  </a:tcPr>
                </a:tc>
                <a:tc>
                  <a:txBody>
                    <a:bodyPr/>
                    <a:lstStyle/>
                    <a:p>
                      <a:endParaRPr lang="zh-CN" altLang="en-US"/>
                    </a:p>
                  </a:txBody>
                  <a:tcPr>
                    <a:noFill/>
                  </a:tcPr>
                </a:tc>
                <a:extLst>
                  <a:ext uri="{0D108BD9-81ED-4DB2-BD59-A6C34878D82A}">
                    <a16:rowId xmlns="" xmlns:a16="http://schemas.microsoft.com/office/drawing/2014/main" val="10002"/>
                  </a:ext>
                </a:extLst>
              </a:tr>
              <a:tr h="673031">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dirty="0"/>
                    </a:p>
                  </a:txBody>
                  <a:tcPr>
                    <a:noFill/>
                  </a:tcPr>
                </a:tc>
                <a:extLst>
                  <a:ext uri="{0D108BD9-81ED-4DB2-BD59-A6C34878D82A}">
                    <a16:rowId xmlns="" xmlns:a16="http://schemas.microsoft.com/office/drawing/2014/main" val="10003"/>
                  </a:ext>
                </a:extLst>
              </a:tr>
              <a:tr h="673031">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dirty="0"/>
                    </a:p>
                  </a:txBody>
                  <a:tcPr>
                    <a:noFill/>
                  </a:tcPr>
                </a:tc>
                <a:extLst>
                  <a:ext uri="{0D108BD9-81ED-4DB2-BD59-A6C34878D82A}">
                    <a16:rowId xmlns="" xmlns:a16="http://schemas.microsoft.com/office/drawing/2014/main" val="10004"/>
                  </a:ext>
                </a:extLst>
              </a:tr>
              <a:tr h="673031">
                <a:tc>
                  <a:txBody>
                    <a:bodyPr/>
                    <a:lstStyle/>
                    <a:p>
                      <a:endParaRPr lang="zh-CN" altLang="en-US" dirty="0"/>
                    </a:p>
                  </a:txBody>
                  <a:tcPr>
                    <a:noFill/>
                  </a:tcPr>
                </a:tc>
                <a:tc>
                  <a:txBody>
                    <a:bodyPr/>
                    <a:lstStyle/>
                    <a:p>
                      <a:endParaRPr lang="zh-CN" altLang="en-US" dirty="0"/>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dirty="0"/>
                    </a:p>
                  </a:txBody>
                  <a:tcPr>
                    <a:noFill/>
                  </a:tcPr>
                </a:tc>
                <a:extLst>
                  <a:ext uri="{0D108BD9-81ED-4DB2-BD59-A6C34878D82A}">
                    <a16:rowId xmlns="" xmlns:a16="http://schemas.microsoft.com/office/drawing/2014/main" val="10005"/>
                  </a:ext>
                </a:extLst>
              </a:tr>
            </a:tbl>
          </a:graphicData>
        </a:graphic>
      </p:graphicFrame>
      <p:sp>
        <p:nvSpPr>
          <p:cNvPr id="5" name="文本框 4"/>
          <p:cNvSpPr txBox="1"/>
          <p:nvPr/>
        </p:nvSpPr>
        <p:spPr>
          <a:xfrm>
            <a:off x="4108956" y="1323341"/>
            <a:ext cx="1039529" cy="830997"/>
          </a:xfrm>
          <a:prstGeom prst="rect">
            <a:avLst/>
          </a:prstGeom>
          <a:noFill/>
        </p:spPr>
        <p:txBody>
          <a:bodyPr wrap="square" rtlCol="0">
            <a:spAutoFit/>
          </a:bodyPr>
          <a:lstStyle/>
          <a:p>
            <a:r>
              <a:rPr lang="en-US" altLang="zh-CN" sz="1600" dirty="0">
                <a:solidFill>
                  <a:prstClr val="black"/>
                </a:solidFill>
              </a:rPr>
              <a:t>AGV1</a:t>
            </a:r>
          </a:p>
          <a:p>
            <a:r>
              <a:rPr lang="en-US" altLang="zh-CN" sz="1600" dirty="0">
                <a:solidFill>
                  <a:prstClr val="black"/>
                </a:solidFill>
              </a:rPr>
              <a:t>AGV2</a:t>
            </a:r>
          </a:p>
          <a:p>
            <a:r>
              <a:rPr lang="en-US" altLang="zh-CN" sz="1600" dirty="0">
                <a:solidFill>
                  <a:prstClr val="black"/>
                </a:solidFill>
              </a:rPr>
              <a:t>AGV3</a:t>
            </a:r>
            <a:endParaRPr lang="zh-CN" altLang="en-US" sz="1600" dirty="0">
              <a:solidFill>
                <a:prstClr val="black"/>
              </a:solidFill>
            </a:endParaRPr>
          </a:p>
        </p:txBody>
      </p:sp>
      <p:sp>
        <p:nvSpPr>
          <p:cNvPr id="6" name="文本框 5"/>
          <p:cNvSpPr txBox="1"/>
          <p:nvPr/>
        </p:nvSpPr>
        <p:spPr>
          <a:xfrm>
            <a:off x="2030949" y="2738761"/>
            <a:ext cx="1039529" cy="584775"/>
          </a:xfrm>
          <a:prstGeom prst="rect">
            <a:avLst/>
          </a:prstGeom>
          <a:noFill/>
        </p:spPr>
        <p:txBody>
          <a:bodyPr wrap="square" rtlCol="0">
            <a:spAutoFit/>
          </a:bodyPr>
          <a:lstStyle/>
          <a:p>
            <a:r>
              <a:rPr lang="en-US" altLang="zh-CN" sz="1600" dirty="0">
                <a:solidFill>
                  <a:prstClr val="black"/>
                </a:solidFill>
              </a:rPr>
              <a:t>Robot</a:t>
            </a:r>
          </a:p>
          <a:p>
            <a:r>
              <a:rPr lang="en-US" altLang="zh-CN" sz="1600" dirty="0">
                <a:solidFill>
                  <a:prstClr val="black"/>
                </a:solidFill>
              </a:rPr>
              <a:t>Arm 1</a:t>
            </a:r>
            <a:endParaRPr lang="zh-CN" altLang="en-US" sz="1600" dirty="0">
              <a:solidFill>
                <a:prstClr val="black"/>
              </a:solidFill>
            </a:endParaRPr>
          </a:p>
        </p:txBody>
      </p:sp>
      <p:sp>
        <p:nvSpPr>
          <p:cNvPr id="7" name="文本框 6"/>
          <p:cNvSpPr txBox="1"/>
          <p:nvPr/>
        </p:nvSpPr>
        <p:spPr>
          <a:xfrm>
            <a:off x="4108957" y="2738761"/>
            <a:ext cx="1039529" cy="584775"/>
          </a:xfrm>
          <a:prstGeom prst="rect">
            <a:avLst/>
          </a:prstGeom>
          <a:noFill/>
        </p:spPr>
        <p:txBody>
          <a:bodyPr wrap="square" rtlCol="0">
            <a:spAutoFit/>
          </a:bodyPr>
          <a:lstStyle/>
          <a:p>
            <a:r>
              <a:rPr lang="en-US" altLang="zh-CN" sz="1600" dirty="0">
                <a:solidFill>
                  <a:prstClr val="black"/>
                </a:solidFill>
              </a:rPr>
              <a:t>Robot</a:t>
            </a:r>
          </a:p>
          <a:p>
            <a:r>
              <a:rPr lang="en-US" altLang="zh-CN" sz="1600" dirty="0">
                <a:solidFill>
                  <a:prstClr val="black"/>
                </a:solidFill>
              </a:rPr>
              <a:t>Arm 2</a:t>
            </a:r>
            <a:endParaRPr lang="zh-CN" altLang="en-US" sz="1600" dirty="0">
              <a:solidFill>
                <a:prstClr val="black"/>
              </a:solidFill>
            </a:endParaRPr>
          </a:p>
        </p:txBody>
      </p:sp>
      <p:sp>
        <p:nvSpPr>
          <p:cNvPr id="8" name="文本框 7"/>
          <p:cNvSpPr txBox="1"/>
          <p:nvPr/>
        </p:nvSpPr>
        <p:spPr>
          <a:xfrm>
            <a:off x="6160387" y="2738761"/>
            <a:ext cx="702229" cy="584775"/>
          </a:xfrm>
          <a:prstGeom prst="rect">
            <a:avLst/>
          </a:prstGeom>
          <a:noFill/>
        </p:spPr>
        <p:txBody>
          <a:bodyPr wrap="square" rtlCol="0">
            <a:spAutoFit/>
          </a:bodyPr>
          <a:lstStyle/>
          <a:p>
            <a:r>
              <a:rPr lang="en-US" altLang="zh-CN" sz="1600" dirty="0">
                <a:solidFill>
                  <a:prstClr val="black"/>
                </a:solidFill>
              </a:rPr>
              <a:t>Robot</a:t>
            </a:r>
          </a:p>
          <a:p>
            <a:r>
              <a:rPr lang="en-US" altLang="zh-CN" sz="1600" dirty="0">
                <a:solidFill>
                  <a:prstClr val="black"/>
                </a:solidFill>
              </a:rPr>
              <a:t>Arm 3</a:t>
            </a:r>
            <a:endParaRPr lang="zh-CN" altLang="en-US" sz="1600" dirty="0">
              <a:solidFill>
                <a:prstClr val="black"/>
              </a:solidFill>
            </a:endParaRPr>
          </a:p>
        </p:txBody>
      </p:sp>
    </p:spTree>
    <p:extLst>
      <p:ext uri="{BB962C8B-B14F-4D97-AF65-F5344CB8AC3E}">
        <p14:creationId xmlns:p14="http://schemas.microsoft.com/office/powerpoint/2010/main" val="757611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4465121" y="869921"/>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p:cNvSpPr txBox="1"/>
          <p:nvPr/>
        </p:nvSpPr>
        <p:spPr>
          <a:xfrm>
            <a:off x="5060133" y="817385"/>
            <a:ext cx="774682" cy="307777"/>
          </a:xfrm>
          <a:prstGeom prst="rect">
            <a:avLst/>
          </a:prstGeom>
          <a:noFill/>
        </p:spPr>
        <p:txBody>
          <a:bodyPr wrap="square" rtlCol="0">
            <a:spAutoFit/>
          </a:bodyPr>
          <a:lstStyle/>
          <a:p>
            <a:r>
              <a:rPr lang="en-US" altLang="zh-CN" sz="1400" dirty="0">
                <a:solidFill>
                  <a:prstClr val="black"/>
                </a:solidFill>
              </a:rPr>
              <a:t>State 1</a:t>
            </a:r>
            <a:endParaRPr lang="zh-CN" altLang="en-US" sz="1400" dirty="0">
              <a:solidFill>
                <a:prstClr val="black"/>
              </a:solidFill>
            </a:endParaRPr>
          </a:p>
        </p:txBody>
      </p:sp>
      <p:sp>
        <p:nvSpPr>
          <p:cNvPr id="7" name="椭圆 6"/>
          <p:cNvSpPr/>
          <p:nvPr/>
        </p:nvSpPr>
        <p:spPr>
          <a:xfrm>
            <a:off x="2413440" y="1701190"/>
            <a:ext cx="2041875"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文本框 7"/>
          <p:cNvSpPr txBox="1"/>
          <p:nvPr/>
        </p:nvSpPr>
        <p:spPr>
          <a:xfrm>
            <a:off x="3024292" y="1657519"/>
            <a:ext cx="795119" cy="307777"/>
          </a:xfrm>
          <a:prstGeom prst="rect">
            <a:avLst/>
          </a:prstGeom>
          <a:noFill/>
        </p:spPr>
        <p:txBody>
          <a:bodyPr wrap="square" rtlCol="0">
            <a:spAutoFit/>
          </a:bodyPr>
          <a:lstStyle/>
          <a:p>
            <a:r>
              <a:rPr lang="en-US" altLang="zh-CN" sz="1400" dirty="0">
                <a:solidFill>
                  <a:prstClr val="black"/>
                </a:solidFill>
              </a:rPr>
              <a:t>State 2</a:t>
            </a:r>
            <a:endParaRPr lang="zh-CN" altLang="en-US" sz="1400" dirty="0">
              <a:solidFill>
                <a:prstClr val="black"/>
              </a:solidFill>
            </a:endParaRPr>
          </a:p>
        </p:txBody>
      </p:sp>
      <p:sp>
        <p:nvSpPr>
          <p:cNvPr id="9" name="椭圆 8"/>
          <p:cNvSpPr/>
          <p:nvPr/>
        </p:nvSpPr>
        <p:spPr>
          <a:xfrm>
            <a:off x="1855300" y="2817474"/>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文本框 9"/>
          <p:cNvSpPr txBox="1"/>
          <p:nvPr/>
        </p:nvSpPr>
        <p:spPr>
          <a:xfrm>
            <a:off x="2434018" y="2765621"/>
            <a:ext cx="702999" cy="307777"/>
          </a:xfrm>
          <a:prstGeom prst="rect">
            <a:avLst/>
          </a:prstGeom>
          <a:noFill/>
        </p:spPr>
        <p:txBody>
          <a:bodyPr wrap="square" rtlCol="0">
            <a:spAutoFit/>
          </a:bodyPr>
          <a:lstStyle/>
          <a:p>
            <a:r>
              <a:rPr lang="en-US" altLang="zh-CN" sz="1400" dirty="0">
                <a:solidFill>
                  <a:prstClr val="black"/>
                </a:solidFill>
              </a:rPr>
              <a:t>State 3</a:t>
            </a:r>
            <a:endParaRPr lang="zh-CN" altLang="en-US" sz="1400" dirty="0">
              <a:solidFill>
                <a:prstClr val="black"/>
              </a:solidFill>
            </a:endParaRPr>
          </a:p>
        </p:txBody>
      </p:sp>
      <p:sp>
        <p:nvSpPr>
          <p:cNvPr id="11" name="椭圆 10"/>
          <p:cNvSpPr/>
          <p:nvPr/>
        </p:nvSpPr>
        <p:spPr>
          <a:xfrm>
            <a:off x="2538132" y="3969383"/>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文本框 11"/>
          <p:cNvSpPr txBox="1"/>
          <p:nvPr/>
        </p:nvSpPr>
        <p:spPr>
          <a:xfrm>
            <a:off x="3194798" y="3955158"/>
            <a:ext cx="777128" cy="307777"/>
          </a:xfrm>
          <a:prstGeom prst="rect">
            <a:avLst/>
          </a:prstGeom>
          <a:noFill/>
        </p:spPr>
        <p:txBody>
          <a:bodyPr wrap="square" rtlCol="0">
            <a:spAutoFit/>
          </a:bodyPr>
          <a:lstStyle/>
          <a:p>
            <a:r>
              <a:rPr lang="en-US" altLang="zh-CN" sz="1400" dirty="0">
                <a:solidFill>
                  <a:prstClr val="black"/>
                </a:solidFill>
              </a:rPr>
              <a:t>State 4</a:t>
            </a:r>
            <a:endParaRPr lang="zh-CN" altLang="en-US" sz="1400" dirty="0">
              <a:solidFill>
                <a:prstClr val="black"/>
              </a:solidFill>
            </a:endParaRPr>
          </a:p>
        </p:txBody>
      </p:sp>
      <p:sp>
        <p:nvSpPr>
          <p:cNvPr id="17" name="椭圆 16"/>
          <p:cNvSpPr/>
          <p:nvPr/>
        </p:nvSpPr>
        <p:spPr>
          <a:xfrm>
            <a:off x="4465121" y="4699817"/>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文本框 17"/>
          <p:cNvSpPr txBox="1"/>
          <p:nvPr/>
        </p:nvSpPr>
        <p:spPr>
          <a:xfrm>
            <a:off x="5066095" y="4663911"/>
            <a:ext cx="795022" cy="307777"/>
          </a:xfrm>
          <a:prstGeom prst="rect">
            <a:avLst/>
          </a:prstGeom>
          <a:noFill/>
        </p:spPr>
        <p:txBody>
          <a:bodyPr wrap="square" rtlCol="0">
            <a:spAutoFit/>
          </a:bodyPr>
          <a:lstStyle/>
          <a:p>
            <a:r>
              <a:rPr lang="en-US" altLang="zh-CN" sz="1400" dirty="0">
                <a:solidFill>
                  <a:prstClr val="black"/>
                </a:solidFill>
              </a:rPr>
              <a:t>State 5</a:t>
            </a:r>
            <a:endParaRPr lang="zh-CN" altLang="en-US" sz="1400" dirty="0">
              <a:solidFill>
                <a:prstClr val="black"/>
              </a:solidFill>
            </a:endParaRPr>
          </a:p>
        </p:txBody>
      </p:sp>
      <p:cxnSp>
        <p:nvCxnSpPr>
          <p:cNvPr id="22" name="曲线连接符 21"/>
          <p:cNvCxnSpPr>
            <a:stCxn id="4" idx="2"/>
            <a:endCxn id="7" idx="0"/>
          </p:cNvCxnSpPr>
          <p:nvPr/>
        </p:nvCxnSpPr>
        <p:spPr>
          <a:xfrm rot="10800000" flipV="1">
            <a:off x="3434379" y="1226180"/>
            <a:ext cx="1030743" cy="47500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a:stCxn id="7" idx="2"/>
            <a:endCxn id="9" idx="1"/>
          </p:cNvCxnSpPr>
          <p:nvPr/>
        </p:nvCxnSpPr>
        <p:spPr>
          <a:xfrm rot="10800000" flipV="1">
            <a:off x="2126790" y="2057450"/>
            <a:ext cx="286650" cy="8643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9" idx="3"/>
            <a:endCxn id="11" idx="2"/>
          </p:cNvCxnSpPr>
          <p:nvPr/>
        </p:nvCxnSpPr>
        <p:spPr>
          <a:xfrm rot="16200000" flipH="1">
            <a:off x="1882463" y="3669974"/>
            <a:ext cx="899996" cy="41134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曲线连接符 32"/>
          <p:cNvCxnSpPr>
            <a:stCxn id="11" idx="4"/>
            <a:endCxn id="17" idx="2"/>
          </p:cNvCxnSpPr>
          <p:nvPr/>
        </p:nvCxnSpPr>
        <p:spPr>
          <a:xfrm rot="16200000" flipH="1">
            <a:off x="3778002" y="4368957"/>
            <a:ext cx="374175" cy="100006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46"/>
          <p:cNvCxnSpPr>
            <a:stCxn id="17" idx="6"/>
            <a:endCxn id="57" idx="4"/>
          </p:cNvCxnSpPr>
          <p:nvPr/>
        </p:nvCxnSpPr>
        <p:spPr>
          <a:xfrm flipV="1">
            <a:off x="6318970" y="4145938"/>
            <a:ext cx="1021806" cy="91013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4552044" y="1003934"/>
            <a:ext cx="1954953"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AGV_idle</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sp>
        <p:nvSpPr>
          <p:cNvPr id="71" name="矩形 70"/>
          <p:cNvSpPr/>
          <p:nvPr/>
        </p:nvSpPr>
        <p:spPr>
          <a:xfrm>
            <a:off x="2370516" y="1862250"/>
            <a:ext cx="3115294"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a:t>
            </a:r>
            <a:endParaRPr lang="zh-CN" altLang="zh-CN" sz="1200" kern="100" dirty="0">
              <a:solidFill>
                <a:prstClr val="black"/>
              </a:solidFill>
              <a:cs typeface="Times New Roman" panose="02020603050405020304" pitchFamily="18" charset="0"/>
            </a:endParaRPr>
          </a:p>
        </p:txBody>
      </p:sp>
      <p:sp>
        <p:nvSpPr>
          <p:cNvPr id="73" name="矩形 72"/>
          <p:cNvSpPr/>
          <p:nvPr/>
        </p:nvSpPr>
        <p:spPr>
          <a:xfrm>
            <a:off x="1846041" y="2988022"/>
            <a:ext cx="2085796"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 </a:t>
            </a:r>
            <a:endParaRPr lang="zh-CN" altLang="zh-CN" sz="1200" kern="100" dirty="0">
              <a:solidFill>
                <a:prstClr val="black"/>
              </a:solidFill>
              <a:cs typeface="Times New Roman" panose="02020603050405020304" pitchFamily="18" charset="0"/>
            </a:endParaRPr>
          </a:p>
        </p:txBody>
      </p:sp>
      <p:sp>
        <p:nvSpPr>
          <p:cNvPr id="77" name="矩形 76"/>
          <p:cNvSpPr/>
          <p:nvPr/>
        </p:nvSpPr>
        <p:spPr>
          <a:xfrm>
            <a:off x="2559374" y="4125096"/>
            <a:ext cx="2949040"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78" name="文本框 77"/>
          <p:cNvSpPr txBox="1"/>
          <p:nvPr/>
        </p:nvSpPr>
        <p:spPr>
          <a:xfrm>
            <a:off x="2798741" y="1184751"/>
            <a:ext cx="1598842"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TaskAssigned</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79" name="文本框 78"/>
          <p:cNvSpPr txBox="1"/>
          <p:nvPr/>
        </p:nvSpPr>
        <p:spPr>
          <a:xfrm>
            <a:off x="1659909" y="2431020"/>
            <a:ext cx="1824694"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AGVArrivalRobot</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80" name="文本框 79"/>
          <p:cNvSpPr txBox="1"/>
          <p:nvPr/>
        </p:nvSpPr>
        <p:spPr>
          <a:xfrm>
            <a:off x="1736109" y="3622046"/>
            <a:ext cx="2324126"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StatusAutoChange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endParaRPr lang="zh-CN" altLang="en-US" sz="1400" dirty="0">
              <a:solidFill>
                <a:srgbClr val="5B9BD5">
                  <a:lumMod val="75000"/>
                </a:srgbClr>
              </a:solidFill>
            </a:endParaRPr>
          </a:p>
        </p:txBody>
      </p:sp>
      <p:sp>
        <p:nvSpPr>
          <p:cNvPr id="34" name="矩形 33"/>
          <p:cNvSpPr/>
          <p:nvPr/>
        </p:nvSpPr>
        <p:spPr>
          <a:xfrm>
            <a:off x="4501806" y="4834895"/>
            <a:ext cx="2264788"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40" name="文本框 39"/>
          <p:cNvSpPr txBox="1"/>
          <p:nvPr/>
        </p:nvSpPr>
        <p:spPr>
          <a:xfrm>
            <a:off x="2510131" y="4865828"/>
            <a:ext cx="1586137"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AGVTaskDone</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41" name="文本框 40"/>
          <p:cNvSpPr txBox="1"/>
          <p:nvPr/>
        </p:nvSpPr>
        <p:spPr>
          <a:xfrm>
            <a:off x="6163294" y="4453305"/>
            <a:ext cx="2453424"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53" name="椭圆 52"/>
          <p:cNvSpPr/>
          <p:nvPr/>
        </p:nvSpPr>
        <p:spPr>
          <a:xfrm>
            <a:off x="5133660" y="2459380"/>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4" name="文本框 53"/>
          <p:cNvSpPr txBox="1"/>
          <p:nvPr/>
        </p:nvSpPr>
        <p:spPr>
          <a:xfrm>
            <a:off x="5696534" y="2398539"/>
            <a:ext cx="785666" cy="307777"/>
          </a:xfrm>
          <a:prstGeom prst="rect">
            <a:avLst/>
          </a:prstGeom>
          <a:noFill/>
        </p:spPr>
        <p:txBody>
          <a:bodyPr wrap="square" rtlCol="0">
            <a:spAutoFit/>
          </a:bodyPr>
          <a:lstStyle/>
          <a:p>
            <a:r>
              <a:rPr lang="en-US" altLang="zh-CN" sz="1400" dirty="0">
                <a:solidFill>
                  <a:prstClr val="black"/>
                </a:solidFill>
              </a:rPr>
              <a:t>State 7</a:t>
            </a:r>
            <a:endParaRPr lang="zh-CN" altLang="en-US" sz="1400" dirty="0">
              <a:solidFill>
                <a:prstClr val="black"/>
              </a:solidFill>
            </a:endParaRPr>
          </a:p>
        </p:txBody>
      </p:sp>
      <p:sp>
        <p:nvSpPr>
          <p:cNvPr id="55" name="矩形 54"/>
          <p:cNvSpPr/>
          <p:nvPr/>
        </p:nvSpPr>
        <p:spPr>
          <a:xfrm>
            <a:off x="5170345" y="2587255"/>
            <a:ext cx="1817164"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57" name="椭圆 56"/>
          <p:cNvSpPr/>
          <p:nvPr/>
        </p:nvSpPr>
        <p:spPr>
          <a:xfrm>
            <a:off x="6413851" y="3433419"/>
            <a:ext cx="185384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8" name="文本框 57"/>
          <p:cNvSpPr txBox="1"/>
          <p:nvPr/>
        </p:nvSpPr>
        <p:spPr>
          <a:xfrm>
            <a:off x="6995774" y="3393745"/>
            <a:ext cx="823767" cy="307777"/>
          </a:xfrm>
          <a:prstGeom prst="rect">
            <a:avLst/>
          </a:prstGeom>
          <a:noFill/>
        </p:spPr>
        <p:txBody>
          <a:bodyPr wrap="square" rtlCol="0">
            <a:spAutoFit/>
          </a:bodyPr>
          <a:lstStyle/>
          <a:p>
            <a:r>
              <a:rPr lang="en-US" altLang="zh-CN" sz="1400" dirty="0">
                <a:solidFill>
                  <a:prstClr val="black"/>
                </a:solidFill>
              </a:rPr>
              <a:t>State 6</a:t>
            </a:r>
            <a:endParaRPr lang="zh-CN" altLang="en-US" sz="1400" dirty="0">
              <a:solidFill>
                <a:prstClr val="black"/>
              </a:solidFill>
            </a:endParaRPr>
          </a:p>
        </p:txBody>
      </p:sp>
      <p:sp>
        <p:nvSpPr>
          <p:cNvPr id="59" name="矩形 58"/>
          <p:cNvSpPr/>
          <p:nvPr/>
        </p:nvSpPr>
        <p:spPr>
          <a:xfrm>
            <a:off x="6460061" y="3564729"/>
            <a:ext cx="1596676"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cxnSp>
        <p:nvCxnSpPr>
          <p:cNvPr id="62" name="曲线连接符 61"/>
          <p:cNvCxnSpPr>
            <a:stCxn id="17" idx="0"/>
            <a:endCxn id="53" idx="4"/>
          </p:cNvCxnSpPr>
          <p:nvPr/>
        </p:nvCxnSpPr>
        <p:spPr>
          <a:xfrm rot="5400000" flipH="1" flipV="1">
            <a:off x="4962356" y="3601589"/>
            <a:ext cx="1527918" cy="66853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4413501" y="3701543"/>
            <a:ext cx="1785846"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(AGV)</a:t>
            </a:r>
            <a:endParaRPr lang="zh-CN" altLang="en-US" sz="1400" dirty="0">
              <a:solidFill>
                <a:srgbClr val="5B9BD5">
                  <a:lumMod val="75000"/>
                </a:srgbClr>
              </a:solidFill>
            </a:endParaRPr>
          </a:p>
        </p:txBody>
      </p:sp>
      <p:cxnSp>
        <p:nvCxnSpPr>
          <p:cNvPr id="70" name="曲线连接符 69"/>
          <p:cNvCxnSpPr>
            <a:stCxn id="57" idx="6"/>
            <a:endCxn id="104" idx="4"/>
          </p:cNvCxnSpPr>
          <p:nvPr/>
        </p:nvCxnSpPr>
        <p:spPr>
          <a:xfrm flipV="1">
            <a:off x="8267700" y="2769779"/>
            <a:ext cx="17650" cy="101990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曲线连接符 73"/>
          <p:cNvCxnSpPr>
            <a:stCxn id="53" idx="0"/>
            <a:endCxn id="104" idx="1"/>
          </p:cNvCxnSpPr>
          <p:nvPr/>
        </p:nvCxnSpPr>
        <p:spPr>
          <a:xfrm rot="5400000" flipH="1" flipV="1">
            <a:off x="6775587" y="1446604"/>
            <a:ext cx="297774" cy="1727779"/>
          </a:xfrm>
          <a:prstGeom prst="curvedConnector3">
            <a:avLst>
              <a:gd name="adj1" fmla="val 211812"/>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6964824" y="3047393"/>
            <a:ext cx="1859567"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82" name="文本框 81"/>
          <p:cNvSpPr txBox="1"/>
          <p:nvPr/>
        </p:nvSpPr>
        <p:spPr>
          <a:xfrm>
            <a:off x="4887352" y="1742706"/>
            <a:ext cx="2453424"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104" name="椭圆 103"/>
          <p:cNvSpPr/>
          <p:nvPr/>
        </p:nvSpPr>
        <p:spPr>
          <a:xfrm>
            <a:off x="7582505" y="2057260"/>
            <a:ext cx="1405690"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5" name="文本框 104"/>
          <p:cNvSpPr txBox="1"/>
          <p:nvPr/>
        </p:nvSpPr>
        <p:spPr>
          <a:xfrm>
            <a:off x="7964402" y="2023131"/>
            <a:ext cx="823767" cy="307777"/>
          </a:xfrm>
          <a:prstGeom prst="rect">
            <a:avLst/>
          </a:prstGeom>
          <a:noFill/>
        </p:spPr>
        <p:txBody>
          <a:bodyPr wrap="square" rtlCol="0">
            <a:spAutoFit/>
          </a:bodyPr>
          <a:lstStyle/>
          <a:p>
            <a:r>
              <a:rPr lang="en-US" altLang="zh-CN" sz="1400" dirty="0">
                <a:solidFill>
                  <a:prstClr val="black"/>
                </a:solidFill>
              </a:rPr>
              <a:t>State 8</a:t>
            </a:r>
            <a:endParaRPr lang="zh-CN" altLang="en-US" sz="1400" dirty="0">
              <a:solidFill>
                <a:prstClr val="black"/>
              </a:solidFill>
            </a:endParaRPr>
          </a:p>
        </p:txBody>
      </p:sp>
      <p:sp>
        <p:nvSpPr>
          <p:cNvPr id="106" name="矩形 105"/>
          <p:cNvSpPr/>
          <p:nvPr/>
        </p:nvSpPr>
        <p:spPr>
          <a:xfrm>
            <a:off x="7628714" y="2188570"/>
            <a:ext cx="1245848"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cxnSp>
        <p:nvCxnSpPr>
          <p:cNvPr id="118" name="曲线连接符 117"/>
          <p:cNvCxnSpPr>
            <a:stCxn id="105" idx="0"/>
          </p:cNvCxnSpPr>
          <p:nvPr/>
        </p:nvCxnSpPr>
        <p:spPr>
          <a:xfrm rot="16200000" flipV="1">
            <a:off x="6934274" y="581118"/>
            <a:ext cx="881491" cy="200253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文本框 122"/>
          <p:cNvSpPr txBox="1"/>
          <p:nvPr/>
        </p:nvSpPr>
        <p:spPr>
          <a:xfrm>
            <a:off x="6809411" y="1288284"/>
            <a:ext cx="1909474"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StatusAutoChange</a:t>
            </a:r>
            <a:r>
              <a:rPr lang="en-US" altLang="zh-CN" sz="1400" dirty="0">
                <a:solidFill>
                  <a:srgbClr val="5B9BD5">
                    <a:lumMod val="75000"/>
                  </a:srgbClr>
                </a:solidFill>
              </a:rPr>
              <a:t>(AGV)</a:t>
            </a:r>
            <a:endParaRPr lang="zh-CN" altLang="en-US" sz="1400" dirty="0">
              <a:solidFill>
                <a:srgbClr val="5B9BD5">
                  <a:lumMod val="75000"/>
                </a:srgbClr>
              </a:solidFill>
            </a:endParaRPr>
          </a:p>
        </p:txBody>
      </p:sp>
    </p:spTree>
    <p:extLst>
      <p:ext uri="{BB962C8B-B14F-4D97-AF65-F5344CB8AC3E}">
        <p14:creationId xmlns:p14="http://schemas.microsoft.com/office/powerpoint/2010/main" val="142773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4200864" y="364595"/>
            <a:ext cx="1612896"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p:cNvSpPr txBox="1"/>
          <p:nvPr/>
        </p:nvSpPr>
        <p:spPr>
          <a:xfrm>
            <a:off x="4695109" y="341368"/>
            <a:ext cx="859853" cy="307777"/>
          </a:xfrm>
          <a:prstGeom prst="rect">
            <a:avLst/>
          </a:prstGeom>
          <a:noFill/>
        </p:spPr>
        <p:txBody>
          <a:bodyPr wrap="square" rtlCol="0">
            <a:spAutoFit/>
          </a:bodyPr>
          <a:lstStyle/>
          <a:p>
            <a:r>
              <a:rPr lang="en-US" altLang="zh-CN" sz="1400" dirty="0">
                <a:solidFill>
                  <a:prstClr val="black"/>
                </a:solidFill>
              </a:rPr>
              <a:t>State 1</a:t>
            </a:r>
            <a:endParaRPr lang="zh-CN" altLang="en-US" sz="1400" dirty="0">
              <a:solidFill>
                <a:prstClr val="black"/>
              </a:solidFill>
            </a:endParaRPr>
          </a:p>
        </p:txBody>
      </p:sp>
      <p:sp>
        <p:nvSpPr>
          <p:cNvPr id="7" name="椭圆 6"/>
          <p:cNvSpPr/>
          <p:nvPr/>
        </p:nvSpPr>
        <p:spPr>
          <a:xfrm>
            <a:off x="2283243" y="1162484"/>
            <a:ext cx="2118075"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文本框 7"/>
          <p:cNvSpPr txBox="1"/>
          <p:nvPr/>
        </p:nvSpPr>
        <p:spPr>
          <a:xfrm>
            <a:off x="3012266" y="1122515"/>
            <a:ext cx="1039529" cy="307777"/>
          </a:xfrm>
          <a:prstGeom prst="rect">
            <a:avLst/>
          </a:prstGeom>
          <a:noFill/>
        </p:spPr>
        <p:txBody>
          <a:bodyPr wrap="square" rtlCol="0">
            <a:spAutoFit/>
          </a:bodyPr>
          <a:lstStyle/>
          <a:p>
            <a:r>
              <a:rPr lang="en-US" altLang="zh-CN" sz="1400" dirty="0">
                <a:solidFill>
                  <a:prstClr val="black"/>
                </a:solidFill>
              </a:rPr>
              <a:t>State 2</a:t>
            </a:r>
            <a:endParaRPr lang="zh-CN" altLang="en-US" sz="1400" dirty="0">
              <a:solidFill>
                <a:prstClr val="black"/>
              </a:solidFill>
            </a:endParaRPr>
          </a:p>
        </p:txBody>
      </p:sp>
      <p:sp>
        <p:nvSpPr>
          <p:cNvPr id="9" name="椭圆 8"/>
          <p:cNvSpPr/>
          <p:nvPr/>
        </p:nvSpPr>
        <p:spPr>
          <a:xfrm>
            <a:off x="1993096" y="2312148"/>
            <a:ext cx="1766287"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文本框 9"/>
          <p:cNvSpPr txBox="1"/>
          <p:nvPr/>
        </p:nvSpPr>
        <p:spPr>
          <a:xfrm>
            <a:off x="2496615" y="2279345"/>
            <a:ext cx="1039529" cy="307777"/>
          </a:xfrm>
          <a:prstGeom prst="rect">
            <a:avLst/>
          </a:prstGeom>
          <a:noFill/>
        </p:spPr>
        <p:txBody>
          <a:bodyPr wrap="square" rtlCol="0">
            <a:spAutoFit/>
          </a:bodyPr>
          <a:lstStyle/>
          <a:p>
            <a:r>
              <a:rPr lang="en-US" altLang="zh-CN" sz="1400" dirty="0">
                <a:solidFill>
                  <a:prstClr val="black"/>
                </a:solidFill>
              </a:rPr>
              <a:t>State 3</a:t>
            </a:r>
            <a:endParaRPr lang="zh-CN" altLang="en-US" sz="1400" dirty="0">
              <a:solidFill>
                <a:prstClr val="black"/>
              </a:solidFill>
            </a:endParaRPr>
          </a:p>
        </p:txBody>
      </p:sp>
      <p:sp>
        <p:nvSpPr>
          <p:cNvPr id="11" name="椭圆 10"/>
          <p:cNvSpPr/>
          <p:nvPr/>
        </p:nvSpPr>
        <p:spPr>
          <a:xfrm>
            <a:off x="2120017" y="3498151"/>
            <a:ext cx="1945938"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文本框 11"/>
          <p:cNvSpPr txBox="1"/>
          <p:nvPr/>
        </p:nvSpPr>
        <p:spPr>
          <a:xfrm>
            <a:off x="2700481" y="3474401"/>
            <a:ext cx="762757" cy="307777"/>
          </a:xfrm>
          <a:prstGeom prst="rect">
            <a:avLst/>
          </a:prstGeom>
          <a:noFill/>
        </p:spPr>
        <p:txBody>
          <a:bodyPr wrap="square" rtlCol="0">
            <a:spAutoFit/>
          </a:bodyPr>
          <a:lstStyle/>
          <a:p>
            <a:r>
              <a:rPr lang="en-US" altLang="zh-CN" sz="1400" dirty="0">
                <a:solidFill>
                  <a:prstClr val="black"/>
                </a:solidFill>
              </a:rPr>
              <a:t>State 4</a:t>
            </a:r>
            <a:endParaRPr lang="zh-CN" altLang="en-US" sz="1400" dirty="0">
              <a:solidFill>
                <a:prstClr val="black"/>
              </a:solidFill>
            </a:endParaRPr>
          </a:p>
        </p:txBody>
      </p:sp>
      <p:sp>
        <p:nvSpPr>
          <p:cNvPr id="13" name="椭圆 12"/>
          <p:cNvSpPr/>
          <p:nvPr/>
        </p:nvSpPr>
        <p:spPr>
          <a:xfrm>
            <a:off x="6612751" y="1673523"/>
            <a:ext cx="2311713"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文本框 13"/>
          <p:cNvSpPr txBox="1"/>
          <p:nvPr/>
        </p:nvSpPr>
        <p:spPr>
          <a:xfrm>
            <a:off x="7329213" y="1622819"/>
            <a:ext cx="892328" cy="307777"/>
          </a:xfrm>
          <a:prstGeom prst="rect">
            <a:avLst/>
          </a:prstGeom>
          <a:noFill/>
        </p:spPr>
        <p:txBody>
          <a:bodyPr wrap="square" rtlCol="0">
            <a:spAutoFit/>
          </a:bodyPr>
          <a:lstStyle/>
          <a:p>
            <a:r>
              <a:rPr lang="en-US" altLang="zh-CN" sz="1400" dirty="0">
                <a:solidFill>
                  <a:prstClr val="black"/>
                </a:solidFill>
              </a:rPr>
              <a:t>State 12</a:t>
            </a:r>
            <a:endParaRPr lang="zh-CN" altLang="en-US" sz="1400" dirty="0">
              <a:solidFill>
                <a:prstClr val="black"/>
              </a:solidFill>
            </a:endParaRPr>
          </a:p>
        </p:txBody>
      </p:sp>
      <p:sp>
        <p:nvSpPr>
          <p:cNvPr id="15" name="椭圆 14"/>
          <p:cNvSpPr/>
          <p:nvPr/>
        </p:nvSpPr>
        <p:spPr>
          <a:xfrm>
            <a:off x="7902517" y="2989948"/>
            <a:ext cx="1964412"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文本框 15"/>
          <p:cNvSpPr txBox="1"/>
          <p:nvPr/>
        </p:nvSpPr>
        <p:spPr>
          <a:xfrm>
            <a:off x="8508147" y="2975160"/>
            <a:ext cx="780797" cy="307777"/>
          </a:xfrm>
          <a:prstGeom prst="rect">
            <a:avLst/>
          </a:prstGeom>
          <a:noFill/>
        </p:spPr>
        <p:txBody>
          <a:bodyPr wrap="square" rtlCol="0">
            <a:spAutoFit/>
          </a:bodyPr>
          <a:lstStyle/>
          <a:p>
            <a:r>
              <a:rPr lang="en-US" altLang="zh-CN" sz="1400" dirty="0">
                <a:solidFill>
                  <a:prstClr val="black"/>
                </a:solidFill>
              </a:rPr>
              <a:t>State 8</a:t>
            </a:r>
            <a:endParaRPr lang="zh-CN" altLang="en-US" sz="1400" dirty="0">
              <a:solidFill>
                <a:prstClr val="black"/>
              </a:solidFill>
            </a:endParaRPr>
          </a:p>
        </p:txBody>
      </p:sp>
      <p:sp>
        <p:nvSpPr>
          <p:cNvPr id="17" name="椭圆 16"/>
          <p:cNvSpPr/>
          <p:nvPr/>
        </p:nvSpPr>
        <p:spPr>
          <a:xfrm>
            <a:off x="3856790" y="4204522"/>
            <a:ext cx="1865153"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文本框 17"/>
          <p:cNvSpPr txBox="1"/>
          <p:nvPr/>
        </p:nvSpPr>
        <p:spPr>
          <a:xfrm>
            <a:off x="4322461" y="4173853"/>
            <a:ext cx="1039529" cy="307777"/>
          </a:xfrm>
          <a:prstGeom prst="rect">
            <a:avLst/>
          </a:prstGeom>
          <a:noFill/>
        </p:spPr>
        <p:txBody>
          <a:bodyPr wrap="square" rtlCol="0">
            <a:spAutoFit/>
          </a:bodyPr>
          <a:lstStyle/>
          <a:p>
            <a:r>
              <a:rPr lang="en-US" altLang="zh-CN" sz="1400" dirty="0">
                <a:solidFill>
                  <a:prstClr val="black"/>
                </a:solidFill>
              </a:rPr>
              <a:t>State 5</a:t>
            </a:r>
            <a:endParaRPr lang="zh-CN" altLang="en-US" sz="1400" dirty="0">
              <a:solidFill>
                <a:prstClr val="black"/>
              </a:solidFill>
            </a:endParaRPr>
          </a:p>
        </p:txBody>
      </p:sp>
      <p:sp>
        <p:nvSpPr>
          <p:cNvPr id="19" name="椭圆 18"/>
          <p:cNvSpPr/>
          <p:nvPr/>
        </p:nvSpPr>
        <p:spPr>
          <a:xfrm>
            <a:off x="8938354" y="1863001"/>
            <a:ext cx="1915008" cy="731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文本框 19"/>
          <p:cNvSpPr txBox="1"/>
          <p:nvPr/>
        </p:nvSpPr>
        <p:spPr>
          <a:xfrm>
            <a:off x="9494713" y="1843640"/>
            <a:ext cx="1039529" cy="307777"/>
          </a:xfrm>
          <a:prstGeom prst="rect">
            <a:avLst/>
          </a:prstGeom>
          <a:noFill/>
        </p:spPr>
        <p:txBody>
          <a:bodyPr wrap="square" rtlCol="0">
            <a:spAutoFit/>
          </a:bodyPr>
          <a:lstStyle/>
          <a:p>
            <a:r>
              <a:rPr lang="en-US" altLang="zh-CN" sz="1400" dirty="0">
                <a:solidFill>
                  <a:prstClr val="black"/>
                </a:solidFill>
              </a:rPr>
              <a:t>State 13</a:t>
            </a:r>
            <a:endParaRPr lang="zh-CN" altLang="en-US" sz="1400" dirty="0">
              <a:solidFill>
                <a:prstClr val="black"/>
              </a:solidFill>
            </a:endParaRPr>
          </a:p>
        </p:txBody>
      </p:sp>
      <p:cxnSp>
        <p:nvCxnSpPr>
          <p:cNvPr id="22" name="曲线连接符 21"/>
          <p:cNvCxnSpPr>
            <a:stCxn id="4" idx="2"/>
            <a:endCxn id="7" idx="0"/>
          </p:cNvCxnSpPr>
          <p:nvPr/>
        </p:nvCxnSpPr>
        <p:spPr>
          <a:xfrm rot="10800000" flipV="1">
            <a:off x="3342282" y="720854"/>
            <a:ext cx="858583" cy="44162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a:stCxn id="7" idx="2"/>
            <a:endCxn id="9" idx="1"/>
          </p:cNvCxnSpPr>
          <p:nvPr/>
        </p:nvCxnSpPr>
        <p:spPr>
          <a:xfrm rot="10800000" flipV="1">
            <a:off x="2251763" y="1518744"/>
            <a:ext cx="31480" cy="89775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9" idx="3"/>
            <a:endCxn id="11" idx="1"/>
          </p:cNvCxnSpPr>
          <p:nvPr/>
        </p:nvCxnSpPr>
        <p:spPr>
          <a:xfrm rot="16200000" flipH="1">
            <a:off x="1987290" y="3184794"/>
            <a:ext cx="682176" cy="15323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曲线连接符 32"/>
          <p:cNvCxnSpPr>
            <a:stCxn id="11" idx="4"/>
            <a:endCxn id="17" idx="2"/>
          </p:cNvCxnSpPr>
          <p:nvPr/>
        </p:nvCxnSpPr>
        <p:spPr>
          <a:xfrm rot="16200000" flipH="1">
            <a:off x="3299832" y="4003824"/>
            <a:ext cx="350112" cy="7638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曲线连接符 42"/>
          <p:cNvCxnSpPr>
            <a:stCxn id="13" idx="5"/>
            <a:endCxn id="19" idx="3"/>
          </p:cNvCxnSpPr>
          <p:nvPr/>
        </p:nvCxnSpPr>
        <p:spPr>
          <a:xfrm rot="16200000" flipH="1">
            <a:off x="8799553" y="2068063"/>
            <a:ext cx="205615" cy="632879"/>
          </a:xfrm>
          <a:prstGeom prst="curvedConnector3">
            <a:avLst>
              <a:gd name="adj1" fmla="val 26327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曲线连接符 55"/>
          <p:cNvCxnSpPr>
            <a:stCxn id="19" idx="4"/>
            <a:endCxn id="230" idx="1"/>
          </p:cNvCxnSpPr>
          <p:nvPr/>
        </p:nvCxnSpPr>
        <p:spPr>
          <a:xfrm rot="16200000" flipH="1">
            <a:off x="9676456" y="2813827"/>
            <a:ext cx="674525" cy="23572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4270690" y="522904"/>
            <a:ext cx="1954953"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AGV_idle</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sp>
        <p:nvSpPr>
          <p:cNvPr id="71" name="矩形 70"/>
          <p:cNvSpPr/>
          <p:nvPr/>
        </p:nvSpPr>
        <p:spPr>
          <a:xfrm>
            <a:off x="2314920" y="1312307"/>
            <a:ext cx="2110927"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sp>
        <p:nvSpPr>
          <p:cNvPr id="73" name="矩形 72"/>
          <p:cNvSpPr/>
          <p:nvPr/>
        </p:nvSpPr>
        <p:spPr>
          <a:xfrm>
            <a:off x="2041622" y="2444596"/>
            <a:ext cx="1885847"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 </a:t>
            </a:r>
            <a:endParaRPr lang="zh-CN" altLang="zh-CN" sz="1200" kern="100" dirty="0">
              <a:solidFill>
                <a:prstClr val="black"/>
              </a:solidFill>
              <a:cs typeface="Times New Roman" panose="02020603050405020304" pitchFamily="18" charset="0"/>
            </a:endParaRPr>
          </a:p>
        </p:txBody>
      </p:sp>
      <p:sp>
        <p:nvSpPr>
          <p:cNvPr id="77" name="矩形 76"/>
          <p:cNvSpPr/>
          <p:nvPr/>
        </p:nvSpPr>
        <p:spPr>
          <a:xfrm>
            <a:off x="2169832" y="3653864"/>
            <a:ext cx="2114027"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78" name="文本框 77"/>
          <p:cNvSpPr txBox="1"/>
          <p:nvPr/>
        </p:nvSpPr>
        <p:spPr>
          <a:xfrm>
            <a:off x="2424327" y="669505"/>
            <a:ext cx="1550479"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TaskAssigned</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79" name="文本框 78"/>
          <p:cNvSpPr txBox="1"/>
          <p:nvPr/>
        </p:nvSpPr>
        <p:spPr>
          <a:xfrm>
            <a:off x="1929380" y="1937630"/>
            <a:ext cx="1941715"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AGVArrivalRobot</a:t>
            </a:r>
            <a:r>
              <a:rPr lang="en-US" altLang="zh-CN" sz="1400" dirty="0">
                <a:solidFill>
                  <a:srgbClr val="5B9BD5">
                    <a:lumMod val="75000"/>
                  </a:srgbClr>
                </a:solidFill>
              </a:rPr>
              <a:t> (AGV)</a:t>
            </a:r>
            <a:endParaRPr lang="zh-CN" altLang="en-US" sz="1400" dirty="0">
              <a:solidFill>
                <a:srgbClr val="5B9BD5">
                  <a:lumMod val="75000"/>
                </a:srgbClr>
              </a:solidFill>
            </a:endParaRPr>
          </a:p>
        </p:txBody>
      </p:sp>
      <p:sp>
        <p:nvSpPr>
          <p:cNvPr id="80" name="文本框 79"/>
          <p:cNvSpPr txBox="1"/>
          <p:nvPr/>
        </p:nvSpPr>
        <p:spPr>
          <a:xfrm>
            <a:off x="1935422" y="3099947"/>
            <a:ext cx="1988978"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TaskAssigned</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endParaRPr lang="zh-CN" altLang="en-US" sz="1400" dirty="0">
              <a:solidFill>
                <a:srgbClr val="5B9BD5">
                  <a:lumMod val="75000"/>
                </a:srgbClr>
              </a:solidFill>
            </a:endParaRPr>
          </a:p>
        </p:txBody>
      </p:sp>
      <p:sp>
        <p:nvSpPr>
          <p:cNvPr id="82" name="矩形 81"/>
          <p:cNvSpPr/>
          <p:nvPr/>
        </p:nvSpPr>
        <p:spPr>
          <a:xfrm>
            <a:off x="3868067" y="4349419"/>
            <a:ext cx="2106798"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84" name="矩形 83"/>
          <p:cNvSpPr/>
          <p:nvPr/>
        </p:nvSpPr>
        <p:spPr>
          <a:xfrm>
            <a:off x="7965057" y="3157889"/>
            <a:ext cx="1813973"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k+1)</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86" name="矩形 85"/>
          <p:cNvSpPr/>
          <p:nvPr/>
        </p:nvSpPr>
        <p:spPr>
          <a:xfrm>
            <a:off x="6721075" y="1847464"/>
            <a:ext cx="2273777"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k+1)</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sp>
        <p:nvSpPr>
          <p:cNvPr id="94" name="矩形 93"/>
          <p:cNvSpPr/>
          <p:nvPr/>
        </p:nvSpPr>
        <p:spPr>
          <a:xfrm>
            <a:off x="9008742" y="2015730"/>
            <a:ext cx="2121880"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k+1)</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 (j)</a:t>
            </a:r>
            <a:endParaRPr lang="zh-CN" altLang="zh-CN" sz="1200" kern="100" dirty="0">
              <a:solidFill>
                <a:prstClr val="black"/>
              </a:solidFill>
              <a:cs typeface="Times New Roman" panose="02020603050405020304" pitchFamily="18" charset="0"/>
            </a:endParaRPr>
          </a:p>
        </p:txBody>
      </p:sp>
      <p:sp>
        <p:nvSpPr>
          <p:cNvPr id="96" name="文本框 95"/>
          <p:cNvSpPr txBox="1"/>
          <p:nvPr/>
        </p:nvSpPr>
        <p:spPr>
          <a:xfrm>
            <a:off x="1973184" y="4286096"/>
            <a:ext cx="1692677"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AGVTaskDone</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100" name="椭圆 99"/>
          <p:cNvSpPr/>
          <p:nvPr/>
        </p:nvSpPr>
        <p:spPr>
          <a:xfrm>
            <a:off x="6200459" y="4051361"/>
            <a:ext cx="2279851"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1" name="文本框 100"/>
          <p:cNvSpPr txBox="1"/>
          <p:nvPr/>
        </p:nvSpPr>
        <p:spPr>
          <a:xfrm>
            <a:off x="6874565" y="4026551"/>
            <a:ext cx="755203" cy="307777"/>
          </a:xfrm>
          <a:prstGeom prst="rect">
            <a:avLst/>
          </a:prstGeom>
          <a:noFill/>
        </p:spPr>
        <p:txBody>
          <a:bodyPr wrap="square" rtlCol="0">
            <a:spAutoFit/>
          </a:bodyPr>
          <a:lstStyle/>
          <a:p>
            <a:r>
              <a:rPr lang="en-US" altLang="zh-CN" sz="1400" dirty="0">
                <a:solidFill>
                  <a:prstClr val="black"/>
                </a:solidFill>
              </a:rPr>
              <a:t>State 7</a:t>
            </a:r>
            <a:endParaRPr lang="zh-CN" altLang="en-US" sz="1400" dirty="0">
              <a:solidFill>
                <a:prstClr val="black"/>
              </a:solidFill>
            </a:endParaRPr>
          </a:p>
        </p:txBody>
      </p:sp>
      <p:sp>
        <p:nvSpPr>
          <p:cNvPr id="102" name="矩形 101"/>
          <p:cNvSpPr/>
          <p:nvPr/>
        </p:nvSpPr>
        <p:spPr>
          <a:xfrm>
            <a:off x="6252197" y="4209280"/>
            <a:ext cx="2228113"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AGVMovingToRobotArm</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 j’, k+1)</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cxnSp>
        <p:nvCxnSpPr>
          <p:cNvPr id="106" name="曲线连接符 105"/>
          <p:cNvCxnSpPr>
            <a:stCxn id="190" idx="7"/>
            <a:endCxn id="100" idx="3"/>
          </p:cNvCxnSpPr>
          <p:nvPr/>
        </p:nvCxnSpPr>
        <p:spPr>
          <a:xfrm rot="16200000" flipV="1">
            <a:off x="6248674" y="4945195"/>
            <a:ext cx="591894" cy="2057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a:xfrm>
            <a:off x="5603693" y="4799723"/>
            <a:ext cx="1508468"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TaskAssigned</a:t>
            </a:r>
            <a:r>
              <a:rPr lang="en-US" altLang="zh-CN" sz="1400" dirty="0">
                <a:solidFill>
                  <a:srgbClr val="5B9BD5">
                    <a:lumMod val="75000"/>
                  </a:srgbClr>
                </a:solidFill>
              </a:rPr>
              <a:t>(AGV)</a:t>
            </a:r>
            <a:endParaRPr lang="zh-CN" altLang="en-US" sz="1400" dirty="0">
              <a:solidFill>
                <a:srgbClr val="5B9BD5">
                  <a:lumMod val="75000"/>
                </a:srgbClr>
              </a:solidFill>
            </a:endParaRPr>
          </a:p>
        </p:txBody>
      </p:sp>
      <p:cxnSp>
        <p:nvCxnSpPr>
          <p:cNvPr id="113" name="曲线连接符 112"/>
          <p:cNvCxnSpPr>
            <a:stCxn id="15" idx="4"/>
            <a:endCxn id="128" idx="1"/>
          </p:cNvCxnSpPr>
          <p:nvPr/>
        </p:nvCxnSpPr>
        <p:spPr>
          <a:xfrm rot="16200000" flipH="1">
            <a:off x="8570579" y="4016610"/>
            <a:ext cx="738646" cy="11035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椭圆 127"/>
          <p:cNvSpPr/>
          <p:nvPr/>
        </p:nvSpPr>
        <p:spPr>
          <a:xfrm>
            <a:off x="8718488" y="4336767"/>
            <a:ext cx="1888702"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9" name="文本框 128"/>
          <p:cNvSpPr txBox="1"/>
          <p:nvPr/>
        </p:nvSpPr>
        <p:spPr>
          <a:xfrm>
            <a:off x="9283748" y="4308719"/>
            <a:ext cx="805963" cy="307777"/>
          </a:xfrm>
          <a:prstGeom prst="rect">
            <a:avLst/>
          </a:prstGeom>
          <a:noFill/>
        </p:spPr>
        <p:txBody>
          <a:bodyPr wrap="square" rtlCol="0">
            <a:spAutoFit/>
          </a:bodyPr>
          <a:lstStyle/>
          <a:p>
            <a:r>
              <a:rPr lang="en-US" altLang="zh-CN" sz="1400" dirty="0">
                <a:solidFill>
                  <a:prstClr val="black"/>
                </a:solidFill>
              </a:rPr>
              <a:t>State 9</a:t>
            </a:r>
            <a:endParaRPr lang="zh-CN" altLang="en-US" sz="1400" dirty="0">
              <a:solidFill>
                <a:prstClr val="black"/>
              </a:solidFill>
            </a:endParaRPr>
          </a:p>
        </p:txBody>
      </p:sp>
      <p:sp>
        <p:nvSpPr>
          <p:cNvPr id="130" name="矩形 129"/>
          <p:cNvSpPr/>
          <p:nvPr/>
        </p:nvSpPr>
        <p:spPr>
          <a:xfrm>
            <a:off x="8750681" y="4478280"/>
            <a:ext cx="1745526"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cxnSp>
        <p:nvCxnSpPr>
          <p:cNvPr id="138" name="曲线连接符 137"/>
          <p:cNvCxnSpPr>
            <a:stCxn id="100" idx="0"/>
            <a:endCxn id="15" idx="2"/>
          </p:cNvCxnSpPr>
          <p:nvPr/>
        </p:nvCxnSpPr>
        <p:spPr>
          <a:xfrm rot="5400000" flipH="1" flipV="1">
            <a:off x="7268875" y="3417719"/>
            <a:ext cx="705153" cy="56213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曲线连接符 140"/>
          <p:cNvCxnSpPr>
            <a:stCxn id="100" idx="1"/>
            <a:endCxn id="13" idx="2"/>
          </p:cNvCxnSpPr>
          <p:nvPr/>
        </p:nvCxnSpPr>
        <p:spPr>
          <a:xfrm rot="5400000" flipH="1" flipV="1">
            <a:off x="5510581" y="3053537"/>
            <a:ext cx="2125924" cy="7841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曲线连接符 147"/>
          <p:cNvCxnSpPr>
            <a:stCxn id="128" idx="3"/>
            <a:endCxn id="217" idx="2"/>
          </p:cNvCxnSpPr>
          <p:nvPr/>
        </p:nvCxnSpPr>
        <p:spPr>
          <a:xfrm rot="16200000" flipH="1">
            <a:off x="8913412" y="5026609"/>
            <a:ext cx="515949" cy="35260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7" name="文本框 156"/>
          <p:cNvSpPr txBox="1"/>
          <p:nvPr/>
        </p:nvSpPr>
        <p:spPr>
          <a:xfrm>
            <a:off x="6559573" y="3664000"/>
            <a:ext cx="1793080"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AGVArrivalRobot</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161" name="文本框 160"/>
          <p:cNvSpPr txBox="1"/>
          <p:nvPr/>
        </p:nvSpPr>
        <p:spPr>
          <a:xfrm>
            <a:off x="8296737" y="3779856"/>
            <a:ext cx="1577045"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AGVTaskDone</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163" name="文本框 162"/>
          <p:cNvSpPr txBox="1"/>
          <p:nvPr/>
        </p:nvSpPr>
        <p:spPr>
          <a:xfrm>
            <a:off x="7022138" y="2426769"/>
            <a:ext cx="1811522"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AGVArrivalRobot</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190" name="椭圆 189"/>
          <p:cNvSpPr/>
          <p:nvPr/>
        </p:nvSpPr>
        <p:spPr>
          <a:xfrm>
            <a:off x="4890001" y="5147082"/>
            <a:ext cx="1950558"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1" name="文本框 190"/>
          <p:cNvSpPr txBox="1"/>
          <p:nvPr/>
        </p:nvSpPr>
        <p:spPr>
          <a:xfrm>
            <a:off x="5533697" y="5118336"/>
            <a:ext cx="750779" cy="307777"/>
          </a:xfrm>
          <a:prstGeom prst="rect">
            <a:avLst/>
          </a:prstGeom>
          <a:noFill/>
        </p:spPr>
        <p:txBody>
          <a:bodyPr wrap="square" rtlCol="0">
            <a:spAutoFit/>
          </a:bodyPr>
          <a:lstStyle/>
          <a:p>
            <a:r>
              <a:rPr lang="en-US" altLang="zh-CN" sz="1400" dirty="0">
                <a:solidFill>
                  <a:prstClr val="black"/>
                </a:solidFill>
              </a:rPr>
              <a:t>State 6</a:t>
            </a:r>
            <a:endParaRPr lang="zh-CN" altLang="en-US" sz="1400" dirty="0">
              <a:solidFill>
                <a:prstClr val="black"/>
              </a:solidFill>
            </a:endParaRPr>
          </a:p>
        </p:txBody>
      </p:sp>
      <p:sp>
        <p:nvSpPr>
          <p:cNvPr id="192" name="矩形 191"/>
          <p:cNvSpPr/>
          <p:nvPr/>
        </p:nvSpPr>
        <p:spPr>
          <a:xfrm>
            <a:off x="4920327" y="5299808"/>
            <a:ext cx="1804161"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193" name="椭圆 192"/>
          <p:cNvSpPr/>
          <p:nvPr/>
        </p:nvSpPr>
        <p:spPr>
          <a:xfrm>
            <a:off x="4101585" y="2532252"/>
            <a:ext cx="1675635"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4" name="文本框 193"/>
          <p:cNvSpPr txBox="1"/>
          <p:nvPr/>
        </p:nvSpPr>
        <p:spPr>
          <a:xfrm>
            <a:off x="4565247" y="2508177"/>
            <a:ext cx="1039529" cy="307777"/>
          </a:xfrm>
          <a:prstGeom prst="rect">
            <a:avLst/>
          </a:prstGeom>
          <a:noFill/>
        </p:spPr>
        <p:txBody>
          <a:bodyPr wrap="square" rtlCol="0">
            <a:spAutoFit/>
          </a:bodyPr>
          <a:lstStyle/>
          <a:p>
            <a:r>
              <a:rPr lang="en-US" altLang="zh-CN" sz="1400" dirty="0">
                <a:solidFill>
                  <a:prstClr val="black"/>
                </a:solidFill>
              </a:rPr>
              <a:t>State 14</a:t>
            </a:r>
            <a:endParaRPr lang="zh-CN" altLang="en-US" sz="1400" dirty="0">
              <a:solidFill>
                <a:prstClr val="black"/>
              </a:solidFill>
            </a:endParaRPr>
          </a:p>
        </p:txBody>
      </p:sp>
      <p:sp>
        <p:nvSpPr>
          <p:cNvPr id="195" name="矩形 194"/>
          <p:cNvSpPr/>
          <p:nvPr/>
        </p:nvSpPr>
        <p:spPr>
          <a:xfrm>
            <a:off x="4131912" y="2673530"/>
            <a:ext cx="1829616"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cxnSp>
        <p:nvCxnSpPr>
          <p:cNvPr id="206" name="曲线连接符 205"/>
          <p:cNvCxnSpPr>
            <a:stCxn id="17" idx="4"/>
            <a:endCxn id="190" idx="2"/>
          </p:cNvCxnSpPr>
          <p:nvPr/>
        </p:nvCxnSpPr>
        <p:spPr>
          <a:xfrm rot="16200000" flipH="1">
            <a:off x="4546534" y="5159874"/>
            <a:ext cx="586301" cy="10063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 name="曲线连接符 208"/>
          <p:cNvCxnSpPr>
            <a:stCxn id="17" idx="0"/>
            <a:endCxn id="193" idx="4"/>
          </p:cNvCxnSpPr>
          <p:nvPr/>
        </p:nvCxnSpPr>
        <p:spPr>
          <a:xfrm rot="5400000" flipH="1" flipV="1">
            <a:off x="4384510" y="3649629"/>
            <a:ext cx="959751" cy="15003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17" name="椭圆 216"/>
          <p:cNvSpPr/>
          <p:nvPr/>
        </p:nvSpPr>
        <p:spPr>
          <a:xfrm>
            <a:off x="9347691" y="5104629"/>
            <a:ext cx="1934769"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8" name="文本框 217"/>
          <p:cNvSpPr txBox="1"/>
          <p:nvPr/>
        </p:nvSpPr>
        <p:spPr>
          <a:xfrm>
            <a:off x="9934479" y="5063001"/>
            <a:ext cx="853629" cy="307777"/>
          </a:xfrm>
          <a:prstGeom prst="rect">
            <a:avLst/>
          </a:prstGeom>
          <a:noFill/>
        </p:spPr>
        <p:txBody>
          <a:bodyPr wrap="square" rtlCol="0">
            <a:spAutoFit/>
          </a:bodyPr>
          <a:lstStyle/>
          <a:p>
            <a:r>
              <a:rPr lang="en-US" altLang="zh-CN" sz="1400" dirty="0">
                <a:solidFill>
                  <a:prstClr val="black"/>
                </a:solidFill>
              </a:rPr>
              <a:t>State 10</a:t>
            </a:r>
            <a:endParaRPr lang="zh-CN" altLang="en-US" sz="1400" dirty="0">
              <a:solidFill>
                <a:prstClr val="black"/>
              </a:solidFill>
            </a:endParaRPr>
          </a:p>
        </p:txBody>
      </p:sp>
      <p:sp>
        <p:nvSpPr>
          <p:cNvPr id="219" name="矩形 218"/>
          <p:cNvSpPr/>
          <p:nvPr/>
        </p:nvSpPr>
        <p:spPr>
          <a:xfrm>
            <a:off x="9419545" y="5264780"/>
            <a:ext cx="1862915"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RobotArm_producing</a:t>
            </a:r>
            <a:r>
              <a:rPr lang="en-US" altLang="zh-CN" sz="1200" kern="100" dirty="0">
                <a:solidFill>
                  <a:prstClr val="black"/>
                </a:solidFill>
                <a:cs typeface="Times New Roman" panose="02020603050405020304" pitchFamily="18" charset="0"/>
              </a:rPr>
              <a:t>(j, k)</a:t>
            </a:r>
            <a:endParaRPr lang="zh-CN" altLang="zh-CN" sz="1200" kern="100" dirty="0">
              <a:solidFill>
                <a:prstClr val="black"/>
              </a:solidFill>
              <a:cs typeface="Times New Roman" panose="02020603050405020304" pitchFamily="18" charset="0"/>
            </a:endParaRPr>
          </a:p>
        </p:txBody>
      </p:sp>
      <p:sp>
        <p:nvSpPr>
          <p:cNvPr id="222" name="椭圆 221"/>
          <p:cNvSpPr/>
          <p:nvPr/>
        </p:nvSpPr>
        <p:spPr>
          <a:xfrm>
            <a:off x="5728380" y="1009486"/>
            <a:ext cx="1505200"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3" name="文本框 222"/>
          <p:cNvSpPr txBox="1"/>
          <p:nvPr/>
        </p:nvSpPr>
        <p:spPr>
          <a:xfrm>
            <a:off x="6143332" y="961741"/>
            <a:ext cx="818139" cy="307777"/>
          </a:xfrm>
          <a:prstGeom prst="rect">
            <a:avLst/>
          </a:prstGeom>
          <a:noFill/>
        </p:spPr>
        <p:txBody>
          <a:bodyPr wrap="square" rtlCol="0">
            <a:spAutoFit/>
          </a:bodyPr>
          <a:lstStyle/>
          <a:p>
            <a:r>
              <a:rPr lang="en-US" altLang="zh-CN" sz="1400" dirty="0">
                <a:solidFill>
                  <a:prstClr val="black"/>
                </a:solidFill>
              </a:rPr>
              <a:t>State 15</a:t>
            </a:r>
            <a:endParaRPr lang="zh-CN" altLang="en-US" sz="1400" dirty="0">
              <a:solidFill>
                <a:prstClr val="black"/>
              </a:solidFill>
            </a:endParaRPr>
          </a:p>
        </p:txBody>
      </p:sp>
      <p:sp>
        <p:nvSpPr>
          <p:cNvPr id="224" name="矩形 223"/>
          <p:cNvSpPr/>
          <p:nvPr/>
        </p:nvSpPr>
        <p:spPr>
          <a:xfrm>
            <a:off x="5768231" y="1141239"/>
            <a:ext cx="1829616"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cxnSp>
        <p:nvCxnSpPr>
          <p:cNvPr id="225" name="曲线连接符 224"/>
          <p:cNvCxnSpPr>
            <a:stCxn id="194" idx="3"/>
            <a:endCxn id="222" idx="4"/>
          </p:cNvCxnSpPr>
          <p:nvPr/>
        </p:nvCxnSpPr>
        <p:spPr>
          <a:xfrm flipV="1">
            <a:off x="5604776" y="1722005"/>
            <a:ext cx="876204" cy="94006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0" name="椭圆 229"/>
          <p:cNvSpPr/>
          <p:nvPr/>
        </p:nvSpPr>
        <p:spPr>
          <a:xfrm>
            <a:off x="9885632" y="3164605"/>
            <a:ext cx="1679428" cy="7125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1" name="文本框 230"/>
          <p:cNvSpPr txBox="1"/>
          <p:nvPr/>
        </p:nvSpPr>
        <p:spPr>
          <a:xfrm>
            <a:off x="10357343" y="3133311"/>
            <a:ext cx="1039529" cy="307777"/>
          </a:xfrm>
          <a:prstGeom prst="rect">
            <a:avLst/>
          </a:prstGeom>
          <a:noFill/>
        </p:spPr>
        <p:txBody>
          <a:bodyPr wrap="square" rtlCol="0">
            <a:spAutoFit/>
          </a:bodyPr>
          <a:lstStyle/>
          <a:p>
            <a:r>
              <a:rPr lang="en-US" altLang="zh-CN" sz="1400" dirty="0">
                <a:solidFill>
                  <a:prstClr val="black"/>
                </a:solidFill>
              </a:rPr>
              <a:t>State 11</a:t>
            </a:r>
            <a:endParaRPr lang="zh-CN" altLang="en-US" sz="1400" dirty="0">
              <a:solidFill>
                <a:prstClr val="black"/>
              </a:solidFill>
            </a:endParaRPr>
          </a:p>
        </p:txBody>
      </p:sp>
      <p:sp>
        <p:nvSpPr>
          <p:cNvPr id="232" name="矩形 231"/>
          <p:cNvSpPr/>
          <p:nvPr/>
        </p:nvSpPr>
        <p:spPr>
          <a:xfrm>
            <a:off x="9976536" y="3325565"/>
            <a:ext cx="1548956" cy="461665"/>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r>
              <a:rPr lang="en-US" altLang="zh-CN" sz="1200" kern="100" dirty="0">
                <a:solidFill>
                  <a:prstClr val="black"/>
                </a:solidFill>
                <a:cs typeface="Times New Roman" panose="02020603050405020304" pitchFamily="18" charset="0"/>
              </a:rPr>
              <a:t>(</a:t>
            </a:r>
            <a:r>
              <a:rPr lang="en-US" altLang="zh-CN" sz="1200" kern="100" dirty="0" err="1">
                <a:solidFill>
                  <a:prstClr val="black"/>
                </a:solidFill>
                <a:cs typeface="Times New Roman" panose="02020603050405020304" pitchFamily="18" charset="0"/>
              </a:rPr>
              <a:t>i</a:t>
            </a:r>
            <a:r>
              <a:rPr lang="en-US" altLang="zh-CN" sz="1200" kern="100" dirty="0">
                <a:solidFill>
                  <a:prstClr val="black"/>
                </a:solidFill>
                <a:cs typeface="Times New Roman" panose="02020603050405020304" pitchFamily="18" charset="0"/>
              </a:rPr>
              <a:t>)</a:t>
            </a:r>
            <a:endParaRPr lang="zh-CN" altLang="zh-CN" sz="1200" kern="100" dirty="0">
              <a:solidFill>
                <a:prstClr val="black"/>
              </a:solidFill>
              <a:cs typeface="Times New Roman" panose="02020603050405020304" pitchFamily="18" charset="0"/>
            </a:endParaRPr>
          </a:p>
          <a:p>
            <a:pPr algn="just"/>
            <a:r>
              <a:rPr lang="en-US" altLang="zh-CN" sz="1200" kern="100" dirty="0" err="1">
                <a:solidFill>
                  <a:prstClr val="black"/>
                </a:solidFill>
                <a:cs typeface="Times New Roman" panose="02020603050405020304" pitchFamily="18" charset="0"/>
              </a:rPr>
              <a:t>RobotArm_idle</a:t>
            </a:r>
            <a:r>
              <a:rPr lang="en-US" altLang="zh-CN" sz="1200" kern="100" dirty="0">
                <a:solidFill>
                  <a:prstClr val="black"/>
                </a:solidFill>
                <a:cs typeface="Times New Roman" panose="02020603050405020304" pitchFamily="18" charset="0"/>
              </a:rPr>
              <a:t>(j)</a:t>
            </a:r>
            <a:endParaRPr lang="zh-CN" altLang="zh-CN" sz="1200" kern="100" dirty="0">
              <a:solidFill>
                <a:prstClr val="black"/>
              </a:solidFill>
              <a:cs typeface="Times New Roman" panose="02020603050405020304" pitchFamily="18" charset="0"/>
            </a:endParaRPr>
          </a:p>
        </p:txBody>
      </p:sp>
      <p:cxnSp>
        <p:nvCxnSpPr>
          <p:cNvPr id="234" name="曲线连接符 233"/>
          <p:cNvCxnSpPr>
            <a:stCxn id="128" idx="7"/>
            <a:endCxn id="230" idx="4"/>
          </p:cNvCxnSpPr>
          <p:nvPr/>
        </p:nvCxnSpPr>
        <p:spPr>
          <a:xfrm rot="5400000" flipH="1" flipV="1">
            <a:off x="10245977" y="3961744"/>
            <a:ext cx="563989" cy="39475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8" name="曲线连接符 237"/>
          <p:cNvCxnSpPr>
            <a:stCxn id="217" idx="6"/>
            <a:endCxn id="222" idx="7"/>
          </p:cNvCxnSpPr>
          <p:nvPr/>
        </p:nvCxnSpPr>
        <p:spPr>
          <a:xfrm flipH="1" flipV="1">
            <a:off x="7013149" y="1113832"/>
            <a:ext cx="4269311" cy="4347057"/>
          </a:xfrm>
          <a:prstGeom prst="curvedConnector4">
            <a:avLst>
              <a:gd name="adj1" fmla="val -7808"/>
              <a:gd name="adj2" fmla="val 9999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1" name="曲线连接符 240"/>
          <p:cNvCxnSpPr>
            <a:stCxn id="231" idx="3"/>
            <a:endCxn id="222" idx="6"/>
          </p:cNvCxnSpPr>
          <p:nvPr/>
        </p:nvCxnSpPr>
        <p:spPr>
          <a:xfrm flipH="1" flipV="1">
            <a:off x="7233580" y="1365746"/>
            <a:ext cx="4163292" cy="1921454"/>
          </a:xfrm>
          <a:prstGeom prst="curvedConnector3">
            <a:avLst>
              <a:gd name="adj1" fmla="val 59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0" name="曲线连接符 289"/>
          <p:cNvCxnSpPr>
            <a:stCxn id="222" idx="1"/>
            <a:endCxn id="4" idx="6"/>
          </p:cNvCxnSpPr>
          <p:nvPr/>
        </p:nvCxnSpPr>
        <p:spPr>
          <a:xfrm rot="16200000" flipV="1">
            <a:off x="5684798" y="849818"/>
            <a:ext cx="392977" cy="13505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文本框 157"/>
          <p:cNvSpPr txBox="1"/>
          <p:nvPr/>
        </p:nvSpPr>
        <p:spPr>
          <a:xfrm>
            <a:off x="4035554" y="3438262"/>
            <a:ext cx="2459213" cy="310104"/>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391" name="文本框 390"/>
          <p:cNvSpPr txBox="1"/>
          <p:nvPr/>
        </p:nvSpPr>
        <p:spPr>
          <a:xfrm>
            <a:off x="3111026" y="5001141"/>
            <a:ext cx="1941715"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 (AGV)</a:t>
            </a:r>
            <a:endParaRPr lang="zh-CN" altLang="en-US" sz="1400" dirty="0">
              <a:solidFill>
                <a:srgbClr val="5B9BD5">
                  <a:lumMod val="75000"/>
                </a:srgbClr>
              </a:solidFill>
            </a:endParaRPr>
          </a:p>
        </p:txBody>
      </p:sp>
      <p:sp>
        <p:nvSpPr>
          <p:cNvPr id="396" name="文本框 395"/>
          <p:cNvSpPr txBox="1"/>
          <p:nvPr/>
        </p:nvSpPr>
        <p:spPr>
          <a:xfrm>
            <a:off x="4363499" y="2069427"/>
            <a:ext cx="1941715"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 (AGV)</a:t>
            </a:r>
            <a:endParaRPr lang="zh-CN" altLang="en-US" sz="1400" dirty="0">
              <a:solidFill>
                <a:srgbClr val="5B9BD5">
                  <a:lumMod val="75000"/>
                </a:srgbClr>
              </a:solidFill>
            </a:endParaRPr>
          </a:p>
        </p:txBody>
      </p:sp>
      <p:sp>
        <p:nvSpPr>
          <p:cNvPr id="412" name="文本框 411"/>
          <p:cNvSpPr txBox="1"/>
          <p:nvPr/>
        </p:nvSpPr>
        <p:spPr>
          <a:xfrm>
            <a:off x="5820483" y="2733464"/>
            <a:ext cx="2455351" cy="310104"/>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424" name="文本框 423"/>
          <p:cNvSpPr txBox="1"/>
          <p:nvPr/>
        </p:nvSpPr>
        <p:spPr>
          <a:xfrm>
            <a:off x="7456435" y="5069702"/>
            <a:ext cx="1813459"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 (AGV)</a:t>
            </a:r>
            <a:endParaRPr lang="zh-CN" altLang="en-US" sz="1400" dirty="0">
              <a:solidFill>
                <a:srgbClr val="5B9BD5">
                  <a:lumMod val="75000"/>
                </a:srgbClr>
              </a:solidFill>
            </a:endParaRPr>
          </a:p>
        </p:txBody>
      </p:sp>
      <p:sp>
        <p:nvSpPr>
          <p:cNvPr id="430" name="文本框 429"/>
          <p:cNvSpPr txBox="1"/>
          <p:nvPr/>
        </p:nvSpPr>
        <p:spPr>
          <a:xfrm>
            <a:off x="9030613" y="4017637"/>
            <a:ext cx="2459213" cy="310104"/>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435" name="文本框 434"/>
          <p:cNvSpPr txBox="1"/>
          <p:nvPr/>
        </p:nvSpPr>
        <p:spPr>
          <a:xfrm>
            <a:off x="9294644" y="2691136"/>
            <a:ext cx="1839393"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 (AGV)</a:t>
            </a:r>
            <a:endParaRPr lang="zh-CN" altLang="en-US" sz="1400" dirty="0">
              <a:solidFill>
                <a:srgbClr val="5B9BD5">
                  <a:lumMod val="75000"/>
                </a:srgbClr>
              </a:solidFill>
            </a:endParaRPr>
          </a:p>
        </p:txBody>
      </p:sp>
      <p:sp>
        <p:nvSpPr>
          <p:cNvPr id="467" name="文本框 466"/>
          <p:cNvSpPr txBox="1"/>
          <p:nvPr/>
        </p:nvSpPr>
        <p:spPr>
          <a:xfrm>
            <a:off x="7902517" y="1239104"/>
            <a:ext cx="1872072"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AGVArrivalOrigin</a:t>
            </a:r>
            <a:r>
              <a:rPr lang="en-US" altLang="zh-CN" sz="1400" dirty="0">
                <a:solidFill>
                  <a:srgbClr val="5B9BD5">
                    <a:lumMod val="75000"/>
                  </a:srgbClr>
                </a:solidFill>
              </a:rPr>
              <a:t>(AGV)</a:t>
            </a:r>
            <a:endParaRPr lang="zh-CN" altLang="en-US" sz="1400" dirty="0">
              <a:solidFill>
                <a:srgbClr val="5B9BD5">
                  <a:lumMod val="75000"/>
                </a:srgbClr>
              </a:solidFill>
            </a:endParaRPr>
          </a:p>
        </p:txBody>
      </p:sp>
      <p:sp>
        <p:nvSpPr>
          <p:cNvPr id="170" name="文本框 169"/>
          <p:cNvSpPr txBox="1"/>
          <p:nvPr/>
        </p:nvSpPr>
        <p:spPr>
          <a:xfrm>
            <a:off x="8964067" y="906601"/>
            <a:ext cx="2453424"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RobotArmTaskDone</a:t>
            </a:r>
            <a:r>
              <a:rPr lang="en-US" altLang="zh-CN" sz="1400" dirty="0">
                <a:solidFill>
                  <a:srgbClr val="5B9BD5">
                    <a:lumMod val="75000"/>
                  </a:srgbClr>
                </a:solidFill>
              </a:rPr>
              <a:t>(</a:t>
            </a:r>
            <a:r>
              <a:rPr lang="en-US" altLang="zh-CN" sz="1400" dirty="0" err="1">
                <a:solidFill>
                  <a:srgbClr val="5B9BD5">
                    <a:lumMod val="75000"/>
                  </a:srgbClr>
                </a:solidFill>
              </a:rPr>
              <a:t>RobotArm</a:t>
            </a:r>
            <a:r>
              <a:rPr lang="en-US" altLang="zh-CN" sz="1400" dirty="0">
                <a:solidFill>
                  <a:srgbClr val="5B9BD5">
                    <a:lumMod val="75000"/>
                  </a:srgbClr>
                </a:solidFill>
              </a:rPr>
              <a:t>)</a:t>
            </a:r>
          </a:p>
        </p:txBody>
      </p:sp>
      <p:sp>
        <p:nvSpPr>
          <p:cNvPr id="537" name="文本框 536"/>
          <p:cNvSpPr txBox="1"/>
          <p:nvPr/>
        </p:nvSpPr>
        <p:spPr>
          <a:xfrm>
            <a:off x="5914386" y="540181"/>
            <a:ext cx="1902591" cy="307777"/>
          </a:xfrm>
          <a:prstGeom prst="rect">
            <a:avLst/>
          </a:prstGeom>
          <a:solidFill>
            <a:schemeClr val="bg1"/>
          </a:solidFill>
        </p:spPr>
        <p:txBody>
          <a:bodyPr wrap="square" rtlCol="0">
            <a:spAutoFit/>
          </a:bodyPr>
          <a:lstStyle/>
          <a:p>
            <a:r>
              <a:rPr lang="en-US" altLang="zh-CN" sz="1400" dirty="0" err="1">
                <a:solidFill>
                  <a:srgbClr val="5B9BD5">
                    <a:lumMod val="75000"/>
                  </a:srgbClr>
                </a:solidFill>
              </a:rPr>
              <a:t>StatusAutoChange</a:t>
            </a:r>
            <a:r>
              <a:rPr lang="en-US" altLang="zh-CN" sz="1400" dirty="0">
                <a:solidFill>
                  <a:srgbClr val="5B9BD5">
                    <a:lumMod val="75000"/>
                  </a:srgbClr>
                </a:solidFill>
              </a:rPr>
              <a:t>(AGV)</a:t>
            </a:r>
            <a:endParaRPr lang="zh-CN" altLang="en-US" sz="1400" dirty="0">
              <a:solidFill>
                <a:srgbClr val="5B9BD5">
                  <a:lumMod val="75000"/>
                </a:srgbClr>
              </a:solidFill>
            </a:endParaRPr>
          </a:p>
        </p:txBody>
      </p:sp>
    </p:spTree>
    <p:extLst>
      <p:ext uri="{BB962C8B-B14F-4D97-AF65-F5344CB8AC3E}">
        <p14:creationId xmlns:p14="http://schemas.microsoft.com/office/powerpoint/2010/main" val="405118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2292" y="1246800"/>
            <a:ext cx="4852015" cy="4059600"/>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9470" y="2637970"/>
            <a:ext cx="834390" cy="83439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96814" y="2637970"/>
            <a:ext cx="834390" cy="834390"/>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8439" y="2637970"/>
            <a:ext cx="834390" cy="83439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31385" y="1860709"/>
            <a:ext cx="456806" cy="306230"/>
          </a:xfrm>
          <a:prstGeom prst="rect">
            <a:avLst/>
          </a:prstGeom>
        </p:spPr>
      </p:pic>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65724" y="1860709"/>
            <a:ext cx="456806" cy="306230"/>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07682" y="1860709"/>
            <a:ext cx="456806" cy="306230"/>
          </a:xfrm>
          <a:prstGeom prst="rect">
            <a:avLst/>
          </a:prstGeom>
        </p:spPr>
      </p:pic>
      <p:sp>
        <p:nvSpPr>
          <p:cNvPr id="15" name="server_159296">
            <a:extLst>
              <a:ext uri="{FF2B5EF4-FFF2-40B4-BE49-F238E27FC236}">
                <a16:creationId xmlns="" xmlns:a16="http://schemas.microsoft.com/office/drawing/2014/main" id="{54405246-CCE2-4201-BBB1-D3F3EB6E740D}"/>
              </a:ext>
            </a:extLst>
          </p:cNvPr>
          <p:cNvSpPr/>
          <p:nvPr/>
        </p:nvSpPr>
        <p:spPr>
          <a:xfrm>
            <a:off x="7315824" y="1261337"/>
            <a:ext cx="546643" cy="570238"/>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7" name="iconfont-11607-6150960">
            <a:extLst>
              <a:ext uri="{FF2B5EF4-FFF2-40B4-BE49-F238E27FC236}">
                <a16:creationId xmlns="" xmlns:a16="http://schemas.microsoft.com/office/drawing/2014/main" id="{54405246-CCE2-4201-BBB1-D3F3EB6E740D}"/>
              </a:ext>
            </a:extLst>
          </p:cNvPr>
          <p:cNvSpPr/>
          <p:nvPr/>
        </p:nvSpPr>
        <p:spPr>
          <a:xfrm>
            <a:off x="6775670" y="2787650"/>
            <a:ext cx="307753" cy="187176"/>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iconfont-11607-6150960">
            <a:extLst>
              <a:ext uri="{FF2B5EF4-FFF2-40B4-BE49-F238E27FC236}">
                <a16:creationId xmlns="" xmlns:a16="http://schemas.microsoft.com/office/drawing/2014/main" id="{54405246-CCE2-4201-BBB1-D3F3EB6E740D}"/>
              </a:ext>
            </a:extLst>
          </p:cNvPr>
          <p:cNvSpPr/>
          <p:nvPr/>
        </p:nvSpPr>
        <p:spPr>
          <a:xfrm>
            <a:off x="5142020" y="2787650"/>
            <a:ext cx="307753" cy="187176"/>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iconfont-11607-6150960">
            <a:extLst>
              <a:ext uri="{FF2B5EF4-FFF2-40B4-BE49-F238E27FC236}">
                <a16:creationId xmlns="" xmlns:a16="http://schemas.microsoft.com/office/drawing/2014/main" id="{54405246-CCE2-4201-BBB1-D3F3EB6E740D}"/>
              </a:ext>
            </a:extLst>
          </p:cNvPr>
          <p:cNvSpPr/>
          <p:nvPr/>
        </p:nvSpPr>
        <p:spPr>
          <a:xfrm>
            <a:off x="3556108" y="2787650"/>
            <a:ext cx="307753" cy="187176"/>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iconfont-11607-6150960">
            <a:extLst>
              <a:ext uri="{FF2B5EF4-FFF2-40B4-BE49-F238E27FC236}">
                <a16:creationId xmlns="" xmlns:a16="http://schemas.microsoft.com/office/drawing/2014/main" id="{54405246-CCE2-4201-BBB1-D3F3EB6E740D}"/>
              </a:ext>
            </a:extLst>
          </p:cNvPr>
          <p:cNvSpPr/>
          <p:nvPr/>
        </p:nvSpPr>
        <p:spPr>
          <a:xfrm>
            <a:off x="4802102" y="1712600"/>
            <a:ext cx="307753" cy="185260"/>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iconfont-11607-6150960">
            <a:extLst>
              <a:ext uri="{FF2B5EF4-FFF2-40B4-BE49-F238E27FC236}">
                <a16:creationId xmlns="" xmlns:a16="http://schemas.microsoft.com/office/drawing/2014/main" id="{54405246-CCE2-4201-BBB1-D3F3EB6E740D}"/>
              </a:ext>
            </a:extLst>
          </p:cNvPr>
          <p:cNvSpPr/>
          <p:nvPr/>
        </p:nvSpPr>
        <p:spPr>
          <a:xfrm>
            <a:off x="5254187" y="1712600"/>
            <a:ext cx="307753" cy="185260"/>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iconfont-11607-6150960">
            <a:extLst>
              <a:ext uri="{FF2B5EF4-FFF2-40B4-BE49-F238E27FC236}">
                <a16:creationId xmlns="" xmlns:a16="http://schemas.microsoft.com/office/drawing/2014/main" id="{54405246-CCE2-4201-BBB1-D3F3EB6E740D}"/>
              </a:ext>
            </a:extLst>
          </p:cNvPr>
          <p:cNvSpPr/>
          <p:nvPr/>
        </p:nvSpPr>
        <p:spPr>
          <a:xfrm>
            <a:off x="5688110" y="1712600"/>
            <a:ext cx="307753" cy="185260"/>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iconfont-11607-6150960">
            <a:extLst>
              <a:ext uri="{FF2B5EF4-FFF2-40B4-BE49-F238E27FC236}">
                <a16:creationId xmlns="" xmlns:a16="http://schemas.microsoft.com/office/drawing/2014/main" id="{54405246-CCE2-4201-BBB1-D3F3EB6E740D}"/>
              </a:ext>
            </a:extLst>
          </p:cNvPr>
          <p:cNvSpPr/>
          <p:nvPr/>
        </p:nvSpPr>
        <p:spPr>
          <a:xfrm rot="13635841">
            <a:off x="7179909" y="1762923"/>
            <a:ext cx="307753" cy="236087"/>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0" name="图片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48077" y="2145165"/>
            <a:ext cx="553144" cy="603430"/>
          </a:xfrm>
          <a:prstGeom prst="rect">
            <a:avLst/>
          </a:prstGeom>
        </p:spPr>
      </p:pic>
      <p:cxnSp>
        <p:nvCxnSpPr>
          <p:cNvPr id="32" name="直接箭头连接符 31"/>
          <p:cNvCxnSpPr/>
          <p:nvPr/>
        </p:nvCxnSpPr>
        <p:spPr>
          <a:xfrm>
            <a:off x="7524911" y="2315184"/>
            <a:ext cx="3950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a:off x="7524911" y="2458059"/>
            <a:ext cx="3950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iconfont-11607-6150960">
            <a:extLst>
              <a:ext uri="{FF2B5EF4-FFF2-40B4-BE49-F238E27FC236}">
                <a16:creationId xmlns="" xmlns:a16="http://schemas.microsoft.com/office/drawing/2014/main" id="{54405246-CCE2-4201-BBB1-D3F3EB6E740D}"/>
              </a:ext>
            </a:extLst>
          </p:cNvPr>
          <p:cNvSpPr/>
          <p:nvPr/>
        </p:nvSpPr>
        <p:spPr>
          <a:xfrm rot="16200000">
            <a:off x="7179909" y="2272385"/>
            <a:ext cx="307753" cy="236087"/>
          </a:xfrm>
          <a:custGeom>
            <a:avLst/>
            <a:gdLst>
              <a:gd name="T0" fmla="*/ 0 w 12800"/>
              <a:gd name="T1" fmla="*/ 3747 h 10537"/>
              <a:gd name="T2" fmla="*/ 1164 w 12800"/>
              <a:gd name="T3" fmla="*/ 4982 h 10537"/>
              <a:gd name="T4" fmla="*/ 11636 w 12800"/>
              <a:gd name="T5" fmla="*/ 4982 h 10537"/>
              <a:gd name="T6" fmla="*/ 12800 w 12800"/>
              <a:gd name="T7" fmla="*/ 3747 h 10537"/>
              <a:gd name="T8" fmla="*/ 0 w 12800"/>
              <a:gd name="T9" fmla="*/ 3747 h 10537"/>
              <a:gd name="T10" fmla="*/ 4654 w 12800"/>
              <a:gd name="T11" fmla="*/ 8685 h 10537"/>
              <a:gd name="T12" fmla="*/ 6400 w 12800"/>
              <a:gd name="T13" fmla="*/ 10537 h 10537"/>
              <a:gd name="T14" fmla="*/ 8146 w 12800"/>
              <a:gd name="T15" fmla="*/ 8685 h 10537"/>
              <a:gd name="T16" fmla="*/ 4654 w 12800"/>
              <a:gd name="T17" fmla="*/ 8685 h 10537"/>
              <a:gd name="T18" fmla="*/ 2328 w 12800"/>
              <a:gd name="T19" fmla="*/ 6217 h 10537"/>
              <a:gd name="T20" fmla="*/ 3492 w 12800"/>
              <a:gd name="T21" fmla="*/ 7451 h 10537"/>
              <a:gd name="T22" fmla="*/ 9310 w 12800"/>
              <a:gd name="T23" fmla="*/ 7451 h 10537"/>
              <a:gd name="T24" fmla="*/ 10473 w 12800"/>
              <a:gd name="T25" fmla="*/ 6217 h 10537"/>
              <a:gd name="T26" fmla="*/ 2327 w 12800"/>
              <a:gd name="T27" fmla="*/ 6217 h 10537"/>
              <a:gd name="T28" fmla="*/ 2328 w 12800"/>
              <a:gd name="T29" fmla="*/ 6217 h 10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800" h="10537">
                <a:moveTo>
                  <a:pt x="0" y="3747"/>
                </a:moveTo>
                <a:lnTo>
                  <a:pt x="1164" y="4982"/>
                </a:lnTo>
                <a:cubicBezTo>
                  <a:pt x="4055" y="1914"/>
                  <a:pt x="8745" y="1914"/>
                  <a:pt x="11636" y="4982"/>
                </a:cubicBezTo>
                <a:lnTo>
                  <a:pt x="12800" y="3747"/>
                </a:lnTo>
                <a:cubicBezTo>
                  <a:pt x="9268" y="0"/>
                  <a:pt x="3538" y="0"/>
                  <a:pt x="0" y="3747"/>
                </a:cubicBezTo>
                <a:close/>
                <a:moveTo>
                  <a:pt x="4654" y="8685"/>
                </a:moveTo>
                <a:lnTo>
                  <a:pt x="6400" y="10537"/>
                </a:lnTo>
                <a:lnTo>
                  <a:pt x="8146" y="8685"/>
                </a:lnTo>
                <a:cubicBezTo>
                  <a:pt x="7186" y="7661"/>
                  <a:pt x="5620" y="7661"/>
                  <a:pt x="4654" y="8685"/>
                </a:cubicBezTo>
                <a:close/>
                <a:moveTo>
                  <a:pt x="2328" y="6217"/>
                </a:moveTo>
                <a:lnTo>
                  <a:pt x="3492" y="7451"/>
                </a:lnTo>
                <a:cubicBezTo>
                  <a:pt x="5098" y="5747"/>
                  <a:pt x="7704" y="5747"/>
                  <a:pt x="9310" y="7451"/>
                </a:cubicBezTo>
                <a:lnTo>
                  <a:pt x="10473" y="6217"/>
                </a:lnTo>
                <a:cubicBezTo>
                  <a:pt x="8227" y="3835"/>
                  <a:pt x="4579" y="3835"/>
                  <a:pt x="2327" y="6217"/>
                </a:cubicBezTo>
                <a:lnTo>
                  <a:pt x="2328" y="62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2" name="文本框 41"/>
          <p:cNvSpPr txBox="1"/>
          <p:nvPr/>
        </p:nvSpPr>
        <p:spPr>
          <a:xfrm>
            <a:off x="2920693" y="2821740"/>
            <a:ext cx="1039529" cy="584775"/>
          </a:xfrm>
          <a:prstGeom prst="rect">
            <a:avLst/>
          </a:prstGeom>
          <a:noFill/>
        </p:spPr>
        <p:txBody>
          <a:bodyPr wrap="square" rtlCol="0">
            <a:spAutoFit/>
          </a:bodyPr>
          <a:lstStyle/>
          <a:p>
            <a:r>
              <a:rPr lang="en-US" altLang="zh-CN" sz="1600" dirty="0">
                <a:solidFill>
                  <a:prstClr val="black"/>
                </a:solidFill>
              </a:rPr>
              <a:t>Robot</a:t>
            </a:r>
          </a:p>
          <a:p>
            <a:r>
              <a:rPr lang="en-US" altLang="zh-CN" sz="1600" dirty="0">
                <a:solidFill>
                  <a:prstClr val="black"/>
                </a:solidFill>
              </a:rPr>
              <a:t>Arm</a:t>
            </a:r>
            <a:endParaRPr lang="zh-CN" altLang="en-US" sz="1600" dirty="0">
              <a:solidFill>
                <a:prstClr val="black"/>
              </a:solidFill>
            </a:endParaRPr>
          </a:p>
        </p:txBody>
      </p:sp>
      <p:sp>
        <p:nvSpPr>
          <p:cNvPr id="43" name="文本框 42"/>
          <p:cNvSpPr txBox="1"/>
          <p:nvPr/>
        </p:nvSpPr>
        <p:spPr>
          <a:xfrm>
            <a:off x="3241732" y="1722363"/>
            <a:ext cx="1039529" cy="338554"/>
          </a:xfrm>
          <a:prstGeom prst="rect">
            <a:avLst/>
          </a:prstGeom>
          <a:noFill/>
        </p:spPr>
        <p:txBody>
          <a:bodyPr wrap="square" rtlCol="0">
            <a:spAutoFit/>
          </a:bodyPr>
          <a:lstStyle/>
          <a:p>
            <a:r>
              <a:rPr lang="en-US" altLang="zh-CN" sz="1600" dirty="0">
                <a:solidFill>
                  <a:prstClr val="black"/>
                </a:solidFill>
              </a:rPr>
              <a:t>AGV</a:t>
            </a:r>
            <a:endParaRPr lang="zh-CN" altLang="en-US" sz="1600" dirty="0">
              <a:solidFill>
                <a:prstClr val="black"/>
              </a:solidFill>
            </a:endParaRPr>
          </a:p>
        </p:txBody>
      </p:sp>
      <p:sp>
        <p:nvSpPr>
          <p:cNvPr id="44" name="文本框 43"/>
          <p:cNvSpPr txBox="1"/>
          <p:nvPr/>
        </p:nvSpPr>
        <p:spPr>
          <a:xfrm>
            <a:off x="7848077" y="1246800"/>
            <a:ext cx="1113261" cy="584775"/>
          </a:xfrm>
          <a:prstGeom prst="rect">
            <a:avLst/>
          </a:prstGeom>
          <a:noFill/>
        </p:spPr>
        <p:txBody>
          <a:bodyPr wrap="square" rtlCol="0">
            <a:spAutoFit/>
          </a:bodyPr>
          <a:lstStyle/>
          <a:p>
            <a:r>
              <a:rPr lang="en-US" altLang="zh-CN" sz="1600" dirty="0">
                <a:solidFill>
                  <a:prstClr val="black"/>
                </a:solidFill>
              </a:rPr>
              <a:t>Scheduling System</a:t>
            </a:r>
            <a:endParaRPr lang="zh-CN" altLang="en-US" sz="1600" dirty="0">
              <a:solidFill>
                <a:prstClr val="black"/>
              </a:solidFill>
            </a:endParaRPr>
          </a:p>
        </p:txBody>
      </p:sp>
      <p:sp>
        <p:nvSpPr>
          <p:cNvPr id="45" name="文本框 44"/>
          <p:cNvSpPr txBox="1"/>
          <p:nvPr/>
        </p:nvSpPr>
        <p:spPr>
          <a:xfrm>
            <a:off x="8167756" y="2348493"/>
            <a:ext cx="1113261" cy="338554"/>
          </a:xfrm>
          <a:prstGeom prst="rect">
            <a:avLst/>
          </a:prstGeom>
          <a:noFill/>
        </p:spPr>
        <p:txBody>
          <a:bodyPr wrap="square" rtlCol="0">
            <a:spAutoFit/>
          </a:bodyPr>
          <a:lstStyle/>
          <a:p>
            <a:r>
              <a:rPr lang="en-US" altLang="zh-CN" sz="1600" dirty="0">
                <a:solidFill>
                  <a:prstClr val="black"/>
                </a:solidFill>
              </a:rPr>
              <a:t>Attacker</a:t>
            </a:r>
            <a:endParaRPr lang="zh-CN" altLang="en-US" sz="1600" dirty="0">
              <a:solidFill>
                <a:prstClr val="black"/>
              </a:solidFill>
            </a:endParaRPr>
          </a:p>
        </p:txBody>
      </p:sp>
    </p:spTree>
    <p:custDataLst>
      <p:tags r:id="rId1"/>
    </p:custDataLst>
    <p:extLst>
      <p:ext uri="{BB962C8B-B14F-4D97-AF65-F5344CB8AC3E}">
        <p14:creationId xmlns:p14="http://schemas.microsoft.com/office/powerpoint/2010/main" val="94954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9">
            <a:extLst>
              <a:ext uri="{FF2B5EF4-FFF2-40B4-BE49-F238E27FC236}">
                <a16:creationId xmlns="" xmlns:a16="http://schemas.microsoft.com/office/drawing/2014/main" id="{8003C182-0E39-265D-74F0-261332319977}"/>
              </a:ext>
            </a:extLst>
          </p:cNvPr>
          <p:cNvSpPr txBox="1"/>
          <p:nvPr/>
        </p:nvSpPr>
        <p:spPr>
          <a:xfrm>
            <a:off x="5022281" y="537724"/>
            <a:ext cx="2057060" cy="369332"/>
          </a:xfrm>
          <a:prstGeom prst="rect">
            <a:avLst/>
          </a:prstGeom>
          <a:noFill/>
        </p:spPr>
        <p:txBody>
          <a:bodyPr wrap="square" rtlCol="0">
            <a:spAutoFit/>
          </a:bodyPr>
          <a:lstStyle/>
          <a:p>
            <a:r>
              <a:rPr lang="zh-CN" altLang="en-US" b="1" dirty="0"/>
              <a:t>调度系统</a:t>
            </a:r>
          </a:p>
        </p:txBody>
      </p:sp>
      <p:pic>
        <p:nvPicPr>
          <p:cNvPr id="5" name="图片 12">
            <a:extLst>
              <a:ext uri="{FF2B5EF4-FFF2-40B4-BE49-F238E27FC236}">
                <a16:creationId xmlns="" xmlns:a16="http://schemas.microsoft.com/office/drawing/2014/main" id="{88EBE369-3889-3BE5-147C-8D65A82323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35371" y="2229131"/>
            <a:ext cx="834390" cy="834390"/>
          </a:xfrm>
          <a:prstGeom prst="rect">
            <a:avLst/>
          </a:prstGeom>
        </p:spPr>
      </p:pic>
      <p:pic>
        <p:nvPicPr>
          <p:cNvPr id="6" name="图片 13">
            <a:extLst>
              <a:ext uri="{FF2B5EF4-FFF2-40B4-BE49-F238E27FC236}">
                <a16:creationId xmlns="" xmlns:a16="http://schemas.microsoft.com/office/drawing/2014/main" id="{5D73A678-9042-DA8E-9C24-069A928048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2222779"/>
            <a:ext cx="834390" cy="834390"/>
          </a:xfrm>
          <a:prstGeom prst="rect">
            <a:avLst/>
          </a:prstGeom>
        </p:spPr>
      </p:pic>
      <p:pic>
        <p:nvPicPr>
          <p:cNvPr id="7" name="图片 14">
            <a:extLst>
              <a:ext uri="{FF2B5EF4-FFF2-40B4-BE49-F238E27FC236}">
                <a16:creationId xmlns="" xmlns:a16="http://schemas.microsoft.com/office/drawing/2014/main" id="{D59AEDC4-B003-61F5-A4DD-81358025B8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85827" y="2229131"/>
            <a:ext cx="834390" cy="834390"/>
          </a:xfrm>
          <a:prstGeom prst="rect">
            <a:avLst/>
          </a:prstGeom>
        </p:spPr>
      </p:pic>
      <p:pic>
        <p:nvPicPr>
          <p:cNvPr id="8" name="图片 15">
            <a:extLst>
              <a:ext uri="{FF2B5EF4-FFF2-40B4-BE49-F238E27FC236}">
                <a16:creationId xmlns="" xmlns:a16="http://schemas.microsoft.com/office/drawing/2014/main" id="{DA254F59-6A90-D30E-B337-5B38095855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9001" y="2408248"/>
            <a:ext cx="456806" cy="306230"/>
          </a:xfrm>
          <a:prstGeom prst="rect">
            <a:avLst/>
          </a:prstGeom>
        </p:spPr>
      </p:pic>
      <p:pic>
        <p:nvPicPr>
          <p:cNvPr id="9" name="图片 16">
            <a:extLst>
              <a:ext uri="{FF2B5EF4-FFF2-40B4-BE49-F238E27FC236}">
                <a16:creationId xmlns="" xmlns:a16="http://schemas.microsoft.com/office/drawing/2014/main" id="{3AFD178A-B255-5440-E6F8-3C01AE8F5D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3340" y="2408248"/>
            <a:ext cx="456806" cy="306230"/>
          </a:xfrm>
          <a:prstGeom prst="rect">
            <a:avLst/>
          </a:prstGeom>
        </p:spPr>
      </p:pic>
      <p:pic>
        <p:nvPicPr>
          <p:cNvPr id="10" name="图片 17">
            <a:extLst>
              <a:ext uri="{FF2B5EF4-FFF2-40B4-BE49-F238E27FC236}">
                <a16:creationId xmlns="" xmlns:a16="http://schemas.microsoft.com/office/drawing/2014/main" id="{608C8C97-401E-761A-7678-3CD12609C2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5298" y="2408248"/>
            <a:ext cx="456806" cy="306230"/>
          </a:xfrm>
          <a:prstGeom prst="rect">
            <a:avLst/>
          </a:prstGeom>
        </p:spPr>
      </p:pic>
      <p:sp>
        <p:nvSpPr>
          <p:cNvPr id="11" name="server_159296">
            <a:extLst>
              <a:ext uri="{FF2B5EF4-FFF2-40B4-BE49-F238E27FC236}">
                <a16:creationId xmlns="" xmlns:a16="http://schemas.microsoft.com/office/drawing/2014/main" id="{0AC54166-DADA-A3C9-1346-DE0394C1CD4A}"/>
              </a:ext>
            </a:extLst>
          </p:cNvPr>
          <p:cNvSpPr/>
          <p:nvPr/>
        </p:nvSpPr>
        <p:spPr>
          <a:xfrm>
            <a:off x="4352964" y="380501"/>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文本框 89">
            <a:extLst>
              <a:ext uri="{FF2B5EF4-FFF2-40B4-BE49-F238E27FC236}">
                <a16:creationId xmlns="" xmlns:a16="http://schemas.microsoft.com/office/drawing/2014/main" id="{A42F0682-D69C-6C5F-B07B-F49B966750A4}"/>
              </a:ext>
            </a:extLst>
          </p:cNvPr>
          <p:cNvSpPr txBox="1"/>
          <p:nvPr/>
        </p:nvSpPr>
        <p:spPr>
          <a:xfrm>
            <a:off x="4790087" y="1077018"/>
            <a:ext cx="2469756" cy="523220"/>
          </a:xfrm>
          <a:prstGeom prst="rect">
            <a:avLst/>
          </a:prstGeom>
          <a:noFill/>
        </p:spPr>
        <p:txBody>
          <a:bodyPr wrap="square" rtlCol="0">
            <a:spAutoFit/>
          </a:bodyPr>
          <a:lstStyle/>
          <a:p>
            <a:r>
              <a:rPr lang="zh-CN" altLang="en-US" sz="1400" b="1" dirty="0">
                <a:solidFill>
                  <a:prstClr val="black"/>
                </a:solidFill>
              </a:rPr>
              <a:t>请求</a:t>
            </a:r>
            <a:r>
              <a:rPr lang="en-US" altLang="zh-CN" sz="1400" b="1" dirty="0">
                <a:solidFill>
                  <a:prstClr val="black"/>
                </a:solidFill>
              </a:rPr>
              <a:t>/</a:t>
            </a:r>
            <a:r>
              <a:rPr lang="zh-CN" altLang="en-US" sz="1400" b="1" dirty="0">
                <a:solidFill>
                  <a:prstClr val="black"/>
                </a:solidFill>
              </a:rPr>
              <a:t>安排任务给</a:t>
            </a:r>
            <a:r>
              <a:rPr lang="en-US" altLang="zh-CN" sz="1400" b="1" dirty="0">
                <a:solidFill>
                  <a:prstClr val="black"/>
                </a:solidFill>
              </a:rPr>
              <a:t>AGV</a:t>
            </a:r>
            <a:r>
              <a:rPr lang="zh-CN" altLang="en-US" sz="1400" b="1" dirty="0">
                <a:solidFill>
                  <a:prstClr val="black"/>
                </a:solidFill>
              </a:rPr>
              <a:t>和</a:t>
            </a:r>
            <a:r>
              <a:rPr lang="en-US" altLang="zh-CN" sz="1400" b="1" dirty="0">
                <a:solidFill>
                  <a:prstClr val="black"/>
                </a:solidFill>
              </a:rPr>
              <a:t>Robot Arm</a:t>
            </a:r>
            <a:r>
              <a:rPr lang="zh-CN" altLang="en-US" sz="1400" b="1" dirty="0">
                <a:solidFill>
                  <a:prstClr val="black"/>
                </a:solidFill>
              </a:rPr>
              <a:t>，得到响应</a:t>
            </a:r>
            <a:r>
              <a:rPr lang="en-US" altLang="zh-CN" sz="1400" b="1" dirty="0">
                <a:solidFill>
                  <a:prstClr val="black"/>
                </a:solidFill>
              </a:rPr>
              <a:t>/</a:t>
            </a:r>
            <a:r>
              <a:rPr lang="zh-CN" altLang="en-US" sz="1400" b="1" dirty="0">
                <a:solidFill>
                  <a:prstClr val="black"/>
                </a:solidFill>
              </a:rPr>
              <a:t>反馈</a:t>
            </a:r>
          </a:p>
        </p:txBody>
      </p:sp>
      <p:grpSp>
        <p:nvGrpSpPr>
          <p:cNvPr id="13" name="组合 103">
            <a:extLst>
              <a:ext uri="{FF2B5EF4-FFF2-40B4-BE49-F238E27FC236}">
                <a16:creationId xmlns="" xmlns:a16="http://schemas.microsoft.com/office/drawing/2014/main" id="{94F76CC1-EB87-ADD7-8928-F69C497F9C82}"/>
              </a:ext>
            </a:extLst>
          </p:cNvPr>
          <p:cNvGrpSpPr/>
          <p:nvPr/>
        </p:nvGrpSpPr>
        <p:grpSpPr>
          <a:xfrm>
            <a:off x="3122084" y="591058"/>
            <a:ext cx="587429" cy="714376"/>
            <a:chOff x="1323750" y="1400532"/>
            <a:chExt cx="1007244" cy="1354959"/>
          </a:xfrm>
        </p:grpSpPr>
        <p:sp>
          <p:nvSpPr>
            <p:cNvPr id="14" name="矩形 104">
              <a:extLst>
                <a:ext uri="{FF2B5EF4-FFF2-40B4-BE49-F238E27FC236}">
                  <a16:creationId xmlns="" xmlns:a16="http://schemas.microsoft.com/office/drawing/2014/main" id="{AEF66C0B-4822-D3CB-14F9-322F658F3C2B}"/>
                </a:ext>
              </a:extLst>
            </p:cNvPr>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05">
              <a:extLst>
                <a:ext uri="{FF2B5EF4-FFF2-40B4-BE49-F238E27FC236}">
                  <a16:creationId xmlns="" xmlns:a16="http://schemas.microsoft.com/office/drawing/2014/main" id="{4F9861AD-4213-87DB-B7EA-0D7BABEB5BA0}"/>
                </a:ext>
              </a:extLst>
            </p:cNvPr>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06">
              <a:extLst>
                <a:ext uri="{FF2B5EF4-FFF2-40B4-BE49-F238E27FC236}">
                  <a16:creationId xmlns="" xmlns:a16="http://schemas.microsoft.com/office/drawing/2014/main" id="{0A800575-01D2-8411-0AAD-CB2375A8A356}"/>
                </a:ext>
              </a:extLst>
            </p:cNvPr>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07">
              <a:extLst>
                <a:ext uri="{FF2B5EF4-FFF2-40B4-BE49-F238E27FC236}">
                  <a16:creationId xmlns="" xmlns:a16="http://schemas.microsoft.com/office/drawing/2014/main" id="{28787CCD-71D5-223E-6F38-555FE82FD4B6}"/>
                </a:ext>
              </a:extLst>
            </p:cNvPr>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08">
              <a:extLst>
                <a:ext uri="{FF2B5EF4-FFF2-40B4-BE49-F238E27FC236}">
                  <a16:creationId xmlns="" xmlns:a16="http://schemas.microsoft.com/office/drawing/2014/main" id="{18C2549D-1CB6-1F9D-D552-AB158F4C1D4B}"/>
                </a:ext>
              </a:extLst>
            </p:cNvPr>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右箭头 109">
            <a:extLst>
              <a:ext uri="{FF2B5EF4-FFF2-40B4-BE49-F238E27FC236}">
                <a16:creationId xmlns="" xmlns:a16="http://schemas.microsoft.com/office/drawing/2014/main" id="{E1FB64D1-C473-C5DC-0330-D4A0165A76FE}"/>
              </a:ext>
            </a:extLst>
          </p:cNvPr>
          <p:cNvSpPr/>
          <p:nvPr/>
        </p:nvSpPr>
        <p:spPr>
          <a:xfrm>
            <a:off x="3832347" y="599009"/>
            <a:ext cx="413512" cy="366293"/>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10">
            <a:extLst>
              <a:ext uri="{FF2B5EF4-FFF2-40B4-BE49-F238E27FC236}">
                <a16:creationId xmlns="" xmlns:a16="http://schemas.microsoft.com/office/drawing/2014/main" id="{320EC4E0-18F8-4537-CE93-D9FB36F05C67}"/>
              </a:ext>
            </a:extLst>
          </p:cNvPr>
          <p:cNvSpPr txBox="1"/>
          <p:nvPr/>
        </p:nvSpPr>
        <p:spPr>
          <a:xfrm>
            <a:off x="1977232" y="782155"/>
            <a:ext cx="1244300" cy="369332"/>
          </a:xfrm>
          <a:prstGeom prst="rect">
            <a:avLst/>
          </a:prstGeom>
          <a:noFill/>
        </p:spPr>
        <p:txBody>
          <a:bodyPr wrap="square" rtlCol="0">
            <a:spAutoFit/>
          </a:bodyPr>
          <a:lstStyle/>
          <a:p>
            <a:r>
              <a:rPr lang="zh-CN" altLang="en-US" dirty="0"/>
              <a:t>任务列表</a:t>
            </a:r>
          </a:p>
        </p:txBody>
      </p:sp>
      <p:cxnSp>
        <p:nvCxnSpPr>
          <p:cNvPr id="21" name="直接箭头连接符 25">
            <a:extLst>
              <a:ext uri="{FF2B5EF4-FFF2-40B4-BE49-F238E27FC236}">
                <a16:creationId xmlns="" xmlns:a16="http://schemas.microsoft.com/office/drawing/2014/main" id="{AC482FCF-B3F0-F719-CBDA-99A4E0CCE9C9}"/>
              </a:ext>
            </a:extLst>
          </p:cNvPr>
          <p:cNvCxnSpPr/>
          <p:nvPr/>
        </p:nvCxnSpPr>
        <p:spPr>
          <a:xfrm rot="20886032">
            <a:off x="5243203" y="1686779"/>
            <a:ext cx="1109890" cy="718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111">
            <a:extLst>
              <a:ext uri="{FF2B5EF4-FFF2-40B4-BE49-F238E27FC236}">
                <a16:creationId xmlns="" xmlns:a16="http://schemas.microsoft.com/office/drawing/2014/main" id="{A106EB6F-BC75-0E41-5F45-3088387B2D34}"/>
              </a:ext>
            </a:extLst>
          </p:cNvPr>
          <p:cNvSpPr txBox="1"/>
          <p:nvPr/>
        </p:nvSpPr>
        <p:spPr>
          <a:xfrm rot="1230543">
            <a:off x="5077185" y="1903968"/>
            <a:ext cx="2286719" cy="307777"/>
          </a:xfrm>
          <a:prstGeom prst="rect">
            <a:avLst/>
          </a:prstGeom>
          <a:noFill/>
        </p:spPr>
        <p:txBody>
          <a:bodyPr wrap="square" rtlCol="0">
            <a:spAutoFit/>
          </a:bodyPr>
          <a:lstStyle/>
          <a:p>
            <a:r>
              <a:rPr lang="zh-CN" altLang="en-US" sz="1400" b="1" dirty="0">
                <a:solidFill>
                  <a:prstClr val="black"/>
                </a:solidFill>
              </a:rPr>
              <a:t>安排任务的信息</a:t>
            </a:r>
          </a:p>
        </p:txBody>
      </p:sp>
      <p:cxnSp>
        <p:nvCxnSpPr>
          <p:cNvPr id="23" name="直接箭头连接符 112">
            <a:extLst>
              <a:ext uri="{FF2B5EF4-FFF2-40B4-BE49-F238E27FC236}">
                <a16:creationId xmlns="" xmlns:a16="http://schemas.microsoft.com/office/drawing/2014/main" id="{E53FF157-52E1-54C2-8B44-BADFC738E0E7}"/>
              </a:ext>
            </a:extLst>
          </p:cNvPr>
          <p:cNvCxnSpPr/>
          <p:nvPr/>
        </p:nvCxnSpPr>
        <p:spPr>
          <a:xfrm rot="20886032" flipH="1" flipV="1">
            <a:off x="5113439" y="1825846"/>
            <a:ext cx="1020877" cy="661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113">
            <a:extLst>
              <a:ext uri="{FF2B5EF4-FFF2-40B4-BE49-F238E27FC236}">
                <a16:creationId xmlns="" xmlns:a16="http://schemas.microsoft.com/office/drawing/2014/main" id="{8C54BBCA-6F82-A864-0554-DA8029215274}"/>
              </a:ext>
            </a:extLst>
          </p:cNvPr>
          <p:cNvSpPr txBox="1"/>
          <p:nvPr/>
        </p:nvSpPr>
        <p:spPr>
          <a:xfrm rot="1293068">
            <a:off x="5047538" y="2248996"/>
            <a:ext cx="1787516" cy="307777"/>
          </a:xfrm>
          <a:prstGeom prst="rect">
            <a:avLst/>
          </a:prstGeom>
          <a:noFill/>
        </p:spPr>
        <p:txBody>
          <a:bodyPr wrap="square" rtlCol="0">
            <a:spAutoFit/>
          </a:bodyPr>
          <a:lstStyle/>
          <a:p>
            <a:r>
              <a:rPr lang="zh-CN" altLang="en-US" sz="1400" b="1" dirty="0">
                <a:solidFill>
                  <a:prstClr val="black"/>
                </a:solidFill>
              </a:rPr>
              <a:t>响应的信息</a:t>
            </a:r>
          </a:p>
        </p:txBody>
      </p:sp>
      <p:cxnSp>
        <p:nvCxnSpPr>
          <p:cNvPr id="25" name="直接箭头连接符 114">
            <a:extLst>
              <a:ext uri="{FF2B5EF4-FFF2-40B4-BE49-F238E27FC236}">
                <a16:creationId xmlns="" xmlns:a16="http://schemas.microsoft.com/office/drawing/2014/main" id="{32DB5B76-22B9-3EB5-5EA5-79DEBD6F1E24}"/>
              </a:ext>
            </a:extLst>
          </p:cNvPr>
          <p:cNvCxnSpPr/>
          <p:nvPr/>
        </p:nvCxnSpPr>
        <p:spPr>
          <a:xfrm flipH="1">
            <a:off x="2786712" y="1675358"/>
            <a:ext cx="1250179" cy="62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115">
            <a:extLst>
              <a:ext uri="{FF2B5EF4-FFF2-40B4-BE49-F238E27FC236}">
                <a16:creationId xmlns="" xmlns:a16="http://schemas.microsoft.com/office/drawing/2014/main" id="{1F72134F-4DA6-EBC5-84EC-8B23E49B27D1}"/>
              </a:ext>
            </a:extLst>
          </p:cNvPr>
          <p:cNvSpPr txBox="1"/>
          <p:nvPr/>
        </p:nvSpPr>
        <p:spPr>
          <a:xfrm rot="20011725">
            <a:off x="2600096" y="1662642"/>
            <a:ext cx="1607474" cy="307777"/>
          </a:xfrm>
          <a:prstGeom prst="rect">
            <a:avLst/>
          </a:prstGeom>
          <a:noFill/>
        </p:spPr>
        <p:txBody>
          <a:bodyPr wrap="square" rtlCol="0">
            <a:spAutoFit/>
          </a:bodyPr>
          <a:lstStyle/>
          <a:p>
            <a:r>
              <a:rPr lang="zh-CN" altLang="en-US" sz="1400" b="1" dirty="0">
                <a:solidFill>
                  <a:prstClr val="black"/>
                </a:solidFill>
              </a:rPr>
              <a:t>安排任务的信息</a:t>
            </a:r>
          </a:p>
        </p:txBody>
      </p:sp>
      <p:cxnSp>
        <p:nvCxnSpPr>
          <p:cNvPr id="27" name="直接箭头连接符 116">
            <a:extLst>
              <a:ext uri="{FF2B5EF4-FFF2-40B4-BE49-F238E27FC236}">
                <a16:creationId xmlns="" xmlns:a16="http://schemas.microsoft.com/office/drawing/2014/main" id="{2E9D8060-A866-2694-0900-7279E196DCAA}"/>
              </a:ext>
            </a:extLst>
          </p:cNvPr>
          <p:cNvCxnSpPr/>
          <p:nvPr/>
        </p:nvCxnSpPr>
        <p:spPr>
          <a:xfrm flipV="1">
            <a:off x="3047308" y="1730655"/>
            <a:ext cx="1260392" cy="628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117">
            <a:extLst>
              <a:ext uri="{FF2B5EF4-FFF2-40B4-BE49-F238E27FC236}">
                <a16:creationId xmlns="" xmlns:a16="http://schemas.microsoft.com/office/drawing/2014/main" id="{F0443310-5BD8-DBF7-233D-63306A6A7870}"/>
              </a:ext>
            </a:extLst>
          </p:cNvPr>
          <p:cNvSpPr txBox="1"/>
          <p:nvPr/>
        </p:nvSpPr>
        <p:spPr>
          <a:xfrm rot="20045364">
            <a:off x="3154970" y="1966016"/>
            <a:ext cx="1307547" cy="307777"/>
          </a:xfrm>
          <a:prstGeom prst="rect">
            <a:avLst/>
          </a:prstGeom>
          <a:noFill/>
        </p:spPr>
        <p:txBody>
          <a:bodyPr wrap="square" rtlCol="0">
            <a:spAutoFit/>
          </a:bodyPr>
          <a:lstStyle/>
          <a:p>
            <a:r>
              <a:rPr lang="zh-CN" altLang="en-US" sz="1400" b="1" dirty="0">
                <a:solidFill>
                  <a:prstClr val="black"/>
                </a:solidFill>
              </a:rPr>
              <a:t>响应的信息</a:t>
            </a:r>
          </a:p>
        </p:txBody>
      </p:sp>
      <p:sp>
        <p:nvSpPr>
          <p:cNvPr id="29" name="左右箭头 39">
            <a:extLst>
              <a:ext uri="{FF2B5EF4-FFF2-40B4-BE49-F238E27FC236}">
                <a16:creationId xmlns="" xmlns:a16="http://schemas.microsoft.com/office/drawing/2014/main" id="{BE43BCBB-8196-39D7-AFBA-0B55DCCCE96D}"/>
              </a:ext>
            </a:extLst>
          </p:cNvPr>
          <p:cNvSpPr/>
          <p:nvPr/>
        </p:nvSpPr>
        <p:spPr>
          <a:xfrm rot="5400000">
            <a:off x="4303522" y="1196407"/>
            <a:ext cx="604166" cy="368963"/>
          </a:xfrm>
          <a:prstGeom prst="leftRightArrow">
            <a:avLst/>
          </a:prstGeom>
          <a:noFill/>
          <a:ln>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3">
            <a:extLst>
              <a:ext uri="{FF2B5EF4-FFF2-40B4-BE49-F238E27FC236}">
                <a16:creationId xmlns="" xmlns:a16="http://schemas.microsoft.com/office/drawing/2014/main" id="{27F9C48A-03D4-881B-DD52-54CE2FAF44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057" y="2630329"/>
            <a:ext cx="7854799" cy="1420025"/>
          </a:xfrm>
          <a:prstGeom prst="rect">
            <a:avLst/>
          </a:prstGeom>
        </p:spPr>
      </p:pic>
    </p:spTree>
    <p:extLst>
      <p:ext uri="{BB962C8B-B14F-4D97-AF65-F5344CB8AC3E}">
        <p14:creationId xmlns:p14="http://schemas.microsoft.com/office/powerpoint/2010/main" val="1528800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022281" y="537724"/>
            <a:ext cx="2057060" cy="369332"/>
          </a:xfrm>
          <a:prstGeom prst="rect">
            <a:avLst/>
          </a:prstGeom>
          <a:noFill/>
        </p:spPr>
        <p:txBody>
          <a:bodyPr wrap="square" rtlCol="0">
            <a:spAutoFit/>
          </a:bodyPr>
          <a:lstStyle/>
          <a:p>
            <a:r>
              <a:rPr lang="zh-CN" altLang="en-US" b="1" dirty="0"/>
              <a:t>调度系统</a:t>
            </a: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5371" y="2229131"/>
            <a:ext cx="834390" cy="83439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222779"/>
            <a:ext cx="834390" cy="834390"/>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85827" y="2229131"/>
            <a:ext cx="834390" cy="834390"/>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99001" y="2408248"/>
            <a:ext cx="456806" cy="306230"/>
          </a:xfrm>
          <a:prstGeom prst="rect">
            <a:avLst/>
          </a:prstGeom>
        </p:spPr>
      </p:pic>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3340" y="2408248"/>
            <a:ext cx="456806" cy="306230"/>
          </a:xfrm>
          <a:prstGeom prst="rect">
            <a:avLst/>
          </a:prstGeom>
        </p:spPr>
      </p:pic>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298" y="2408248"/>
            <a:ext cx="456806" cy="306230"/>
          </a:xfrm>
          <a:prstGeom prst="rect">
            <a:avLst/>
          </a:prstGeom>
        </p:spPr>
      </p:pic>
      <p:sp>
        <p:nvSpPr>
          <p:cNvPr id="19" name="server_159296">
            <a:extLst>
              <a:ext uri="{FF2B5EF4-FFF2-40B4-BE49-F238E27FC236}">
                <a16:creationId xmlns="" xmlns:a16="http://schemas.microsoft.com/office/drawing/2014/main" id="{54405246-CCE2-4201-BBB1-D3F3EB6E740D}"/>
              </a:ext>
            </a:extLst>
          </p:cNvPr>
          <p:cNvSpPr/>
          <p:nvPr/>
        </p:nvSpPr>
        <p:spPr>
          <a:xfrm>
            <a:off x="4352964" y="380501"/>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矩形 50"/>
          <p:cNvSpPr/>
          <p:nvPr/>
        </p:nvSpPr>
        <p:spPr>
          <a:xfrm>
            <a:off x="3628448" y="4746319"/>
            <a:ext cx="3630835" cy="601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3" name="椭圆 52"/>
          <p:cNvSpPr/>
          <p:nvPr/>
        </p:nvSpPr>
        <p:spPr>
          <a:xfrm>
            <a:off x="2423989" y="2807453"/>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5" name="椭圆 54"/>
          <p:cNvSpPr/>
          <p:nvPr/>
        </p:nvSpPr>
        <p:spPr>
          <a:xfrm>
            <a:off x="3755455" y="3638722"/>
            <a:ext cx="1625160"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8" name="椭圆 57"/>
          <p:cNvSpPr/>
          <p:nvPr/>
        </p:nvSpPr>
        <p:spPr>
          <a:xfrm>
            <a:off x="3656569" y="4755006"/>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0" name="椭圆 59"/>
          <p:cNvSpPr/>
          <p:nvPr/>
        </p:nvSpPr>
        <p:spPr>
          <a:xfrm>
            <a:off x="5724019" y="4809184"/>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椭圆 61"/>
          <p:cNvSpPr/>
          <p:nvPr/>
        </p:nvSpPr>
        <p:spPr>
          <a:xfrm>
            <a:off x="2152941" y="5391798"/>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63" name="曲线连接符 62"/>
          <p:cNvCxnSpPr>
            <a:stCxn id="53" idx="6"/>
            <a:endCxn id="55" idx="0"/>
          </p:cNvCxnSpPr>
          <p:nvPr/>
        </p:nvCxnSpPr>
        <p:spPr>
          <a:xfrm>
            <a:off x="3899496" y="3100727"/>
            <a:ext cx="668539" cy="537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曲线连接符 63"/>
          <p:cNvCxnSpPr>
            <a:stCxn id="55" idx="4"/>
            <a:endCxn id="58" idx="0"/>
          </p:cNvCxnSpPr>
          <p:nvPr/>
        </p:nvCxnSpPr>
        <p:spPr>
          <a:xfrm rot="5400000">
            <a:off x="4216311" y="4403282"/>
            <a:ext cx="529736" cy="17371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2816568" y="2962226"/>
            <a:ext cx="840001"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AGV_idle</a:t>
            </a:r>
            <a:endParaRPr lang="en-US" altLang="zh-CN" sz="1200" kern="100" dirty="0">
              <a:solidFill>
                <a:prstClr val="black"/>
              </a:solidFill>
              <a:cs typeface="Times New Roman" panose="02020603050405020304" pitchFamily="18" charset="0"/>
            </a:endParaRPr>
          </a:p>
        </p:txBody>
      </p:sp>
      <p:sp>
        <p:nvSpPr>
          <p:cNvPr id="72" name="矩形 71"/>
          <p:cNvSpPr/>
          <p:nvPr/>
        </p:nvSpPr>
        <p:spPr>
          <a:xfrm>
            <a:off x="3712530" y="3780731"/>
            <a:ext cx="1744284"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AGVMovingToRobotArm</a:t>
            </a:r>
            <a:endParaRPr lang="zh-CN" altLang="zh-CN" sz="1200" kern="100" dirty="0">
              <a:solidFill>
                <a:prstClr val="black"/>
              </a:solidFill>
              <a:cs typeface="Times New Roman" panose="02020603050405020304" pitchFamily="18" charset="0"/>
            </a:endParaRPr>
          </a:p>
        </p:txBody>
      </p:sp>
      <p:sp>
        <p:nvSpPr>
          <p:cNvPr id="73" name="矩形 72"/>
          <p:cNvSpPr/>
          <p:nvPr/>
        </p:nvSpPr>
        <p:spPr>
          <a:xfrm>
            <a:off x="3787600" y="4909780"/>
            <a:ext cx="1297209"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AGVAtRobotArm</a:t>
            </a:r>
            <a:r>
              <a:rPr lang="en-US" altLang="zh-CN" sz="1200" kern="100" dirty="0">
                <a:solidFill>
                  <a:prstClr val="black"/>
                </a:solidFill>
                <a:cs typeface="Times New Roman" panose="02020603050405020304" pitchFamily="18" charset="0"/>
              </a:rPr>
              <a:t> </a:t>
            </a:r>
            <a:endParaRPr lang="zh-CN" altLang="zh-CN" sz="1200" kern="100" dirty="0">
              <a:solidFill>
                <a:prstClr val="black"/>
              </a:solidFill>
              <a:cs typeface="Times New Roman" panose="02020603050405020304" pitchFamily="18" charset="0"/>
            </a:endParaRPr>
          </a:p>
        </p:txBody>
      </p:sp>
      <p:sp>
        <p:nvSpPr>
          <p:cNvPr id="74" name="矩形 73"/>
          <p:cNvSpPr/>
          <p:nvPr/>
        </p:nvSpPr>
        <p:spPr>
          <a:xfrm>
            <a:off x="5724019" y="4936441"/>
            <a:ext cx="1535264"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RobotArm_producing</a:t>
            </a:r>
            <a:endParaRPr lang="zh-CN" altLang="zh-CN" sz="1200" kern="100" dirty="0">
              <a:solidFill>
                <a:prstClr val="black"/>
              </a:solidFill>
              <a:cs typeface="Times New Roman" panose="02020603050405020304" pitchFamily="18" charset="0"/>
            </a:endParaRPr>
          </a:p>
        </p:txBody>
      </p:sp>
      <p:sp>
        <p:nvSpPr>
          <p:cNvPr id="75" name="矩形 74"/>
          <p:cNvSpPr/>
          <p:nvPr/>
        </p:nvSpPr>
        <p:spPr>
          <a:xfrm>
            <a:off x="2189626" y="5546572"/>
            <a:ext cx="1519821"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AGVMovingToOrigin</a:t>
            </a:r>
            <a:endParaRPr lang="zh-CN" altLang="zh-CN" sz="1200" kern="100" dirty="0">
              <a:solidFill>
                <a:prstClr val="black"/>
              </a:solidFill>
              <a:cs typeface="Times New Roman" panose="02020603050405020304" pitchFamily="18" charset="0"/>
            </a:endParaRPr>
          </a:p>
        </p:txBody>
      </p:sp>
      <p:sp>
        <p:nvSpPr>
          <p:cNvPr id="76" name="椭圆 75"/>
          <p:cNvSpPr/>
          <p:nvPr/>
        </p:nvSpPr>
        <p:spPr>
          <a:xfrm>
            <a:off x="1123875" y="3638722"/>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矩形 76"/>
          <p:cNvSpPr/>
          <p:nvPr/>
        </p:nvSpPr>
        <p:spPr>
          <a:xfrm>
            <a:off x="1368811" y="3793496"/>
            <a:ext cx="1059005"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AGVAtOrigin</a:t>
            </a:r>
            <a:endParaRPr lang="zh-CN" altLang="zh-CN" sz="1200" kern="100" dirty="0">
              <a:solidFill>
                <a:prstClr val="black"/>
              </a:solidFill>
              <a:cs typeface="Times New Roman" panose="02020603050405020304" pitchFamily="18" charset="0"/>
            </a:endParaRPr>
          </a:p>
        </p:txBody>
      </p:sp>
      <p:sp>
        <p:nvSpPr>
          <p:cNvPr id="78" name="椭圆 77"/>
          <p:cNvSpPr/>
          <p:nvPr/>
        </p:nvSpPr>
        <p:spPr>
          <a:xfrm>
            <a:off x="5570942" y="3008912"/>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79" name="曲线连接符 78"/>
          <p:cNvCxnSpPr>
            <a:stCxn id="76" idx="0"/>
            <a:endCxn id="53" idx="2"/>
          </p:cNvCxnSpPr>
          <p:nvPr/>
        </p:nvCxnSpPr>
        <p:spPr>
          <a:xfrm rot="5400000" flipH="1" flipV="1">
            <a:off x="1873812" y="3088545"/>
            <a:ext cx="537995" cy="56236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曲线连接符 79"/>
          <p:cNvCxnSpPr>
            <a:stCxn id="78" idx="4"/>
            <a:endCxn id="60" idx="2"/>
          </p:cNvCxnSpPr>
          <p:nvPr/>
        </p:nvCxnSpPr>
        <p:spPr>
          <a:xfrm rot="5400000">
            <a:off x="5251253" y="4013194"/>
            <a:ext cx="1534515" cy="588981"/>
          </a:xfrm>
          <a:prstGeom prst="curvedConnector4">
            <a:avLst>
              <a:gd name="adj1" fmla="val 41341"/>
              <a:gd name="adj2" fmla="val 138813"/>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5751254" y="3117119"/>
            <a:ext cx="1171127"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RobotArm_idle</a:t>
            </a:r>
            <a:endParaRPr lang="zh-CN" altLang="zh-CN" sz="1200" kern="100" dirty="0">
              <a:solidFill>
                <a:prstClr val="black"/>
              </a:solidFill>
              <a:cs typeface="Times New Roman" panose="02020603050405020304" pitchFamily="18" charset="0"/>
            </a:endParaRPr>
          </a:p>
        </p:txBody>
      </p:sp>
      <p:cxnSp>
        <p:nvCxnSpPr>
          <p:cNvPr id="85" name="曲线连接符 84"/>
          <p:cNvCxnSpPr>
            <a:stCxn id="58" idx="4"/>
            <a:endCxn id="62" idx="6"/>
          </p:cNvCxnSpPr>
          <p:nvPr/>
        </p:nvCxnSpPr>
        <p:spPr>
          <a:xfrm rot="5400000">
            <a:off x="3839627" y="5130376"/>
            <a:ext cx="343518" cy="7658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曲线连接符 85"/>
          <p:cNvCxnSpPr>
            <a:stCxn id="62" idx="2"/>
            <a:endCxn id="76" idx="4"/>
          </p:cNvCxnSpPr>
          <p:nvPr/>
        </p:nvCxnSpPr>
        <p:spPr>
          <a:xfrm rot="10800000">
            <a:off x="1861629" y="4225270"/>
            <a:ext cx="291312" cy="14598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曲线连接符 86"/>
          <p:cNvCxnSpPr>
            <a:stCxn id="60" idx="6"/>
            <a:endCxn id="78" idx="6"/>
          </p:cNvCxnSpPr>
          <p:nvPr/>
        </p:nvCxnSpPr>
        <p:spPr>
          <a:xfrm flipH="1" flipV="1">
            <a:off x="7055057" y="3274670"/>
            <a:ext cx="153077" cy="1800272"/>
          </a:xfrm>
          <a:prstGeom prst="curvedConnector3">
            <a:avLst>
              <a:gd name="adj1" fmla="val -149337"/>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4790087" y="1077018"/>
            <a:ext cx="2469756" cy="523220"/>
          </a:xfrm>
          <a:prstGeom prst="rect">
            <a:avLst/>
          </a:prstGeom>
          <a:noFill/>
        </p:spPr>
        <p:txBody>
          <a:bodyPr wrap="square" rtlCol="0">
            <a:spAutoFit/>
          </a:bodyPr>
          <a:lstStyle/>
          <a:p>
            <a:r>
              <a:rPr lang="zh-CN" altLang="en-US" sz="1400" b="1" dirty="0">
                <a:solidFill>
                  <a:prstClr val="black"/>
                </a:solidFill>
              </a:rPr>
              <a:t>请求</a:t>
            </a:r>
            <a:r>
              <a:rPr lang="en-US" altLang="zh-CN" sz="1400" b="1" dirty="0">
                <a:solidFill>
                  <a:prstClr val="black"/>
                </a:solidFill>
              </a:rPr>
              <a:t>/</a:t>
            </a:r>
            <a:r>
              <a:rPr lang="zh-CN" altLang="en-US" sz="1400" b="1" dirty="0">
                <a:solidFill>
                  <a:prstClr val="black"/>
                </a:solidFill>
              </a:rPr>
              <a:t>安排任务给</a:t>
            </a:r>
            <a:r>
              <a:rPr lang="en-US" altLang="zh-CN" sz="1400" b="1" dirty="0">
                <a:solidFill>
                  <a:prstClr val="black"/>
                </a:solidFill>
              </a:rPr>
              <a:t>AGV</a:t>
            </a:r>
            <a:r>
              <a:rPr lang="zh-CN" altLang="en-US" sz="1400" b="1" dirty="0">
                <a:solidFill>
                  <a:prstClr val="black"/>
                </a:solidFill>
              </a:rPr>
              <a:t>和</a:t>
            </a:r>
            <a:r>
              <a:rPr lang="en-US" altLang="zh-CN" sz="1400" b="1" dirty="0">
                <a:solidFill>
                  <a:prstClr val="black"/>
                </a:solidFill>
              </a:rPr>
              <a:t>Robot Arm</a:t>
            </a:r>
            <a:r>
              <a:rPr lang="zh-CN" altLang="en-US" sz="1400" b="1" dirty="0">
                <a:solidFill>
                  <a:prstClr val="black"/>
                </a:solidFill>
              </a:rPr>
              <a:t>，得到响应</a:t>
            </a:r>
            <a:r>
              <a:rPr lang="en-US" altLang="zh-CN" sz="1400" b="1" dirty="0">
                <a:solidFill>
                  <a:prstClr val="black"/>
                </a:solidFill>
              </a:rPr>
              <a:t>/</a:t>
            </a:r>
            <a:r>
              <a:rPr lang="zh-CN" altLang="en-US" sz="1400" b="1" dirty="0">
                <a:solidFill>
                  <a:prstClr val="black"/>
                </a:solidFill>
              </a:rPr>
              <a:t>反馈</a:t>
            </a:r>
          </a:p>
        </p:txBody>
      </p:sp>
      <p:sp>
        <p:nvSpPr>
          <p:cNvPr id="98" name="文本框 97"/>
          <p:cNvSpPr txBox="1"/>
          <p:nvPr/>
        </p:nvSpPr>
        <p:spPr>
          <a:xfrm>
            <a:off x="2664398" y="4056878"/>
            <a:ext cx="1165884" cy="523220"/>
          </a:xfrm>
          <a:prstGeom prst="rect">
            <a:avLst/>
          </a:prstGeom>
          <a:noFill/>
        </p:spPr>
        <p:txBody>
          <a:bodyPr wrap="square" rtlCol="0">
            <a:spAutoFit/>
          </a:bodyPr>
          <a:lstStyle/>
          <a:p>
            <a:r>
              <a:rPr lang="en-US" altLang="zh-CN" sz="1400" b="1" dirty="0">
                <a:solidFill>
                  <a:prstClr val="black"/>
                </a:solidFill>
              </a:rPr>
              <a:t>AGV </a:t>
            </a:r>
          </a:p>
          <a:p>
            <a:r>
              <a:rPr lang="zh-CN" altLang="en-US" sz="1400" dirty="0">
                <a:solidFill>
                  <a:prstClr val="black"/>
                </a:solidFill>
              </a:rPr>
              <a:t>状态集</a:t>
            </a:r>
          </a:p>
        </p:txBody>
      </p:sp>
      <p:sp>
        <p:nvSpPr>
          <p:cNvPr id="99" name="文本框 98"/>
          <p:cNvSpPr txBox="1"/>
          <p:nvPr/>
        </p:nvSpPr>
        <p:spPr>
          <a:xfrm>
            <a:off x="6312999" y="3669548"/>
            <a:ext cx="1303803" cy="523220"/>
          </a:xfrm>
          <a:prstGeom prst="rect">
            <a:avLst/>
          </a:prstGeom>
          <a:noFill/>
        </p:spPr>
        <p:txBody>
          <a:bodyPr wrap="square" rtlCol="0">
            <a:spAutoFit/>
          </a:bodyPr>
          <a:lstStyle/>
          <a:p>
            <a:r>
              <a:rPr lang="en-US" altLang="zh-CN" sz="1400" b="1" dirty="0">
                <a:solidFill>
                  <a:prstClr val="black"/>
                </a:solidFill>
              </a:rPr>
              <a:t>Robot Arm</a:t>
            </a:r>
          </a:p>
          <a:p>
            <a:r>
              <a:rPr lang="zh-CN" altLang="en-US" sz="1400" dirty="0">
                <a:solidFill>
                  <a:prstClr val="black"/>
                </a:solidFill>
              </a:rPr>
              <a:t>状态集</a:t>
            </a:r>
          </a:p>
        </p:txBody>
      </p:sp>
      <p:sp>
        <p:nvSpPr>
          <p:cNvPr id="100" name="文本框 99"/>
          <p:cNvSpPr txBox="1"/>
          <p:nvPr/>
        </p:nvSpPr>
        <p:spPr>
          <a:xfrm>
            <a:off x="3914380" y="5612937"/>
            <a:ext cx="3084867" cy="523220"/>
          </a:xfrm>
          <a:prstGeom prst="rect">
            <a:avLst/>
          </a:prstGeom>
          <a:noFill/>
        </p:spPr>
        <p:txBody>
          <a:bodyPr wrap="square" rtlCol="0">
            <a:spAutoFit/>
          </a:bodyPr>
          <a:lstStyle/>
          <a:p>
            <a:r>
              <a:rPr lang="zh-CN" altLang="en-US" sz="1400" dirty="0">
                <a:solidFill>
                  <a:prstClr val="black"/>
                </a:solidFill>
              </a:rPr>
              <a:t>异构智能体写作：</a:t>
            </a:r>
            <a:endParaRPr lang="en-US" altLang="zh-CN" sz="1400" dirty="0">
              <a:solidFill>
                <a:prstClr val="black"/>
              </a:solidFill>
            </a:endParaRPr>
          </a:p>
          <a:p>
            <a:r>
              <a:rPr lang="en-US" altLang="zh-CN" sz="1400" dirty="0">
                <a:solidFill>
                  <a:prstClr val="black"/>
                </a:solidFill>
              </a:rPr>
              <a:t>AGV</a:t>
            </a:r>
            <a:r>
              <a:rPr lang="zh-CN" altLang="en-US" sz="1400" dirty="0">
                <a:solidFill>
                  <a:prstClr val="black"/>
                </a:solidFill>
              </a:rPr>
              <a:t>将物料转移至</a:t>
            </a:r>
            <a:r>
              <a:rPr lang="en-US" altLang="zh-CN" sz="1400" dirty="0">
                <a:solidFill>
                  <a:prstClr val="black"/>
                </a:solidFill>
              </a:rPr>
              <a:t>Robot Arm</a:t>
            </a:r>
            <a:endParaRPr lang="zh-CN" altLang="en-US" sz="1400" dirty="0">
              <a:solidFill>
                <a:prstClr val="black"/>
              </a:solidFill>
            </a:endParaRPr>
          </a:p>
        </p:txBody>
      </p:sp>
      <p:sp>
        <p:nvSpPr>
          <p:cNvPr id="101" name="右箭头 100"/>
          <p:cNvSpPr/>
          <p:nvPr/>
        </p:nvSpPr>
        <p:spPr>
          <a:xfrm rot="16200000">
            <a:off x="5231951" y="5406944"/>
            <a:ext cx="306048"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04" name="组合 103"/>
          <p:cNvGrpSpPr/>
          <p:nvPr/>
        </p:nvGrpSpPr>
        <p:grpSpPr>
          <a:xfrm>
            <a:off x="3122084" y="591058"/>
            <a:ext cx="587429" cy="714376"/>
            <a:chOff x="1323750" y="1400532"/>
            <a:chExt cx="1007244" cy="1354959"/>
          </a:xfrm>
        </p:grpSpPr>
        <p:sp>
          <p:nvSpPr>
            <p:cNvPr id="105" name="矩形 104"/>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108"/>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0" name="右箭头 109"/>
          <p:cNvSpPr/>
          <p:nvPr/>
        </p:nvSpPr>
        <p:spPr>
          <a:xfrm>
            <a:off x="3832347" y="599009"/>
            <a:ext cx="413512" cy="366293"/>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a:off x="1977232" y="782155"/>
            <a:ext cx="1244300" cy="369332"/>
          </a:xfrm>
          <a:prstGeom prst="rect">
            <a:avLst/>
          </a:prstGeom>
          <a:noFill/>
        </p:spPr>
        <p:txBody>
          <a:bodyPr wrap="square" rtlCol="0">
            <a:spAutoFit/>
          </a:bodyPr>
          <a:lstStyle/>
          <a:p>
            <a:r>
              <a:rPr lang="zh-CN" altLang="en-US" dirty="0"/>
              <a:t>任务列表</a:t>
            </a:r>
          </a:p>
        </p:txBody>
      </p:sp>
      <p:cxnSp>
        <p:nvCxnSpPr>
          <p:cNvPr id="26" name="直接箭头连接符 25"/>
          <p:cNvCxnSpPr/>
          <p:nvPr/>
        </p:nvCxnSpPr>
        <p:spPr>
          <a:xfrm rot="20886032">
            <a:off x="5243203" y="1686779"/>
            <a:ext cx="1109890" cy="718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a:xfrm rot="1230543">
            <a:off x="5077185" y="1903968"/>
            <a:ext cx="2286719" cy="307777"/>
          </a:xfrm>
          <a:prstGeom prst="rect">
            <a:avLst/>
          </a:prstGeom>
          <a:noFill/>
        </p:spPr>
        <p:txBody>
          <a:bodyPr wrap="square" rtlCol="0">
            <a:spAutoFit/>
          </a:bodyPr>
          <a:lstStyle/>
          <a:p>
            <a:r>
              <a:rPr lang="zh-CN" altLang="en-US" sz="1400" b="1" dirty="0">
                <a:solidFill>
                  <a:prstClr val="black"/>
                </a:solidFill>
              </a:rPr>
              <a:t>安排任务的信息</a:t>
            </a:r>
          </a:p>
        </p:txBody>
      </p:sp>
      <p:cxnSp>
        <p:nvCxnSpPr>
          <p:cNvPr id="113" name="直接箭头连接符 112"/>
          <p:cNvCxnSpPr/>
          <p:nvPr/>
        </p:nvCxnSpPr>
        <p:spPr>
          <a:xfrm rot="20886032" flipH="1" flipV="1">
            <a:off x="5113439" y="1825846"/>
            <a:ext cx="1020877" cy="661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a:xfrm rot="1293068">
            <a:off x="5047538" y="2248996"/>
            <a:ext cx="1787516" cy="307777"/>
          </a:xfrm>
          <a:prstGeom prst="rect">
            <a:avLst/>
          </a:prstGeom>
          <a:noFill/>
        </p:spPr>
        <p:txBody>
          <a:bodyPr wrap="square" rtlCol="0">
            <a:spAutoFit/>
          </a:bodyPr>
          <a:lstStyle/>
          <a:p>
            <a:r>
              <a:rPr lang="zh-CN" altLang="en-US" sz="1400" b="1" dirty="0">
                <a:solidFill>
                  <a:prstClr val="black"/>
                </a:solidFill>
              </a:rPr>
              <a:t>响应的信息</a:t>
            </a:r>
          </a:p>
        </p:txBody>
      </p:sp>
      <p:cxnSp>
        <p:nvCxnSpPr>
          <p:cNvPr id="115" name="直接箭头连接符 114"/>
          <p:cNvCxnSpPr/>
          <p:nvPr/>
        </p:nvCxnSpPr>
        <p:spPr>
          <a:xfrm flipH="1">
            <a:off x="2786712" y="1675358"/>
            <a:ext cx="1250179" cy="623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文本框 115"/>
          <p:cNvSpPr txBox="1"/>
          <p:nvPr/>
        </p:nvSpPr>
        <p:spPr>
          <a:xfrm rot="20011725">
            <a:off x="2600096" y="1662642"/>
            <a:ext cx="1607474" cy="307777"/>
          </a:xfrm>
          <a:prstGeom prst="rect">
            <a:avLst/>
          </a:prstGeom>
          <a:noFill/>
        </p:spPr>
        <p:txBody>
          <a:bodyPr wrap="square" rtlCol="0">
            <a:spAutoFit/>
          </a:bodyPr>
          <a:lstStyle/>
          <a:p>
            <a:r>
              <a:rPr lang="zh-CN" altLang="en-US" sz="1400" b="1" dirty="0">
                <a:solidFill>
                  <a:prstClr val="black"/>
                </a:solidFill>
              </a:rPr>
              <a:t>安排任务的信息</a:t>
            </a:r>
          </a:p>
        </p:txBody>
      </p:sp>
      <p:cxnSp>
        <p:nvCxnSpPr>
          <p:cNvPr id="117" name="直接箭头连接符 116"/>
          <p:cNvCxnSpPr/>
          <p:nvPr/>
        </p:nvCxnSpPr>
        <p:spPr>
          <a:xfrm flipV="1">
            <a:off x="3047308" y="1730655"/>
            <a:ext cx="1260392" cy="628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文本框 117"/>
          <p:cNvSpPr txBox="1"/>
          <p:nvPr/>
        </p:nvSpPr>
        <p:spPr>
          <a:xfrm rot="20045364">
            <a:off x="3154970" y="1966016"/>
            <a:ext cx="1307547" cy="307777"/>
          </a:xfrm>
          <a:prstGeom prst="rect">
            <a:avLst/>
          </a:prstGeom>
          <a:noFill/>
        </p:spPr>
        <p:txBody>
          <a:bodyPr wrap="square" rtlCol="0">
            <a:spAutoFit/>
          </a:bodyPr>
          <a:lstStyle/>
          <a:p>
            <a:r>
              <a:rPr lang="zh-CN" altLang="en-US" sz="1400" b="1" dirty="0">
                <a:solidFill>
                  <a:prstClr val="black"/>
                </a:solidFill>
              </a:rPr>
              <a:t>响应的信息</a:t>
            </a:r>
          </a:p>
        </p:txBody>
      </p:sp>
      <p:sp>
        <p:nvSpPr>
          <p:cNvPr id="40" name="左右箭头 39"/>
          <p:cNvSpPr/>
          <p:nvPr/>
        </p:nvSpPr>
        <p:spPr>
          <a:xfrm rot="5400000">
            <a:off x="4303522" y="1196407"/>
            <a:ext cx="604166" cy="368963"/>
          </a:xfrm>
          <a:prstGeom prst="leftRightArrow">
            <a:avLst/>
          </a:prstGeom>
          <a:noFill/>
          <a:ln>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2231501" y="4655001"/>
            <a:ext cx="1143048" cy="454388"/>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0" name="矩形 119"/>
          <p:cNvSpPr/>
          <p:nvPr/>
        </p:nvSpPr>
        <p:spPr>
          <a:xfrm>
            <a:off x="2256365" y="4732301"/>
            <a:ext cx="1193696"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AGV_abnormal</a:t>
            </a:r>
            <a:endParaRPr lang="en-US" altLang="zh-CN" sz="1200" kern="100" dirty="0">
              <a:solidFill>
                <a:prstClr val="black"/>
              </a:solidFill>
              <a:cs typeface="Times New Roman" panose="02020603050405020304" pitchFamily="18" charset="0"/>
            </a:endParaRPr>
          </a:p>
        </p:txBody>
      </p:sp>
      <p:sp>
        <p:nvSpPr>
          <p:cNvPr id="121" name="椭圆 120"/>
          <p:cNvSpPr/>
          <p:nvPr/>
        </p:nvSpPr>
        <p:spPr>
          <a:xfrm>
            <a:off x="5832380" y="4196870"/>
            <a:ext cx="1495654" cy="454388"/>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2" name="矩形 121"/>
          <p:cNvSpPr/>
          <p:nvPr/>
        </p:nvSpPr>
        <p:spPr>
          <a:xfrm>
            <a:off x="5857243" y="4274170"/>
            <a:ext cx="1567375" cy="276999"/>
          </a:xfrm>
          <a:prstGeom prst="rect">
            <a:avLst/>
          </a:prstGeom>
        </p:spPr>
        <p:txBody>
          <a:bodyPr wrap="square">
            <a:spAutoFit/>
          </a:bodyPr>
          <a:lstStyle/>
          <a:p>
            <a:pPr algn="just"/>
            <a:r>
              <a:rPr lang="en-US" altLang="zh-CN" sz="1200" kern="100" dirty="0" err="1">
                <a:solidFill>
                  <a:prstClr val="black"/>
                </a:solidFill>
                <a:cs typeface="Times New Roman" panose="02020603050405020304" pitchFamily="18" charset="0"/>
              </a:rPr>
              <a:t>RobotArm_abnormal</a:t>
            </a:r>
            <a:endParaRPr lang="en-US" altLang="zh-CN" sz="1200" kern="100" dirty="0">
              <a:solidFill>
                <a:prstClr val="black"/>
              </a:solidFill>
              <a:cs typeface="Times New Roman" panose="02020603050405020304" pitchFamily="18" charset="0"/>
            </a:endParaRPr>
          </a:p>
        </p:txBody>
      </p:sp>
      <p:sp>
        <p:nvSpPr>
          <p:cNvPr id="59" name="viking-helmet_17869">
            <a:extLst>
              <a:ext uri="{FF2B5EF4-FFF2-40B4-BE49-F238E27FC236}">
                <a16:creationId xmlns="" xmlns:a16="http://schemas.microsoft.com/office/drawing/2014/main" id="{54405246-CCE2-4201-BBB1-D3F3EB6E740D}"/>
              </a:ext>
            </a:extLst>
          </p:cNvPr>
          <p:cNvSpPr/>
          <p:nvPr/>
        </p:nvSpPr>
        <p:spPr>
          <a:xfrm>
            <a:off x="4638949" y="2572992"/>
            <a:ext cx="609685" cy="408640"/>
          </a:xfrm>
          <a:custGeom>
            <a:avLst/>
            <a:gdLst>
              <a:gd name="connsiteX0" fmla="*/ 286165 w 609480"/>
              <a:gd name="connsiteY0" fmla="*/ 225104 h 408503"/>
              <a:gd name="connsiteX1" fmla="*/ 323635 w 609480"/>
              <a:gd name="connsiteY1" fmla="*/ 225104 h 408503"/>
              <a:gd name="connsiteX2" fmla="*/ 323635 w 609480"/>
              <a:gd name="connsiteY2" fmla="*/ 319309 h 408503"/>
              <a:gd name="connsiteX3" fmla="*/ 286165 w 609480"/>
              <a:gd name="connsiteY3" fmla="*/ 319309 h 408503"/>
              <a:gd name="connsiteX4" fmla="*/ 286165 w 609480"/>
              <a:gd name="connsiteY4" fmla="*/ 93711 h 408503"/>
              <a:gd name="connsiteX5" fmla="*/ 323635 w 609480"/>
              <a:gd name="connsiteY5" fmla="*/ 93711 h 408503"/>
              <a:gd name="connsiteX6" fmla="*/ 323635 w 609480"/>
              <a:gd name="connsiteY6" fmla="*/ 206122 h 408503"/>
              <a:gd name="connsiteX7" fmla="*/ 286165 w 609480"/>
              <a:gd name="connsiteY7" fmla="*/ 206122 h 408503"/>
              <a:gd name="connsiteX8" fmla="*/ 28022 w 609480"/>
              <a:gd name="connsiteY8" fmla="*/ 0 h 408503"/>
              <a:gd name="connsiteX9" fmla="*/ 27897 w 609480"/>
              <a:gd name="connsiteY9" fmla="*/ 5755 h 408503"/>
              <a:gd name="connsiteX10" fmla="*/ 162336 w 609480"/>
              <a:gd name="connsiteY10" fmla="*/ 140255 h 408503"/>
              <a:gd name="connsiteX11" fmla="*/ 275351 w 609480"/>
              <a:gd name="connsiteY11" fmla="*/ 93587 h 408503"/>
              <a:gd name="connsiteX12" fmla="*/ 280112 w 609480"/>
              <a:gd name="connsiteY12" fmla="*/ 92961 h 408503"/>
              <a:gd name="connsiteX13" fmla="*/ 280112 w 609480"/>
              <a:gd name="connsiteY13" fmla="*/ 328304 h 408503"/>
              <a:gd name="connsiteX14" fmla="*/ 279861 w 609480"/>
              <a:gd name="connsiteY14" fmla="*/ 328304 h 408503"/>
              <a:gd name="connsiteX15" fmla="*/ 279861 w 609480"/>
              <a:gd name="connsiteY15" fmla="*/ 332558 h 408503"/>
              <a:gd name="connsiteX16" fmla="*/ 279986 w 609480"/>
              <a:gd name="connsiteY16" fmla="*/ 342442 h 408503"/>
              <a:gd name="connsiteX17" fmla="*/ 280112 w 609480"/>
              <a:gd name="connsiteY17" fmla="*/ 343193 h 408503"/>
              <a:gd name="connsiteX18" fmla="*/ 280112 w 609480"/>
              <a:gd name="connsiteY18" fmla="*/ 350700 h 408503"/>
              <a:gd name="connsiteX19" fmla="*/ 63605 w 609480"/>
              <a:gd name="connsiteY19" fmla="*/ 350700 h 408503"/>
              <a:gd name="connsiteX20" fmla="*/ 63605 w 609480"/>
              <a:gd name="connsiteY20" fmla="*/ 399995 h 408503"/>
              <a:gd name="connsiteX21" fmla="*/ 546109 w 609480"/>
              <a:gd name="connsiteY21" fmla="*/ 399995 h 408503"/>
              <a:gd name="connsiteX22" fmla="*/ 546109 w 609480"/>
              <a:gd name="connsiteY22" fmla="*/ 350700 h 408503"/>
              <a:gd name="connsiteX23" fmla="*/ 329603 w 609480"/>
              <a:gd name="connsiteY23" fmla="*/ 350700 h 408503"/>
              <a:gd name="connsiteX24" fmla="*/ 329603 w 609480"/>
              <a:gd name="connsiteY24" fmla="*/ 328304 h 408503"/>
              <a:gd name="connsiteX25" fmla="*/ 329603 w 609480"/>
              <a:gd name="connsiteY25" fmla="*/ 92961 h 408503"/>
              <a:gd name="connsiteX26" fmla="*/ 334364 w 609480"/>
              <a:gd name="connsiteY26" fmla="*/ 93587 h 408503"/>
              <a:gd name="connsiteX27" fmla="*/ 447378 w 609480"/>
              <a:gd name="connsiteY27" fmla="*/ 140255 h 408503"/>
              <a:gd name="connsiteX28" fmla="*/ 581567 w 609480"/>
              <a:gd name="connsiteY28" fmla="*/ 5755 h 408503"/>
              <a:gd name="connsiteX29" fmla="*/ 581442 w 609480"/>
              <a:gd name="connsiteY29" fmla="*/ 0 h 408503"/>
              <a:gd name="connsiteX30" fmla="*/ 586954 w 609480"/>
              <a:gd name="connsiteY30" fmla="*/ 1502 h 408503"/>
              <a:gd name="connsiteX31" fmla="*/ 609257 w 609480"/>
              <a:gd name="connsiteY31" fmla="*/ 42539 h 408503"/>
              <a:gd name="connsiteX32" fmla="*/ 507519 w 609480"/>
              <a:gd name="connsiteY32" fmla="*/ 209444 h 408503"/>
              <a:gd name="connsiteX33" fmla="*/ 537840 w 609480"/>
              <a:gd name="connsiteY33" fmla="*/ 324050 h 408503"/>
              <a:gd name="connsiteX34" fmla="*/ 537840 w 609480"/>
              <a:gd name="connsiteY34" fmla="*/ 328304 h 408503"/>
              <a:gd name="connsiteX35" fmla="*/ 338122 w 609480"/>
              <a:gd name="connsiteY35" fmla="*/ 328304 h 408503"/>
              <a:gd name="connsiteX36" fmla="*/ 338122 w 609480"/>
              <a:gd name="connsiteY36" fmla="*/ 342192 h 408503"/>
              <a:gd name="connsiteX37" fmla="*/ 554629 w 609480"/>
              <a:gd name="connsiteY37" fmla="*/ 342192 h 408503"/>
              <a:gd name="connsiteX38" fmla="*/ 554629 w 609480"/>
              <a:gd name="connsiteY38" fmla="*/ 408503 h 408503"/>
              <a:gd name="connsiteX39" fmla="*/ 55085 w 609480"/>
              <a:gd name="connsiteY39" fmla="*/ 408503 h 408503"/>
              <a:gd name="connsiteX40" fmla="*/ 55085 w 609480"/>
              <a:gd name="connsiteY40" fmla="*/ 342192 h 408503"/>
              <a:gd name="connsiteX41" fmla="*/ 271592 w 609480"/>
              <a:gd name="connsiteY41" fmla="*/ 342192 h 408503"/>
              <a:gd name="connsiteX42" fmla="*/ 271592 w 609480"/>
              <a:gd name="connsiteY42" fmla="*/ 328304 h 408503"/>
              <a:gd name="connsiteX43" fmla="*/ 71875 w 609480"/>
              <a:gd name="connsiteY43" fmla="*/ 328304 h 408503"/>
              <a:gd name="connsiteX44" fmla="*/ 71875 w 609480"/>
              <a:gd name="connsiteY44" fmla="*/ 324050 h 408503"/>
              <a:gd name="connsiteX45" fmla="*/ 102196 w 609480"/>
              <a:gd name="connsiteY45" fmla="*/ 209569 h 408503"/>
              <a:gd name="connsiteX46" fmla="*/ 207 w 609480"/>
              <a:gd name="connsiteY46" fmla="*/ 42539 h 408503"/>
              <a:gd name="connsiteX47" fmla="*/ 22509 w 609480"/>
              <a:gd name="connsiteY47" fmla="*/ 1502 h 40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9480" h="408503">
                <a:moveTo>
                  <a:pt x="286165" y="225104"/>
                </a:moveTo>
                <a:lnTo>
                  <a:pt x="323635" y="225104"/>
                </a:lnTo>
                <a:lnTo>
                  <a:pt x="323635" y="319309"/>
                </a:lnTo>
                <a:lnTo>
                  <a:pt x="286165" y="319309"/>
                </a:lnTo>
                <a:close/>
                <a:moveTo>
                  <a:pt x="286165" y="93711"/>
                </a:moveTo>
                <a:lnTo>
                  <a:pt x="323635" y="93711"/>
                </a:lnTo>
                <a:lnTo>
                  <a:pt x="323635" y="206122"/>
                </a:lnTo>
                <a:lnTo>
                  <a:pt x="286165" y="206122"/>
                </a:lnTo>
                <a:close/>
                <a:moveTo>
                  <a:pt x="28022" y="0"/>
                </a:moveTo>
                <a:lnTo>
                  <a:pt x="27897" y="5755"/>
                </a:lnTo>
                <a:cubicBezTo>
                  <a:pt x="26769" y="54050"/>
                  <a:pt x="144545" y="129245"/>
                  <a:pt x="162336" y="140255"/>
                </a:cubicBezTo>
                <a:cubicBezTo>
                  <a:pt x="195163" y="114856"/>
                  <a:pt x="234254" y="98716"/>
                  <a:pt x="275351" y="93587"/>
                </a:cubicBezTo>
                <a:lnTo>
                  <a:pt x="280112" y="92961"/>
                </a:lnTo>
                <a:lnTo>
                  <a:pt x="280112" y="328304"/>
                </a:lnTo>
                <a:lnTo>
                  <a:pt x="279861" y="328304"/>
                </a:lnTo>
                <a:lnTo>
                  <a:pt x="279861" y="332558"/>
                </a:lnTo>
                <a:cubicBezTo>
                  <a:pt x="279861" y="332808"/>
                  <a:pt x="279861" y="342192"/>
                  <a:pt x="279986" y="342442"/>
                </a:cubicBezTo>
                <a:lnTo>
                  <a:pt x="280112" y="343193"/>
                </a:lnTo>
                <a:lnTo>
                  <a:pt x="280112" y="350700"/>
                </a:lnTo>
                <a:lnTo>
                  <a:pt x="63605" y="350700"/>
                </a:lnTo>
                <a:lnTo>
                  <a:pt x="63605" y="399995"/>
                </a:lnTo>
                <a:lnTo>
                  <a:pt x="546109" y="399995"/>
                </a:lnTo>
                <a:lnTo>
                  <a:pt x="546109" y="350700"/>
                </a:lnTo>
                <a:lnTo>
                  <a:pt x="329603" y="350700"/>
                </a:lnTo>
                <a:lnTo>
                  <a:pt x="329603" y="328304"/>
                </a:lnTo>
                <a:lnTo>
                  <a:pt x="329603" y="92961"/>
                </a:lnTo>
                <a:lnTo>
                  <a:pt x="334364" y="93587"/>
                </a:lnTo>
                <a:cubicBezTo>
                  <a:pt x="375460" y="98716"/>
                  <a:pt x="414426" y="114856"/>
                  <a:pt x="447378" y="140255"/>
                </a:cubicBezTo>
                <a:cubicBezTo>
                  <a:pt x="465044" y="129120"/>
                  <a:pt x="582820" y="53925"/>
                  <a:pt x="581567" y="5755"/>
                </a:cubicBezTo>
                <a:lnTo>
                  <a:pt x="581442" y="0"/>
                </a:lnTo>
                <a:lnTo>
                  <a:pt x="586954" y="1502"/>
                </a:lnTo>
                <a:cubicBezTo>
                  <a:pt x="599734" y="5005"/>
                  <a:pt x="607878" y="20019"/>
                  <a:pt x="609257" y="42539"/>
                </a:cubicBezTo>
                <a:cubicBezTo>
                  <a:pt x="612389" y="91710"/>
                  <a:pt x="582820" y="175538"/>
                  <a:pt x="507519" y="209444"/>
                </a:cubicBezTo>
                <a:cubicBezTo>
                  <a:pt x="527315" y="244351"/>
                  <a:pt x="537840" y="283888"/>
                  <a:pt x="537840" y="324050"/>
                </a:cubicBezTo>
                <a:lnTo>
                  <a:pt x="537840" y="328304"/>
                </a:lnTo>
                <a:lnTo>
                  <a:pt x="338122" y="328304"/>
                </a:lnTo>
                <a:lnTo>
                  <a:pt x="338122" y="342192"/>
                </a:lnTo>
                <a:lnTo>
                  <a:pt x="554629" y="342192"/>
                </a:lnTo>
                <a:lnTo>
                  <a:pt x="554629" y="408503"/>
                </a:lnTo>
                <a:lnTo>
                  <a:pt x="55085" y="408503"/>
                </a:lnTo>
                <a:lnTo>
                  <a:pt x="55085" y="342192"/>
                </a:lnTo>
                <a:lnTo>
                  <a:pt x="271592" y="342192"/>
                </a:lnTo>
                <a:lnTo>
                  <a:pt x="271592" y="328304"/>
                </a:lnTo>
                <a:lnTo>
                  <a:pt x="71875" y="328304"/>
                </a:lnTo>
                <a:lnTo>
                  <a:pt x="71875" y="324050"/>
                </a:lnTo>
                <a:cubicBezTo>
                  <a:pt x="71875" y="283888"/>
                  <a:pt x="82399" y="244351"/>
                  <a:pt x="102196" y="209569"/>
                </a:cubicBezTo>
                <a:cubicBezTo>
                  <a:pt x="26769" y="175663"/>
                  <a:pt x="-2800" y="91710"/>
                  <a:pt x="207" y="42539"/>
                </a:cubicBezTo>
                <a:cubicBezTo>
                  <a:pt x="1585" y="20019"/>
                  <a:pt x="9729" y="5005"/>
                  <a:pt x="22509" y="1502"/>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2"/>
          <p:cNvSpPr/>
          <p:nvPr/>
        </p:nvSpPr>
        <p:spPr>
          <a:xfrm>
            <a:off x="4529709" y="2958229"/>
            <a:ext cx="902811" cy="307777"/>
          </a:xfrm>
          <a:prstGeom prst="rect">
            <a:avLst/>
          </a:prstGeom>
        </p:spPr>
        <p:txBody>
          <a:bodyPr wrap="none">
            <a:spAutoFit/>
          </a:bodyPr>
          <a:lstStyle/>
          <a:p>
            <a:r>
              <a:rPr lang="zh-CN" altLang="en-US" sz="1400" b="1" dirty="0">
                <a:solidFill>
                  <a:prstClr val="black"/>
                </a:solidFill>
              </a:rPr>
              <a:t>恶意节点</a:t>
            </a:r>
          </a:p>
        </p:txBody>
      </p:sp>
    </p:spTree>
    <p:custDataLst>
      <p:tags r:id="rId1"/>
    </p:custDataLst>
    <p:extLst>
      <p:ext uri="{BB962C8B-B14F-4D97-AF65-F5344CB8AC3E}">
        <p14:creationId xmlns:p14="http://schemas.microsoft.com/office/powerpoint/2010/main" val="460550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1449049" y="1349427"/>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1449049" y="2196996"/>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449049" y="2986009"/>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449049" y="3816246"/>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449049" y="4643359"/>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77685" y="2005007"/>
            <a:ext cx="761386" cy="307777"/>
          </a:xfrm>
          <a:prstGeom prst="rect">
            <a:avLst/>
          </a:prstGeom>
          <a:noFill/>
        </p:spPr>
        <p:txBody>
          <a:bodyPr wrap="square" rtlCol="0">
            <a:spAutoFit/>
          </a:bodyPr>
          <a:lstStyle/>
          <a:p>
            <a:r>
              <a:rPr lang="en-US" altLang="zh-CN" sz="1400" b="1" dirty="0">
                <a:solidFill>
                  <a:prstClr val="black"/>
                </a:solidFill>
              </a:rPr>
              <a:t>AGV 1</a:t>
            </a:r>
            <a:endParaRPr lang="zh-CN" altLang="en-US" sz="1400" dirty="0">
              <a:solidFill>
                <a:prstClr val="black"/>
              </a:solidFill>
            </a:endParaRPr>
          </a:p>
        </p:txBody>
      </p:sp>
      <p:sp>
        <p:nvSpPr>
          <p:cNvPr id="39" name="文本框 38"/>
          <p:cNvSpPr txBox="1"/>
          <p:nvPr/>
        </p:nvSpPr>
        <p:spPr>
          <a:xfrm>
            <a:off x="777685" y="2832120"/>
            <a:ext cx="761386" cy="307777"/>
          </a:xfrm>
          <a:prstGeom prst="rect">
            <a:avLst/>
          </a:prstGeom>
          <a:noFill/>
        </p:spPr>
        <p:txBody>
          <a:bodyPr wrap="square" rtlCol="0">
            <a:spAutoFit/>
          </a:bodyPr>
          <a:lstStyle/>
          <a:p>
            <a:r>
              <a:rPr lang="en-US" altLang="zh-CN" sz="1400" b="1" dirty="0">
                <a:solidFill>
                  <a:prstClr val="black"/>
                </a:solidFill>
              </a:rPr>
              <a:t>AGV x</a:t>
            </a:r>
            <a:endParaRPr lang="zh-CN" altLang="en-US" sz="1400" dirty="0">
              <a:solidFill>
                <a:prstClr val="black"/>
              </a:solidFill>
            </a:endParaRPr>
          </a:p>
        </p:txBody>
      </p:sp>
      <p:sp>
        <p:nvSpPr>
          <p:cNvPr id="40" name="文本框 39"/>
          <p:cNvSpPr txBox="1"/>
          <p:nvPr/>
        </p:nvSpPr>
        <p:spPr>
          <a:xfrm>
            <a:off x="411310" y="3659233"/>
            <a:ext cx="1127761" cy="307777"/>
          </a:xfrm>
          <a:prstGeom prst="rect">
            <a:avLst/>
          </a:prstGeom>
          <a:noFill/>
        </p:spPr>
        <p:txBody>
          <a:bodyPr wrap="square" rtlCol="0">
            <a:spAutoFit/>
          </a:bodyPr>
          <a:lstStyle/>
          <a:p>
            <a:r>
              <a:rPr lang="en-US" altLang="zh-CN" sz="1400" b="1" dirty="0">
                <a:solidFill>
                  <a:prstClr val="black"/>
                </a:solidFill>
              </a:rPr>
              <a:t>Robot Arm 1</a:t>
            </a:r>
            <a:endParaRPr lang="zh-CN" altLang="en-US" sz="1400" dirty="0">
              <a:solidFill>
                <a:prstClr val="black"/>
              </a:solidFill>
            </a:endParaRPr>
          </a:p>
        </p:txBody>
      </p:sp>
      <p:sp>
        <p:nvSpPr>
          <p:cNvPr id="42" name="文本框 41"/>
          <p:cNvSpPr txBox="1"/>
          <p:nvPr/>
        </p:nvSpPr>
        <p:spPr>
          <a:xfrm>
            <a:off x="411310" y="4486346"/>
            <a:ext cx="1127761" cy="307777"/>
          </a:xfrm>
          <a:prstGeom prst="rect">
            <a:avLst/>
          </a:prstGeom>
          <a:noFill/>
        </p:spPr>
        <p:txBody>
          <a:bodyPr wrap="square" rtlCol="0">
            <a:spAutoFit/>
          </a:bodyPr>
          <a:lstStyle/>
          <a:p>
            <a:r>
              <a:rPr lang="en-US" altLang="zh-CN" sz="1400" b="1" dirty="0">
                <a:solidFill>
                  <a:prstClr val="black"/>
                </a:solidFill>
              </a:rPr>
              <a:t>Robot Arm y</a:t>
            </a:r>
            <a:endParaRPr lang="zh-CN" altLang="en-US" sz="1400" dirty="0">
              <a:solidFill>
                <a:prstClr val="black"/>
              </a:solidFill>
            </a:endParaRPr>
          </a:p>
        </p:txBody>
      </p:sp>
      <p:sp>
        <p:nvSpPr>
          <p:cNvPr id="43" name="文本框 42"/>
          <p:cNvSpPr txBox="1"/>
          <p:nvPr/>
        </p:nvSpPr>
        <p:spPr>
          <a:xfrm>
            <a:off x="0" y="1087817"/>
            <a:ext cx="2057060" cy="523220"/>
          </a:xfrm>
          <a:prstGeom prst="rect">
            <a:avLst/>
          </a:prstGeom>
          <a:noFill/>
        </p:spPr>
        <p:txBody>
          <a:bodyPr wrap="square" rtlCol="0">
            <a:spAutoFit/>
          </a:bodyPr>
          <a:lstStyle/>
          <a:p>
            <a:r>
              <a:rPr lang="en-US" altLang="zh-CN" sz="1400" b="1" dirty="0"/>
              <a:t>Coordinator: </a:t>
            </a:r>
          </a:p>
          <a:p>
            <a:r>
              <a:rPr lang="en-US" altLang="zh-CN" sz="1400" b="1" dirty="0"/>
              <a:t>Scheduling System</a:t>
            </a:r>
            <a:endParaRPr lang="zh-CN" altLang="en-US" sz="1400" b="1" dirty="0"/>
          </a:p>
        </p:txBody>
      </p:sp>
      <p:cxnSp>
        <p:nvCxnSpPr>
          <p:cNvPr id="47" name="直接连接符 46"/>
          <p:cNvCxnSpPr/>
          <p:nvPr/>
        </p:nvCxnSpPr>
        <p:spPr>
          <a:xfrm>
            <a:off x="4926143" y="1087817"/>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825584" y="1087817"/>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8709286" y="1087817"/>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1134383" y="596486"/>
            <a:ext cx="2065676" cy="738664"/>
          </a:xfrm>
          <a:prstGeom prst="rect">
            <a:avLst/>
          </a:prstGeom>
          <a:solidFill>
            <a:schemeClr val="accent4">
              <a:lumMod val="20000"/>
              <a:lumOff val="80000"/>
            </a:schemeClr>
          </a:solidFill>
        </p:spPr>
        <p:txBody>
          <a:bodyPr wrap="square" rtlCol="0">
            <a:spAutoFit/>
          </a:bodyPr>
          <a:lstStyle/>
          <a:p>
            <a:r>
              <a:rPr lang="en-US" altLang="zh-CN" sz="1400" b="1" dirty="0">
                <a:solidFill>
                  <a:prstClr val="black"/>
                </a:solidFill>
              </a:rPr>
              <a:t>Request message: </a:t>
            </a:r>
          </a:p>
          <a:p>
            <a:r>
              <a:rPr lang="en-US" altLang="zh-CN" sz="1400" b="1" dirty="0">
                <a:solidFill>
                  <a:prstClr val="black"/>
                </a:solidFill>
              </a:rPr>
              <a:t>Task 1 assigned to AGV 1 and Robot Arm1</a:t>
            </a:r>
            <a:endParaRPr lang="zh-CN" altLang="en-US" sz="1400" b="1" dirty="0">
              <a:solidFill>
                <a:prstClr val="black"/>
              </a:solidFill>
            </a:endParaRPr>
          </a:p>
        </p:txBody>
      </p:sp>
      <p:cxnSp>
        <p:nvCxnSpPr>
          <p:cNvPr id="7" name="直接连接符 6"/>
          <p:cNvCxnSpPr/>
          <p:nvPr/>
        </p:nvCxnSpPr>
        <p:spPr>
          <a:xfrm>
            <a:off x="3012243" y="1087817"/>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3012243" y="1335150"/>
            <a:ext cx="1799600" cy="86184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012243" y="1349427"/>
            <a:ext cx="1799600" cy="163658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3012243" y="1349427"/>
            <a:ext cx="1799600" cy="246681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3012243" y="1349427"/>
            <a:ext cx="1799600" cy="329393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4926143" y="1348468"/>
            <a:ext cx="1507995" cy="84852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4926142" y="1340125"/>
            <a:ext cx="1649094" cy="163565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4926141" y="1348468"/>
            <a:ext cx="1754330" cy="245442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V="1">
            <a:off x="4926140" y="1335150"/>
            <a:ext cx="1862132" cy="329485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4926139" y="2186768"/>
            <a:ext cx="1611786" cy="80003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4926138" y="2210932"/>
            <a:ext cx="1870250" cy="158756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a:off x="4926137" y="2207224"/>
            <a:ext cx="1870251" cy="24215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flipV="1">
            <a:off x="4918017" y="2195109"/>
            <a:ext cx="1657219" cy="78033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4934263" y="2975440"/>
            <a:ext cx="1762276" cy="8354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a:off x="4934262" y="2981960"/>
            <a:ext cx="1726714" cy="164027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V="1">
            <a:off x="4926136" y="2192947"/>
            <a:ext cx="1762287" cy="163850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V="1">
            <a:off x="4926135" y="2992189"/>
            <a:ext cx="1749487" cy="81945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4934261" y="3815902"/>
            <a:ext cx="1603666" cy="80786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flipV="1">
            <a:off x="4917078" y="2195660"/>
            <a:ext cx="1856246" cy="242657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V="1">
            <a:off x="4934260" y="2987540"/>
            <a:ext cx="1867516" cy="16486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4934259" y="3822016"/>
            <a:ext cx="1603666" cy="80021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flipV="1">
            <a:off x="6840042" y="1348468"/>
            <a:ext cx="1507995" cy="84852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p:nvPr/>
        </p:nvCxnSpPr>
        <p:spPr>
          <a:xfrm flipV="1">
            <a:off x="6840041" y="1340125"/>
            <a:ext cx="1649094" cy="163565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p:nvPr/>
        </p:nvCxnSpPr>
        <p:spPr>
          <a:xfrm flipV="1">
            <a:off x="6840040" y="1348468"/>
            <a:ext cx="1754330" cy="245442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p:nvPr/>
        </p:nvCxnSpPr>
        <p:spPr>
          <a:xfrm flipV="1">
            <a:off x="6840039" y="1335150"/>
            <a:ext cx="1862132" cy="32948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p:nvPr/>
        </p:nvCxnSpPr>
        <p:spPr>
          <a:xfrm>
            <a:off x="6840038" y="2186768"/>
            <a:ext cx="1611786" cy="80003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p:nvPr/>
        </p:nvCxnSpPr>
        <p:spPr>
          <a:xfrm>
            <a:off x="6840037" y="2210932"/>
            <a:ext cx="1870250" cy="158756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p:nvPr/>
        </p:nvCxnSpPr>
        <p:spPr>
          <a:xfrm>
            <a:off x="6840036" y="2207224"/>
            <a:ext cx="1870251" cy="24215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p:nvPr/>
        </p:nvCxnSpPr>
        <p:spPr>
          <a:xfrm flipV="1">
            <a:off x="6831916" y="2195109"/>
            <a:ext cx="1657219" cy="78033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6848162" y="2975440"/>
            <a:ext cx="1762276" cy="8354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848161" y="2981960"/>
            <a:ext cx="1726714" cy="164027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flipV="1">
            <a:off x="6840035" y="2192947"/>
            <a:ext cx="1762287" cy="163850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p:nvPr/>
        </p:nvCxnSpPr>
        <p:spPr>
          <a:xfrm flipV="1">
            <a:off x="6840034" y="2992189"/>
            <a:ext cx="1749487" cy="81945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6848160" y="3815902"/>
            <a:ext cx="1603666" cy="80786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V="1">
            <a:off x="6830977" y="2195660"/>
            <a:ext cx="1856246" cy="242657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flipV="1">
            <a:off x="6848159" y="2987540"/>
            <a:ext cx="1867516" cy="16486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p:nvPr/>
        </p:nvCxnSpPr>
        <p:spPr>
          <a:xfrm flipV="1">
            <a:off x="6848158" y="3822016"/>
            <a:ext cx="1603666" cy="80021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p:nvPr/>
        </p:nvCxnSpPr>
        <p:spPr>
          <a:xfrm>
            <a:off x="6822732" y="1335150"/>
            <a:ext cx="1799600" cy="86184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0" name="直接箭头连接符 149"/>
          <p:cNvCxnSpPr/>
          <p:nvPr/>
        </p:nvCxnSpPr>
        <p:spPr>
          <a:xfrm>
            <a:off x="6822732" y="1349427"/>
            <a:ext cx="1799600" cy="163658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6822732" y="1349427"/>
            <a:ext cx="1799600" cy="246681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a:off x="6822732" y="1349427"/>
            <a:ext cx="1799600" cy="329393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3" name="直接箭头连接符 152"/>
          <p:cNvCxnSpPr/>
          <p:nvPr/>
        </p:nvCxnSpPr>
        <p:spPr>
          <a:xfrm flipV="1">
            <a:off x="8752117" y="1348468"/>
            <a:ext cx="1507995" cy="84852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p:nvPr/>
        </p:nvCxnSpPr>
        <p:spPr>
          <a:xfrm flipV="1">
            <a:off x="8752116" y="1340125"/>
            <a:ext cx="1649094" cy="163565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p:nvPr/>
        </p:nvCxnSpPr>
        <p:spPr>
          <a:xfrm flipV="1">
            <a:off x="8752115" y="1348468"/>
            <a:ext cx="1754330" cy="245442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p:nvPr/>
        </p:nvCxnSpPr>
        <p:spPr>
          <a:xfrm flipV="1">
            <a:off x="8752114" y="1335150"/>
            <a:ext cx="1862132" cy="329485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2717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1511643" y="920802"/>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511643" y="255738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511643" y="421473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712513" y="2403495"/>
            <a:ext cx="761386" cy="307777"/>
          </a:xfrm>
          <a:prstGeom prst="rect">
            <a:avLst/>
          </a:prstGeom>
          <a:noFill/>
        </p:spPr>
        <p:txBody>
          <a:bodyPr wrap="square" rtlCol="0">
            <a:spAutoFit/>
          </a:bodyPr>
          <a:lstStyle/>
          <a:p>
            <a:r>
              <a:rPr lang="en-US" altLang="zh-CN" sz="1400" b="1" dirty="0">
                <a:solidFill>
                  <a:prstClr val="black"/>
                </a:solidFill>
              </a:rPr>
              <a:t>AGV x</a:t>
            </a:r>
            <a:endParaRPr lang="zh-CN" altLang="en-US" sz="1400" dirty="0">
              <a:solidFill>
                <a:prstClr val="black"/>
              </a:solidFill>
            </a:endParaRPr>
          </a:p>
        </p:txBody>
      </p:sp>
      <p:sp>
        <p:nvSpPr>
          <p:cNvPr id="42" name="文本框 41"/>
          <p:cNvSpPr txBox="1"/>
          <p:nvPr/>
        </p:nvSpPr>
        <p:spPr>
          <a:xfrm>
            <a:off x="346138" y="4057721"/>
            <a:ext cx="1127761" cy="307777"/>
          </a:xfrm>
          <a:prstGeom prst="rect">
            <a:avLst/>
          </a:prstGeom>
          <a:noFill/>
        </p:spPr>
        <p:txBody>
          <a:bodyPr wrap="square" rtlCol="0">
            <a:spAutoFit/>
          </a:bodyPr>
          <a:lstStyle/>
          <a:p>
            <a:r>
              <a:rPr lang="en-US" altLang="zh-CN" sz="1400" b="1" dirty="0">
                <a:solidFill>
                  <a:prstClr val="black"/>
                </a:solidFill>
              </a:rPr>
              <a:t>Robot Arm y</a:t>
            </a:r>
            <a:endParaRPr lang="zh-CN" altLang="en-US" sz="1400" dirty="0">
              <a:solidFill>
                <a:prstClr val="black"/>
              </a:solidFill>
            </a:endParaRPr>
          </a:p>
        </p:txBody>
      </p:sp>
      <p:sp>
        <p:nvSpPr>
          <p:cNvPr id="43" name="文本框 42"/>
          <p:cNvSpPr txBox="1"/>
          <p:nvPr/>
        </p:nvSpPr>
        <p:spPr>
          <a:xfrm>
            <a:off x="-28747" y="659192"/>
            <a:ext cx="2057060" cy="523220"/>
          </a:xfrm>
          <a:prstGeom prst="rect">
            <a:avLst/>
          </a:prstGeom>
          <a:noFill/>
        </p:spPr>
        <p:txBody>
          <a:bodyPr wrap="square" rtlCol="0">
            <a:spAutoFit/>
          </a:bodyPr>
          <a:lstStyle/>
          <a:p>
            <a:r>
              <a:rPr lang="zh-CN" altLang="en-US" sz="1400" b="1" dirty="0"/>
              <a:t>协调者：</a:t>
            </a:r>
            <a:r>
              <a:rPr lang="en-US" altLang="zh-CN" sz="1400" b="1" dirty="0"/>
              <a:t> </a:t>
            </a:r>
          </a:p>
          <a:p>
            <a:r>
              <a:rPr lang="zh-CN" altLang="en-US" sz="1400" b="1" dirty="0"/>
              <a:t>调度系统</a:t>
            </a:r>
          </a:p>
        </p:txBody>
      </p:sp>
      <p:cxnSp>
        <p:nvCxnSpPr>
          <p:cNvPr id="47" name="直接连接符 46"/>
          <p:cNvCxnSpPr/>
          <p:nvPr/>
        </p:nvCxnSpPr>
        <p:spPr>
          <a:xfrm>
            <a:off x="49887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888178"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8771880"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1015871" y="167861"/>
            <a:ext cx="2065676" cy="738664"/>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请求：</a:t>
            </a:r>
            <a:endParaRPr lang="en-US" altLang="zh-CN" sz="1400" b="1" dirty="0">
              <a:solidFill>
                <a:prstClr val="black"/>
              </a:solidFill>
            </a:endParaRPr>
          </a:p>
          <a:p>
            <a:r>
              <a:rPr lang="en-US" altLang="zh-CN" sz="1400" b="1" dirty="0">
                <a:solidFill>
                  <a:prstClr val="black"/>
                </a:solidFill>
              </a:rPr>
              <a:t>Task 1 assigned to AGV 1 and Robot Arm 1</a:t>
            </a:r>
            <a:endParaRPr lang="zh-CN" altLang="en-US" sz="1400" b="1" dirty="0">
              <a:solidFill>
                <a:prstClr val="black"/>
              </a:solidFill>
            </a:endParaRPr>
          </a:p>
        </p:txBody>
      </p:sp>
      <p:cxnSp>
        <p:nvCxnSpPr>
          <p:cNvPr id="7" name="直接连接符 6"/>
          <p:cNvCxnSpPr/>
          <p:nvPr/>
        </p:nvCxnSpPr>
        <p:spPr>
          <a:xfrm>
            <a:off x="30748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074837" y="920802"/>
            <a:ext cx="1799600" cy="163658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3074837" y="920802"/>
            <a:ext cx="1799600" cy="329393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4988736" y="911500"/>
            <a:ext cx="1649094" cy="163565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V="1">
            <a:off x="4988734" y="906525"/>
            <a:ext cx="1862132" cy="32948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a:off x="4996856" y="2553335"/>
            <a:ext cx="1726714" cy="164027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V="1">
            <a:off x="4996854" y="2558915"/>
            <a:ext cx="1867516" cy="16486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p:nvPr/>
        </p:nvCxnSpPr>
        <p:spPr>
          <a:xfrm flipV="1">
            <a:off x="6902635" y="911500"/>
            <a:ext cx="1649094" cy="163565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p:nvPr/>
        </p:nvCxnSpPr>
        <p:spPr>
          <a:xfrm flipV="1">
            <a:off x="6902633" y="906525"/>
            <a:ext cx="1862132" cy="32948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910755" y="2553335"/>
            <a:ext cx="1726714" cy="164027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7" name="直接箭头连接符 146"/>
          <p:cNvCxnSpPr/>
          <p:nvPr/>
        </p:nvCxnSpPr>
        <p:spPr>
          <a:xfrm flipV="1">
            <a:off x="6910753" y="2558915"/>
            <a:ext cx="1867516" cy="164863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0" name="直接箭头连接符 149"/>
          <p:cNvCxnSpPr/>
          <p:nvPr/>
        </p:nvCxnSpPr>
        <p:spPr>
          <a:xfrm>
            <a:off x="6885326" y="920802"/>
            <a:ext cx="1799600" cy="1636582"/>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a:off x="6885326" y="920802"/>
            <a:ext cx="1799600" cy="3293932"/>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p:nvPr/>
        </p:nvCxnSpPr>
        <p:spPr>
          <a:xfrm flipV="1">
            <a:off x="8814710" y="911500"/>
            <a:ext cx="1649094" cy="163565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p:nvPr/>
        </p:nvCxnSpPr>
        <p:spPr>
          <a:xfrm flipV="1">
            <a:off x="8814708" y="906525"/>
            <a:ext cx="1862132" cy="329485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sp>
        <p:nvSpPr>
          <p:cNvPr id="2" name="左大括号 1"/>
          <p:cNvSpPr/>
          <p:nvPr/>
        </p:nvSpPr>
        <p:spPr>
          <a:xfrm rot="5400000">
            <a:off x="5809062" y="-2266043"/>
            <a:ext cx="228600" cy="5697043"/>
          </a:xfrm>
          <a:prstGeom prst="leftBrace">
            <a:avLst>
              <a:gd name="adj1" fmla="val 6944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文本框 62"/>
          <p:cNvSpPr txBox="1"/>
          <p:nvPr/>
        </p:nvSpPr>
        <p:spPr>
          <a:xfrm>
            <a:off x="4358969" y="154225"/>
            <a:ext cx="3312053" cy="307777"/>
          </a:xfrm>
          <a:prstGeom prst="rect">
            <a:avLst/>
          </a:prstGeom>
          <a:noFill/>
        </p:spPr>
        <p:txBody>
          <a:bodyPr wrap="square" rtlCol="0">
            <a:spAutoFit/>
          </a:bodyPr>
          <a:lstStyle/>
          <a:p>
            <a:r>
              <a:rPr lang="zh-CN" altLang="en-US" sz="1400" b="1" dirty="0">
                <a:solidFill>
                  <a:prstClr val="black"/>
                </a:solidFill>
              </a:rPr>
              <a:t>实用拜占庭（</a:t>
            </a:r>
            <a:r>
              <a:rPr lang="en-US" altLang="zh-CN" sz="1400" b="1" dirty="0">
                <a:solidFill>
                  <a:prstClr val="black"/>
                </a:solidFill>
              </a:rPr>
              <a:t>PBFT</a:t>
            </a:r>
            <a:r>
              <a:rPr lang="zh-CN" altLang="en-US" sz="1400" b="1" dirty="0">
                <a:solidFill>
                  <a:prstClr val="black"/>
                </a:solidFill>
              </a:rPr>
              <a:t>）处理请求的</a:t>
            </a:r>
            <a:r>
              <a:rPr lang="en-US" altLang="zh-CN" sz="1400" b="1" dirty="0">
                <a:solidFill>
                  <a:prstClr val="black"/>
                </a:solidFill>
              </a:rPr>
              <a:t>3</a:t>
            </a:r>
            <a:r>
              <a:rPr lang="zh-CN" altLang="en-US" sz="1400" b="1" dirty="0">
                <a:solidFill>
                  <a:prstClr val="black"/>
                </a:solidFill>
              </a:rPr>
              <a:t>个阶段</a:t>
            </a:r>
            <a:endParaRPr lang="zh-CN" altLang="en-US" sz="1400" dirty="0">
              <a:solidFill>
                <a:prstClr val="black"/>
              </a:solidFill>
            </a:endParaRPr>
          </a:p>
        </p:txBody>
      </p:sp>
      <p:sp>
        <p:nvSpPr>
          <p:cNvPr id="66" name="文本框 65"/>
          <p:cNvSpPr txBox="1"/>
          <p:nvPr/>
        </p:nvSpPr>
        <p:spPr>
          <a:xfrm>
            <a:off x="3539486" y="616150"/>
            <a:ext cx="1080846" cy="307777"/>
          </a:xfrm>
          <a:prstGeom prst="rect">
            <a:avLst/>
          </a:prstGeom>
          <a:noFill/>
        </p:spPr>
        <p:txBody>
          <a:bodyPr wrap="square" rtlCol="0">
            <a:spAutoFit/>
          </a:bodyPr>
          <a:lstStyle/>
          <a:p>
            <a:r>
              <a:rPr lang="en-US" altLang="zh-CN" sz="1400" b="1" dirty="0"/>
              <a:t>pre-prepare</a:t>
            </a:r>
            <a:endParaRPr lang="zh-CN" altLang="en-US" sz="1400" dirty="0">
              <a:solidFill>
                <a:prstClr val="black"/>
              </a:solidFill>
            </a:endParaRPr>
          </a:p>
        </p:txBody>
      </p:sp>
      <p:sp>
        <p:nvSpPr>
          <p:cNvPr id="67" name="文本框 66"/>
          <p:cNvSpPr txBox="1"/>
          <p:nvPr/>
        </p:nvSpPr>
        <p:spPr>
          <a:xfrm>
            <a:off x="5623427" y="616150"/>
            <a:ext cx="891908" cy="307777"/>
          </a:xfrm>
          <a:prstGeom prst="rect">
            <a:avLst/>
          </a:prstGeom>
          <a:noFill/>
        </p:spPr>
        <p:txBody>
          <a:bodyPr wrap="square" rtlCol="0">
            <a:spAutoFit/>
          </a:bodyPr>
          <a:lstStyle/>
          <a:p>
            <a:r>
              <a:rPr lang="en-US" altLang="zh-CN" sz="1400" b="1" dirty="0"/>
              <a:t>prepare</a:t>
            </a:r>
            <a:endParaRPr lang="zh-CN" altLang="en-US" sz="1400" dirty="0">
              <a:solidFill>
                <a:prstClr val="black"/>
              </a:solidFill>
            </a:endParaRPr>
          </a:p>
        </p:txBody>
      </p:sp>
      <p:sp>
        <p:nvSpPr>
          <p:cNvPr id="69" name="文本框 68"/>
          <p:cNvSpPr txBox="1"/>
          <p:nvPr/>
        </p:nvSpPr>
        <p:spPr>
          <a:xfrm>
            <a:off x="7413388" y="616150"/>
            <a:ext cx="891908" cy="307777"/>
          </a:xfrm>
          <a:prstGeom prst="rect">
            <a:avLst/>
          </a:prstGeom>
          <a:noFill/>
        </p:spPr>
        <p:txBody>
          <a:bodyPr wrap="square" rtlCol="0">
            <a:spAutoFit/>
          </a:bodyPr>
          <a:lstStyle/>
          <a:p>
            <a:r>
              <a:rPr lang="en-US" altLang="zh-CN" sz="1400" b="1" dirty="0"/>
              <a:t>commit</a:t>
            </a:r>
            <a:endParaRPr lang="zh-CN" altLang="en-US" sz="1400" dirty="0">
              <a:solidFill>
                <a:prstClr val="black"/>
              </a:solidFill>
            </a:endParaRPr>
          </a:p>
        </p:txBody>
      </p:sp>
      <p:sp>
        <p:nvSpPr>
          <p:cNvPr id="70" name="文本框 69"/>
          <p:cNvSpPr txBox="1"/>
          <p:nvPr/>
        </p:nvSpPr>
        <p:spPr>
          <a:xfrm>
            <a:off x="8829985" y="167861"/>
            <a:ext cx="2343962" cy="738664"/>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响应：</a:t>
            </a:r>
            <a:endParaRPr lang="en-US" altLang="zh-CN" sz="1400" b="1" dirty="0">
              <a:solidFill>
                <a:prstClr val="black"/>
              </a:solidFill>
            </a:endParaRPr>
          </a:p>
          <a:p>
            <a:r>
              <a:rPr lang="en-US" altLang="zh-CN" sz="1400" b="1" dirty="0">
                <a:solidFill>
                  <a:prstClr val="black"/>
                </a:solidFill>
              </a:rPr>
              <a:t>Successful (Task 1 assigned to AGV 1 and Robot Arm 1)</a:t>
            </a:r>
            <a:endParaRPr lang="zh-CN" altLang="en-US" sz="1400" b="1" dirty="0">
              <a:solidFill>
                <a:prstClr val="black"/>
              </a:solidFill>
            </a:endParaRPr>
          </a:p>
        </p:txBody>
      </p:sp>
      <p:sp>
        <p:nvSpPr>
          <p:cNvPr id="72" name="文本框 71"/>
          <p:cNvSpPr txBox="1"/>
          <p:nvPr/>
        </p:nvSpPr>
        <p:spPr>
          <a:xfrm>
            <a:off x="712513" y="1639065"/>
            <a:ext cx="761386" cy="307777"/>
          </a:xfrm>
          <a:prstGeom prst="rect">
            <a:avLst/>
          </a:prstGeom>
          <a:noFill/>
        </p:spPr>
        <p:txBody>
          <a:bodyPr wrap="square" rtlCol="0">
            <a:spAutoFit/>
          </a:bodyPr>
          <a:lstStyle/>
          <a:p>
            <a:r>
              <a:rPr lang="en-US" altLang="zh-CN" sz="1400" b="1" dirty="0">
                <a:solidFill>
                  <a:prstClr val="black"/>
                </a:solidFill>
              </a:rPr>
              <a:t>AGV …</a:t>
            </a:r>
            <a:endParaRPr lang="zh-CN" altLang="en-US" sz="1400" dirty="0">
              <a:solidFill>
                <a:prstClr val="black"/>
              </a:solidFill>
            </a:endParaRPr>
          </a:p>
        </p:txBody>
      </p:sp>
      <p:sp>
        <p:nvSpPr>
          <p:cNvPr id="73" name="文本框 72"/>
          <p:cNvSpPr txBox="1"/>
          <p:nvPr/>
        </p:nvSpPr>
        <p:spPr>
          <a:xfrm>
            <a:off x="346138" y="3323751"/>
            <a:ext cx="1297606" cy="307777"/>
          </a:xfrm>
          <a:prstGeom prst="rect">
            <a:avLst/>
          </a:prstGeom>
          <a:noFill/>
        </p:spPr>
        <p:txBody>
          <a:bodyPr wrap="square" rtlCol="0">
            <a:spAutoFit/>
          </a:bodyPr>
          <a:lstStyle/>
          <a:p>
            <a:r>
              <a:rPr lang="en-US" altLang="zh-CN" sz="1400" b="1" dirty="0">
                <a:solidFill>
                  <a:prstClr val="black"/>
                </a:solidFill>
              </a:rPr>
              <a:t>Robot Arm …</a:t>
            </a:r>
            <a:endParaRPr lang="zh-CN" altLang="en-US" sz="1400" dirty="0">
              <a:solidFill>
                <a:prstClr val="black"/>
              </a:solidFill>
            </a:endParaRPr>
          </a:p>
        </p:txBody>
      </p:sp>
      <p:sp>
        <p:nvSpPr>
          <p:cNvPr id="75" name="文本框 74"/>
          <p:cNvSpPr txBox="1"/>
          <p:nvPr/>
        </p:nvSpPr>
        <p:spPr>
          <a:xfrm>
            <a:off x="2095181" y="4406579"/>
            <a:ext cx="2950707" cy="2031325"/>
          </a:xfrm>
          <a:prstGeom prst="rect">
            <a:avLst/>
          </a:prstGeom>
          <a:noFill/>
        </p:spPr>
        <p:txBody>
          <a:bodyPr wrap="square" rtlCol="0">
            <a:spAutoFit/>
          </a:bodyPr>
          <a:lstStyle/>
          <a:p>
            <a:r>
              <a:rPr lang="zh-CN" altLang="en-US" sz="1400" dirty="0"/>
              <a:t>调度系统广播消息：</a:t>
            </a:r>
            <a:endParaRPr lang="en-US" altLang="zh-CN" sz="1400" dirty="0"/>
          </a:p>
          <a:p>
            <a:r>
              <a:rPr lang="en-US" altLang="zh-CN" sz="1400" b="1" dirty="0"/>
              <a:t>&lt; &lt;PRE-PREPARE, v, n, d&gt;, m &gt;</a:t>
            </a:r>
          </a:p>
          <a:p>
            <a:r>
              <a:rPr lang="zh-CN" altLang="en-US" sz="1400" dirty="0"/>
              <a:t>其中：</a:t>
            </a:r>
            <a:endParaRPr lang="en-US" altLang="zh-CN" sz="1400" dirty="0"/>
          </a:p>
          <a:p>
            <a:r>
              <a:rPr lang="en-US" altLang="zh-CN" sz="1400" dirty="0">
                <a:solidFill>
                  <a:prstClr val="black"/>
                </a:solidFill>
              </a:rPr>
              <a:t>-v</a:t>
            </a:r>
            <a:r>
              <a:rPr lang="zh-CN" altLang="en-US" sz="1400" dirty="0">
                <a:solidFill>
                  <a:prstClr val="black"/>
                </a:solidFill>
              </a:rPr>
              <a:t>：当前视图编号；</a:t>
            </a:r>
            <a:endParaRPr lang="en-US" altLang="zh-CN" sz="1400" dirty="0">
              <a:solidFill>
                <a:prstClr val="black"/>
              </a:solidFill>
            </a:endParaRPr>
          </a:p>
          <a:p>
            <a:r>
              <a:rPr lang="en-US" altLang="zh-CN" sz="1400" dirty="0">
                <a:solidFill>
                  <a:prstClr val="black"/>
                </a:solidFill>
              </a:rPr>
              <a:t>-n</a:t>
            </a:r>
            <a:r>
              <a:rPr lang="zh-CN" altLang="en-US" sz="1400" dirty="0">
                <a:solidFill>
                  <a:prstClr val="black"/>
                </a:solidFill>
              </a:rPr>
              <a:t>：</a:t>
            </a:r>
            <a:r>
              <a:rPr lang="zh-CN" altLang="en-US" sz="1400" dirty="0"/>
              <a:t>来自主节点（调度系统）的唯一递增序列号；</a:t>
            </a:r>
            <a:endParaRPr lang="en-US" altLang="zh-CN" sz="1400" dirty="0"/>
          </a:p>
          <a:p>
            <a:r>
              <a:rPr lang="en-US" altLang="zh-CN" sz="1400" dirty="0">
                <a:solidFill>
                  <a:prstClr val="black"/>
                </a:solidFill>
              </a:rPr>
              <a:t>-d</a:t>
            </a:r>
            <a:r>
              <a:rPr lang="zh-CN" altLang="en-US" sz="1400" dirty="0">
                <a:solidFill>
                  <a:prstClr val="black"/>
                </a:solidFill>
              </a:rPr>
              <a:t>：消息摘要；</a:t>
            </a:r>
            <a:endParaRPr lang="en-US" altLang="zh-CN" sz="1400" dirty="0">
              <a:solidFill>
                <a:prstClr val="black"/>
              </a:solidFill>
            </a:endParaRPr>
          </a:p>
          <a:p>
            <a:r>
              <a:rPr lang="en-US" altLang="zh-CN" sz="1400" dirty="0">
                <a:solidFill>
                  <a:prstClr val="black"/>
                </a:solidFill>
              </a:rPr>
              <a:t>-m</a:t>
            </a:r>
            <a:r>
              <a:rPr lang="zh-CN" altLang="en-US" sz="1400" dirty="0">
                <a:solidFill>
                  <a:prstClr val="black"/>
                </a:solidFill>
              </a:rPr>
              <a:t>：消息体，比如：</a:t>
            </a:r>
            <a:r>
              <a:rPr lang="en-US" altLang="zh-CN" sz="1400" dirty="0">
                <a:solidFill>
                  <a:prstClr val="black"/>
                </a:solidFill>
              </a:rPr>
              <a:t>Task 1 assigned to AGV 1 and Robot Arm 1</a:t>
            </a:r>
            <a:endParaRPr lang="zh-CN" altLang="en-US" sz="1400" dirty="0">
              <a:solidFill>
                <a:prstClr val="black"/>
              </a:solidFill>
            </a:endParaRPr>
          </a:p>
        </p:txBody>
      </p:sp>
      <p:sp>
        <p:nvSpPr>
          <p:cNvPr id="78" name="文本框 77"/>
          <p:cNvSpPr txBox="1"/>
          <p:nvPr/>
        </p:nvSpPr>
        <p:spPr>
          <a:xfrm>
            <a:off x="5075692" y="4361454"/>
            <a:ext cx="2524141" cy="2031325"/>
          </a:xfrm>
          <a:prstGeom prst="rect">
            <a:avLst/>
          </a:prstGeom>
          <a:noFill/>
        </p:spPr>
        <p:txBody>
          <a:bodyPr wrap="square" rtlCol="0">
            <a:spAutoFit/>
          </a:bodyPr>
          <a:lstStyle/>
          <a:p>
            <a:r>
              <a:rPr lang="zh-CN" altLang="en-US" sz="1400" dirty="0"/>
              <a:t>每个节点（</a:t>
            </a:r>
            <a:r>
              <a:rPr lang="en-US" altLang="zh-CN" sz="1400" dirty="0"/>
              <a:t>AGV</a:t>
            </a:r>
            <a:r>
              <a:rPr lang="zh-CN" altLang="en-US" sz="1400" dirty="0"/>
              <a:t>、</a:t>
            </a:r>
            <a:r>
              <a:rPr lang="en-US" altLang="zh-CN" sz="1400" dirty="0"/>
              <a:t>Robot Arm</a:t>
            </a:r>
            <a:r>
              <a:rPr lang="zh-CN" altLang="en-US" sz="1400" dirty="0"/>
              <a:t>）都会基于其历史数据检查消息，包括</a:t>
            </a:r>
            <a:r>
              <a:rPr lang="en-US" altLang="zh-CN" sz="1400" dirty="0"/>
              <a:t>Task 1</a:t>
            </a:r>
            <a:r>
              <a:rPr lang="zh-CN" altLang="en-US" sz="1400" dirty="0"/>
              <a:t>是否尚未完成，以及</a:t>
            </a:r>
            <a:r>
              <a:rPr lang="en-US" altLang="zh-CN" sz="1400" dirty="0"/>
              <a:t>AGV 1/Robot Arm 1</a:t>
            </a:r>
            <a:r>
              <a:rPr lang="zh-CN" altLang="en-US" sz="1400" dirty="0"/>
              <a:t>是否可用；如果确认无误，该节点将广播消息：</a:t>
            </a:r>
            <a:endParaRPr lang="en-US" altLang="zh-CN" sz="1400" dirty="0"/>
          </a:p>
          <a:p>
            <a:r>
              <a:rPr lang="en-US" altLang="zh-CN" sz="1400" b="1" dirty="0"/>
              <a:t>&lt; &lt;PREPARE, v, n, d&gt;, </a:t>
            </a:r>
            <a:r>
              <a:rPr lang="en-US" altLang="zh-CN" sz="1400" b="1" dirty="0" err="1"/>
              <a:t>i</a:t>
            </a:r>
            <a:r>
              <a:rPr lang="en-US" altLang="zh-CN" sz="1400" b="1" dirty="0"/>
              <a:t> &gt;</a:t>
            </a:r>
          </a:p>
          <a:p>
            <a:r>
              <a:rPr lang="zh-CN" altLang="en-US" sz="1400" dirty="0"/>
              <a:t>其中：</a:t>
            </a:r>
            <a:endParaRPr lang="en-US" altLang="zh-CN" sz="1400" dirty="0"/>
          </a:p>
          <a:p>
            <a:r>
              <a:rPr lang="en-US" altLang="zh-CN" sz="1400" dirty="0">
                <a:solidFill>
                  <a:prstClr val="black"/>
                </a:solidFill>
              </a:rPr>
              <a:t>-</a:t>
            </a:r>
            <a:r>
              <a:rPr lang="en-US" altLang="zh-CN" sz="1400" dirty="0" err="1">
                <a:solidFill>
                  <a:prstClr val="black"/>
                </a:solidFill>
              </a:rPr>
              <a:t>i</a:t>
            </a:r>
            <a:r>
              <a:rPr lang="zh-CN" altLang="en-US" sz="1400" dirty="0">
                <a:solidFill>
                  <a:prstClr val="black"/>
                </a:solidFill>
              </a:rPr>
              <a:t>：该节点的编号</a:t>
            </a:r>
          </a:p>
        </p:txBody>
      </p:sp>
      <p:sp>
        <p:nvSpPr>
          <p:cNvPr id="79" name="文本框 78"/>
          <p:cNvSpPr txBox="1"/>
          <p:nvPr/>
        </p:nvSpPr>
        <p:spPr>
          <a:xfrm>
            <a:off x="7525548" y="4361454"/>
            <a:ext cx="3075777" cy="2246769"/>
          </a:xfrm>
          <a:prstGeom prst="rect">
            <a:avLst/>
          </a:prstGeom>
          <a:noFill/>
        </p:spPr>
        <p:txBody>
          <a:bodyPr wrap="square" rtlCol="0">
            <a:spAutoFit/>
          </a:bodyPr>
          <a:lstStyle/>
          <a:p>
            <a:r>
              <a:rPr lang="zh-CN" altLang="en-US" sz="1400" dirty="0"/>
              <a:t>节点（</a:t>
            </a:r>
            <a:r>
              <a:rPr lang="en-US" altLang="zh-CN" sz="1400" dirty="0"/>
              <a:t>AGV</a:t>
            </a:r>
            <a:r>
              <a:rPr lang="zh-CN" altLang="en-US" sz="1400" dirty="0"/>
              <a:t>、</a:t>
            </a:r>
            <a:r>
              <a:rPr lang="en-US" altLang="zh-CN" sz="1400" dirty="0"/>
              <a:t>Robot Arm</a:t>
            </a:r>
            <a:r>
              <a:rPr lang="zh-CN" altLang="en-US" sz="1400" dirty="0"/>
              <a:t>、调度系统）接收到不少于 </a:t>
            </a:r>
            <a:r>
              <a:rPr lang="en-US" altLang="zh-CN" sz="1400" dirty="0"/>
              <a:t>N*2/3 </a:t>
            </a:r>
            <a:r>
              <a:rPr lang="zh-CN" altLang="en-US" sz="1400" dirty="0"/>
              <a:t>的“</a:t>
            </a:r>
            <a:r>
              <a:rPr lang="en-US" altLang="zh-CN" sz="1400" dirty="0"/>
              <a:t>PREPARE”</a:t>
            </a:r>
            <a:r>
              <a:rPr lang="zh-CN" altLang="en-US" sz="1400" dirty="0"/>
              <a:t>消息后（其中 </a:t>
            </a:r>
            <a:r>
              <a:rPr lang="en-US" altLang="zh-CN" sz="1400" dirty="0"/>
              <a:t>N </a:t>
            </a:r>
            <a:r>
              <a:rPr lang="zh-CN" altLang="en-US" sz="1400" dirty="0"/>
              <a:t>表示所有节点的数量），将进入“提交”（</a:t>
            </a:r>
            <a:r>
              <a:rPr lang="en-US" altLang="zh-CN" sz="1400" dirty="0"/>
              <a:t>commit</a:t>
            </a:r>
            <a:r>
              <a:rPr lang="zh-CN" altLang="en-US" sz="1400" dirty="0"/>
              <a:t>）阶段，该节点将广播消息：</a:t>
            </a:r>
            <a:endParaRPr lang="en-US" altLang="zh-CN" sz="1400" dirty="0"/>
          </a:p>
          <a:p>
            <a:r>
              <a:rPr lang="en-US" altLang="zh-CN" sz="1400" b="1" dirty="0"/>
              <a:t>&lt; &lt;COMMIT, v, n, D(m)&gt;, </a:t>
            </a:r>
            <a:r>
              <a:rPr lang="en-US" altLang="zh-CN" sz="1400" b="1" dirty="0" err="1"/>
              <a:t>i</a:t>
            </a:r>
            <a:r>
              <a:rPr lang="en-US" altLang="zh-CN" sz="1400" b="1" dirty="0"/>
              <a:t> &gt;</a:t>
            </a:r>
          </a:p>
          <a:p>
            <a:r>
              <a:rPr lang="zh-CN" altLang="en-US" sz="1400" dirty="0"/>
              <a:t>其中：</a:t>
            </a:r>
            <a:endParaRPr lang="en-US" altLang="zh-CN" sz="1400" dirty="0"/>
          </a:p>
          <a:p>
            <a:r>
              <a:rPr lang="en-US" altLang="zh-CN" sz="1400" dirty="0">
                <a:solidFill>
                  <a:prstClr val="black"/>
                </a:solidFill>
              </a:rPr>
              <a:t>-D(m)</a:t>
            </a:r>
            <a:r>
              <a:rPr lang="zh-CN" altLang="en-US" sz="1400" dirty="0"/>
              <a:t> ：</a:t>
            </a:r>
            <a:r>
              <a:rPr lang="zh-CN" altLang="en-US" sz="1400" dirty="0">
                <a:solidFill>
                  <a:prstClr val="black"/>
                </a:solidFill>
              </a:rPr>
              <a:t>执行操作，比如记录消息</a:t>
            </a:r>
            <a:r>
              <a:rPr lang="en-US" altLang="zh-CN" sz="1400" dirty="0">
                <a:solidFill>
                  <a:prstClr val="black"/>
                </a:solidFill>
              </a:rPr>
              <a:t>“‘Task 1 assigned to AGV 1 and Robot Arm 1” </a:t>
            </a:r>
            <a:r>
              <a:rPr lang="zh-CN" altLang="en-US" sz="1400" dirty="0">
                <a:solidFill>
                  <a:prstClr val="black"/>
                </a:solidFill>
              </a:rPr>
              <a:t>并更新自身的数据库</a:t>
            </a:r>
          </a:p>
        </p:txBody>
      </p:sp>
      <p:sp>
        <p:nvSpPr>
          <p:cNvPr id="11" name="下箭头 10"/>
          <p:cNvSpPr/>
          <p:nvPr/>
        </p:nvSpPr>
        <p:spPr>
          <a:xfrm rot="10800000">
            <a:off x="3768945" y="4245966"/>
            <a:ext cx="276709" cy="160611"/>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下箭头 80"/>
          <p:cNvSpPr/>
          <p:nvPr/>
        </p:nvSpPr>
        <p:spPr>
          <a:xfrm rot="10800000">
            <a:off x="6185081" y="4245966"/>
            <a:ext cx="276709" cy="160611"/>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下箭头 81"/>
          <p:cNvSpPr/>
          <p:nvPr/>
        </p:nvSpPr>
        <p:spPr>
          <a:xfrm rot="10800000">
            <a:off x="8038132" y="4245966"/>
            <a:ext cx="276709" cy="160611"/>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1814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9"/>
          <p:cNvSpPr txBox="1"/>
          <p:nvPr/>
        </p:nvSpPr>
        <p:spPr>
          <a:xfrm>
            <a:off x="1015871" y="167861"/>
            <a:ext cx="2065676" cy="523220"/>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请求：</a:t>
            </a:r>
            <a:endParaRPr lang="en-US" altLang="zh-CN" sz="1400" b="1" dirty="0">
              <a:solidFill>
                <a:prstClr val="black"/>
              </a:solidFill>
            </a:endParaRPr>
          </a:p>
          <a:p>
            <a:r>
              <a:rPr lang="en-US" altLang="zh-CN" sz="1400" b="1" dirty="0">
                <a:solidFill>
                  <a:prstClr val="black"/>
                </a:solidFill>
              </a:rPr>
              <a:t>AGV 1 abnormal, quit </a:t>
            </a:r>
          </a:p>
        </p:txBody>
      </p:sp>
      <p:sp>
        <p:nvSpPr>
          <p:cNvPr id="70" name="文本框 69"/>
          <p:cNvSpPr txBox="1"/>
          <p:nvPr/>
        </p:nvSpPr>
        <p:spPr>
          <a:xfrm>
            <a:off x="8829985" y="167861"/>
            <a:ext cx="2343962" cy="738664"/>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响应：</a:t>
            </a:r>
            <a:endParaRPr lang="en-US" altLang="zh-CN" sz="1400" b="1" dirty="0">
              <a:solidFill>
                <a:prstClr val="black"/>
              </a:solidFill>
            </a:endParaRPr>
          </a:p>
          <a:p>
            <a:r>
              <a:rPr lang="en-US" altLang="zh-CN" sz="1400" b="1" dirty="0">
                <a:solidFill>
                  <a:prstClr val="black"/>
                </a:solidFill>
              </a:rPr>
              <a:t>Successful (AGV 1 abnormal, quit)</a:t>
            </a:r>
            <a:endParaRPr lang="zh-CN" altLang="en-US" sz="1400" b="1" dirty="0">
              <a:solidFill>
                <a:prstClr val="black"/>
              </a:solidFill>
            </a:endParaRPr>
          </a:p>
        </p:txBody>
      </p:sp>
      <p:cxnSp>
        <p:nvCxnSpPr>
          <p:cNvPr id="41" name="直接连接符 40"/>
          <p:cNvCxnSpPr/>
          <p:nvPr/>
        </p:nvCxnSpPr>
        <p:spPr>
          <a:xfrm>
            <a:off x="1511643" y="920802"/>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511643" y="255738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511643" y="421473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712513" y="2403495"/>
            <a:ext cx="761386" cy="307777"/>
          </a:xfrm>
          <a:prstGeom prst="rect">
            <a:avLst/>
          </a:prstGeom>
          <a:noFill/>
        </p:spPr>
        <p:txBody>
          <a:bodyPr wrap="square" rtlCol="0">
            <a:spAutoFit/>
          </a:bodyPr>
          <a:lstStyle/>
          <a:p>
            <a:r>
              <a:rPr lang="en-US" altLang="zh-CN" sz="1400" b="1" dirty="0">
                <a:solidFill>
                  <a:prstClr val="black"/>
                </a:solidFill>
              </a:rPr>
              <a:t>AGV x</a:t>
            </a:r>
            <a:endParaRPr lang="zh-CN" altLang="en-US" sz="1400" dirty="0">
              <a:solidFill>
                <a:prstClr val="black"/>
              </a:solidFill>
            </a:endParaRPr>
          </a:p>
        </p:txBody>
      </p:sp>
      <p:sp>
        <p:nvSpPr>
          <p:cNvPr id="51" name="文本框 50"/>
          <p:cNvSpPr txBox="1"/>
          <p:nvPr/>
        </p:nvSpPr>
        <p:spPr>
          <a:xfrm>
            <a:off x="346138" y="4057721"/>
            <a:ext cx="1127761" cy="307777"/>
          </a:xfrm>
          <a:prstGeom prst="rect">
            <a:avLst/>
          </a:prstGeom>
          <a:noFill/>
        </p:spPr>
        <p:txBody>
          <a:bodyPr wrap="square" rtlCol="0">
            <a:spAutoFit/>
          </a:bodyPr>
          <a:lstStyle/>
          <a:p>
            <a:r>
              <a:rPr lang="en-US" altLang="zh-CN" sz="1400" b="1" dirty="0">
                <a:solidFill>
                  <a:prstClr val="black"/>
                </a:solidFill>
              </a:rPr>
              <a:t>Robot Arm y</a:t>
            </a:r>
            <a:endParaRPr lang="zh-CN" altLang="en-US" sz="1400" dirty="0">
              <a:solidFill>
                <a:prstClr val="black"/>
              </a:solidFill>
            </a:endParaRPr>
          </a:p>
        </p:txBody>
      </p:sp>
      <p:sp>
        <p:nvSpPr>
          <p:cNvPr id="52" name="文本框 51"/>
          <p:cNvSpPr txBox="1"/>
          <p:nvPr/>
        </p:nvSpPr>
        <p:spPr>
          <a:xfrm>
            <a:off x="58881" y="603394"/>
            <a:ext cx="2057060" cy="523220"/>
          </a:xfrm>
          <a:prstGeom prst="rect">
            <a:avLst/>
          </a:prstGeom>
          <a:noFill/>
        </p:spPr>
        <p:txBody>
          <a:bodyPr wrap="square" rtlCol="0">
            <a:spAutoFit/>
          </a:bodyPr>
          <a:lstStyle/>
          <a:p>
            <a:r>
              <a:rPr lang="zh-CN" altLang="en-US" sz="1400" b="1" dirty="0"/>
              <a:t>协调者：</a:t>
            </a:r>
            <a:r>
              <a:rPr lang="en-US" altLang="zh-CN" sz="1400" b="1" dirty="0"/>
              <a:t> </a:t>
            </a:r>
          </a:p>
          <a:p>
            <a:r>
              <a:rPr lang="zh-CN" altLang="en-US" sz="1400" b="1" dirty="0"/>
              <a:t>调度系统</a:t>
            </a:r>
          </a:p>
        </p:txBody>
      </p:sp>
      <p:cxnSp>
        <p:nvCxnSpPr>
          <p:cNvPr id="54" name="直接连接符 53"/>
          <p:cNvCxnSpPr/>
          <p:nvPr/>
        </p:nvCxnSpPr>
        <p:spPr>
          <a:xfrm>
            <a:off x="49887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888178"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8814710"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30748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8814710" y="920802"/>
            <a:ext cx="1428893" cy="162635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3539486" y="616150"/>
            <a:ext cx="1080846" cy="307777"/>
          </a:xfrm>
          <a:prstGeom prst="rect">
            <a:avLst/>
          </a:prstGeom>
          <a:noFill/>
        </p:spPr>
        <p:txBody>
          <a:bodyPr wrap="square" rtlCol="0">
            <a:spAutoFit/>
          </a:bodyPr>
          <a:lstStyle/>
          <a:p>
            <a:r>
              <a:rPr lang="en-US" altLang="zh-CN" sz="1400" b="1" dirty="0"/>
              <a:t>pre-prepare</a:t>
            </a:r>
            <a:endParaRPr lang="zh-CN" altLang="en-US" sz="1400" dirty="0">
              <a:solidFill>
                <a:prstClr val="black"/>
              </a:solidFill>
            </a:endParaRPr>
          </a:p>
        </p:txBody>
      </p:sp>
      <p:sp>
        <p:nvSpPr>
          <p:cNvPr id="61" name="文本框 60"/>
          <p:cNvSpPr txBox="1"/>
          <p:nvPr/>
        </p:nvSpPr>
        <p:spPr>
          <a:xfrm>
            <a:off x="5623427" y="616150"/>
            <a:ext cx="891908" cy="307777"/>
          </a:xfrm>
          <a:prstGeom prst="rect">
            <a:avLst/>
          </a:prstGeom>
          <a:noFill/>
        </p:spPr>
        <p:txBody>
          <a:bodyPr wrap="square" rtlCol="0">
            <a:spAutoFit/>
          </a:bodyPr>
          <a:lstStyle/>
          <a:p>
            <a:r>
              <a:rPr lang="en-US" altLang="zh-CN" sz="1400" b="1" dirty="0"/>
              <a:t>prepare</a:t>
            </a:r>
            <a:endParaRPr lang="zh-CN" altLang="en-US" sz="1400" dirty="0">
              <a:solidFill>
                <a:prstClr val="black"/>
              </a:solidFill>
            </a:endParaRPr>
          </a:p>
        </p:txBody>
      </p:sp>
      <p:sp>
        <p:nvSpPr>
          <p:cNvPr id="62" name="文本框 61"/>
          <p:cNvSpPr txBox="1"/>
          <p:nvPr/>
        </p:nvSpPr>
        <p:spPr>
          <a:xfrm>
            <a:off x="7413388" y="616150"/>
            <a:ext cx="891908" cy="307777"/>
          </a:xfrm>
          <a:prstGeom prst="rect">
            <a:avLst/>
          </a:prstGeom>
          <a:noFill/>
        </p:spPr>
        <p:txBody>
          <a:bodyPr wrap="square" rtlCol="0">
            <a:spAutoFit/>
          </a:bodyPr>
          <a:lstStyle/>
          <a:p>
            <a:r>
              <a:rPr lang="en-US" altLang="zh-CN" sz="1400" b="1" dirty="0"/>
              <a:t>commit</a:t>
            </a:r>
            <a:endParaRPr lang="zh-CN" altLang="en-US" sz="1400" dirty="0">
              <a:solidFill>
                <a:prstClr val="black"/>
              </a:solidFill>
            </a:endParaRPr>
          </a:p>
        </p:txBody>
      </p:sp>
      <p:sp>
        <p:nvSpPr>
          <p:cNvPr id="64" name="文本框 63"/>
          <p:cNvSpPr txBox="1"/>
          <p:nvPr/>
        </p:nvSpPr>
        <p:spPr>
          <a:xfrm>
            <a:off x="712513" y="1639065"/>
            <a:ext cx="761386" cy="307777"/>
          </a:xfrm>
          <a:prstGeom prst="rect">
            <a:avLst/>
          </a:prstGeom>
          <a:noFill/>
        </p:spPr>
        <p:txBody>
          <a:bodyPr wrap="square" rtlCol="0">
            <a:spAutoFit/>
          </a:bodyPr>
          <a:lstStyle/>
          <a:p>
            <a:r>
              <a:rPr lang="en-US" altLang="zh-CN" sz="1400" b="1" dirty="0">
                <a:solidFill>
                  <a:prstClr val="black"/>
                </a:solidFill>
              </a:rPr>
              <a:t>AGV 1</a:t>
            </a:r>
            <a:endParaRPr lang="zh-CN" altLang="en-US" sz="1400" dirty="0">
              <a:solidFill>
                <a:prstClr val="black"/>
              </a:solidFill>
            </a:endParaRPr>
          </a:p>
        </p:txBody>
      </p:sp>
      <p:sp>
        <p:nvSpPr>
          <p:cNvPr id="68" name="文本框 67"/>
          <p:cNvSpPr txBox="1"/>
          <p:nvPr/>
        </p:nvSpPr>
        <p:spPr>
          <a:xfrm>
            <a:off x="346138" y="3323751"/>
            <a:ext cx="1297606" cy="307777"/>
          </a:xfrm>
          <a:prstGeom prst="rect">
            <a:avLst/>
          </a:prstGeom>
          <a:noFill/>
        </p:spPr>
        <p:txBody>
          <a:bodyPr wrap="square" rtlCol="0">
            <a:spAutoFit/>
          </a:bodyPr>
          <a:lstStyle/>
          <a:p>
            <a:r>
              <a:rPr lang="en-US" altLang="zh-CN" sz="1400" b="1" dirty="0">
                <a:solidFill>
                  <a:prstClr val="black"/>
                </a:solidFill>
              </a:rPr>
              <a:t>Robot Arm 1</a:t>
            </a:r>
            <a:endParaRPr lang="zh-CN" altLang="en-US" sz="1400" dirty="0">
              <a:solidFill>
                <a:prstClr val="black"/>
              </a:solidFill>
            </a:endParaRPr>
          </a:p>
        </p:txBody>
      </p:sp>
      <p:sp>
        <p:nvSpPr>
          <p:cNvPr id="74" name="文本框 73"/>
          <p:cNvSpPr txBox="1"/>
          <p:nvPr/>
        </p:nvSpPr>
        <p:spPr>
          <a:xfrm>
            <a:off x="712513" y="2006050"/>
            <a:ext cx="761386" cy="307777"/>
          </a:xfrm>
          <a:prstGeom prst="rect">
            <a:avLst/>
          </a:prstGeom>
          <a:noFill/>
        </p:spPr>
        <p:txBody>
          <a:bodyPr wrap="square" rtlCol="0">
            <a:spAutoFit/>
          </a:bodyPr>
          <a:lstStyle/>
          <a:p>
            <a:r>
              <a:rPr lang="en-US" altLang="zh-CN" sz="1400" b="1" dirty="0">
                <a:solidFill>
                  <a:prstClr val="black"/>
                </a:solidFill>
              </a:rPr>
              <a:t>AGV …</a:t>
            </a:r>
            <a:endParaRPr lang="zh-CN" altLang="en-US" sz="1400" dirty="0">
              <a:solidFill>
                <a:prstClr val="black"/>
              </a:solidFill>
            </a:endParaRPr>
          </a:p>
        </p:txBody>
      </p:sp>
      <p:cxnSp>
        <p:nvCxnSpPr>
          <p:cNvPr id="76" name="直接连接符 75"/>
          <p:cNvCxnSpPr/>
          <p:nvPr/>
        </p:nvCxnSpPr>
        <p:spPr>
          <a:xfrm>
            <a:off x="1511643" y="1739093"/>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346138" y="3681277"/>
            <a:ext cx="1297606" cy="307777"/>
          </a:xfrm>
          <a:prstGeom prst="rect">
            <a:avLst/>
          </a:prstGeom>
          <a:noFill/>
        </p:spPr>
        <p:txBody>
          <a:bodyPr wrap="square" rtlCol="0">
            <a:spAutoFit/>
          </a:bodyPr>
          <a:lstStyle/>
          <a:p>
            <a:r>
              <a:rPr lang="en-US" altLang="zh-CN" sz="1400" b="1" dirty="0">
                <a:solidFill>
                  <a:prstClr val="black"/>
                </a:solidFill>
              </a:rPr>
              <a:t>Robot Arm …</a:t>
            </a:r>
            <a:endParaRPr lang="zh-CN" altLang="en-US" sz="1400" dirty="0">
              <a:solidFill>
                <a:prstClr val="black"/>
              </a:solidFill>
            </a:endParaRPr>
          </a:p>
        </p:txBody>
      </p:sp>
      <p:cxnSp>
        <p:nvCxnSpPr>
          <p:cNvPr id="80" name="直接连接符 79"/>
          <p:cNvCxnSpPr/>
          <p:nvPr/>
        </p:nvCxnSpPr>
        <p:spPr>
          <a:xfrm>
            <a:off x="1511643" y="3387647"/>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flipH="1">
            <a:off x="8483248" y="931725"/>
            <a:ext cx="214319" cy="160271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flipH="1">
            <a:off x="8622793" y="923986"/>
            <a:ext cx="77476" cy="2468502"/>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H="1">
            <a:off x="8394199" y="927252"/>
            <a:ext cx="296843" cy="81579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8829985" y="906525"/>
            <a:ext cx="877705" cy="83949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V="1">
            <a:off x="8814710" y="934674"/>
            <a:ext cx="1669606" cy="2462523"/>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sp>
        <p:nvSpPr>
          <p:cNvPr id="111" name="右箭头 110"/>
          <p:cNvSpPr/>
          <p:nvPr/>
        </p:nvSpPr>
        <p:spPr>
          <a:xfrm rot="16200000">
            <a:off x="1668730" y="1212029"/>
            <a:ext cx="786329"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137" name="直接箭头连接符 136"/>
          <p:cNvCxnSpPr/>
          <p:nvPr/>
        </p:nvCxnSpPr>
        <p:spPr>
          <a:xfrm flipV="1">
            <a:off x="6891527" y="899512"/>
            <a:ext cx="1231023" cy="163891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p:nvPr/>
        </p:nvCxnSpPr>
        <p:spPr>
          <a:xfrm>
            <a:off x="6885086" y="2550537"/>
            <a:ext cx="387770" cy="82896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p:nvPr/>
        </p:nvCxnSpPr>
        <p:spPr>
          <a:xfrm flipV="1">
            <a:off x="6902883" y="923927"/>
            <a:ext cx="1036489" cy="8063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p:nvPr/>
        </p:nvCxnSpPr>
        <p:spPr>
          <a:xfrm>
            <a:off x="6902883" y="1753971"/>
            <a:ext cx="369973" cy="80658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6945914" y="1754339"/>
            <a:ext cx="1654701" cy="162599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flipV="1">
            <a:off x="6887591" y="1735139"/>
            <a:ext cx="849099" cy="80808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p:nvPr/>
        </p:nvCxnSpPr>
        <p:spPr>
          <a:xfrm flipV="1">
            <a:off x="6892872" y="1722285"/>
            <a:ext cx="1187773" cy="165119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flipV="1">
            <a:off x="6882020" y="917620"/>
            <a:ext cx="1461014" cy="24587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V="1">
            <a:off x="6898956" y="2555730"/>
            <a:ext cx="753857" cy="81775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8" name="直接箭头连接符 147"/>
          <p:cNvCxnSpPr/>
          <p:nvPr/>
        </p:nvCxnSpPr>
        <p:spPr>
          <a:xfrm>
            <a:off x="6928060" y="1736968"/>
            <a:ext cx="1720152" cy="248290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49" name="直接箭头连接符 148"/>
          <p:cNvCxnSpPr/>
          <p:nvPr/>
        </p:nvCxnSpPr>
        <p:spPr>
          <a:xfrm>
            <a:off x="6882732" y="2540476"/>
            <a:ext cx="1577279" cy="165814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a:off x="6885086" y="3379288"/>
            <a:ext cx="1409652" cy="81249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3" name="直接箭头连接符 152"/>
          <p:cNvCxnSpPr/>
          <p:nvPr/>
        </p:nvCxnSpPr>
        <p:spPr>
          <a:xfrm flipV="1">
            <a:off x="6902883" y="917619"/>
            <a:ext cx="1728393" cy="32887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p:nvPr/>
        </p:nvCxnSpPr>
        <p:spPr>
          <a:xfrm flipV="1">
            <a:off x="7231912" y="1736848"/>
            <a:ext cx="1270928" cy="247829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7" name="直接箭头连接符 156"/>
          <p:cNvCxnSpPr/>
          <p:nvPr/>
        </p:nvCxnSpPr>
        <p:spPr>
          <a:xfrm flipV="1">
            <a:off x="7539636" y="2524505"/>
            <a:ext cx="815642" cy="16818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p:nvPr/>
        </p:nvCxnSpPr>
        <p:spPr>
          <a:xfrm flipV="1">
            <a:off x="7896548" y="3370306"/>
            <a:ext cx="374875" cy="87252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p:nvPr/>
        </p:nvCxnSpPr>
        <p:spPr>
          <a:xfrm>
            <a:off x="8703746" y="930105"/>
            <a:ext cx="68138" cy="328462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1" name="直接箭头连接符 180"/>
          <p:cNvCxnSpPr/>
          <p:nvPr/>
        </p:nvCxnSpPr>
        <p:spPr>
          <a:xfrm flipV="1">
            <a:off x="4994421" y="899512"/>
            <a:ext cx="1230616" cy="164546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2" name="直接箭头连接符 181"/>
          <p:cNvCxnSpPr/>
          <p:nvPr/>
        </p:nvCxnSpPr>
        <p:spPr>
          <a:xfrm>
            <a:off x="4989969" y="2550537"/>
            <a:ext cx="385374" cy="82896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3" name="直接箭头连接符 182"/>
          <p:cNvCxnSpPr/>
          <p:nvPr/>
        </p:nvCxnSpPr>
        <p:spPr>
          <a:xfrm flipV="1">
            <a:off x="5005370" y="923927"/>
            <a:ext cx="1036489" cy="8063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4" name="直接箭头连接符 183"/>
          <p:cNvCxnSpPr/>
          <p:nvPr/>
        </p:nvCxnSpPr>
        <p:spPr>
          <a:xfrm>
            <a:off x="5005370" y="1753971"/>
            <a:ext cx="369973" cy="80658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5" name="直接箭头连接符 184"/>
          <p:cNvCxnSpPr/>
          <p:nvPr/>
        </p:nvCxnSpPr>
        <p:spPr>
          <a:xfrm>
            <a:off x="5048401" y="1754339"/>
            <a:ext cx="1654701" cy="162599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6" name="直接箭头连接符 185"/>
          <p:cNvCxnSpPr/>
          <p:nvPr/>
        </p:nvCxnSpPr>
        <p:spPr>
          <a:xfrm flipV="1">
            <a:off x="4990078" y="1735139"/>
            <a:ext cx="849099" cy="80808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7" name="直接箭头连接符 186"/>
          <p:cNvCxnSpPr/>
          <p:nvPr/>
        </p:nvCxnSpPr>
        <p:spPr>
          <a:xfrm flipV="1">
            <a:off x="4996344" y="1722285"/>
            <a:ext cx="1186788" cy="165501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8" name="直接箭头连接符 187"/>
          <p:cNvCxnSpPr/>
          <p:nvPr/>
        </p:nvCxnSpPr>
        <p:spPr>
          <a:xfrm flipV="1">
            <a:off x="4987718" y="917621"/>
            <a:ext cx="1457803" cy="246046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9" name="直接箭头连接符 188"/>
          <p:cNvCxnSpPr/>
          <p:nvPr/>
        </p:nvCxnSpPr>
        <p:spPr>
          <a:xfrm flipV="1">
            <a:off x="4995057" y="2555730"/>
            <a:ext cx="760243" cy="83675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0" name="直接箭头连接符 189"/>
          <p:cNvCxnSpPr/>
          <p:nvPr/>
        </p:nvCxnSpPr>
        <p:spPr>
          <a:xfrm>
            <a:off x="5030547" y="1736968"/>
            <a:ext cx="1720152" cy="248290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1" name="直接箭头连接符 190"/>
          <p:cNvCxnSpPr/>
          <p:nvPr/>
        </p:nvCxnSpPr>
        <p:spPr>
          <a:xfrm>
            <a:off x="4985219" y="2540476"/>
            <a:ext cx="1577279" cy="165814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2" name="直接箭头连接符 191"/>
          <p:cNvCxnSpPr/>
          <p:nvPr/>
        </p:nvCxnSpPr>
        <p:spPr>
          <a:xfrm>
            <a:off x="4985219" y="3390822"/>
            <a:ext cx="1412006" cy="80096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3" name="直接箭头连接符 192"/>
          <p:cNvCxnSpPr/>
          <p:nvPr/>
        </p:nvCxnSpPr>
        <p:spPr>
          <a:xfrm flipV="1">
            <a:off x="5005370" y="917619"/>
            <a:ext cx="1728393" cy="32887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4" name="直接箭头连接符 193"/>
          <p:cNvCxnSpPr/>
          <p:nvPr/>
        </p:nvCxnSpPr>
        <p:spPr>
          <a:xfrm flipV="1">
            <a:off x="5334399" y="1736848"/>
            <a:ext cx="1270928" cy="247829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5" name="直接箭头连接符 194"/>
          <p:cNvCxnSpPr/>
          <p:nvPr/>
        </p:nvCxnSpPr>
        <p:spPr>
          <a:xfrm flipV="1">
            <a:off x="5642123" y="2524505"/>
            <a:ext cx="815642" cy="16818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6" name="直接箭头连接符 195"/>
          <p:cNvCxnSpPr/>
          <p:nvPr/>
        </p:nvCxnSpPr>
        <p:spPr>
          <a:xfrm flipV="1">
            <a:off x="5999035" y="3370306"/>
            <a:ext cx="374875" cy="87252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sp>
        <p:nvSpPr>
          <p:cNvPr id="213" name="左大括号 212"/>
          <p:cNvSpPr/>
          <p:nvPr/>
        </p:nvSpPr>
        <p:spPr>
          <a:xfrm rot="5400000">
            <a:off x="5830476" y="-2287457"/>
            <a:ext cx="228600" cy="5739871"/>
          </a:xfrm>
          <a:prstGeom prst="leftBrace">
            <a:avLst>
              <a:gd name="adj1" fmla="val 6944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4" name="文本框 213"/>
          <p:cNvSpPr txBox="1"/>
          <p:nvPr/>
        </p:nvSpPr>
        <p:spPr>
          <a:xfrm>
            <a:off x="4398276" y="154225"/>
            <a:ext cx="3532208" cy="307777"/>
          </a:xfrm>
          <a:prstGeom prst="rect">
            <a:avLst/>
          </a:prstGeom>
          <a:noFill/>
        </p:spPr>
        <p:txBody>
          <a:bodyPr wrap="square" rtlCol="0">
            <a:spAutoFit/>
          </a:bodyPr>
          <a:lstStyle/>
          <a:p>
            <a:r>
              <a:rPr lang="zh-CN" altLang="en-US" sz="1400" b="1" dirty="0">
                <a:solidFill>
                  <a:prstClr val="black"/>
                </a:solidFill>
              </a:rPr>
              <a:t>实用拜占庭（</a:t>
            </a:r>
            <a:r>
              <a:rPr lang="en-US" altLang="zh-CN" sz="1400" b="1" dirty="0">
                <a:solidFill>
                  <a:prstClr val="black"/>
                </a:solidFill>
              </a:rPr>
              <a:t>PBFT</a:t>
            </a:r>
            <a:r>
              <a:rPr lang="zh-CN" altLang="en-US" sz="1400" b="1" dirty="0">
                <a:solidFill>
                  <a:prstClr val="black"/>
                </a:solidFill>
              </a:rPr>
              <a:t>）处理请求的</a:t>
            </a:r>
            <a:r>
              <a:rPr lang="en-US" altLang="zh-CN" sz="1400" b="1" dirty="0">
                <a:solidFill>
                  <a:prstClr val="black"/>
                </a:solidFill>
              </a:rPr>
              <a:t>3</a:t>
            </a:r>
            <a:r>
              <a:rPr lang="zh-CN" altLang="en-US" sz="1400" b="1" dirty="0">
                <a:solidFill>
                  <a:prstClr val="black"/>
                </a:solidFill>
              </a:rPr>
              <a:t>个阶段</a:t>
            </a:r>
            <a:endParaRPr lang="zh-CN" altLang="en-US" sz="1400" dirty="0">
              <a:solidFill>
                <a:prstClr val="black"/>
              </a:solidFill>
            </a:endParaRPr>
          </a:p>
        </p:txBody>
      </p:sp>
      <p:cxnSp>
        <p:nvCxnSpPr>
          <p:cNvPr id="216" name="直接箭头连接符 215"/>
          <p:cNvCxnSpPr/>
          <p:nvPr/>
        </p:nvCxnSpPr>
        <p:spPr>
          <a:xfrm flipV="1">
            <a:off x="8883150" y="935080"/>
            <a:ext cx="1878071" cy="3263543"/>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7" name="直接箭头连接符 226"/>
          <p:cNvCxnSpPr/>
          <p:nvPr/>
        </p:nvCxnSpPr>
        <p:spPr>
          <a:xfrm flipH="1">
            <a:off x="3924526" y="931725"/>
            <a:ext cx="214319" cy="1602710"/>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8" name="直接箭头连接符 227"/>
          <p:cNvCxnSpPr/>
          <p:nvPr/>
        </p:nvCxnSpPr>
        <p:spPr>
          <a:xfrm flipH="1">
            <a:off x="4064071" y="923986"/>
            <a:ext cx="77476" cy="246850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9" name="直接箭头连接符 228"/>
          <p:cNvCxnSpPr/>
          <p:nvPr/>
        </p:nvCxnSpPr>
        <p:spPr>
          <a:xfrm flipH="1">
            <a:off x="3835477" y="927252"/>
            <a:ext cx="296843" cy="815797"/>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30" name="直接箭头连接符 229"/>
          <p:cNvCxnSpPr/>
          <p:nvPr/>
        </p:nvCxnSpPr>
        <p:spPr>
          <a:xfrm>
            <a:off x="4145024" y="930105"/>
            <a:ext cx="68138" cy="3284629"/>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sp>
        <p:nvSpPr>
          <p:cNvPr id="231" name="文本框 230"/>
          <p:cNvSpPr txBox="1"/>
          <p:nvPr/>
        </p:nvSpPr>
        <p:spPr>
          <a:xfrm>
            <a:off x="90882" y="1131961"/>
            <a:ext cx="2932790" cy="523220"/>
          </a:xfrm>
          <a:prstGeom prst="rect">
            <a:avLst/>
          </a:prstGeom>
          <a:solidFill>
            <a:schemeClr val="bg1">
              <a:lumMod val="95000"/>
            </a:schemeClr>
          </a:solidFill>
        </p:spPr>
        <p:txBody>
          <a:bodyPr wrap="square" rtlCol="0">
            <a:spAutoFit/>
          </a:bodyPr>
          <a:lstStyle/>
          <a:p>
            <a:r>
              <a:rPr lang="en-US" altLang="zh-CN" sz="1400" b="1" dirty="0"/>
              <a:t>AGV 1</a:t>
            </a:r>
            <a:r>
              <a:rPr lang="zh-CN" altLang="en-US" sz="1400" b="1" dirty="0"/>
              <a:t>，或者可能是一个恶意节点，</a:t>
            </a:r>
            <a:endParaRPr lang="en-US" altLang="zh-CN" sz="1400" b="1" dirty="0"/>
          </a:p>
          <a:p>
            <a:r>
              <a:rPr lang="zh-CN" altLang="en-US" sz="1400" b="1" dirty="0"/>
              <a:t>请求调度系统协调其请求</a:t>
            </a:r>
            <a:endParaRPr lang="zh-CN" altLang="en-US" sz="1400" dirty="0">
              <a:solidFill>
                <a:prstClr val="black"/>
              </a:solidFill>
            </a:endParaRPr>
          </a:p>
        </p:txBody>
      </p:sp>
    </p:spTree>
    <p:extLst>
      <p:ext uri="{BB962C8B-B14F-4D97-AF65-F5344CB8AC3E}">
        <p14:creationId xmlns:p14="http://schemas.microsoft.com/office/powerpoint/2010/main" val="2832693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p:cNvSpPr txBox="1"/>
          <p:nvPr/>
        </p:nvSpPr>
        <p:spPr>
          <a:xfrm>
            <a:off x="8829985" y="167861"/>
            <a:ext cx="2343962" cy="738664"/>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响应：</a:t>
            </a:r>
            <a:endParaRPr lang="en-US" altLang="zh-CN" sz="1400" b="1" dirty="0">
              <a:solidFill>
                <a:prstClr val="black"/>
              </a:solidFill>
            </a:endParaRPr>
          </a:p>
          <a:p>
            <a:r>
              <a:rPr lang="en-US" altLang="zh-CN" sz="1400" b="1" dirty="0">
                <a:solidFill>
                  <a:prstClr val="black"/>
                </a:solidFill>
              </a:rPr>
              <a:t>Successful (AGV 1 abnormal, quit)</a:t>
            </a:r>
            <a:endParaRPr lang="zh-CN" altLang="en-US" sz="1400" b="1" dirty="0">
              <a:solidFill>
                <a:prstClr val="black"/>
              </a:solidFill>
            </a:endParaRPr>
          </a:p>
        </p:txBody>
      </p:sp>
      <p:cxnSp>
        <p:nvCxnSpPr>
          <p:cNvPr id="148" name="直接连接符 147"/>
          <p:cNvCxnSpPr/>
          <p:nvPr/>
        </p:nvCxnSpPr>
        <p:spPr>
          <a:xfrm>
            <a:off x="1511643" y="920802"/>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1511643" y="255738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511643" y="4214734"/>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文本框 152"/>
          <p:cNvSpPr txBox="1"/>
          <p:nvPr/>
        </p:nvSpPr>
        <p:spPr>
          <a:xfrm>
            <a:off x="712513" y="2403495"/>
            <a:ext cx="761386" cy="307777"/>
          </a:xfrm>
          <a:prstGeom prst="rect">
            <a:avLst/>
          </a:prstGeom>
          <a:noFill/>
        </p:spPr>
        <p:txBody>
          <a:bodyPr wrap="square" rtlCol="0">
            <a:spAutoFit/>
          </a:bodyPr>
          <a:lstStyle/>
          <a:p>
            <a:r>
              <a:rPr lang="en-US" altLang="zh-CN" sz="1400" b="1" dirty="0">
                <a:solidFill>
                  <a:prstClr val="black"/>
                </a:solidFill>
              </a:rPr>
              <a:t>AGV x</a:t>
            </a:r>
            <a:endParaRPr lang="zh-CN" altLang="en-US" sz="1400" dirty="0">
              <a:solidFill>
                <a:prstClr val="black"/>
              </a:solidFill>
            </a:endParaRPr>
          </a:p>
        </p:txBody>
      </p:sp>
      <p:sp>
        <p:nvSpPr>
          <p:cNvPr id="155" name="文本框 154"/>
          <p:cNvSpPr txBox="1"/>
          <p:nvPr/>
        </p:nvSpPr>
        <p:spPr>
          <a:xfrm>
            <a:off x="346138" y="4057721"/>
            <a:ext cx="1127761" cy="307777"/>
          </a:xfrm>
          <a:prstGeom prst="rect">
            <a:avLst/>
          </a:prstGeom>
          <a:noFill/>
        </p:spPr>
        <p:txBody>
          <a:bodyPr wrap="square" rtlCol="0">
            <a:spAutoFit/>
          </a:bodyPr>
          <a:lstStyle/>
          <a:p>
            <a:r>
              <a:rPr lang="en-US" altLang="zh-CN" sz="1400" b="1" dirty="0">
                <a:solidFill>
                  <a:prstClr val="black"/>
                </a:solidFill>
              </a:rPr>
              <a:t>Robot Arm y</a:t>
            </a:r>
            <a:endParaRPr lang="zh-CN" altLang="en-US" sz="1400" dirty="0">
              <a:solidFill>
                <a:prstClr val="black"/>
              </a:solidFill>
            </a:endParaRPr>
          </a:p>
        </p:txBody>
      </p:sp>
      <p:cxnSp>
        <p:nvCxnSpPr>
          <p:cNvPr id="158" name="直接连接符 157"/>
          <p:cNvCxnSpPr/>
          <p:nvPr/>
        </p:nvCxnSpPr>
        <p:spPr>
          <a:xfrm>
            <a:off x="49887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6888178"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3074837"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3" name="文本框 162"/>
          <p:cNvSpPr txBox="1"/>
          <p:nvPr/>
        </p:nvSpPr>
        <p:spPr>
          <a:xfrm>
            <a:off x="3701786" y="616150"/>
            <a:ext cx="1080846" cy="307777"/>
          </a:xfrm>
          <a:prstGeom prst="rect">
            <a:avLst/>
          </a:prstGeom>
          <a:noFill/>
        </p:spPr>
        <p:txBody>
          <a:bodyPr wrap="square" rtlCol="0">
            <a:spAutoFit/>
          </a:bodyPr>
          <a:lstStyle/>
          <a:p>
            <a:r>
              <a:rPr lang="en-US" altLang="zh-CN" sz="1400" b="1" dirty="0"/>
              <a:t>pre-prepare</a:t>
            </a:r>
            <a:endParaRPr lang="zh-CN" altLang="en-US" sz="1400" dirty="0">
              <a:solidFill>
                <a:prstClr val="black"/>
              </a:solidFill>
            </a:endParaRPr>
          </a:p>
        </p:txBody>
      </p:sp>
      <p:sp>
        <p:nvSpPr>
          <p:cNvPr id="164" name="文本框 163"/>
          <p:cNvSpPr txBox="1"/>
          <p:nvPr/>
        </p:nvSpPr>
        <p:spPr>
          <a:xfrm>
            <a:off x="5623427" y="616150"/>
            <a:ext cx="891908" cy="307777"/>
          </a:xfrm>
          <a:prstGeom prst="rect">
            <a:avLst/>
          </a:prstGeom>
          <a:noFill/>
        </p:spPr>
        <p:txBody>
          <a:bodyPr wrap="square" rtlCol="0">
            <a:spAutoFit/>
          </a:bodyPr>
          <a:lstStyle/>
          <a:p>
            <a:r>
              <a:rPr lang="en-US" altLang="zh-CN" sz="1400" b="1" dirty="0"/>
              <a:t>prepare</a:t>
            </a:r>
            <a:endParaRPr lang="zh-CN" altLang="en-US" sz="1400" dirty="0">
              <a:solidFill>
                <a:prstClr val="black"/>
              </a:solidFill>
            </a:endParaRPr>
          </a:p>
        </p:txBody>
      </p:sp>
      <p:sp>
        <p:nvSpPr>
          <p:cNvPr id="165" name="文本框 164"/>
          <p:cNvSpPr txBox="1"/>
          <p:nvPr/>
        </p:nvSpPr>
        <p:spPr>
          <a:xfrm>
            <a:off x="7413388" y="616150"/>
            <a:ext cx="891908" cy="307777"/>
          </a:xfrm>
          <a:prstGeom prst="rect">
            <a:avLst/>
          </a:prstGeom>
          <a:noFill/>
        </p:spPr>
        <p:txBody>
          <a:bodyPr wrap="square" rtlCol="0">
            <a:spAutoFit/>
          </a:bodyPr>
          <a:lstStyle/>
          <a:p>
            <a:r>
              <a:rPr lang="en-US" altLang="zh-CN" sz="1400" b="1" dirty="0"/>
              <a:t>commit</a:t>
            </a:r>
            <a:endParaRPr lang="zh-CN" altLang="en-US" sz="1400" dirty="0">
              <a:solidFill>
                <a:prstClr val="black"/>
              </a:solidFill>
            </a:endParaRPr>
          </a:p>
        </p:txBody>
      </p:sp>
      <p:sp>
        <p:nvSpPr>
          <p:cNvPr id="166" name="文本框 165"/>
          <p:cNvSpPr txBox="1"/>
          <p:nvPr/>
        </p:nvSpPr>
        <p:spPr>
          <a:xfrm>
            <a:off x="712513" y="1639065"/>
            <a:ext cx="761386" cy="307777"/>
          </a:xfrm>
          <a:prstGeom prst="rect">
            <a:avLst/>
          </a:prstGeom>
          <a:noFill/>
        </p:spPr>
        <p:txBody>
          <a:bodyPr wrap="square" rtlCol="0">
            <a:spAutoFit/>
          </a:bodyPr>
          <a:lstStyle/>
          <a:p>
            <a:r>
              <a:rPr lang="en-US" altLang="zh-CN" sz="1400" b="1" dirty="0">
                <a:solidFill>
                  <a:prstClr val="black"/>
                </a:solidFill>
              </a:rPr>
              <a:t>AGV 1</a:t>
            </a:r>
            <a:endParaRPr lang="zh-CN" altLang="en-US" sz="1400" dirty="0">
              <a:solidFill>
                <a:prstClr val="black"/>
              </a:solidFill>
            </a:endParaRPr>
          </a:p>
        </p:txBody>
      </p:sp>
      <p:sp>
        <p:nvSpPr>
          <p:cNvPr id="167" name="文本框 166"/>
          <p:cNvSpPr txBox="1"/>
          <p:nvPr/>
        </p:nvSpPr>
        <p:spPr>
          <a:xfrm>
            <a:off x="346138" y="3323751"/>
            <a:ext cx="1297606" cy="307777"/>
          </a:xfrm>
          <a:prstGeom prst="rect">
            <a:avLst/>
          </a:prstGeom>
          <a:noFill/>
        </p:spPr>
        <p:txBody>
          <a:bodyPr wrap="square" rtlCol="0">
            <a:spAutoFit/>
          </a:bodyPr>
          <a:lstStyle/>
          <a:p>
            <a:r>
              <a:rPr lang="en-US" altLang="zh-CN" sz="1400" b="1" dirty="0">
                <a:solidFill>
                  <a:prstClr val="black"/>
                </a:solidFill>
              </a:rPr>
              <a:t>Robot Arm 1</a:t>
            </a:r>
            <a:endParaRPr lang="zh-CN" altLang="en-US" sz="1400" dirty="0">
              <a:solidFill>
                <a:prstClr val="black"/>
              </a:solidFill>
            </a:endParaRPr>
          </a:p>
        </p:txBody>
      </p:sp>
      <p:sp>
        <p:nvSpPr>
          <p:cNvPr id="168" name="文本框 167"/>
          <p:cNvSpPr txBox="1"/>
          <p:nvPr/>
        </p:nvSpPr>
        <p:spPr>
          <a:xfrm>
            <a:off x="712513" y="2006050"/>
            <a:ext cx="761386" cy="307777"/>
          </a:xfrm>
          <a:prstGeom prst="rect">
            <a:avLst/>
          </a:prstGeom>
          <a:noFill/>
        </p:spPr>
        <p:txBody>
          <a:bodyPr wrap="square" rtlCol="0">
            <a:spAutoFit/>
          </a:bodyPr>
          <a:lstStyle/>
          <a:p>
            <a:r>
              <a:rPr lang="en-US" altLang="zh-CN" sz="1400" b="1" dirty="0">
                <a:solidFill>
                  <a:prstClr val="black"/>
                </a:solidFill>
              </a:rPr>
              <a:t>AGV …</a:t>
            </a:r>
            <a:endParaRPr lang="zh-CN" altLang="en-US" sz="1400" dirty="0">
              <a:solidFill>
                <a:prstClr val="black"/>
              </a:solidFill>
            </a:endParaRPr>
          </a:p>
        </p:txBody>
      </p:sp>
      <p:cxnSp>
        <p:nvCxnSpPr>
          <p:cNvPr id="169" name="直接连接符 168"/>
          <p:cNvCxnSpPr/>
          <p:nvPr/>
        </p:nvCxnSpPr>
        <p:spPr>
          <a:xfrm>
            <a:off x="1511643" y="1739093"/>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文本框 169"/>
          <p:cNvSpPr txBox="1"/>
          <p:nvPr/>
        </p:nvSpPr>
        <p:spPr>
          <a:xfrm>
            <a:off x="346138" y="3682676"/>
            <a:ext cx="1297606" cy="307777"/>
          </a:xfrm>
          <a:prstGeom prst="rect">
            <a:avLst/>
          </a:prstGeom>
          <a:noFill/>
        </p:spPr>
        <p:txBody>
          <a:bodyPr wrap="square" rtlCol="0">
            <a:spAutoFit/>
          </a:bodyPr>
          <a:lstStyle/>
          <a:p>
            <a:r>
              <a:rPr lang="en-US" altLang="zh-CN" sz="1400" b="1" dirty="0">
                <a:solidFill>
                  <a:prstClr val="black"/>
                </a:solidFill>
              </a:rPr>
              <a:t>Robot Arm …</a:t>
            </a:r>
            <a:endParaRPr lang="zh-CN" altLang="en-US" sz="1400" dirty="0">
              <a:solidFill>
                <a:prstClr val="black"/>
              </a:solidFill>
            </a:endParaRPr>
          </a:p>
        </p:txBody>
      </p:sp>
      <p:cxnSp>
        <p:nvCxnSpPr>
          <p:cNvPr id="171" name="直接连接符 170"/>
          <p:cNvCxnSpPr/>
          <p:nvPr/>
        </p:nvCxnSpPr>
        <p:spPr>
          <a:xfrm>
            <a:off x="1511643" y="3387647"/>
            <a:ext cx="9293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右箭头 176"/>
          <p:cNvSpPr/>
          <p:nvPr/>
        </p:nvSpPr>
        <p:spPr>
          <a:xfrm rot="16200000">
            <a:off x="1668730" y="1212029"/>
            <a:ext cx="786329"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78" name="文本框 177"/>
          <p:cNvSpPr txBox="1"/>
          <p:nvPr/>
        </p:nvSpPr>
        <p:spPr>
          <a:xfrm>
            <a:off x="55487" y="1131961"/>
            <a:ext cx="2965507" cy="523220"/>
          </a:xfrm>
          <a:prstGeom prst="rect">
            <a:avLst/>
          </a:prstGeom>
          <a:solidFill>
            <a:schemeClr val="bg1">
              <a:lumMod val="95000"/>
            </a:schemeClr>
          </a:solidFill>
        </p:spPr>
        <p:txBody>
          <a:bodyPr wrap="square" rtlCol="0">
            <a:spAutoFit/>
          </a:bodyPr>
          <a:lstStyle/>
          <a:p>
            <a:r>
              <a:rPr lang="en-US" altLang="zh-CN" sz="1400" b="1" dirty="0"/>
              <a:t>AGV 1</a:t>
            </a:r>
            <a:r>
              <a:rPr lang="zh-CN" altLang="en-US" sz="1400" b="1" dirty="0"/>
              <a:t>，或者可能是一个恶意节点，</a:t>
            </a:r>
            <a:endParaRPr lang="en-US" altLang="zh-CN" sz="1400" b="1" dirty="0"/>
          </a:p>
          <a:p>
            <a:r>
              <a:rPr lang="zh-CN" altLang="en-US" sz="1400" b="1" dirty="0"/>
              <a:t>请求调度系统协调其请求</a:t>
            </a:r>
            <a:endParaRPr lang="zh-CN" altLang="en-US" sz="1400" dirty="0">
              <a:solidFill>
                <a:prstClr val="black"/>
              </a:solidFill>
            </a:endParaRPr>
          </a:p>
        </p:txBody>
      </p:sp>
      <p:cxnSp>
        <p:nvCxnSpPr>
          <p:cNvPr id="179" name="直接箭头连接符 178"/>
          <p:cNvCxnSpPr/>
          <p:nvPr/>
        </p:nvCxnSpPr>
        <p:spPr>
          <a:xfrm flipV="1">
            <a:off x="6891527" y="899512"/>
            <a:ext cx="1231023" cy="163891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0" name="直接箭头连接符 179"/>
          <p:cNvCxnSpPr/>
          <p:nvPr/>
        </p:nvCxnSpPr>
        <p:spPr>
          <a:xfrm>
            <a:off x="6885086" y="2550537"/>
            <a:ext cx="387770" cy="82896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1" name="直接箭头连接符 180"/>
          <p:cNvCxnSpPr/>
          <p:nvPr/>
        </p:nvCxnSpPr>
        <p:spPr>
          <a:xfrm flipV="1">
            <a:off x="6902883" y="923927"/>
            <a:ext cx="1036489" cy="8063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2" name="直接箭头连接符 181"/>
          <p:cNvCxnSpPr/>
          <p:nvPr/>
        </p:nvCxnSpPr>
        <p:spPr>
          <a:xfrm>
            <a:off x="6902883" y="1753971"/>
            <a:ext cx="369973" cy="80658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3" name="直接箭头连接符 182"/>
          <p:cNvCxnSpPr/>
          <p:nvPr/>
        </p:nvCxnSpPr>
        <p:spPr>
          <a:xfrm>
            <a:off x="6945914" y="1754339"/>
            <a:ext cx="1654701" cy="162599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4" name="直接箭头连接符 183"/>
          <p:cNvCxnSpPr/>
          <p:nvPr/>
        </p:nvCxnSpPr>
        <p:spPr>
          <a:xfrm flipV="1">
            <a:off x="6887591" y="1735139"/>
            <a:ext cx="849099" cy="80808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5" name="直接箭头连接符 184"/>
          <p:cNvCxnSpPr/>
          <p:nvPr/>
        </p:nvCxnSpPr>
        <p:spPr>
          <a:xfrm flipV="1">
            <a:off x="6892872" y="1722285"/>
            <a:ext cx="1187773" cy="165119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6" name="直接箭头连接符 185"/>
          <p:cNvCxnSpPr/>
          <p:nvPr/>
        </p:nvCxnSpPr>
        <p:spPr>
          <a:xfrm flipV="1">
            <a:off x="6882020" y="917620"/>
            <a:ext cx="1461014" cy="2458756"/>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87" name="直接箭头连接符 186"/>
          <p:cNvCxnSpPr/>
          <p:nvPr/>
        </p:nvCxnSpPr>
        <p:spPr>
          <a:xfrm flipV="1">
            <a:off x="6898956" y="2555730"/>
            <a:ext cx="753857" cy="81775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199" name="直接箭头连接符 198"/>
          <p:cNvCxnSpPr/>
          <p:nvPr/>
        </p:nvCxnSpPr>
        <p:spPr>
          <a:xfrm flipV="1">
            <a:off x="4994421" y="899512"/>
            <a:ext cx="1230616" cy="164546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0" name="直接箭头连接符 199"/>
          <p:cNvCxnSpPr/>
          <p:nvPr/>
        </p:nvCxnSpPr>
        <p:spPr>
          <a:xfrm>
            <a:off x="4989969" y="2550537"/>
            <a:ext cx="385374" cy="82896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p:nvPr/>
        </p:nvCxnSpPr>
        <p:spPr>
          <a:xfrm flipV="1">
            <a:off x="5005370" y="923927"/>
            <a:ext cx="1036489" cy="80637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2" name="直接箭头连接符 201"/>
          <p:cNvCxnSpPr/>
          <p:nvPr/>
        </p:nvCxnSpPr>
        <p:spPr>
          <a:xfrm>
            <a:off x="5005370" y="1753971"/>
            <a:ext cx="369973" cy="806589"/>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3" name="直接箭头连接符 202"/>
          <p:cNvCxnSpPr/>
          <p:nvPr/>
        </p:nvCxnSpPr>
        <p:spPr>
          <a:xfrm>
            <a:off x="5048401" y="1754339"/>
            <a:ext cx="1654701" cy="162599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4" name="直接箭头连接符 203"/>
          <p:cNvCxnSpPr/>
          <p:nvPr/>
        </p:nvCxnSpPr>
        <p:spPr>
          <a:xfrm flipV="1">
            <a:off x="4990078" y="1735139"/>
            <a:ext cx="849099" cy="808081"/>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5" name="直接箭头连接符 204"/>
          <p:cNvCxnSpPr/>
          <p:nvPr/>
        </p:nvCxnSpPr>
        <p:spPr>
          <a:xfrm flipV="1">
            <a:off x="4996344" y="1722285"/>
            <a:ext cx="1186788" cy="1655013"/>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6" name="直接箭头连接符 205"/>
          <p:cNvCxnSpPr/>
          <p:nvPr/>
        </p:nvCxnSpPr>
        <p:spPr>
          <a:xfrm flipV="1">
            <a:off x="4987718" y="917621"/>
            <a:ext cx="1457803" cy="2460464"/>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p:nvPr/>
        </p:nvCxnSpPr>
        <p:spPr>
          <a:xfrm flipV="1">
            <a:off x="4995057" y="2555730"/>
            <a:ext cx="760243" cy="836758"/>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16" name="直接箭头连接符 215"/>
          <p:cNvCxnSpPr/>
          <p:nvPr/>
        </p:nvCxnSpPr>
        <p:spPr>
          <a:xfrm flipV="1">
            <a:off x="8814710" y="920802"/>
            <a:ext cx="1428893" cy="1626358"/>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p:nvPr/>
        </p:nvCxnSpPr>
        <p:spPr>
          <a:xfrm flipV="1">
            <a:off x="8829985" y="906525"/>
            <a:ext cx="877705" cy="839496"/>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18" name="直接箭头连接符 217"/>
          <p:cNvCxnSpPr/>
          <p:nvPr/>
        </p:nvCxnSpPr>
        <p:spPr>
          <a:xfrm flipV="1">
            <a:off x="8814710" y="934674"/>
            <a:ext cx="1669606" cy="2462523"/>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19" name="直接箭头连接符 218"/>
          <p:cNvCxnSpPr/>
          <p:nvPr/>
        </p:nvCxnSpPr>
        <p:spPr>
          <a:xfrm flipH="1">
            <a:off x="3924526" y="931725"/>
            <a:ext cx="214319" cy="1602710"/>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p:nvPr/>
        </p:nvCxnSpPr>
        <p:spPr>
          <a:xfrm flipH="1">
            <a:off x="4064071" y="923986"/>
            <a:ext cx="77476" cy="2468502"/>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1" name="直接箭头连接符 220"/>
          <p:cNvCxnSpPr/>
          <p:nvPr/>
        </p:nvCxnSpPr>
        <p:spPr>
          <a:xfrm flipH="1">
            <a:off x="3835477" y="927252"/>
            <a:ext cx="296843" cy="815797"/>
          </a:xfrm>
          <a:prstGeom prst="straightConnector1">
            <a:avLst/>
          </a:prstGeom>
          <a:ln w="1587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p:nvPr/>
        </p:nvCxnSpPr>
        <p:spPr>
          <a:xfrm flipH="1">
            <a:off x="8483248" y="931725"/>
            <a:ext cx="214319" cy="1602710"/>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3" name="直接箭头连接符 222"/>
          <p:cNvCxnSpPr/>
          <p:nvPr/>
        </p:nvCxnSpPr>
        <p:spPr>
          <a:xfrm flipH="1">
            <a:off x="8622793" y="923986"/>
            <a:ext cx="77476" cy="2468502"/>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p:nvPr/>
        </p:nvCxnSpPr>
        <p:spPr>
          <a:xfrm flipH="1">
            <a:off x="8394199" y="927252"/>
            <a:ext cx="296843" cy="815797"/>
          </a:xfrm>
          <a:prstGeom prst="straightConnector1">
            <a:avLst/>
          </a:prstGeom>
          <a:ln w="9525">
            <a:prstDash val="solid"/>
            <a:tailEnd type="stealth" w="lg" len="lg"/>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8814710" y="659192"/>
            <a:ext cx="0" cy="370630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6" name="文本框 225"/>
          <p:cNvSpPr txBox="1"/>
          <p:nvPr/>
        </p:nvSpPr>
        <p:spPr>
          <a:xfrm>
            <a:off x="969805" y="-269451"/>
            <a:ext cx="2731981" cy="1169551"/>
          </a:xfrm>
          <a:prstGeom prst="rect">
            <a:avLst/>
          </a:prstGeom>
          <a:solidFill>
            <a:schemeClr val="accent4">
              <a:lumMod val="20000"/>
              <a:lumOff val="80000"/>
            </a:schemeClr>
          </a:solidFill>
        </p:spPr>
        <p:txBody>
          <a:bodyPr wrap="square" rtlCol="0">
            <a:spAutoFit/>
          </a:bodyPr>
          <a:lstStyle/>
          <a:p>
            <a:r>
              <a:rPr lang="zh-CN" altLang="en-US" sz="1400" b="1" dirty="0">
                <a:solidFill>
                  <a:prstClr val="black"/>
                </a:solidFill>
              </a:rPr>
              <a:t>请求：</a:t>
            </a:r>
            <a:endParaRPr lang="en-US" altLang="zh-CN" sz="1400" b="1" dirty="0">
              <a:solidFill>
                <a:prstClr val="black"/>
              </a:solidFill>
            </a:endParaRPr>
          </a:p>
          <a:p>
            <a:r>
              <a:rPr lang="en-US" altLang="zh-CN" sz="1400" b="1" dirty="0">
                <a:solidFill>
                  <a:prstClr val="black"/>
                </a:solidFill>
              </a:rPr>
              <a:t>AGV 1 abnormal, quit; </a:t>
            </a:r>
          </a:p>
          <a:p>
            <a:r>
              <a:rPr lang="en-US" altLang="zh-CN" sz="1400" b="1" dirty="0">
                <a:solidFill>
                  <a:prstClr val="black"/>
                </a:solidFill>
              </a:rPr>
              <a:t>State: on task 1 with Robot Arm 1;</a:t>
            </a:r>
          </a:p>
          <a:p>
            <a:r>
              <a:rPr lang="en-US" altLang="zh-CN" sz="1400" b="1" dirty="0">
                <a:solidFill>
                  <a:prstClr val="black"/>
                </a:solidFill>
              </a:rPr>
              <a:t>Positon: (1,6);</a:t>
            </a:r>
          </a:p>
          <a:p>
            <a:r>
              <a:rPr lang="en-US" altLang="zh-CN" sz="1400" b="1" dirty="0">
                <a:solidFill>
                  <a:prstClr val="black"/>
                </a:solidFill>
              </a:rPr>
              <a:t>Timestamp: </a:t>
            </a:r>
            <a:r>
              <a:rPr lang="zh-CN" altLang="zh-CN" sz="1400" b="1" dirty="0">
                <a:solidFill>
                  <a:prstClr val="black"/>
                </a:solidFill>
              </a:rPr>
              <a:t>HH:MM:SS </a:t>
            </a:r>
          </a:p>
        </p:txBody>
      </p:sp>
      <p:sp>
        <p:nvSpPr>
          <p:cNvPr id="227" name="文本框 226"/>
          <p:cNvSpPr txBox="1"/>
          <p:nvPr/>
        </p:nvSpPr>
        <p:spPr>
          <a:xfrm>
            <a:off x="37350" y="603394"/>
            <a:ext cx="2057060" cy="523220"/>
          </a:xfrm>
          <a:prstGeom prst="rect">
            <a:avLst/>
          </a:prstGeom>
          <a:noFill/>
        </p:spPr>
        <p:txBody>
          <a:bodyPr wrap="square" rtlCol="0">
            <a:spAutoFit/>
          </a:bodyPr>
          <a:lstStyle/>
          <a:p>
            <a:r>
              <a:rPr lang="zh-CN" altLang="en-US" sz="1400" b="1" dirty="0"/>
              <a:t>协调者：</a:t>
            </a:r>
            <a:r>
              <a:rPr lang="en-US" altLang="zh-CN" sz="1400" b="1" dirty="0"/>
              <a:t> </a:t>
            </a:r>
          </a:p>
          <a:p>
            <a:r>
              <a:rPr lang="zh-CN" altLang="en-US" sz="1400" b="1" dirty="0"/>
              <a:t>调度系统</a:t>
            </a:r>
          </a:p>
        </p:txBody>
      </p:sp>
      <p:sp>
        <p:nvSpPr>
          <p:cNvPr id="228" name="文本框 227"/>
          <p:cNvSpPr txBox="1"/>
          <p:nvPr/>
        </p:nvSpPr>
        <p:spPr>
          <a:xfrm>
            <a:off x="1688081" y="3632976"/>
            <a:ext cx="6663825" cy="523220"/>
          </a:xfrm>
          <a:prstGeom prst="rect">
            <a:avLst/>
          </a:prstGeom>
          <a:solidFill>
            <a:schemeClr val="bg1">
              <a:lumMod val="95000"/>
            </a:schemeClr>
          </a:solidFill>
        </p:spPr>
        <p:txBody>
          <a:bodyPr wrap="square" rtlCol="0">
            <a:spAutoFit/>
          </a:bodyPr>
          <a:lstStyle/>
          <a:p>
            <a:r>
              <a:rPr lang="zh-CN" altLang="en-US" sz="1400" dirty="0"/>
              <a:t>只有</a:t>
            </a:r>
            <a:r>
              <a:rPr lang="en-US" altLang="zh-CN" sz="1400" dirty="0"/>
              <a:t>Robot Arm 1</a:t>
            </a:r>
            <a:r>
              <a:rPr lang="zh-CN" altLang="en-US" sz="1400" dirty="0"/>
              <a:t>与</a:t>
            </a:r>
            <a:r>
              <a:rPr lang="en-US" altLang="zh-CN" sz="1400" dirty="0"/>
              <a:t>AGV 1</a:t>
            </a:r>
            <a:r>
              <a:rPr lang="zh-CN" altLang="en-US" sz="1400" dirty="0"/>
              <a:t>合作执行</a:t>
            </a:r>
            <a:r>
              <a:rPr lang="en-US" altLang="zh-CN" sz="1400" dirty="0"/>
              <a:t>Task 1</a:t>
            </a:r>
            <a:r>
              <a:rPr lang="zh-CN" altLang="en-US" sz="1400" dirty="0"/>
              <a:t>，所以</a:t>
            </a:r>
            <a:r>
              <a:rPr lang="en-US" altLang="zh-CN" sz="1400" dirty="0"/>
              <a:t>Robot Arm 1</a:t>
            </a:r>
            <a:r>
              <a:rPr lang="zh-CN" altLang="en-US" sz="1400" dirty="0"/>
              <a:t>参与共识过程，而</a:t>
            </a:r>
            <a:r>
              <a:rPr lang="en-US" altLang="zh-CN" sz="1400" dirty="0"/>
              <a:t>Robot Arm 2 ~ Robot Arm y</a:t>
            </a:r>
            <a:r>
              <a:rPr lang="zh-CN" altLang="en-US" sz="1400" dirty="0"/>
              <a:t>将不参与。</a:t>
            </a:r>
          </a:p>
        </p:txBody>
      </p:sp>
      <p:sp>
        <p:nvSpPr>
          <p:cNvPr id="139" name="左大括号 138"/>
          <p:cNvSpPr/>
          <p:nvPr/>
        </p:nvSpPr>
        <p:spPr>
          <a:xfrm flipH="1">
            <a:off x="1518236" y="3742560"/>
            <a:ext cx="140208" cy="456795"/>
          </a:xfrm>
          <a:prstGeom prst="leftBrace">
            <a:avLst>
              <a:gd name="adj1" fmla="val 6309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9" name="文本框 228"/>
          <p:cNvSpPr txBox="1"/>
          <p:nvPr/>
        </p:nvSpPr>
        <p:spPr>
          <a:xfrm>
            <a:off x="1659292" y="1895669"/>
            <a:ext cx="2042494" cy="523220"/>
          </a:xfrm>
          <a:prstGeom prst="rect">
            <a:avLst/>
          </a:prstGeom>
          <a:solidFill>
            <a:schemeClr val="bg1">
              <a:lumMod val="95000"/>
            </a:schemeClr>
          </a:solidFill>
        </p:spPr>
        <p:txBody>
          <a:bodyPr wrap="square" rtlCol="0">
            <a:spAutoFit/>
          </a:bodyPr>
          <a:lstStyle/>
          <a:p>
            <a:r>
              <a:rPr lang="zh-CN" altLang="en-US" sz="1400" dirty="0"/>
              <a:t>调度系统和所有的</a:t>
            </a:r>
            <a:r>
              <a:rPr lang="en-US" altLang="zh-CN" sz="1400" dirty="0"/>
              <a:t>AGV</a:t>
            </a:r>
            <a:r>
              <a:rPr lang="zh-CN" altLang="en-US" sz="1400" dirty="0"/>
              <a:t>参与共识过程</a:t>
            </a:r>
            <a:endParaRPr lang="zh-CN" altLang="en-US" sz="1400" b="1" dirty="0"/>
          </a:p>
        </p:txBody>
      </p:sp>
      <p:sp>
        <p:nvSpPr>
          <p:cNvPr id="230" name="左大括号 229"/>
          <p:cNvSpPr/>
          <p:nvPr/>
        </p:nvSpPr>
        <p:spPr>
          <a:xfrm flipH="1">
            <a:off x="1478836" y="1807767"/>
            <a:ext cx="140208" cy="684322"/>
          </a:xfrm>
          <a:prstGeom prst="leftBrace">
            <a:avLst>
              <a:gd name="adj1" fmla="val 6309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4091027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81"/>
          <p:cNvSpPr/>
          <p:nvPr/>
        </p:nvSpPr>
        <p:spPr>
          <a:xfrm>
            <a:off x="5794920" y="1435184"/>
            <a:ext cx="3288254" cy="128222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2297486" y="1727366"/>
            <a:ext cx="587429" cy="714376"/>
            <a:chOff x="1323750" y="1400532"/>
            <a:chExt cx="1007244" cy="1354959"/>
          </a:xfrm>
        </p:grpSpPr>
        <p:sp>
          <p:nvSpPr>
            <p:cNvPr id="4" name="矩形 3"/>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3615593" y="1376976"/>
            <a:ext cx="2057060" cy="369332"/>
          </a:xfrm>
          <a:prstGeom prst="rect">
            <a:avLst/>
          </a:prstGeom>
          <a:noFill/>
        </p:spPr>
        <p:txBody>
          <a:bodyPr wrap="square" rtlCol="0">
            <a:spAutoFit/>
          </a:bodyPr>
          <a:lstStyle/>
          <a:p>
            <a:r>
              <a:rPr lang="en-US" altLang="zh-CN" dirty="0"/>
              <a:t>Scheduling System</a:t>
            </a:r>
            <a:endParaRPr lang="zh-CN" altLang="en-US" dirty="0"/>
          </a:p>
        </p:txBody>
      </p:sp>
      <p:sp>
        <p:nvSpPr>
          <p:cNvPr id="11" name="右箭头 10"/>
          <p:cNvSpPr/>
          <p:nvPr/>
        </p:nvSpPr>
        <p:spPr>
          <a:xfrm>
            <a:off x="3294831"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089164" y="1376976"/>
            <a:ext cx="1409700" cy="369332"/>
          </a:xfrm>
          <a:prstGeom prst="rect">
            <a:avLst/>
          </a:prstGeom>
          <a:noFill/>
        </p:spPr>
        <p:txBody>
          <a:bodyPr wrap="square" rtlCol="0">
            <a:spAutoFit/>
          </a:bodyPr>
          <a:lstStyle/>
          <a:p>
            <a:r>
              <a:rPr lang="en-US" altLang="zh-CN" dirty="0"/>
              <a:t>Task List</a:t>
            </a:r>
            <a:endParaRPr lang="zh-CN" altLang="en-US" dirty="0"/>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99074" y="3417484"/>
            <a:ext cx="834390" cy="83439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3218" y="3411132"/>
            <a:ext cx="834390" cy="834390"/>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8043" y="3417484"/>
            <a:ext cx="834390" cy="834390"/>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99001" y="2867237"/>
            <a:ext cx="456806" cy="306230"/>
          </a:xfrm>
          <a:prstGeom prst="rect">
            <a:avLst/>
          </a:prstGeom>
        </p:spPr>
      </p:pic>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3340" y="2867237"/>
            <a:ext cx="456806" cy="306230"/>
          </a:xfrm>
          <a:prstGeom prst="rect">
            <a:avLst/>
          </a:prstGeom>
        </p:spPr>
      </p:pic>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5298" y="2867237"/>
            <a:ext cx="456806" cy="306230"/>
          </a:xfrm>
          <a:prstGeom prst="rect">
            <a:avLst/>
          </a:prstGeom>
        </p:spPr>
      </p:pic>
      <p:sp>
        <p:nvSpPr>
          <p:cNvPr id="19" name="server_159296">
            <a:extLst>
              <a:ext uri="{FF2B5EF4-FFF2-40B4-BE49-F238E27FC236}">
                <a16:creationId xmlns="" xmlns:a16="http://schemas.microsoft.com/office/drawing/2014/main" id="{54405246-CCE2-4201-BBB1-D3F3EB6E740D}"/>
              </a:ext>
            </a:extLst>
          </p:cNvPr>
          <p:cNvSpPr/>
          <p:nvPr/>
        </p:nvSpPr>
        <p:spPr>
          <a:xfrm>
            <a:off x="4149065"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4285212" y="3828327"/>
            <a:ext cx="1292095" cy="369332"/>
          </a:xfrm>
          <a:prstGeom prst="rect">
            <a:avLst/>
          </a:prstGeom>
          <a:noFill/>
        </p:spPr>
        <p:txBody>
          <a:bodyPr wrap="square" rtlCol="0">
            <a:spAutoFit/>
          </a:bodyPr>
          <a:lstStyle/>
          <a:p>
            <a:r>
              <a:rPr lang="en-US" altLang="zh-CN" dirty="0"/>
              <a:t>Robot Arm</a:t>
            </a:r>
            <a:endParaRPr lang="zh-CN" altLang="en-US" dirty="0"/>
          </a:p>
        </p:txBody>
      </p:sp>
      <p:sp>
        <p:nvSpPr>
          <p:cNvPr id="24" name="文本框 23"/>
          <p:cNvSpPr txBox="1"/>
          <p:nvPr/>
        </p:nvSpPr>
        <p:spPr>
          <a:xfrm>
            <a:off x="2995667" y="3152184"/>
            <a:ext cx="739656" cy="338554"/>
          </a:xfrm>
          <a:prstGeom prst="rect">
            <a:avLst/>
          </a:prstGeom>
          <a:noFill/>
        </p:spPr>
        <p:txBody>
          <a:bodyPr wrap="square" rtlCol="0">
            <a:spAutoFit/>
          </a:bodyPr>
          <a:lstStyle/>
          <a:p>
            <a:r>
              <a:rPr lang="en-US" altLang="zh-CN" sz="1600" dirty="0"/>
              <a:t>AGV</a:t>
            </a:r>
            <a:endParaRPr lang="zh-CN" altLang="en-US" sz="1600" dirty="0"/>
          </a:p>
        </p:txBody>
      </p:sp>
      <p:cxnSp>
        <p:nvCxnSpPr>
          <p:cNvPr id="27" name="直接箭头连接符 26"/>
          <p:cNvCxnSpPr>
            <a:stCxn id="13" idx="0"/>
          </p:cNvCxnSpPr>
          <p:nvPr/>
        </p:nvCxnSpPr>
        <p:spPr>
          <a:xfrm flipV="1">
            <a:off x="4116269" y="2671904"/>
            <a:ext cx="276235" cy="7455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4" idx="0"/>
          </p:cNvCxnSpPr>
          <p:nvPr/>
        </p:nvCxnSpPr>
        <p:spPr>
          <a:xfrm flipH="1" flipV="1">
            <a:off x="4564079" y="2665552"/>
            <a:ext cx="1156334" cy="7455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5" idx="0"/>
          </p:cNvCxnSpPr>
          <p:nvPr/>
        </p:nvCxnSpPr>
        <p:spPr>
          <a:xfrm flipH="1" flipV="1">
            <a:off x="4676669" y="2554811"/>
            <a:ext cx="2708569" cy="86267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6" idx="0"/>
          </p:cNvCxnSpPr>
          <p:nvPr/>
        </p:nvCxnSpPr>
        <p:spPr>
          <a:xfrm flipV="1">
            <a:off x="2727404" y="2498909"/>
            <a:ext cx="1482621" cy="3683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7" idx="0"/>
          </p:cNvCxnSpPr>
          <p:nvPr/>
        </p:nvCxnSpPr>
        <p:spPr>
          <a:xfrm flipV="1">
            <a:off x="3161743" y="2583094"/>
            <a:ext cx="1104443" cy="284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8" idx="0"/>
          </p:cNvCxnSpPr>
          <p:nvPr/>
        </p:nvCxnSpPr>
        <p:spPr>
          <a:xfrm flipV="1">
            <a:off x="3603701" y="2671904"/>
            <a:ext cx="713371" cy="1953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5872946" y="2338287"/>
            <a:ext cx="2567940" cy="0"/>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6131123" y="2251683"/>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40886" y="2179468"/>
            <a:ext cx="702348" cy="369332"/>
          </a:xfrm>
          <a:prstGeom prst="rect">
            <a:avLst/>
          </a:prstGeom>
          <a:noFill/>
        </p:spPr>
        <p:txBody>
          <a:bodyPr wrap="square" rtlCol="0">
            <a:spAutoFit/>
          </a:bodyPr>
          <a:lstStyle/>
          <a:p>
            <a:r>
              <a:rPr lang="en-US" altLang="zh-CN" dirty="0"/>
              <a:t>Time</a:t>
            </a:r>
            <a:endParaRPr lang="zh-CN" altLang="en-US" dirty="0"/>
          </a:p>
        </p:txBody>
      </p:sp>
      <p:cxnSp>
        <p:nvCxnSpPr>
          <p:cNvPr id="54" name="直接连接符 53"/>
          <p:cNvCxnSpPr/>
          <p:nvPr/>
        </p:nvCxnSpPr>
        <p:spPr>
          <a:xfrm>
            <a:off x="6716331" y="2251683"/>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852704" y="2251683"/>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5994892" y="2402750"/>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p:cNvCxnSpPr/>
          <p:nvPr/>
        </p:nvCxnSpPr>
        <p:spPr>
          <a:xfrm>
            <a:off x="6136180" y="2555943"/>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flipV="1">
            <a:off x="6136677" y="2436882"/>
            <a:ext cx="1" cy="12779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6" name="椭圆 65"/>
          <p:cNvSpPr/>
          <p:nvPr/>
        </p:nvSpPr>
        <p:spPr>
          <a:xfrm>
            <a:off x="6570281" y="2402750"/>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p:cNvCxnSpPr/>
          <p:nvPr/>
        </p:nvCxnSpPr>
        <p:spPr>
          <a:xfrm>
            <a:off x="6706806" y="2555943"/>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6707305" y="2449549"/>
            <a:ext cx="57578" cy="115126"/>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7708104" y="2402750"/>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连接符 69"/>
          <p:cNvCxnSpPr/>
          <p:nvPr/>
        </p:nvCxnSpPr>
        <p:spPr>
          <a:xfrm>
            <a:off x="7844629" y="2551180"/>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7849890" y="2552770"/>
            <a:ext cx="54088" cy="8728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6029251" y="1715353"/>
            <a:ext cx="1292095" cy="369332"/>
          </a:xfrm>
          <a:prstGeom prst="rect">
            <a:avLst/>
          </a:prstGeom>
          <a:noFill/>
        </p:spPr>
        <p:txBody>
          <a:bodyPr wrap="square" rtlCol="0">
            <a:spAutoFit/>
          </a:bodyPr>
          <a:lstStyle/>
          <a:p>
            <a:r>
              <a:rPr lang="en-US" altLang="zh-CN" dirty="0"/>
              <a:t>AGV n quit</a:t>
            </a:r>
            <a:endParaRPr lang="zh-CN" altLang="en-US" dirty="0"/>
          </a:p>
        </p:txBody>
      </p:sp>
      <p:sp>
        <p:nvSpPr>
          <p:cNvPr id="84" name="文本框 83"/>
          <p:cNvSpPr txBox="1"/>
          <p:nvPr/>
        </p:nvSpPr>
        <p:spPr>
          <a:xfrm>
            <a:off x="7330123" y="1715353"/>
            <a:ext cx="1418095" cy="369332"/>
          </a:xfrm>
          <a:prstGeom prst="rect">
            <a:avLst/>
          </a:prstGeom>
          <a:noFill/>
        </p:spPr>
        <p:txBody>
          <a:bodyPr wrap="square" rtlCol="0">
            <a:spAutoFit/>
          </a:bodyPr>
          <a:lstStyle/>
          <a:p>
            <a:r>
              <a:rPr lang="en-US" altLang="zh-CN" dirty="0"/>
              <a:t>AGV n rejoin</a:t>
            </a:r>
            <a:endParaRPr lang="zh-CN" altLang="en-US" dirty="0"/>
          </a:p>
        </p:txBody>
      </p:sp>
      <p:cxnSp>
        <p:nvCxnSpPr>
          <p:cNvPr id="88" name="直接箭头连接符 87"/>
          <p:cNvCxnSpPr/>
          <p:nvPr/>
        </p:nvCxnSpPr>
        <p:spPr>
          <a:xfrm flipV="1">
            <a:off x="6716331" y="1987268"/>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flipV="1">
            <a:off x="7851772" y="1987268"/>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6279031" y="1376340"/>
            <a:ext cx="2218043" cy="369332"/>
          </a:xfrm>
          <a:prstGeom prst="rect">
            <a:avLst/>
          </a:prstGeom>
        </p:spPr>
        <p:txBody>
          <a:bodyPr wrap="none">
            <a:spAutoFit/>
          </a:bodyPr>
          <a:lstStyle/>
          <a:p>
            <a:r>
              <a:rPr lang="en-US" altLang="zh-CN" kern="100" dirty="0">
                <a:latin typeface="Calibri" panose="020F0502020204030204" pitchFamily="34" charset="0"/>
              </a:rPr>
              <a:t>Rescheduling Needed</a:t>
            </a:r>
            <a:endParaRPr lang="zh-CN" altLang="en-US" dirty="0"/>
          </a:p>
        </p:txBody>
      </p:sp>
      <p:sp>
        <p:nvSpPr>
          <p:cNvPr id="93" name="camera-flash_15587">
            <a:extLst>
              <a:ext uri="{FF2B5EF4-FFF2-40B4-BE49-F238E27FC236}">
                <a16:creationId xmlns="" xmlns:a16="http://schemas.microsoft.com/office/drawing/2014/main" id="{54405246-CCE2-4201-BBB1-D3F3EB6E740D}"/>
              </a:ext>
            </a:extLst>
          </p:cNvPr>
          <p:cNvSpPr/>
          <p:nvPr/>
        </p:nvSpPr>
        <p:spPr>
          <a:xfrm rot="4349516">
            <a:off x="5142938" y="1867154"/>
            <a:ext cx="328060" cy="745519"/>
          </a:xfrm>
          <a:custGeom>
            <a:avLst/>
            <a:gdLst>
              <a:gd name="T0" fmla="*/ 5 w 267"/>
              <a:gd name="T1" fmla="*/ 607 h 608"/>
              <a:gd name="T2" fmla="*/ 9 w 267"/>
              <a:gd name="T3" fmla="*/ 608 h 608"/>
              <a:gd name="T4" fmla="*/ 16 w 267"/>
              <a:gd name="T5" fmla="*/ 604 h 608"/>
              <a:gd name="T6" fmla="*/ 210 w 267"/>
              <a:gd name="T7" fmla="*/ 336 h 608"/>
              <a:gd name="T8" fmla="*/ 210 w 267"/>
              <a:gd name="T9" fmla="*/ 327 h 608"/>
              <a:gd name="T10" fmla="*/ 160 w 267"/>
              <a:gd name="T11" fmla="*/ 250 h 608"/>
              <a:gd name="T12" fmla="*/ 265 w 267"/>
              <a:gd name="T13" fmla="*/ 13 h 608"/>
              <a:gd name="T14" fmla="*/ 262 w 267"/>
              <a:gd name="T15" fmla="*/ 2 h 608"/>
              <a:gd name="T16" fmla="*/ 251 w 267"/>
              <a:gd name="T17" fmla="*/ 4 h 608"/>
              <a:gd name="T18" fmla="*/ 52 w 267"/>
              <a:gd name="T19" fmla="*/ 226 h 608"/>
              <a:gd name="T20" fmla="*/ 51 w 267"/>
              <a:gd name="T21" fmla="*/ 234 h 608"/>
              <a:gd name="T22" fmla="*/ 92 w 267"/>
              <a:gd name="T23" fmla="*/ 343 h 608"/>
              <a:gd name="T24" fmla="*/ 1 w 267"/>
              <a:gd name="T25" fmla="*/ 596 h 608"/>
              <a:gd name="T26" fmla="*/ 5 w 267"/>
              <a:gd name="T27" fmla="*/ 607 h 608"/>
              <a:gd name="T28" fmla="*/ 109 w 267"/>
              <a:gd name="T29" fmla="*/ 346 h 608"/>
              <a:gd name="T30" fmla="*/ 108 w 267"/>
              <a:gd name="T31" fmla="*/ 340 h 608"/>
              <a:gd name="T32" fmla="*/ 68 w 267"/>
              <a:gd name="T33" fmla="*/ 233 h 608"/>
              <a:gd name="T34" fmla="*/ 228 w 267"/>
              <a:gd name="T35" fmla="*/ 54 h 608"/>
              <a:gd name="T36" fmla="*/ 143 w 267"/>
              <a:gd name="T37" fmla="*/ 247 h 608"/>
              <a:gd name="T38" fmla="*/ 143 w 267"/>
              <a:gd name="T39" fmla="*/ 255 h 608"/>
              <a:gd name="T40" fmla="*/ 193 w 267"/>
              <a:gd name="T41" fmla="*/ 331 h 608"/>
              <a:gd name="T42" fmla="*/ 36 w 267"/>
              <a:gd name="T43" fmla="*/ 547 h 608"/>
              <a:gd name="T44" fmla="*/ 109 w 267"/>
              <a:gd name="T45" fmla="*/ 346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7" h="608">
                <a:moveTo>
                  <a:pt x="5" y="607"/>
                </a:moveTo>
                <a:cubicBezTo>
                  <a:pt x="6" y="607"/>
                  <a:pt x="8" y="608"/>
                  <a:pt x="9" y="608"/>
                </a:cubicBezTo>
                <a:cubicBezTo>
                  <a:pt x="12" y="608"/>
                  <a:pt x="14" y="606"/>
                  <a:pt x="16" y="604"/>
                </a:cubicBezTo>
                <a:lnTo>
                  <a:pt x="210" y="336"/>
                </a:lnTo>
                <a:cubicBezTo>
                  <a:pt x="212" y="334"/>
                  <a:pt x="212" y="330"/>
                  <a:pt x="210" y="327"/>
                </a:cubicBezTo>
                <a:lnTo>
                  <a:pt x="160" y="250"/>
                </a:lnTo>
                <a:lnTo>
                  <a:pt x="265" y="13"/>
                </a:lnTo>
                <a:cubicBezTo>
                  <a:pt x="267" y="9"/>
                  <a:pt x="266" y="4"/>
                  <a:pt x="262" y="2"/>
                </a:cubicBezTo>
                <a:cubicBezTo>
                  <a:pt x="259" y="0"/>
                  <a:pt x="254" y="1"/>
                  <a:pt x="251" y="4"/>
                </a:cubicBezTo>
                <a:lnTo>
                  <a:pt x="52" y="226"/>
                </a:lnTo>
                <a:cubicBezTo>
                  <a:pt x="50" y="228"/>
                  <a:pt x="49" y="231"/>
                  <a:pt x="51" y="234"/>
                </a:cubicBezTo>
                <a:lnTo>
                  <a:pt x="92" y="343"/>
                </a:lnTo>
                <a:lnTo>
                  <a:pt x="1" y="596"/>
                </a:lnTo>
                <a:cubicBezTo>
                  <a:pt x="0" y="600"/>
                  <a:pt x="1" y="605"/>
                  <a:pt x="5" y="607"/>
                </a:cubicBezTo>
                <a:close/>
                <a:moveTo>
                  <a:pt x="109" y="346"/>
                </a:moveTo>
                <a:cubicBezTo>
                  <a:pt x="109" y="344"/>
                  <a:pt x="109" y="342"/>
                  <a:pt x="108" y="340"/>
                </a:cubicBezTo>
                <a:lnTo>
                  <a:pt x="68" y="233"/>
                </a:lnTo>
                <a:lnTo>
                  <a:pt x="228" y="54"/>
                </a:lnTo>
                <a:lnTo>
                  <a:pt x="143" y="247"/>
                </a:lnTo>
                <a:cubicBezTo>
                  <a:pt x="141" y="250"/>
                  <a:pt x="142" y="253"/>
                  <a:pt x="143" y="255"/>
                </a:cubicBezTo>
                <a:lnTo>
                  <a:pt x="193" y="331"/>
                </a:lnTo>
                <a:lnTo>
                  <a:pt x="36" y="547"/>
                </a:lnTo>
                <a:lnTo>
                  <a:pt x="109" y="346"/>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组合 95"/>
          <p:cNvGrpSpPr/>
          <p:nvPr/>
        </p:nvGrpSpPr>
        <p:grpSpPr>
          <a:xfrm>
            <a:off x="6716331" y="1653655"/>
            <a:ext cx="1135441" cy="157401"/>
            <a:chOff x="6716331" y="1552869"/>
            <a:chExt cx="1135441" cy="296291"/>
          </a:xfrm>
        </p:grpSpPr>
        <p:cxnSp>
          <p:nvCxnSpPr>
            <p:cNvPr id="94" name="直接箭头连接符 93"/>
            <p:cNvCxnSpPr/>
            <p:nvPr/>
          </p:nvCxnSpPr>
          <p:spPr>
            <a:xfrm flipV="1">
              <a:off x="6716331" y="1552869"/>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flipV="1">
              <a:off x="7851772" y="1552869"/>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103361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4250883" y="2827838"/>
            <a:ext cx="3630835" cy="601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3046424" y="888972"/>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377890" y="1720241"/>
            <a:ext cx="1625160"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279004" y="2836525"/>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346454" y="2890703"/>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775376" y="3473317"/>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曲线连接符 13"/>
          <p:cNvCxnSpPr>
            <a:stCxn id="4" idx="6"/>
            <a:endCxn id="6" idx="0"/>
          </p:cNvCxnSpPr>
          <p:nvPr/>
        </p:nvCxnSpPr>
        <p:spPr>
          <a:xfrm>
            <a:off x="4521931" y="1182246"/>
            <a:ext cx="668539" cy="537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6" idx="4"/>
            <a:endCxn id="8" idx="0"/>
          </p:cNvCxnSpPr>
          <p:nvPr/>
        </p:nvCxnSpPr>
        <p:spPr>
          <a:xfrm rot="5400000">
            <a:off x="4838746" y="2484801"/>
            <a:ext cx="529736" cy="17371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439003" y="1043745"/>
            <a:ext cx="84000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AGV_idle</a:t>
            </a:r>
            <a:endParaRPr lang="en-US" altLang="zh-CN" sz="1200" kern="100" dirty="0">
              <a:latin typeface="Calibri" panose="020F0502020204030204" pitchFamily="34" charset="0"/>
              <a:cs typeface="Times New Roman" panose="02020603050405020304" pitchFamily="18" charset="0"/>
            </a:endParaRPr>
          </a:p>
        </p:txBody>
      </p:sp>
      <p:sp>
        <p:nvSpPr>
          <p:cNvPr id="20" name="矩形 19"/>
          <p:cNvSpPr/>
          <p:nvPr/>
        </p:nvSpPr>
        <p:spPr>
          <a:xfrm>
            <a:off x="4334965" y="1862250"/>
            <a:ext cx="174428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AGVMovingToRobotArm</a:t>
            </a:r>
            <a:endParaRPr lang="zh-CN" altLang="zh-CN" sz="1200" kern="100" dirty="0">
              <a:latin typeface="Calibri" panose="020F0502020204030204" pitchFamily="34" charset="0"/>
              <a:cs typeface="Times New Roman" panose="02020603050405020304" pitchFamily="18" charset="0"/>
            </a:endParaRPr>
          </a:p>
        </p:txBody>
      </p:sp>
      <p:sp>
        <p:nvSpPr>
          <p:cNvPr id="21" name="矩形 20"/>
          <p:cNvSpPr/>
          <p:nvPr/>
        </p:nvSpPr>
        <p:spPr>
          <a:xfrm>
            <a:off x="4410035" y="2991299"/>
            <a:ext cx="1297209"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AGVAtRobotArm</a:t>
            </a:r>
            <a:r>
              <a:rPr lang="en-US" altLang="zh-CN" sz="1200" kern="100" dirty="0">
                <a:latin typeface="Calibri" panose="020F0502020204030204" pitchFamily="34" charset="0"/>
                <a:cs typeface="Times New Roman" panose="02020603050405020304" pitchFamily="18" charset="0"/>
              </a:rPr>
              <a:t> </a:t>
            </a:r>
            <a:endParaRPr lang="zh-CN" altLang="zh-CN" sz="1200" kern="100" dirty="0">
              <a:latin typeface="Calibri" panose="020F0502020204030204" pitchFamily="34" charset="0"/>
              <a:cs typeface="Times New Roman" panose="02020603050405020304" pitchFamily="18" charset="0"/>
            </a:endParaRPr>
          </a:p>
        </p:txBody>
      </p:sp>
      <p:sp>
        <p:nvSpPr>
          <p:cNvPr id="22" name="矩形 21"/>
          <p:cNvSpPr/>
          <p:nvPr/>
        </p:nvSpPr>
        <p:spPr>
          <a:xfrm>
            <a:off x="6346454" y="3017960"/>
            <a:ext cx="153526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RobotArm_producing</a:t>
            </a:r>
            <a:endParaRPr lang="zh-CN" altLang="zh-CN" sz="1200" kern="100" dirty="0">
              <a:latin typeface="Calibri" panose="020F0502020204030204" pitchFamily="34" charset="0"/>
              <a:cs typeface="Times New Roman" panose="02020603050405020304" pitchFamily="18" charset="0"/>
            </a:endParaRPr>
          </a:p>
        </p:txBody>
      </p:sp>
      <p:sp>
        <p:nvSpPr>
          <p:cNvPr id="26" name="矩形 25"/>
          <p:cNvSpPr/>
          <p:nvPr/>
        </p:nvSpPr>
        <p:spPr>
          <a:xfrm>
            <a:off x="2812061" y="3628091"/>
            <a:ext cx="151982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AGVMovingToOrigin</a:t>
            </a:r>
            <a:endParaRPr lang="zh-CN" altLang="zh-CN" sz="1200" kern="100" dirty="0">
              <a:latin typeface="Calibri" panose="020F0502020204030204" pitchFamily="34" charset="0"/>
              <a:cs typeface="Times New Roman" panose="02020603050405020304" pitchFamily="18" charset="0"/>
            </a:endParaRPr>
          </a:p>
        </p:txBody>
      </p:sp>
      <p:sp>
        <p:nvSpPr>
          <p:cNvPr id="29" name="椭圆 28"/>
          <p:cNvSpPr/>
          <p:nvPr/>
        </p:nvSpPr>
        <p:spPr>
          <a:xfrm>
            <a:off x="1746310" y="1720241"/>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991246" y="1875015"/>
            <a:ext cx="1059005"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AGVAtOrigin</a:t>
            </a:r>
            <a:endParaRPr lang="zh-CN" altLang="zh-CN" sz="1200" kern="100" dirty="0">
              <a:latin typeface="Calibri" panose="020F0502020204030204" pitchFamily="34" charset="0"/>
              <a:cs typeface="Times New Roman" panose="02020603050405020304" pitchFamily="18" charset="0"/>
            </a:endParaRPr>
          </a:p>
        </p:txBody>
      </p:sp>
      <p:sp>
        <p:nvSpPr>
          <p:cNvPr id="32" name="椭圆 31"/>
          <p:cNvSpPr/>
          <p:nvPr/>
        </p:nvSpPr>
        <p:spPr>
          <a:xfrm>
            <a:off x="6193377" y="1090431"/>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曲线连接符 37"/>
          <p:cNvCxnSpPr>
            <a:stCxn id="29" idx="0"/>
            <a:endCxn id="4" idx="2"/>
          </p:cNvCxnSpPr>
          <p:nvPr/>
        </p:nvCxnSpPr>
        <p:spPr>
          <a:xfrm rot="5400000" flipH="1" flipV="1">
            <a:off x="2496247" y="1170064"/>
            <a:ext cx="537995" cy="56236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曲线连接符 43"/>
          <p:cNvCxnSpPr>
            <a:stCxn id="32" idx="4"/>
            <a:endCxn id="10" idx="2"/>
          </p:cNvCxnSpPr>
          <p:nvPr/>
        </p:nvCxnSpPr>
        <p:spPr>
          <a:xfrm rot="5400000">
            <a:off x="5873688" y="2094713"/>
            <a:ext cx="1534515" cy="588981"/>
          </a:xfrm>
          <a:prstGeom prst="curvedConnector4">
            <a:avLst>
              <a:gd name="adj1" fmla="val 41341"/>
              <a:gd name="adj2" fmla="val 138813"/>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6373689" y="1198638"/>
            <a:ext cx="1171127" cy="276999"/>
          </a:xfrm>
          <a:prstGeom prst="rect">
            <a:avLst/>
          </a:prstGeom>
        </p:spPr>
        <p:txBody>
          <a:bodyPr wrap="square">
            <a:spAutoFit/>
          </a:bodyPr>
          <a:lstStyle/>
          <a:p>
            <a:pPr algn="just"/>
            <a:r>
              <a:rPr lang="en-US" altLang="zh-CN" sz="1200" kern="100" dirty="0" err="1">
                <a:latin typeface="Calibri" panose="020F0502020204030204" pitchFamily="34" charset="0"/>
                <a:cs typeface="Times New Roman" panose="02020603050405020304" pitchFamily="18" charset="0"/>
              </a:rPr>
              <a:t>RobotArm_idle</a:t>
            </a:r>
            <a:endParaRPr lang="zh-CN" altLang="zh-CN" sz="1200" kern="100" dirty="0">
              <a:latin typeface="Calibri" panose="020F0502020204030204" pitchFamily="34" charset="0"/>
              <a:cs typeface="Times New Roman" panose="02020603050405020304" pitchFamily="18" charset="0"/>
            </a:endParaRPr>
          </a:p>
        </p:txBody>
      </p:sp>
      <p:cxnSp>
        <p:nvCxnSpPr>
          <p:cNvPr id="70" name="曲线连接符 69"/>
          <p:cNvCxnSpPr>
            <a:stCxn id="8" idx="4"/>
            <a:endCxn id="12" idx="6"/>
          </p:cNvCxnSpPr>
          <p:nvPr/>
        </p:nvCxnSpPr>
        <p:spPr>
          <a:xfrm rot="5400000">
            <a:off x="4462062" y="3211895"/>
            <a:ext cx="343518" cy="7658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曲线连接符 72"/>
          <p:cNvCxnSpPr>
            <a:stCxn id="12" idx="2"/>
            <a:endCxn id="29" idx="4"/>
          </p:cNvCxnSpPr>
          <p:nvPr/>
        </p:nvCxnSpPr>
        <p:spPr>
          <a:xfrm rot="10800000">
            <a:off x="2484064" y="2306789"/>
            <a:ext cx="291312" cy="14598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曲线连接符 84"/>
          <p:cNvCxnSpPr>
            <a:stCxn id="10" idx="6"/>
            <a:endCxn id="32" idx="6"/>
          </p:cNvCxnSpPr>
          <p:nvPr/>
        </p:nvCxnSpPr>
        <p:spPr>
          <a:xfrm flipH="1" flipV="1">
            <a:off x="7677492" y="1356189"/>
            <a:ext cx="153077" cy="1800272"/>
          </a:xfrm>
          <a:prstGeom prst="curvedConnector3">
            <a:avLst>
              <a:gd name="adj1" fmla="val -149337"/>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a:xfrm>
            <a:off x="4250883" y="117457"/>
            <a:ext cx="1992312" cy="923330"/>
          </a:xfrm>
          <a:prstGeom prst="rect">
            <a:avLst/>
          </a:prstGeom>
          <a:noFill/>
        </p:spPr>
        <p:txBody>
          <a:bodyPr wrap="square" rtlCol="0">
            <a:spAutoFit/>
          </a:bodyPr>
          <a:lstStyle/>
          <a:p>
            <a:r>
              <a:rPr lang="en-US" altLang="zh-CN" dirty="0"/>
              <a:t>One Task            Assigned from Scheduling System</a:t>
            </a:r>
            <a:endParaRPr lang="zh-CN" altLang="en-US" dirty="0"/>
          </a:p>
        </p:txBody>
      </p:sp>
      <p:sp>
        <p:nvSpPr>
          <p:cNvPr id="94" name="矩形 93"/>
          <p:cNvSpPr/>
          <p:nvPr/>
        </p:nvSpPr>
        <p:spPr>
          <a:xfrm>
            <a:off x="5249296" y="233608"/>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右箭头 96"/>
          <p:cNvSpPr/>
          <p:nvPr/>
        </p:nvSpPr>
        <p:spPr>
          <a:xfrm rot="5400000">
            <a:off x="4897818" y="1056644"/>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p:cNvSpPr txBox="1"/>
          <p:nvPr/>
        </p:nvSpPr>
        <p:spPr>
          <a:xfrm>
            <a:off x="3286833" y="2138397"/>
            <a:ext cx="1165884" cy="646331"/>
          </a:xfrm>
          <a:prstGeom prst="rect">
            <a:avLst/>
          </a:prstGeom>
          <a:noFill/>
        </p:spPr>
        <p:txBody>
          <a:bodyPr wrap="square" rtlCol="0">
            <a:spAutoFit/>
          </a:bodyPr>
          <a:lstStyle/>
          <a:p>
            <a:r>
              <a:rPr lang="en-US" altLang="zh-CN" dirty="0"/>
              <a:t>AGV </a:t>
            </a:r>
          </a:p>
          <a:p>
            <a:r>
              <a:rPr lang="en-US" altLang="zh-CN" dirty="0"/>
              <a:t>State Set</a:t>
            </a:r>
            <a:endParaRPr lang="zh-CN" altLang="en-US" dirty="0"/>
          </a:p>
        </p:txBody>
      </p:sp>
      <p:sp>
        <p:nvSpPr>
          <p:cNvPr id="99" name="文本框 98"/>
          <p:cNvSpPr txBox="1"/>
          <p:nvPr/>
        </p:nvSpPr>
        <p:spPr>
          <a:xfrm>
            <a:off x="6752069" y="2081463"/>
            <a:ext cx="1303803" cy="646331"/>
          </a:xfrm>
          <a:prstGeom prst="rect">
            <a:avLst/>
          </a:prstGeom>
          <a:noFill/>
        </p:spPr>
        <p:txBody>
          <a:bodyPr wrap="square" rtlCol="0">
            <a:spAutoFit/>
          </a:bodyPr>
          <a:lstStyle/>
          <a:p>
            <a:r>
              <a:rPr lang="en-US" altLang="zh-CN" dirty="0" err="1"/>
              <a:t>RobotArm</a:t>
            </a:r>
            <a:r>
              <a:rPr lang="en-US" altLang="zh-CN" dirty="0"/>
              <a:t> State Set</a:t>
            </a:r>
            <a:endParaRPr lang="zh-CN" altLang="en-US" dirty="0"/>
          </a:p>
        </p:txBody>
      </p:sp>
      <p:sp>
        <p:nvSpPr>
          <p:cNvPr id="101" name="文本框 100"/>
          <p:cNvSpPr txBox="1"/>
          <p:nvPr/>
        </p:nvSpPr>
        <p:spPr>
          <a:xfrm>
            <a:off x="5125368" y="3694456"/>
            <a:ext cx="2136017" cy="646331"/>
          </a:xfrm>
          <a:prstGeom prst="rect">
            <a:avLst/>
          </a:prstGeom>
          <a:noFill/>
        </p:spPr>
        <p:txBody>
          <a:bodyPr wrap="square" rtlCol="0">
            <a:spAutoFit/>
          </a:bodyPr>
          <a:lstStyle/>
          <a:p>
            <a:r>
              <a:rPr lang="en-US" altLang="zh-CN" dirty="0"/>
              <a:t>Heterogeneous Agents Cooperation</a:t>
            </a:r>
            <a:endParaRPr lang="zh-CN" altLang="en-US" dirty="0"/>
          </a:p>
        </p:txBody>
      </p:sp>
      <p:sp>
        <p:nvSpPr>
          <p:cNvPr id="102" name="右箭头 101"/>
          <p:cNvSpPr/>
          <p:nvPr/>
        </p:nvSpPr>
        <p:spPr>
          <a:xfrm rot="16200000">
            <a:off x="5839862" y="3502986"/>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98877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468686" y="1727366"/>
            <a:ext cx="587429" cy="714376"/>
            <a:chOff x="1323750" y="1400532"/>
            <a:chExt cx="1007244" cy="1354959"/>
          </a:xfrm>
        </p:grpSpPr>
        <p:sp>
          <p:nvSpPr>
            <p:cNvPr id="4" name="矩形 3"/>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2191971" y="1460070"/>
            <a:ext cx="1413809" cy="369332"/>
          </a:xfrm>
          <a:prstGeom prst="rect">
            <a:avLst/>
          </a:prstGeom>
          <a:noFill/>
        </p:spPr>
        <p:txBody>
          <a:bodyPr wrap="square" rtlCol="0">
            <a:spAutoFit/>
          </a:bodyPr>
          <a:lstStyle/>
          <a:p>
            <a:r>
              <a:rPr lang="zh-CN" altLang="en-US" dirty="0"/>
              <a:t>调度系统</a:t>
            </a:r>
          </a:p>
        </p:txBody>
      </p:sp>
      <p:sp>
        <p:nvSpPr>
          <p:cNvPr id="11" name="右箭头 10"/>
          <p:cNvSpPr/>
          <p:nvPr/>
        </p:nvSpPr>
        <p:spPr>
          <a:xfrm>
            <a:off x="1466031"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60363" y="1066354"/>
            <a:ext cx="1641571" cy="646331"/>
          </a:xfrm>
          <a:prstGeom prst="rect">
            <a:avLst/>
          </a:prstGeom>
          <a:noFill/>
        </p:spPr>
        <p:txBody>
          <a:bodyPr wrap="square" rtlCol="0">
            <a:spAutoFit/>
          </a:bodyPr>
          <a:lstStyle/>
          <a:p>
            <a:r>
              <a:rPr lang="zh-CN" altLang="en-US" dirty="0"/>
              <a:t>任务列表</a:t>
            </a:r>
            <a:endParaRPr lang="en-US" altLang="zh-CN" dirty="0"/>
          </a:p>
          <a:p>
            <a:r>
              <a:rPr lang="zh-CN" altLang="en-US" dirty="0"/>
              <a:t>（生产任务）</a:t>
            </a: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070" y="3417484"/>
            <a:ext cx="834390" cy="83439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1531" y="3411132"/>
            <a:ext cx="834390" cy="834390"/>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6356" y="3417484"/>
            <a:ext cx="834390" cy="834390"/>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201" y="2867237"/>
            <a:ext cx="456806" cy="306230"/>
          </a:xfrm>
          <a:prstGeom prst="rect">
            <a:avLst/>
          </a:prstGeom>
        </p:spPr>
      </p:pic>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4540" y="2867237"/>
            <a:ext cx="456806" cy="306230"/>
          </a:xfrm>
          <a:prstGeom prst="rect">
            <a:avLst/>
          </a:prstGeom>
        </p:spPr>
      </p:pic>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6498" y="2867237"/>
            <a:ext cx="456806" cy="306230"/>
          </a:xfrm>
          <a:prstGeom prst="rect">
            <a:avLst/>
          </a:prstGeom>
        </p:spPr>
      </p:pic>
      <p:sp>
        <p:nvSpPr>
          <p:cNvPr id="19" name="server_159296">
            <a:extLst>
              <a:ext uri="{FF2B5EF4-FFF2-40B4-BE49-F238E27FC236}">
                <a16:creationId xmlns="" xmlns:a16="http://schemas.microsoft.com/office/drawing/2014/main" id="{54405246-CCE2-4201-BBB1-D3F3EB6E740D}"/>
              </a:ext>
            </a:extLst>
          </p:cNvPr>
          <p:cNvSpPr/>
          <p:nvPr/>
        </p:nvSpPr>
        <p:spPr>
          <a:xfrm>
            <a:off x="2320265"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2567953" y="3845464"/>
            <a:ext cx="1292095" cy="369332"/>
          </a:xfrm>
          <a:prstGeom prst="rect">
            <a:avLst/>
          </a:prstGeom>
          <a:noFill/>
        </p:spPr>
        <p:txBody>
          <a:bodyPr wrap="square" rtlCol="0">
            <a:spAutoFit/>
          </a:bodyPr>
          <a:lstStyle/>
          <a:p>
            <a:r>
              <a:rPr lang="en-US" altLang="zh-CN" dirty="0"/>
              <a:t>Robot Arm</a:t>
            </a:r>
            <a:endParaRPr lang="zh-CN" altLang="en-US" dirty="0"/>
          </a:p>
        </p:txBody>
      </p:sp>
      <p:sp>
        <p:nvSpPr>
          <p:cNvPr id="24" name="文本框 23"/>
          <p:cNvSpPr txBox="1"/>
          <p:nvPr/>
        </p:nvSpPr>
        <p:spPr>
          <a:xfrm>
            <a:off x="869831" y="3152184"/>
            <a:ext cx="739656" cy="338554"/>
          </a:xfrm>
          <a:prstGeom prst="rect">
            <a:avLst/>
          </a:prstGeom>
          <a:noFill/>
        </p:spPr>
        <p:txBody>
          <a:bodyPr wrap="square" rtlCol="0">
            <a:spAutoFit/>
          </a:bodyPr>
          <a:lstStyle/>
          <a:p>
            <a:r>
              <a:rPr lang="en-US" altLang="zh-CN" sz="1600" dirty="0"/>
              <a:t>AGV</a:t>
            </a:r>
            <a:endParaRPr lang="zh-CN" altLang="en-US" sz="1600" dirty="0"/>
          </a:p>
        </p:txBody>
      </p:sp>
      <p:cxnSp>
        <p:nvCxnSpPr>
          <p:cNvPr id="27" name="直接箭头连接符 26"/>
          <p:cNvCxnSpPr/>
          <p:nvPr/>
        </p:nvCxnSpPr>
        <p:spPr>
          <a:xfrm flipV="1">
            <a:off x="1624263" y="2692323"/>
            <a:ext cx="1056974" cy="9580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2686553" y="2671905"/>
            <a:ext cx="199885" cy="9399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3041680" y="2671905"/>
            <a:ext cx="834528" cy="10287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6" idx="0"/>
          </p:cNvCxnSpPr>
          <p:nvPr/>
        </p:nvCxnSpPr>
        <p:spPr>
          <a:xfrm flipV="1">
            <a:off x="898604" y="2498909"/>
            <a:ext cx="1482621" cy="3683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7" idx="0"/>
          </p:cNvCxnSpPr>
          <p:nvPr/>
        </p:nvCxnSpPr>
        <p:spPr>
          <a:xfrm flipV="1">
            <a:off x="1332943" y="2583094"/>
            <a:ext cx="1104443" cy="284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8" idx="0"/>
          </p:cNvCxnSpPr>
          <p:nvPr/>
        </p:nvCxnSpPr>
        <p:spPr>
          <a:xfrm flipV="1">
            <a:off x="1774901" y="2671904"/>
            <a:ext cx="713371" cy="1953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a:xfrm>
            <a:off x="6983102" y="3164027"/>
            <a:ext cx="3630835" cy="601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778643" y="1225161"/>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7110109" y="2056430"/>
            <a:ext cx="1625160"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7011223" y="3172714"/>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9078673" y="3226892"/>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5507595" y="3809506"/>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曲线连接符 107"/>
          <p:cNvCxnSpPr>
            <a:stCxn id="103" idx="6"/>
            <a:endCxn id="104" idx="0"/>
          </p:cNvCxnSpPr>
          <p:nvPr/>
        </p:nvCxnSpPr>
        <p:spPr>
          <a:xfrm>
            <a:off x="7254150" y="1518435"/>
            <a:ext cx="668539" cy="537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曲线连接符 108"/>
          <p:cNvCxnSpPr>
            <a:stCxn id="104" idx="4"/>
            <a:endCxn id="105" idx="0"/>
          </p:cNvCxnSpPr>
          <p:nvPr/>
        </p:nvCxnSpPr>
        <p:spPr>
          <a:xfrm rot="5400000">
            <a:off x="7570965" y="2820990"/>
            <a:ext cx="529736" cy="17371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6171222" y="1379934"/>
            <a:ext cx="84000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AGV_idle</a:t>
            </a:r>
            <a:endParaRPr lang="en-US" altLang="zh-CN" sz="1200" kern="100" dirty="0">
              <a:latin typeface="Calibri" panose="020F0502020204030204" pitchFamily="34" charset="0"/>
              <a:cs typeface="Times New Roman" panose="02020603050405020304" pitchFamily="18" charset="0"/>
            </a:endParaRPr>
          </a:p>
        </p:txBody>
      </p:sp>
      <p:sp>
        <p:nvSpPr>
          <p:cNvPr id="111" name="矩形 110"/>
          <p:cNvSpPr/>
          <p:nvPr/>
        </p:nvSpPr>
        <p:spPr>
          <a:xfrm>
            <a:off x="7067184" y="2198439"/>
            <a:ext cx="174428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AGVMovingToRobotArm</a:t>
            </a:r>
            <a:endParaRPr lang="zh-CN" altLang="zh-CN" sz="1200" kern="100" dirty="0">
              <a:latin typeface="Calibri" panose="020F0502020204030204" pitchFamily="34" charset="0"/>
              <a:cs typeface="Times New Roman" panose="02020603050405020304" pitchFamily="18" charset="0"/>
            </a:endParaRPr>
          </a:p>
        </p:txBody>
      </p:sp>
      <p:sp>
        <p:nvSpPr>
          <p:cNvPr id="112" name="矩形 111"/>
          <p:cNvSpPr/>
          <p:nvPr/>
        </p:nvSpPr>
        <p:spPr>
          <a:xfrm>
            <a:off x="7142254" y="3327488"/>
            <a:ext cx="1297209"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AGVAtRobotArm</a:t>
            </a:r>
            <a:r>
              <a:rPr lang="en-US" altLang="zh-CN" sz="1200" kern="100" dirty="0">
                <a:latin typeface="Calibri" panose="020F0502020204030204" pitchFamily="34" charset="0"/>
                <a:cs typeface="Times New Roman" panose="02020603050405020304" pitchFamily="18" charset="0"/>
              </a:rPr>
              <a:t> </a:t>
            </a:r>
            <a:endParaRPr lang="zh-CN" altLang="zh-CN" sz="1200" kern="100" dirty="0">
              <a:latin typeface="Calibri" panose="020F0502020204030204" pitchFamily="34" charset="0"/>
              <a:cs typeface="Times New Roman" panose="02020603050405020304" pitchFamily="18" charset="0"/>
            </a:endParaRPr>
          </a:p>
        </p:txBody>
      </p:sp>
      <p:sp>
        <p:nvSpPr>
          <p:cNvPr id="113" name="矩形 112"/>
          <p:cNvSpPr/>
          <p:nvPr/>
        </p:nvSpPr>
        <p:spPr>
          <a:xfrm>
            <a:off x="9078673" y="3354149"/>
            <a:ext cx="153526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RobotArm_producing</a:t>
            </a:r>
            <a:endParaRPr lang="zh-CN" altLang="zh-CN" sz="1200" kern="100" dirty="0">
              <a:latin typeface="Calibri" panose="020F0502020204030204" pitchFamily="34" charset="0"/>
              <a:cs typeface="Times New Roman" panose="02020603050405020304" pitchFamily="18" charset="0"/>
            </a:endParaRPr>
          </a:p>
        </p:txBody>
      </p:sp>
      <p:sp>
        <p:nvSpPr>
          <p:cNvPr id="114" name="矩形 113"/>
          <p:cNvSpPr/>
          <p:nvPr/>
        </p:nvSpPr>
        <p:spPr>
          <a:xfrm>
            <a:off x="5544280" y="3964280"/>
            <a:ext cx="151982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AGVMovingToOrigin</a:t>
            </a:r>
            <a:endParaRPr lang="zh-CN" altLang="zh-CN" sz="1200" kern="100" dirty="0">
              <a:latin typeface="Calibri" panose="020F0502020204030204" pitchFamily="34" charset="0"/>
              <a:cs typeface="Times New Roman" panose="02020603050405020304" pitchFamily="18" charset="0"/>
            </a:endParaRPr>
          </a:p>
        </p:txBody>
      </p:sp>
      <p:sp>
        <p:nvSpPr>
          <p:cNvPr id="115" name="椭圆 114"/>
          <p:cNvSpPr/>
          <p:nvPr/>
        </p:nvSpPr>
        <p:spPr>
          <a:xfrm>
            <a:off x="4478529" y="2056430"/>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4723465" y="2211204"/>
            <a:ext cx="1059005"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AGVAtOrigin</a:t>
            </a:r>
            <a:endParaRPr lang="zh-CN" altLang="zh-CN" sz="1200" kern="100" dirty="0">
              <a:latin typeface="Calibri" panose="020F0502020204030204" pitchFamily="34" charset="0"/>
              <a:cs typeface="Times New Roman" panose="02020603050405020304" pitchFamily="18" charset="0"/>
            </a:endParaRPr>
          </a:p>
        </p:txBody>
      </p:sp>
      <p:sp>
        <p:nvSpPr>
          <p:cNvPr id="117" name="椭圆 116"/>
          <p:cNvSpPr/>
          <p:nvPr/>
        </p:nvSpPr>
        <p:spPr>
          <a:xfrm>
            <a:off x="8925596" y="1426620"/>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 name="曲线连接符 117"/>
          <p:cNvCxnSpPr>
            <a:stCxn id="115" idx="0"/>
            <a:endCxn id="103" idx="2"/>
          </p:cNvCxnSpPr>
          <p:nvPr/>
        </p:nvCxnSpPr>
        <p:spPr>
          <a:xfrm rot="5400000" flipH="1" flipV="1">
            <a:off x="5228466" y="1506253"/>
            <a:ext cx="537995" cy="56236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曲线连接符 118"/>
          <p:cNvCxnSpPr>
            <a:stCxn id="117" idx="4"/>
            <a:endCxn id="106" idx="2"/>
          </p:cNvCxnSpPr>
          <p:nvPr/>
        </p:nvCxnSpPr>
        <p:spPr>
          <a:xfrm rot="5400000">
            <a:off x="8605907" y="2430902"/>
            <a:ext cx="1534515" cy="588981"/>
          </a:xfrm>
          <a:prstGeom prst="curvedConnector4">
            <a:avLst>
              <a:gd name="adj1" fmla="val 41341"/>
              <a:gd name="adj2" fmla="val 13881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a:xfrm>
            <a:off x="9105908" y="1534827"/>
            <a:ext cx="1171127" cy="276999"/>
          </a:xfrm>
          <a:prstGeom prst="rect">
            <a:avLst/>
          </a:prstGeom>
        </p:spPr>
        <p:txBody>
          <a:bodyPr wrap="square">
            <a:spAutoFit/>
          </a:bodyPr>
          <a:lstStyle/>
          <a:p>
            <a:pPr algn="just"/>
            <a:r>
              <a:rPr lang="en-US" altLang="zh-CN" sz="1200" kern="100" dirty="0" err="1">
                <a:latin typeface="Calibri" panose="020F0502020204030204" pitchFamily="34" charset="0"/>
                <a:cs typeface="Times New Roman" panose="02020603050405020304" pitchFamily="18" charset="0"/>
              </a:rPr>
              <a:t>RobotArm_idle</a:t>
            </a:r>
            <a:endParaRPr lang="zh-CN" altLang="zh-CN" sz="1200" kern="100" dirty="0">
              <a:latin typeface="Calibri" panose="020F0502020204030204" pitchFamily="34" charset="0"/>
              <a:cs typeface="Times New Roman" panose="02020603050405020304" pitchFamily="18" charset="0"/>
            </a:endParaRPr>
          </a:p>
        </p:txBody>
      </p:sp>
      <p:cxnSp>
        <p:nvCxnSpPr>
          <p:cNvPr id="121" name="曲线连接符 120"/>
          <p:cNvCxnSpPr>
            <a:stCxn id="105" idx="4"/>
            <a:endCxn id="107" idx="6"/>
          </p:cNvCxnSpPr>
          <p:nvPr/>
        </p:nvCxnSpPr>
        <p:spPr>
          <a:xfrm rot="5400000">
            <a:off x="7194281" y="3548084"/>
            <a:ext cx="343518" cy="7658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曲线连接符 121"/>
          <p:cNvCxnSpPr>
            <a:stCxn id="107" idx="2"/>
            <a:endCxn id="115" idx="4"/>
          </p:cNvCxnSpPr>
          <p:nvPr/>
        </p:nvCxnSpPr>
        <p:spPr>
          <a:xfrm rot="10800000">
            <a:off x="5216283" y="2642978"/>
            <a:ext cx="291312" cy="14598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曲线连接符 122"/>
          <p:cNvCxnSpPr>
            <a:stCxn id="106" idx="6"/>
            <a:endCxn id="117" idx="6"/>
          </p:cNvCxnSpPr>
          <p:nvPr/>
        </p:nvCxnSpPr>
        <p:spPr>
          <a:xfrm flipH="1" flipV="1">
            <a:off x="10409711" y="1692378"/>
            <a:ext cx="153077" cy="1800272"/>
          </a:xfrm>
          <a:prstGeom prst="curvedConnector3">
            <a:avLst>
              <a:gd name="adj1" fmla="val -149337"/>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6983102" y="707646"/>
            <a:ext cx="1992312" cy="646331"/>
          </a:xfrm>
          <a:prstGeom prst="rect">
            <a:avLst/>
          </a:prstGeom>
          <a:noFill/>
        </p:spPr>
        <p:txBody>
          <a:bodyPr wrap="square" rtlCol="0">
            <a:spAutoFit/>
          </a:bodyPr>
          <a:lstStyle/>
          <a:p>
            <a:r>
              <a:rPr lang="zh-CN" altLang="en-US" dirty="0"/>
              <a:t>一个任务</a:t>
            </a:r>
            <a:endParaRPr lang="en-US" altLang="zh-CN" dirty="0"/>
          </a:p>
          <a:p>
            <a:r>
              <a:rPr lang="zh-CN" altLang="en-US" dirty="0"/>
              <a:t>由调度系统分配</a:t>
            </a:r>
          </a:p>
        </p:txBody>
      </p:sp>
      <p:sp>
        <p:nvSpPr>
          <p:cNvPr id="125" name="矩形 124"/>
          <p:cNvSpPr/>
          <p:nvPr/>
        </p:nvSpPr>
        <p:spPr>
          <a:xfrm>
            <a:off x="8032315" y="836497"/>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右箭头 125"/>
          <p:cNvSpPr/>
          <p:nvPr/>
        </p:nvSpPr>
        <p:spPr>
          <a:xfrm rot="5400000">
            <a:off x="7630037" y="1392833"/>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文本框 126"/>
          <p:cNvSpPr txBox="1"/>
          <p:nvPr/>
        </p:nvSpPr>
        <p:spPr>
          <a:xfrm>
            <a:off x="6019052" y="2474586"/>
            <a:ext cx="1165884" cy="646331"/>
          </a:xfrm>
          <a:prstGeom prst="rect">
            <a:avLst/>
          </a:prstGeom>
          <a:noFill/>
        </p:spPr>
        <p:txBody>
          <a:bodyPr wrap="square" rtlCol="0">
            <a:spAutoFit/>
          </a:bodyPr>
          <a:lstStyle/>
          <a:p>
            <a:r>
              <a:rPr lang="en-US" altLang="zh-CN" dirty="0"/>
              <a:t>AGV </a:t>
            </a:r>
          </a:p>
          <a:p>
            <a:r>
              <a:rPr lang="zh-CN" altLang="en-US" dirty="0"/>
              <a:t>状态集</a:t>
            </a:r>
          </a:p>
        </p:txBody>
      </p:sp>
      <p:sp>
        <p:nvSpPr>
          <p:cNvPr id="128" name="文本框 127"/>
          <p:cNvSpPr txBox="1"/>
          <p:nvPr/>
        </p:nvSpPr>
        <p:spPr>
          <a:xfrm>
            <a:off x="9484288" y="2417652"/>
            <a:ext cx="1303803" cy="646331"/>
          </a:xfrm>
          <a:prstGeom prst="rect">
            <a:avLst/>
          </a:prstGeom>
          <a:noFill/>
        </p:spPr>
        <p:txBody>
          <a:bodyPr wrap="square" rtlCol="0">
            <a:spAutoFit/>
          </a:bodyPr>
          <a:lstStyle/>
          <a:p>
            <a:r>
              <a:rPr lang="en-US" altLang="zh-CN" dirty="0" err="1"/>
              <a:t>RobotArm</a:t>
            </a:r>
            <a:r>
              <a:rPr lang="zh-CN" altLang="en-US" dirty="0"/>
              <a:t>状态集</a:t>
            </a:r>
          </a:p>
        </p:txBody>
      </p:sp>
      <p:sp>
        <p:nvSpPr>
          <p:cNvPr id="129" name="文本框 128"/>
          <p:cNvSpPr txBox="1"/>
          <p:nvPr/>
        </p:nvSpPr>
        <p:spPr>
          <a:xfrm>
            <a:off x="7857587" y="4131827"/>
            <a:ext cx="2136017" cy="369332"/>
          </a:xfrm>
          <a:prstGeom prst="rect">
            <a:avLst/>
          </a:prstGeom>
          <a:noFill/>
        </p:spPr>
        <p:txBody>
          <a:bodyPr wrap="square" rtlCol="0">
            <a:spAutoFit/>
          </a:bodyPr>
          <a:lstStyle/>
          <a:p>
            <a:r>
              <a:rPr lang="zh-CN" altLang="en-US" dirty="0"/>
              <a:t>异构智能体协作</a:t>
            </a:r>
          </a:p>
        </p:txBody>
      </p:sp>
      <p:sp>
        <p:nvSpPr>
          <p:cNvPr id="130" name="右箭头 129"/>
          <p:cNvSpPr/>
          <p:nvPr/>
        </p:nvSpPr>
        <p:spPr>
          <a:xfrm rot="16200000">
            <a:off x="8572081" y="3839175"/>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5717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68686" y="1727366"/>
            <a:ext cx="587429" cy="714376"/>
            <a:chOff x="1323750" y="1400532"/>
            <a:chExt cx="1007244" cy="1354959"/>
          </a:xfrm>
        </p:grpSpPr>
        <p:sp>
          <p:nvSpPr>
            <p:cNvPr id="5" name="矩形 4"/>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2166858" y="1445649"/>
            <a:ext cx="1379368" cy="369332"/>
          </a:xfrm>
          <a:prstGeom prst="rect">
            <a:avLst/>
          </a:prstGeom>
          <a:noFill/>
        </p:spPr>
        <p:txBody>
          <a:bodyPr wrap="square" rtlCol="0">
            <a:spAutoFit/>
          </a:bodyPr>
          <a:lstStyle/>
          <a:p>
            <a:r>
              <a:rPr lang="zh-CN" altLang="en-US" dirty="0"/>
              <a:t>调度系统</a:t>
            </a:r>
          </a:p>
        </p:txBody>
      </p:sp>
      <p:sp>
        <p:nvSpPr>
          <p:cNvPr id="11" name="右箭头 10"/>
          <p:cNvSpPr/>
          <p:nvPr/>
        </p:nvSpPr>
        <p:spPr>
          <a:xfrm>
            <a:off x="1466031"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60363" y="1066354"/>
            <a:ext cx="1641571" cy="646331"/>
          </a:xfrm>
          <a:prstGeom prst="rect">
            <a:avLst/>
          </a:prstGeom>
          <a:noFill/>
        </p:spPr>
        <p:txBody>
          <a:bodyPr wrap="square" rtlCol="0">
            <a:spAutoFit/>
          </a:bodyPr>
          <a:lstStyle/>
          <a:p>
            <a:r>
              <a:rPr lang="zh-CN" altLang="en-US" dirty="0"/>
              <a:t>任务列表</a:t>
            </a:r>
            <a:endParaRPr lang="en-US" altLang="zh-CN" dirty="0"/>
          </a:p>
          <a:p>
            <a:r>
              <a:rPr lang="zh-CN" altLang="en-US" dirty="0"/>
              <a:t>（生产任务）</a:t>
            </a: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8070" y="3417484"/>
            <a:ext cx="834390" cy="834390"/>
          </a:xfrm>
          <a:prstGeom prst="rect">
            <a:avLst/>
          </a:prstGeom>
        </p:spPr>
      </p:pic>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11531" y="3411132"/>
            <a:ext cx="834390" cy="834390"/>
          </a:xfrm>
          <a:prstGeom prst="rect">
            <a:avLst/>
          </a:prstGeom>
        </p:spPr>
      </p:pic>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6356" y="3417484"/>
            <a:ext cx="834390" cy="834390"/>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201" y="2867237"/>
            <a:ext cx="456806" cy="306230"/>
          </a:xfrm>
          <a:prstGeom prst="rect">
            <a:avLst/>
          </a:prstGeom>
        </p:spPr>
      </p:pic>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4540" y="2867237"/>
            <a:ext cx="456806" cy="306230"/>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6498" y="2867237"/>
            <a:ext cx="456806" cy="306230"/>
          </a:xfrm>
          <a:prstGeom prst="rect">
            <a:avLst/>
          </a:prstGeom>
        </p:spPr>
      </p:pic>
      <p:sp>
        <p:nvSpPr>
          <p:cNvPr id="19" name="server_159296">
            <a:extLst>
              <a:ext uri="{FF2B5EF4-FFF2-40B4-BE49-F238E27FC236}">
                <a16:creationId xmlns="" xmlns:a16="http://schemas.microsoft.com/office/drawing/2014/main" id="{54405246-CCE2-4201-BBB1-D3F3EB6E740D}"/>
              </a:ext>
            </a:extLst>
          </p:cNvPr>
          <p:cNvSpPr/>
          <p:nvPr/>
        </p:nvSpPr>
        <p:spPr>
          <a:xfrm>
            <a:off x="2320265"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文本框 19"/>
          <p:cNvSpPr txBox="1"/>
          <p:nvPr/>
        </p:nvSpPr>
        <p:spPr>
          <a:xfrm>
            <a:off x="2567953" y="3845464"/>
            <a:ext cx="1292095" cy="369332"/>
          </a:xfrm>
          <a:prstGeom prst="rect">
            <a:avLst/>
          </a:prstGeom>
          <a:noFill/>
        </p:spPr>
        <p:txBody>
          <a:bodyPr wrap="square" rtlCol="0">
            <a:spAutoFit/>
          </a:bodyPr>
          <a:lstStyle/>
          <a:p>
            <a:r>
              <a:rPr lang="en-US" altLang="zh-CN" dirty="0"/>
              <a:t>Robot Arm</a:t>
            </a:r>
            <a:endParaRPr lang="zh-CN" altLang="en-US" dirty="0"/>
          </a:p>
        </p:txBody>
      </p:sp>
      <p:sp>
        <p:nvSpPr>
          <p:cNvPr id="21" name="文本框 20"/>
          <p:cNvSpPr txBox="1"/>
          <p:nvPr/>
        </p:nvSpPr>
        <p:spPr>
          <a:xfrm>
            <a:off x="869831" y="3152184"/>
            <a:ext cx="739656" cy="338554"/>
          </a:xfrm>
          <a:prstGeom prst="rect">
            <a:avLst/>
          </a:prstGeom>
          <a:noFill/>
        </p:spPr>
        <p:txBody>
          <a:bodyPr wrap="square" rtlCol="0">
            <a:spAutoFit/>
          </a:bodyPr>
          <a:lstStyle/>
          <a:p>
            <a:r>
              <a:rPr lang="en-US" altLang="zh-CN" sz="1600" dirty="0"/>
              <a:t>AGV</a:t>
            </a:r>
            <a:endParaRPr lang="zh-CN" altLang="en-US" sz="1600" dirty="0"/>
          </a:p>
        </p:txBody>
      </p:sp>
      <p:cxnSp>
        <p:nvCxnSpPr>
          <p:cNvPr id="22" name="直接箭头连接符 21"/>
          <p:cNvCxnSpPr/>
          <p:nvPr/>
        </p:nvCxnSpPr>
        <p:spPr>
          <a:xfrm flipV="1">
            <a:off x="1624263" y="2692323"/>
            <a:ext cx="1056974" cy="9580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2686553" y="2671905"/>
            <a:ext cx="199885" cy="9399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3041680" y="2671905"/>
            <a:ext cx="834528" cy="10287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6" idx="0"/>
          </p:cNvCxnSpPr>
          <p:nvPr/>
        </p:nvCxnSpPr>
        <p:spPr>
          <a:xfrm flipV="1">
            <a:off x="898604" y="2498909"/>
            <a:ext cx="1482621" cy="3683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7" idx="0"/>
          </p:cNvCxnSpPr>
          <p:nvPr/>
        </p:nvCxnSpPr>
        <p:spPr>
          <a:xfrm flipV="1">
            <a:off x="1332943" y="2583094"/>
            <a:ext cx="1104443" cy="284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8" idx="0"/>
          </p:cNvCxnSpPr>
          <p:nvPr/>
        </p:nvCxnSpPr>
        <p:spPr>
          <a:xfrm flipV="1">
            <a:off x="1774901" y="2671904"/>
            <a:ext cx="713371" cy="1953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585987" y="362896"/>
            <a:ext cx="3249140" cy="98526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p:cNvCxnSpPr/>
          <p:nvPr/>
        </p:nvCxnSpPr>
        <p:spPr>
          <a:xfrm>
            <a:off x="2664013" y="969043"/>
            <a:ext cx="2567940" cy="0"/>
          </a:xfrm>
          <a:prstGeom prst="straightConnector1">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922190" y="882439"/>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231953" y="810224"/>
            <a:ext cx="702348" cy="369332"/>
          </a:xfrm>
          <a:prstGeom prst="rect">
            <a:avLst/>
          </a:prstGeom>
          <a:noFill/>
        </p:spPr>
        <p:txBody>
          <a:bodyPr wrap="square" rtlCol="0">
            <a:spAutoFit/>
          </a:bodyPr>
          <a:lstStyle/>
          <a:p>
            <a:r>
              <a:rPr lang="en-US" altLang="zh-CN" dirty="0"/>
              <a:t>Time</a:t>
            </a:r>
            <a:endParaRPr lang="zh-CN" altLang="en-US" dirty="0"/>
          </a:p>
        </p:txBody>
      </p:sp>
      <p:cxnSp>
        <p:nvCxnSpPr>
          <p:cNvPr id="32" name="直接连接符 31"/>
          <p:cNvCxnSpPr/>
          <p:nvPr/>
        </p:nvCxnSpPr>
        <p:spPr>
          <a:xfrm>
            <a:off x="3507398" y="882439"/>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643771" y="882439"/>
            <a:ext cx="0" cy="9453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2785959" y="1033506"/>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a:off x="2927247" y="1186699"/>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flipV="1">
            <a:off x="2927744" y="1067638"/>
            <a:ext cx="1" cy="12779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3361348" y="1033506"/>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a:off x="3497873" y="1186699"/>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3498372" y="1080305"/>
            <a:ext cx="57578" cy="115126"/>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4499171" y="1033506"/>
            <a:ext cx="292100" cy="292100"/>
          </a:xfrm>
          <a:prstGeom prst="ellipse">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40"/>
          <p:cNvCxnSpPr/>
          <p:nvPr/>
        </p:nvCxnSpPr>
        <p:spPr>
          <a:xfrm>
            <a:off x="4635696" y="1181936"/>
            <a:ext cx="71729"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4640957" y="1183526"/>
            <a:ext cx="54088" cy="8728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2820318" y="346109"/>
            <a:ext cx="1292095" cy="369332"/>
          </a:xfrm>
          <a:prstGeom prst="rect">
            <a:avLst/>
          </a:prstGeom>
          <a:noFill/>
        </p:spPr>
        <p:txBody>
          <a:bodyPr wrap="square" rtlCol="0">
            <a:spAutoFit/>
          </a:bodyPr>
          <a:lstStyle/>
          <a:p>
            <a:r>
              <a:rPr lang="en-US" altLang="zh-CN" dirty="0"/>
              <a:t>AGV n </a:t>
            </a:r>
            <a:r>
              <a:rPr lang="zh-CN" altLang="en-US" dirty="0"/>
              <a:t>退出</a:t>
            </a:r>
          </a:p>
        </p:txBody>
      </p:sp>
      <p:sp>
        <p:nvSpPr>
          <p:cNvPr id="44" name="文本框 43"/>
          <p:cNvSpPr txBox="1"/>
          <p:nvPr/>
        </p:nvSpPr>
        <p:spPr>
          <a:xfrm>
            <a:off x="4121190" y="346109"/>
            <a:ext cx="1625660" cy="369332"/>
          </a:xfrm>
          <a:prstGeom prst="rect">
            <a:avLst/>
          </a:prstGeom>
          <a:noFill/>
        </p:spPr>
        <p:txBody>
          <a:bodyPr wrap="square" rtlCol="0">
            <a:spAutoFit/>
          </a:bodyPr>
          <a:lstStyle/>
          <a:p>
            <a:r>
              <a:rPr lang="en-US" altLang="zh-CN" dirty="0"/>
              <a:t>AGV n </a:t>
            </a:r>
            <a:r>
              <a:rPr lang="zh-CN" altLang="en-US" dirty="0"/>
              <a:t>重加入</a:t>
            </a:r>
          </a:p>
        </p:txBody>
      </p:sp>
      <p:cxnSp>
        <p:nvCxnSpPr>
          <p:cNvPr id="45" name="直接箭头连接符 44"/>
          <p:cNvCxnSpPr/>
          <p:nvPr/>
        </p:nvCxnSpPr>
        <p:spPr>
          <a:xfrm flipV="1">
            <a:off x="3507398" y="618024"/>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4642839" y="618024"/>
            <a:ext cx="0" cy="29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camera-flash_15587">
            <a:extLst>
              <a:ext uri="{FF2B5EF4-FFF2-40B4-BE49-F238E27FC236}">
                <a16:creationId xmlns="" xmlns:a16="http://schemas.microsoft.com/office/drawing/2014/main" id="{54405246-CCE2-4201-BBB1-D3F3EB6E740D}"/>
              </a:ext>
            </a:extLst>
          </p:cNvPr>
          <p:cNvSpPr/>
          <p:nvPr/>
        </p:nvSpPr>
        <p:spPr>
          <a:xfrm rot="1818420">
            <a:off x="3524900" y="1187507"/>
            <a:ext cx="447596" cy="1017166"/>
          </a:xfrm>
          <a:custGeom>
            <a:avLst/>
            <a:gdLst>
              <a:gd name="T0" fmla="*/ 5 w 267"/>
              <a:gd name="T1" fmla="*/ 607 h 608"/>
              <a:gd name="T2" fmla="*/ 9 w 267"/>
              <a:gd name="T3" fmla="*/ 608 h 608"/>
              <a:gd name="T4" fmla="*/ 16 w 267"/>
              <a:gd name="T5" fmla="*/ 604 h 608"/>
              <a:gd name="T6" fmla="*/ 210 w 267"/>
              <a:gd name="T7" fmla="*/ 336 h 608"/>
              <a:gd name="T8" fmla="*/ 210 w 267"/>
              <a:gd name="T9" fmla="*/ 327 h 608"/>
              <a:gd name="T10" fmla="*/ 160 w 267"/>
              <a:gd name="T11" fmla="*/ 250 h 608"/>
              <a:gd name="T12" fmla="*/ 265 w 267"/>
              <a:gd name="T13" fmla="*/ 13 h 608"/>
              <a:gd name="T14" fmla="*/ 262 w 267"/>
              <a:gd name="T15" fmla="*/ 2 h 608"/>
              <a:gd name="T16" fmla="*/ 251 w 267"/>
              <a:gd name="T17" fmla="*/ 4 h 608"/>
              <a:gd name="T18" fmla="*/ 52 w 267"/>
              <a:gd name="T19" fmla="*/ 226 h 608"/>
              <a:gd name="T20" fmla="*/ 51 w 267"/>
              <a:gd name="T21" fmla="*/ 234 h 608"/>
              <a:gd name="T22" fmla="*/ 92 w 267"/>
              <a:gd name="T23" fmla="*/ 343 h 608"/>
              <a:gd name="T24" fmla="*/ 1 w 267"/>
              <a:gd name="T25" fmla="*/ 596 h 608"/>
              <a:gd name="T26" fmla="*/ 5 w 267"/>
              <a:gd name="T27" fmla="*/ 607 h 608"/>
              <a:gd name="T28" fmla="*/ 109 w 267"/>
              <a:gd name="T29" fmla="*/ 346 h 608"/>
              <a:gd name="T30" fmla="*/ 108 w 267"/>
              <a:gd name="T31" fmla="*/ 340 h 608"/>
              <a:gd name="T32" fmla="*/ 68 w 267"/>
              <a:gd name="T33" fmla="*/ 233 h 608"/>
              <a:gd name="T34" fmla="*/ 228 w 267"/>
              <a:gd name="T35" fmla="*/ 54 h 608"/>
              <a:gd name="T36" fmla="*/ 143 w 267"/>
              <a:gd name="T37" fmla="*/ 247 h 608"/>
              <a:gd name="T38" fmla="*/ 143 w 267"/>
              <a:gd name="T39" fmla="*/ 255 h 608"/>
              <a:gd name="T40" fmla="*/ 193 w 267"/>
              <a:gd name="T41" fmla="*/ 331 h 608"/>
              <a:gd name="T42" fmla="*/ 36 w 267"/>
              <a:gd name="T43" fmla="*/ 547 h 608"/>
              <a:gd name="T44" fmla="*/ 109 w 267"/>
              <a:gd name="T45" fmla="*/ 346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7" h="608">
                <a:moveTo>
                  <a:pt x="5" y="607"/>
                </a:moveTo>
                <a:cubicBezTo>
                  <a:pt x="6" y="607"/>
                  <a:pt x="8" y="608"/>
                  <a:pt x="9" y="608"/>
                </a:cubicBezTo>
                <a:cubicBezTo>
                  <a:pt x="12" y="608"/>
                  <a:pt x="14" y="606"/>
                  <a:pt x="16" y="604"/>
                </a:cubicBezTo>
                <a:lnTo>
                  <a:pt x="210" y="336"/>
                </a:lnTo>
                <a:cubicBezTo>
                  <a:pt x="212" y="334"/>
                  <a:pt x="212" y="330"/>
                  <a:pt x="210" y="327"/>
                </a:cubicBezTo>
                <a:lnTo>
                  <a:pt x="160" y="250"/>
                </a:lnTo>
                <a:lnTo>
                  <a:pt x="265" y="13"/>
                </a:lnTo>
                <a:cubicBezTo>
                  <a:pt x="267" y="9"/>
                  <a:pt x="266" y="4"/>
                  <a:pt x="262" y="2"/>
                </a:cubicBezTo>
                <a:cubicBezTo>
                  <a:pt x="259" y="0"/>
                  <a:pt x="254" y="1"/>
                  <a:pt x="251" y="4"/>
                </a:cubicBezTo>
                <a:lnTo>
                  <a:pt x="52" y="226"/>
                </a:lnTo>
                <a:cubicBezTo>
                  <a:pt x="50" y="228"/>
                  <a:pt x="49" y="231"/>
                  <a:pt x="51" y="234"/>
                </a:cubicBezTo>
                <a:lnTo>
                  <a:pt x="92" y="343"/>
                </a:lnTo>
                <a:lnTo>
                  <a:pt x="1" y="596"/>
                </a:lnTo>
                <a:cubicBezTo>
                  <a:pt x="0" y="600"/>
                  <a:pt x="1" y="605"/>
                  <a:pt x="5" y="607"/>
                </a:cubicBezTo>
                <a:close/>
                <a:moveTo>
                  <a:pt x="109" y="346"/>
                </a:moveTo>
                <a:cubicBezTo>
                  <a:pt x="109" y="344"/>
                  <a:pt x="109" y="342"/>
                  <a:pt x="108" y="340"/>
                </a:cubicBezTo>
                <a:lnTo>
                  <a:pt x="68" y="233"/>
                </a:lnTo>
                <a:lnTo>
                  <a:pt x="228" y="54"/>
                </a:lnTo>
                <a:lnTo>
                  <a:pt x="143" y="247"/>
                </a:lnTo>
                <a:cubicBezTo>
                  <a:pt x="141" y="250"/>
                  <a:pt x="142" y="253"/>
                  <a:pt x="143" y="255"/>
                </a:cubicBezTo>
                <a:lnTo>
                  <a:pt x="193" y="331"/>
                </a:lnTo>
                <a:lnTo>
                  <a:pt x="36" y="547"/>
                </a:lnTo>
                <a:lnTo>
                  <a:pt x="109" y="346"/>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矩形 80"/>
          <p:cNvSpPr/>
          <p:nvPr/>
        </p:nvSpPr>
        <p:spPr>
          <a:xfrm>
            <a:off x="6983102" y="3164027"/>
            <a:ext cx="3630835" cy="601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778643" y="1225161"/>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7110109" y="2056430"/>
            <a:ext cx="1625160"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7011223" y="3172714"/>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9078673" y="3226892"/>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5507595" y="3809506"/>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曲线连接符 86"/>
          <p:cNvCxnSpPr>
            <a:stCxn id="82" idx="6"/>
            <a:endCxn id="83" idx="0"/>
          </p:cNvCxnSpPr>
          <p:nvPr/>
        </p:nvCxnSpPr>
        <p:spPr>
          <a:xfrm>
            <a:off x="7254150" y="1518435"/>
            <a:ext cx="668539" cy="537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曲线连接符 87"/>
          <p:cNvCxnSpPr>
            <a:stCxn id="83" idx="4"/>
            <a:endCxn id="84" idx="0"/>
          </p:cNvCxnSpPr>
          <p:nvPr/>
        </p:nvCxnSpPr>
        <p:spPr>
          <a:xfrm rot="5400000">
            <a:off x="7570965" y="2820990"/>
            <a:ext cx="529736" cy="17371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6171222" y="1379934"/>
            <a:ext cx="84000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AGV_idle</a:t>
            </a:r>
            <a:endParaRPr lang="en-US" altLang="zh-CN" sz="1200" kern="100" dirty="0">
              <a:latin typeface="Calibri" panose="020F0502020204030204" pitchFamily="34" charset="0"/>
              <a:cs typeface="Times New Roman" panose="02020603050405020304" pitchFamily="18" charset="0"/>
            </a:endParaRPr>
          </a:p>
        </p:txBody>
      </p:sp>
      <p:sp>
        <p:nvSpPr>
          <p:cNvPr id="90" name="矩形 89"/>
          <p:cNvSpPr/>
          <p:nvPr/>
        </p:nvSpPr>
        <p:spPr>
          <a:xfrm>
            <a:off x="7067184" y="2198439"/>
            <a:ext cx="174428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AGVMovingToRobotArm</a:t>
            </a:r>
            <a:endParaRPr lang="zh-CN" altLang="zh-CN" sz="1200" kern="100" dirty="0">
              <a:latin typeface="Calibri" panose="020F0502020204030204" pitchFamily="34" charset="0"/>
              <a:cs typeface="Times New Roman" panose="02020603050405020304" pitchFamily="18" charset="0"/>
            </a:endParaRPr>
          </a:p>
        </p:txBody>
      </p:sp>
      <p:sp>
        <p:nvSpPr>
          <p:cNvPr id="91" name="矩形 90"/>
          <p:cNvSpPr/>
          <p:nvPr/>
        </p:nvSpPr>
        <p:spPr>
          <a:xfrm>
            <a:off x="7142254" y="3327488"/>
            <a:ext cx="1297209"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AGVAtRobotArm</a:t>
            </a:r>
            <a:r>
              <a:rPr lang="en-US" altLang="zh-CN" sz="1200" kern="100" dirty="0">
                <a:latin typeface="Calibri" panose="020F0502020204030204" pitchFamily="34" charset="0"/>
                <a:cs typeface="Times New Roman" panose="02020603050405020304" pitchFamily="18" charset="0"/>
              </a:rPr>
              <a:t> </a:t>
            </a:r>
            <a:endParaRPr lang="zh-CN" altLang="zh-CN" sz="1200" kern="100" dirty="0">
              <a:latin typeface="Calibri" panose="020F0502020204030204" pitchFamily="34" charset="0"/>
              <a:cs typeface="Times New Roman" panose="02020603050405020304" pitchFamily="18" charset="0"/>
            </a:endParaRPr>
          </a:p>
        </p:txBody>
      </p:sp>
      <p:sp>
        <p:nvSpPr>
          <p:cNvPr id="92" name="矩形 91"/>
          <p:cNvSpPr/>
          <p:nvPr/>
        </p:nvSpPr>
        <p:spPr>
          <a:xfrm>
            <a:off x="9078673" y="3354149"/>
            <a:ext cx="1535264"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RobotArm_producing</a:t>
            </a:r>
            <a:endParaRPr lang="zh-CN" altLang="zh-CN" sz="1200" kern="100" dirty="0">
              <a:latin typeface="Calibri" panose="020F0502020204030204" pitchFamily="34" charset="0"/>
              <a:cs typeface="Times New Roman" panose="02020603050405020304" pitchFamily="18" charset="0"/>
            </a:endParaRPr>
          </a:p>
        </p:txBody>
      </p:sp>
      <p:sp>
        <p:nvSpPr>
          <p:cNvPr id="93" name="矩形 92"/>
          <p:cNvSpPr/>
          <p:nvPr/>
        </p:nvSpPr>
        <p:spPr>
          <a:xfrm>
            <a:off x="5544280" y="3964280"/>
            <a:ext cx="1519821"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AGVMovingToOrigin</a:t>
            </a:r>
            <a:endParaRPr lang="zh-CN" altLang="zh-CN" sz="1200" kern="100" dirty="0">
              <a:latin typeface="Calibri" panose="020F0502020204030204" pitchFamily="34" charset="0"/>
              <a:cs typeface="Times New Roman" panose="02020603050405020304" pitchFamily="18" charset="0"/>
            </a:endParaRPr>
          </a:p>
        </p:txBody>
      </p:sp>
      <p:sp>
        <p:nvSpPr>
          <p:cNvPr id="94" name="椭圆 93"/>
          <p:cNvSpPr/>
          <p:nvPr/>
        </p:nvSpPr>
        <p:spPr>
          <a:xfrm>
            <a:off x="4478529" y="2056430"/>
            <a:ext cx="1475507" cy="5865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4723465" y="2211204"/>
            <a:ext cx="1059005" cy="276999"/>
          </a:xfrm>
          <a:prstGeom prst="rect">
            <a:avLst/>
          </a:prstGeom>
        </p:spPr>
        <p:txBody>
          <a:bodyPr wrap="square">
            <a:spAutoFit/>
          </a:bodyPr>
          <a:lstStyle/>
          <a:p>
            <a:pPr algn="just">
              <a:spcAft>
                <a:spcPts val="0"/>
              </a:spcAft>
            </a:pPr>
            <a:r>
              <a:rPr lang="en-US" altLang="zh-CN" sz="1200" kern="100" dirty="0" err="1">
                <a:latin typeface="Calibri" panose="020F0502020204030204" pitchFamily="34" charset="0"/>
                <a:cs typeface="Times New Roman" panose="02020603050405020304" pitchFamily="18" charset="0"/>
              </a:rPr>
              <a:t>AGVAtOrigin</a:t>
            </a:r>
            <a:endParaRPr lang="zh-CN" altLang="zh-CN" sz="1200" kern="100" dirty="0">
              <a:latin typeface="Calibri" panose="020F0502020204030204" pitchFamily="34" charset="0"/>
              <a:cs typeface="Times New Roman" panose="02020603050405020304" pitchFamily="18" charset="0"/>
            </a:endParaRPr>
          </a:p>
        </p:txBody>
      </p:sp>
      <p:sp>
        <p:nvSpPr>
          <p:cNvPr id="96" name="椭圆 95"/>
          <p:cNvSpPr/>
          <p:nvPr/>
        </p:nvSpPr>
        <p:spPr>
          <a:xfrm>
            <a:off x="8925596" y="1426620"/>
            <a:ext cx="1484115" cy="53151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曲线连接符 96"/>
          <p:cNvCxnSpPr>
            <a:stCxn id="94" idx="0"/>
            <a:endCxn id="82" idx="2"/>
          </p:cNvCxnSpPr>
          <p:nvPr/>
        </p:nvCxnSpPr>
        <p:spPr>
          <a:xfrm rot="5400000" flipH="1" flipV="1">
            <a:off x="5228466" y="1506253"/>
            <a:ext cx="537995" cy="56236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曲线连接符 97"/>
          <p:cNvCxnSpPr>
            <a:stCxn id="96" idx="4"/>
            <a:endCxn id="85" idx="2"/>
          </p:cNvCxnSpPr>
          <p:nvPr/>
        </p:nvCxnSpPr>
        <p:spPr>
          <a:xfrm rot="5400000">
            <a:off x="8605907" y="2430902"/>
            <a:ext cx="1534515" cy="588981"/>
          </a:xfrm>
          <a:prstGeom prst="curvedConnector4">
            <a:avLst>
              <a:gd name="adj1" fmla="val 41341"/>
              <a:gd name="adj2" fmla="val 138813"/>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矩形 98"/>
          <p:cNvSpPr/>
          <p:nvPr/>
        </p:nvSpPr>
        <p:spPr>
          <a:xfrm>
            <a:off x="9105908" y="1534827"/>
            <a:ext cx="1171127" cy="276999"/>
          </a:xfrm>
          <a:prstGeom prst="rect">
            <a:avLst/>
          </a:prstGeom>
        </p:spPr>
        <p:txBody>
          <a:bodyPr wrap="square">
            <a:spAutoFit/>
          </a:bodyPr>
          <a:lstStyle/>
          <a:p>
            <a:pPr algn="just"/>
            <a:r>
              <a:rPr lang="en-US" altLang="zh-CN" sz="1200" kern="100" dirty="0" err="1">
                <a:latin typeface="Calibri" panose="020F0502020204030204" pitchFamily="34" charset="0"/>
                <a:cs typeface="Times New Roman" panose="02020603050405020304" pitchFamily="18" charset="0"/>
              </a:rPr>
              <a:t>RobotArm_idle</a:t>
            </a:r>
            <a:endParaRPr lang="zh-CN" altLang="zh-CN" sz="1200" kern="100" dirty="0">
              <a:latin typeface="Calibri" panose="020F0502020204030204" pitchFamily="34" charset="0"/>
              <a:cs typeface="Times New Roman" panose="02020603050405020304" pitchFamily="18" charset="0"/>
            </a:endParaRPr>
          </a:p>
        </p:txBody>
      </p:sp>
      <p:cxnSp>
        <p:nvCxnSpPr>
          <p:cNvPr id="100" name="曲线连接符 99"/>
          <p:cNvCxnSpPr>
            <a:stCxn id="84" idx="4"/>
            <a:endCxn id="86" idx="6"/>
          </p:cNvCxnSpPr>
          <p:nvPr/>
        </p:nvCxnSpPr>
        <p:spPr>
          <a:xfrm rot="5400000">
            <a:off x="7194281" y="3548084"/>
            <a:ext cx="343518" cy="7658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曲线连接符 100"/>
          <p:cNvCxnSpPr>
            <a:stCxn id="86" idx="2"/>
            <a:endCxn id="94" idx="4"/>
          </p:cNvCxnSpPr>
          <p:nvPr/>
        </p:nvCxnSpPr>
        <p:spPr>
          <a:xfrm rot="10800000">
            <a:off x="5216283" y="2642978"/>
            <a:ext cx="291312" cy="14598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曲线连接符 101"/>
          <p:cNvCxnSpPr>
            <a:stCxn id="85" idx="6"/>
            <a:endCxn id="96" idx="6"/>
          </p:cNvCxnSpPr>
          <p:nvPr/>
        </p:nvCxnSpPr>
        <p:spPr>
          <a:xfrm flipH="1" flipV="1">
            <a:off x="10409711" y="1692378"/>
            <a:ext cx="153077" cy="1800272"/>
          </a:xfrm>
          <a:prstGeom prst="curvedConnector3">
            <a:avLst>
              <a:gd name="adj1" fmla="val -149337"/>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6933284" y="453646"/>
            <a:ext cx="1992312" cy="646331"/>
          </a:xfrm>
          <a:prstGeom prst="rect">
            <a:avLst/>
          </a:prstGeom>
          <a:noFill/>
        </p:spPr>
        <p:txBody>
          <a:bodyPr wrap="square" rtlCol="0">
            <a:spAutoFit/>
          </a:bodyPr>
          <a:lstStyle/>
          <a:p>
            <a:r>
              <a:rPr lang="zh-CN" altLang="en-US" dirty="0"/>
              <a:t>一个任务</a:t>
            </a:r>
            <a:endParaRPr lang="en-US" altLang="zh-CN" dirty="0"/>
          </a:p>
          <a:p>
            <a:r>
              <a:rPr lang="zh-CN" altLang="en-US" dirty="0"/>
              <a:t>由调度系统分配</a:t>
            </a:r>
          </a:p>
        </p:txBody>
      </p:sp>
      <p:sp>
        <p:nvSpPr>
          <p:cNvPr id="104" name="矩形 103"/>
          <p:cNvSpPr/>
          <p:nvPr/>
        </p:nvSpPr>
        <p:spPr>
          <a:xfrm>
            <a:off x="7981515" y="569797"/>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rot="5400000">
            <a:off x="7630037" y="1392833"/>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105"/>
          <p:cNvSpPr txBox="1"/>
          <p:nvPr/>
        </p:nvSpPr>
        <p:spPr>
          <a:xfrm>
            <a:off x="6020780" y="1870423"/>
            <a:ext cx="1165884" cy="646331"/>
          </a:xfrm>
          <a:prstGeom prst="rect">
            <a:avLst/>
          </a:prstGeom>
          <a:noFill/>
        </p:spPr>
        <p:txBody>
          <a:bodyPr wrap="square" rtlCol="0">
            <a:spAutoFit/>
          </a:bodyPr>
          <a:lstStyle/>
          <a:p>
            <a:r>
              <a:rPr lang="en-US" altLang="zh-CN" dirty="0"/>
              <a:t>AGV </a:t>
            </a:r>
          </a:p>
          <a:p>
            <a:r>
              <a:rPr lang="zh-CN" altLang="en-US" dirty="0"/>
              <a:t>状态集</a:t>
            </a:r>
          </a:p>
        </p:txBody>
      </p:sp>
      <p:sp>
        <p:nvSpPr>
          <p:cNvPr id="107" name="文本框 106"/>
          <p:cNvSpPr txBox="1"/>
          <p:nvPr/>
        </p:nvSpPr>
        <p:spPr>
          <a:xfrm>
            <a:off x="9484288" y="2417652"/>
            <a:ext cx="1303803" cy="646331"/>
          </a:xfrm>
          <a:prstGeom prst="rect">
            <a:avLst/>
          </a:prstGeom>
          <a:noFill/>
        </p:spPr>
        <p:txBody>
          <a:bodyPr wrap="square" rtlCol="0">
            <a:spAutoFit/>
          </a:bodyPr>
          <a:lstStyle/>
          <a:p>
            <a:r>
              <a:rPr lang="en-US" altLang="zh-CN" dirty="0" err="1"/>
              <a:t>RobotArm</a:t>
            </a:r>
            <a:r>
              <a:rPr lang="zh-CN" altLang="en-US" dirty="0"/>
              <a:t>状态集</a:t>
            </a:r>
          </a:p>
        </p:txBody>
      </p:sp>
      <p:sp>
        <p:nvSpPr>
          <p:cNvPr id="110" name="文本框 109"/>
          <p:cNvSpPr txBox="1"/>
          <p:nvPr/>
        </p:nvSpPr>
        <p:spPr>
          <a:xfrm>
            <a:off x="3516176" y="239"/>
            <a:ext cx="1563905" cy="369332"/>
          </a:xfrm>
          <a:prstGeom prst="rect">
            <a:avLst/>
          </a:prstGeom>
          <a:noFill/>
        </p:spPr>
        <p:txBody>
          <a:bodyPr wrap="square" rtlCol="0">
            <a:spAutoFit/>
          </a:bodyPr>
          <a:lstStyle/>
          <a:p>
            <a:r>
              <a:rPr lang="zh-CN" altLang="en-US" dirty="0"/>
              <a:t>扰动</a:t>
            </a:r>
          </a:p>
        </p:txBody>
      </p:sp>
      <p:sp>
        <p:nvSpPr>
          <p:cNvPr id="111" name="乘号 110"/>
          <p:cNvSpPr/>
          <p:nvPr/>
        </p:nvSpPr>
        <p:spPr>
          <a:xfrm>
            <a:off x="7629325" y="2700990"/>
            <a:ext cx="413015" cy="413015"/>
          </a:xfrm>
          <a:prstGeom prst="mathMultiply">
            <a:avLst>
              <a:gd name="adj1" fmla="val 1425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乘号 111"/>
          <p:cNvSpPr/>
          <p:nvPr/>
        </p:nvSpPr>
        <p:spPr>
          <a:xfrm>
            <a:off x="7297309" y="3785880"/>
            <a:ext cx="413015" cy="413015"/>
          </a:xfrm>
          <a:prstGeom prst="mathMultiply">
            <a:avLst>
              <a:gd name="adj1" fmla="val 1425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文本框 112"/>
          <p:cNvSpPr txBox="1"/>
          <p:nvPr/>
        </p:nvSpPr>
        <p:spPr>
          <a:xfrm>
            <a:off x="5312025" y="2595302"/>
            <a:ext cx="2440008" cy="646331"/>
          </a:xfrm>
          <a:prstGeom prst="rect">
            <a:avLst/>
          </a:prstGeom>
          <a:noFill/>
        </p:spPr>
        <p:txBody>
          <a:bodyPr wrap="square" rtlCol="0">
            <a:spAutoFit/>
          </a:bodyPr>
          <a:lstStyle/>
          <a:p>
            <a:r>
              <a:rPr lang="en-US" altLang="zh-CN" dirty="0">
                <a:solidFill>
                  <a:srgbClr val="FF0000"/>
                </a:solidFill>
              </a:rPr>
              <a:t>AGV </a:t>
            </a:r>
            <a:r>
              <a:rPr lang="zh-CN" altLang="en-US" dirty="0">
                <a:solidFill>
                  <a:srgbClr val="FF0000"/>
                </a:solidFill>
              </a:rPr>
              <a:t>退出</a:t>
            </a:r>
            <a:r>
              <a:rPr lang="en-US" altLang="zh-CN" dirty="0">
                <a:solidFill>
                  <a:srgbClr val="FF0000"/>
                </a:solidFill>
              </a:rPr>
              <a:t>‘</a:t>
            </a:r>
            <a:r>
              <a:rPr lang="zh-CN" altLang="en-US" dirty="0">
                <a:solidFill>
                  <a:srgbClr val="FF0000"/>
                </a:solidFill>
              </a:rPr>
              <a:t>扰动</a:t>
            </a:r>
            <a:r>
              <a:rPr lang="en-US" altLang="zh-CN" dirty="0">
                <a:solidFill>
                  <a:srgbClr val="FF0000"/>
                </a:solidFill>
              </a:rPr>
              <a:t>’ </a:t>
            </a:r>
            <a:r>
              <a:rPr lang="zh-CN" altLang="en-US" dirty="0">
                <a:solidFill>
                  <a:srgbClr val="FF0000"/>
                </a:solidFill>
              </a:rPr>
              <a:t>可能在此处或之前发生</a:t>
            </a:r>
          </a:p>
        </p:txBody>
      </p:sp>
      <p:sp>
        <p:nvSpPr>
          <p:cNvPr id="114" name="文本框 113"/>
          <p:cNvSpPr txBox="1"/>
          <p:nvPr/>
        </p:nvSpPr>
        <p:spPr>
          <a:xfrm>
            <a:off x="7588419" y="3835411"/>
            <a:ext cx="2464701" cy="646331"/>
          </a:xfrm>
          <a:prstGeom prst="rect">
            <a:avLst/>
          </a:prstGeom>
          <a:noFill/>
        </p:spPr>
        <p:txBody>
          <a:bodyPr wrap="square" rtlCol="0">
            <a:spAutoFit/>
          </a:bodyPr>
          <a:lstStyle/>
          <a:p>
            <a:r>
              <a:rPr lang="en-US" altLang="zh-CN" dirty="0">
                <a:solidFill>
                  <a:srgbClr val="FF0000"/>
                </a:solidFill>
              </a:rPr>
              <a:t>AGV</a:t>
            </a:r>
            <a:r>
              <a:rPr lang="zh-CN" altLang="en-US" dirty="0">
                <a:solidFill>
                  <a:srgbClr val="FF0000"/>
                </a:solidFill>
              </a:rPr>
              <a:t>退出</a:t>
            </a:r>
            <a:r>
              <a:rPr lang="en-US" altLang="zh-CN" dirty="0">
                <a:solidFill>
                  <a:srgbClr val="FF0000"/>
                </a:solidFill>
              </a:rPr>
              <a:t>‘</a:t>
            </a:r>
            <a:r>
              <a:rPr lang="zh-CN" altLang="en-US" dirty="0">
                <a:solidFill>
                  <a:srgbClr val="FF0000"/>
                </a:solidFill>
              </a:rPr>
              <a:t>扰动</a:t>
            </a:r>
            <a:r>
              <a:rPr lang="en-US" altLang="zh-CN" dirty="0">
                <a:solidFill>
                  <a:srgbClr val="FF0000"/>
                </a:solidFill>
              </a:rPr>
              <a:t>’ </a:t>
            </a:r>
            <a:r>
              <a:rPr lang="zh-CN" altLang="en-US" dirty="0">
                <a:solidFill>
                  <a:srgbClr val="FF0000"/>
                </a:solidFill>
              </a:rPr>
              <a:t>可能在此处或之后发生</a:t>
            </a:r>
          </a:p>
        </p:txBody>
      </p:sp>
      <p:sp>
        <p:nvSpPr>
          <p:cNvPr id="115" name="文本框 114"/>
          <p:cNvSpPr txBox="1"/>
          <p:nvPr/>
        </p:nvSpPr>
        <p:spPr>
          <a:xfrm>
            <a:off x="8925596" y="393865"/>
            <a:ext cx="2870074" cy="923330"/>
          </a:xfrm>
          <a:prstGeom prst="rect">
            <a:avLst/>
          </a:prstGeom>
          <a:noFill/>
        </p:spPr>
        <p:txBody>
          <a:bodyPr wrap="square" rtlCol="0">
            <a:spAutoFit/>
          </a:bodyPr>
          <a:lstStyle/>
          <a:p>
            <a:r>
              <a:rPr lang="en-US" altLang="zh-CN" dirty="0">
                <a:solidFill>
                  <a:srgbClr val="FF0000"/>
                </a:solidFill>
              </a:rPr>
              <a:t>AGV </a:t>
            </a:r>
            <a:r>
              <a:rPr lang="zh-CN" altLang="en-US" dirty="0">
                <a:solidFill>
                  <a:srgbClr val="FF0000"/>
                </a:solidFill>
              </a:rPr>
              <a:t>重加入</a:t>
            </a:r>
            <a:r>
              <a:rPr lang="en-US" altLang="zh-CN" dirty="0">
                <a:solidFill>
                  <a:srgbClr val="FF0000"/>
                </a:solidFill>
              </a:rPr>
              <a:t>‘</a:t>
            </a:r>
            <a:r>
              <a:rPr lang="zh-CN" altLang="en-US" dirty="0">
                <a:solidFill>
                  <a:srgbClr val="FF0000"/>
                </a:solidFill>
              </a:rPr>
              <a:t>扰动</a:t>
            </a:r>
            <a:r>
              <a:rPr lang="en-US" altLang="zh-CN" dirty="0">
                <a:solidFill>
                  <a:srgbClr val="FF0000"/>
                </a:solidFill>
              </a:rPr>
              <a:t>’</a:t>
            </a:r>
            <a:r>
              <a:rPr lang="zh-CN" altLang="en-US" dirty="0">
                <a:solidFill>
                  <a:srgbClr val="FF0000"/>
                </a:solidFill>
              </a:rPr>
              <a:t>可能在某个具体任务分配之前或之后发生</a:t>
            </a:r>
          </a:p>
        </p:txBody>
      </p:sp>
      <p:sp>
        <p:nvSpPr>
          <p:cNvPr id="116" name="右箭头 115"/>
          <p:cNvSpPr/>
          <p:nvPr/>
        </p:nvSpPr>
        <p:spPr>
          <a:xfrm rot="10800000">
            <a:off x="8567721" y="492920"/>
            <a:ext cx="335095" cy="25020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15395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83351" y="1677953"/>
            <a:ext cx="587429" cy="714376"/>
            <a:chOff x="1323750" y="1400532"/>
            <a:chExt cx="1007244" cy="1354959"/>
          </a:xfrm>
        </p:grpSpPr>
        <p:sp>
          <p:nvSpPr>
            <p:cNvPr id="6" name="矩形 5"/>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2484729" y="1376976"/>
            <a:ext cx="2057060" cy="369332"/>
          </a:xfrm>
          <a:prstGeom prst="rect">
            <a:avLst/>
          </a:prstGeom>
          <a:noFill/>
        </p:spPr>
        <p:txBody>
          <a:bodyPr wrap="square" rtlCol="0">
            <a:spAutoFit/>
          </a:bodyPr>
          <a:lstStyle/>
          <a:p>
            <a:r>
              <a:rPr lang="zh-CN" altLang="en-US" dirty="0"/>
              <a:t>调度系统</a:t>
            </a:r>
          </a:p>
        </p:txBody>
      </p:sp>
      <p:sp>
        <p:nvSpPr>
          <p:cNvPr id="12" name="右箭头 11"/>
          <p:cNvSpPr/>
          <p:nvPr/>
        </p:nvSpPr>
        <p:spPr>
          <a:xfrm>
            <a:off x="2163967"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075029" y="1327563"/>
            <a:ext cx="1409700" cy="369332"/>
          </a:xfrm>
          <a:prstGeom prst="rect">
            <a:avLst/>
          </a:prstGeom>
          <a:noFill/>
        </p:spPr>
        <p:txBody>
          <a:bodyPr wrap="square" rtlCol="0">
            <a:spAutoFit/>
          </a:bodyPr>
          <a:lstStyle/>
          <a:p>
            <a:r>
              <a:rPr lang="zh-CN" altLang="en-US" dirty="0"/>
              <a:t>任务列表</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1006" y="3417484"/>
            <a:ext cx="834390" cy="834390"/>
          </a:xfrm>
          <a:prstGeom prst="rect">
            <a:avLst/>
          </a:prstGeom>
        </p:spPr>
      </p:pic>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21603" y="3411132"/>
            <a:ext cx="834390" cy="834390"/>
          </a:xfrm>
          <a:prstGeom prst="rect">
            <a:avLst/>
          </a:prstGeom>
        </p:spPr>
      </p:pic>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02139" y="3417484"/>
            <a:ext cx="834390" cy="834390"/>
          </a:xfrm>
          <a:prstGeom prst="rect">
            <a:avLst/>
          </a:prstGeom>
        </p:spPr>
      </p:pic>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68137" y="2867237"/>
            <a:ext cx="456806" cy="306230"/>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2476" y="2867237"/>
            <a:ext cx="456806" cy="306230"/>
          </a:xfrm>
          <a:prstGeom prst="rect">
            <a:avLst/>
          </a:prstGeom>
        </p:spPr>
      </p:pic>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44434" y="2867237"/>
            <a:ext cx="456806" cy="306230"/>
          </a:xfrm>
          <a:prstGeom prst="rect">
            <a:avLst/>
          </a:prstGeom>
        </p:spPr>
      </p:pic>
      <p:sp>
        <p:nvSpPr>
          <p:cNvPr id="20" name="server_159296">
            <a:extLst>
              <a:ext uri="{FF2B5EF4-FFF2-40B4-BE49-F238E27FC236}">
                <a16:creationId xmlns="" xmlns:a16="http://schemas.microsoft.com/office/drawing/2014/main" id="{54405246-CCE2-4201-BBB1-D3F3EB6E740D}"/>
              </a:ext>
            </a:extLst>
          </p:cNvPr>
          <p:cNvSpPr/>
          <p:nvPr/>
        </p:nvSpPr>
        <p:spPr>
          <a:xfrm>
            <a:off x="3018201"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p:cNvSpPr txBox="1"/>
          <p:nvPr/>
        </p:nvSpPr>
        <p:spPr>
          <a:xfrm>
            <a:off x="3280329" y="4094658"/>
            <a:ext cx="1292095" cy="369332"/>
          </a:xfrm>
          <a:prstGeom prst="rect">
            <a:avLst/>
          </a:prstGeom>
          <a:noFill/>
        </p:spPr>
        <p:txBody>
          <a:bodyPr wrap="square" rtlCol="0">
            <a:spAutoFit/>
          </a:bodyPr>
          <a:lstStyle/>
          <a:p>
            <a:r>
              <a:rPr lang="en-US" altLang="zh-CN" dirty="0"/>
              <a:t>Robot Arm</a:t>
            </a:r>
            <a:endParaRPr lang="zh-CN" altLang="en-US" dirty="0"/>
          </a:p>
        </p:txBody>
      </p:sp>
      <p:sp>
        <p:nvSpPr>
          <p:cNvPr id="22" name="文本框 21"/>
          <p:cNvSpPr txBox="1"/>
          <p:nvPr/>
        </p:nvSpPr>
        <p:spPr>
          <a:xfrm>
            <a:off x="1864803" y="3152184"/>
            <a:ext cx="739656" cy="369332"/>
          </a:xfrm>
          <a:prstGeom prst="rect">
            <a:avLst/>
          </a:prstGeom>
          <a:noFill/>
        </p:spPr>
        <p:txBody>
          <a:bodyPr wrap="square" rtlCol="0">
            <a:spAutoFit/>
          </a:bodyPr>
          <a:lstStyle/>
          <a:p>
            <a:r>
              <a:rPr lang="en-US" altLang="zh-CN" dirty="0"/>
              <a:t>AGV</a:t>
            </a:r>
            <a:endParaRPr lang="zh-CN" altLang="en-US" dirty="0"/>
          </a:p>
        </p:txBody>
      </p:sp>
      <p:cxnSp>
        <p:nvCxnSpPr>
          <p:cNvPr id="53" name="直接箭头连接符 52"/>
          <p:cNvCxnSpPr>
            <a:stCxn id="15" idx="0"/>
          </p:cNvCxnSpPr>
          <p:nvPr/>
        </p:nvCxnSpPr>
        <p:spPr>
          <a:xfrm flipH="1" flipV="1">
            <a:off x="3533979" y="2597297"/>
            <a:ext cx="504819" cy="813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2" idx="3"/>
          </p:cNvCxnSpPr>
          <p:nvPr/>
        </p:nvCxnSpPr>
        <p:spPr>
          <a:xfrm>
            <a:off x="2604459" y="3336850"/>
            <a:ext cx="1194044" cy="349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2951065" y="2896395"/>
            <a:ext cx="3181448" cy="307777"/>
          </a:xfrm>
          <a:prstGeom prst="rect">
            <a:avLst/>
          </a:prstGeom>
          <a:noFill/>
        </p:spPr>
        <p:txBody>
          <a:bodyPr wrap="square" rtlCol="0">
            <a:spAutoFit/>
          </a:bodyPr>
          <a:lstStyle/>
          <a:p>
            <a:r>
              <a:rPr lang="en-US" altLang="zh-CN" sz="1400" dirty="0"/>
              <a:t>①</a:t>
            </a:r>
            <a:r>
              <a:rPr lang="zh-CN" altLang="en-US" sz="1400" dirty="0"/>
              <a:t>获取下一个待办任务</a:t>
            </a:r>
          </a:p>
        </p:txBody>
      </p:sp>
      <p:cxnSp>
        <p:nvCxnSpPr>
          <p:cNvPr id="63" name="直接箭头连接符 62"/>
          <p:cNvCxnSpPr/>
          <p:nvPr/>
        </p:nvCxnSpPr>
        <p:spPr>
          <a:xfrm flipH="1">
            <a:off x="2234631" y="2520906"/>
            <a:ext cx="919717" cy="292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97842" y="2395249"/>
            <a:ext cx="2956506" cy="523220"/>
          </a:xfrm>
          <a:prstGeom prst="rect">
            <a:avLst/>
          </a:prstGeom>
          <a:noFill/>
        </p:spPr>
        <p:txBody>
          <a:bodyPr wrap="square" rtlCol="0">
            <a:spAutoFit/>
          </a:bodyPr>
          <a:lstStyle/>
          <a:p>
            <a:r>
              <a:rPr lang="en-US" altLang="zh-CN" sz="1400" dirty="0"/>
              <a:t>②</a:t>
            </a:r>
            <a:r>
              <a:rPr lang="zh-CN" altLang="en-US" sz="1400" dirty="0"/>
              <a:t>根据</a:t>
            </a:r>
            <a:r>
              <a:rPr lang="en-US" altLang="zh-CN" sz="1400" dirty="0"/>
              <a:t>AGV</a:t>
            </a:r>
            <a:r>
              <a:rPr lang="zh-CN" altLang="en-US" sz="1400" dirty="0"/>
              <a:t>的状态选择合适的</a:t>
            </a:r>
            <a:r>
              <a:rPr lang="en-US" altLang="zh-CN" sz="1400" dirty="0"/>
              <a:t>AGV</a:t>
            </a:r>
            <a:r>
              <a:rPr lang="zh-CN" altLang="en-US" sz="1400" dirty="0"/>
              <a:t>并分配任务</a:t>
            </a:r>
          </a:p>
        </p:txBody>
      </p:sp>
      <p:sp>
        <p:nvSpPr>
          <p:cNvPr id="74" name="文本框 73"/>
          <p:cNvSpPr txBox="1"/>
          <p:nvPr/>
        </p:nvSpPr>
        <p:spPr>
          <a:xfrm>
            <a:off x="1012873" y="3390457"/>
            <a:ext cx="2103911" cy="523220"/>
          </a:xfrm>
          <a:prstGeom prst="rect">
            <a:avLst/>
          </a:prstGeom>
          <a:noFill/>
        </p:spPr>
        <p:txBody>
          <a:bodyPr wrap="square" rtlCol="0">
            <a:spAutoFit/>
          </a:bodyPr>
          <a:lstStyle/>
          <a:p>
            <a:r>
              <a:rPr lang="en-US" altLang="zh-CN" sz="1400" dirty="0"/>
              <a:t>③AGV</a:t>
            </a:r>
            <a:r>
              <a:rPr lang="zh-CN" altLang="en-US" sz="1400" dirty="0"/>
              <a:t>移动到</a:t>
            </a:r>
            <a:r>
              <a:rPr lang="en-US" altLang="zh-CN" sz="1400" dirty="0"/>
              <a:t>Robot Arm</a:t>
            </a:r>
            <a:r>
              <a:rPr lang="zh-CN" altLang="en-US" sz="1400" dirty="0"/>
              <a:t>，交付物料</a:t>
            </a:r>
          </a:p>
        </p:txBody>
      </p:sp>
      <p:grpSp>
        <p:nvGrpSpPr>
          <p:cNvPr id="75" name="组合 74"/>
          <p:cNvGrpSpPr/>
          <p:nvPr/>
        </p:nvGrpSpPr>
        <p:grpSpPr>
          <a:xfrm>
            <a:off x="6495524" y="1677953"/>
            <a:ext cx="587429" cy="714376"/>
            <a:chOff x="1323750" y="1400532"/>
            <a:chExt cx="1007244" cy="1354959"/>
          </a:xfrm>
        </p:grpSpPr>
        <p:sp>
          <p:nvSpPr>
            <p:cNvPr id="76" name="矩形 75"/>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文本框 80"/>
          <p:cNvSpPr txBox="1"/>
          <p:nvPr/>
        </p:nvSpPr>
        <p:spPr>
          <a:xfrm>
            <a:off x="7696902" y="1464316"/>
            <a:ext cx="2057060" cy="369332"/>
          </a:xfrm>
          <a:prstGeom prst="rect">
            <a:avLst/>
          </a:prstGeom>
          <a:noFill/>
        </p:spPr>
        <p:txBody>
          <a:bodyPr wrap="square" rtlCol="0">
            <a:spAutoFit/>
          </a:bodyPr>
          <a:lstStyle/>
          <a:p>
            <a:r>
              <a:rPr lang="zh-CN" altLang="en-US" dirty="0"/>
              <a:t>调度系统</a:t>
            </a:r>
          </a:p>
        </p:txBody>
      </p:sp>
      <p:sp>
        <p:nvSpPr>
          <p:cNvPr id="82" name="右箭头 81"/>
          <p:cNvSpPr/>
          <p:nvPr/>
        </p:nvSpPr>
        <p:spPr>
          <a:xfrm>
            <a:off x="7376140"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6287202" y="1327563"/>
            <a:ext cx="1409700" cy="369332"/>
          </a:xfrm>
          <a:prstGeom prst="rect">
            <a:avLst/>
          </a:prstGeom>
          <a:noFill/>
        </p:spPr>
        <p:txBody>
          <a:bodyPr wrap="square" rtlCol="0">
            <a:spAutoFit/>
          </a:bodyPr>
          <a:lstStyle/>
          <a:p>
            <a:r>
              <a:rPr lang="zh-CN" altLang="en-US" dirty="0"/>
              <a:t>任务列表</a:t>
            </a:r>
          </a:p>
        </p:txBody>
      </p:sp>
      <p:pic>
        <p:nvPicPr>
          <p:cNvPr id="84" name="图片 8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3179" y="3417484"/>
            <a:ext cx="834390" cy="834390"/>
          </a:xfrm>
          <a:prstGeom prst="rect">
            <a:avLst/>
          </a:prstGeom>
        </p:spPr>
      </p:pic>
      <p:pic>
        <p:nvPicPr>
          <p:cNvPr id="85" name="图片 8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33776" y="3411132"/>
            <a:ext cx="834390" cy="834390"/>
          </a:xfrm>
          <a:prstGeom prst="rect">
            <a:avLst/>
          </a:prstGeom>
        </p:spPr>
      </p:pic>
      <p:pic>
        <p:nvPicPr>
          <p:cNvPr id="86" name="图片 8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14312" y="3417484"/>
            <a:ext cx="834390" cy="834390"/>
          </a:xfrm>
          <a:prstGeom prst="rect">
            <a:avLst/>
          </a:prstGeom>
        </p:spPr>
      </p:pic>
      <p:pic>
        <p:nvPicPr>
          <p:cNvPr id="87" name="图片 8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0310" y="2867237"/>
            <a:ext cx="456806" cy="306230"/>
          </a:xfrm>
          <a:prstGeom prst="rect">
            <a:avLst/>
          </a:prstGeom>
        </p:spPr>
      </p:pic>
      <p:pic>
        <p:nvPicPr>
          <p:cNvPr id="88" name="图片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4649" y="2867237"/>
            <a:ext cx="456806" cy="306230"/>
          </a:xfrm>
          <a:prstGeom prst="rect">
            <a:avLst/>
          </a:prstGeom>
        </p:spPr>
      </p:pic>
      <p:pic>
        <p:nvPicPr>
          <p:cNvPr id="89" name="图片 8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56607" y="2867237"/>
            <a:ext cx="456806" cy="306230"/>
          </a:xfrm>
          <a:prstGeom prst="rect">
            <a:avLst/>
          </a:prstGeom>
        </p:spPr>
      </p:pic>
      <p:sp>
        <p:nvSpPr>
          <p:cNvPr id="90" name="server_159296">
            <a:extLst>
              <a:ext uri="{FF2B5EF4-FFF2-40B4-BE49-F238E27FC236}">
                <a16:creationId xmlns="" xmlns:a16="http://schemas.microsoft.com/office/drawing/2014/main" id="{54405246-CCE2-4201-BBB1-D3F3EB6E740D}"/>
              </a:ext>
            </a:extLst>
          </p:cNvPr>
          <p:cNvSpPr/>
          <p:nvPr/>
        </p:nvSpPr>
        <p:spPr>
          <a:xfrm>
            <a:off x="8230374"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文本框 90"/>
          <p:cNvSpPr txBox="1"/>
          <p:nvPr/>
        </p:nvSpPr>
        <p:spPr>
          <a:xfrm>
            <a:off x="8492502" y="4094658"/>
            <a:ext cx="1292095" cy="369332"/>
          </a:xfrm>
          <a:prstGeom prst="rect">
            <a:avLst/>
          </a:prstGeom>
          <a:noFill/>
        </p:spPr>
        <p:txBody>
          <a:bodyPr wrap="square" rtlCol="0">
            <a:spAutoFit/>
          </a:bodyPr>
          <a:lstStyle/>
          <a:p>
            <a:r>
              <a:rPr lang="en-US" altLang="zh-CN" dirty="0"/>
              <a:t>Robot Arm</a:t>
            </a:r>
            <a:endParaRPr lang="zh-CN" altLang="en-US" dirty="0"/>
          </a:p>
        </p:txBody>
      </p:sp>
      <p:sp>
        <p:nvSpPr>
          <p:cNvPr id="92" name="文本框 91"/>
          <p:cNvSpPr txBox="1"/>
          <p:nvPr/>
        </p:nvSpPr>
        <p:spPr>
          <a:xfrm>
            <a:off x="7076976" y="3152184"/>
            <a:ext cx="739656" cy="369332"/>
          </a:xfrm>
          <a:prstGeom prst="rect">
            <a:avLst/>
          </a:prstGeom>
          <a:noFill/>
        </p:spPr>
        <p:txBody>
          <a:bodyPr wrap="square" rtlCol="0">
            <a:spAutoFit/>
          </a:bodyPr>
          <a:lstStyle/>
          <a:p>
            <a:r>
              <a:rPr lang="en-US" altLang="zh-CN" dirty="0"/>
              <a:t>AGV</a:t>
            </a:r>
            <a:endParaRPr lang="zh-CN" altLang="en-US" dirty="0"/>
          </a:p>
        </p:txBody>
      </p:sp>
      <p:cxnSp>
        <p:nvCxnSpPr>
          <p:cNvPr id="94" name="直接箭头连接符 93"/>
          <p:cNvCxnSpPr>
            <a:endCxn id="85" idx="0"/>
          </p:cNvCxnSpPr>
          <p:nvPr/>
        </p:nvCxnSpPr>
        <p:spPr>
          <a:xfrm>
            <a:off x="8567029" y="2520906"/>
            <a:ext cx="683942" cy="890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a:xfrm>
            <a:off x="8163238" y="986533"/>
            <a:ext cx="3181448" cy="523220"/>
          </a:xfrm>
          <a:prstGeom prst="rect">
            <a:avLst/>
          </a:prstGeom>
          <a:noFill/>
        </p:spPr>
        <p:txBody>
          <a:bodyPr wrap="square" rtlCol="0">
            <a:spAutoFit/>
          </a:bodyPr>
          <a:lstStyle/>
          <a:p>
            <a:r>
              <a:rPr lang="en-US" altLang="zh-CN" sz="1400" dirty="0"/>
              <a:t>①</a:t>
            </a:r>
            <a:r>
              <a:rPr lang="zh-CN" altLang="en-US" sz="1400" dirty="0"/>
              <a:t>总体安排，计算任务列表中所有任务的最佳解决方案</a:t>
            </a:r>
          </a:p>
        </p:txBody>
      </p:sp>
      <p:cxnSp>
        <p:nvCxnSpPr>
          <p:cNvPr id="96" name="直接箭头连接符 95"/>
          <p:cNvCxnSpPr/>
          <p:nvPr/>
        </p:nvCxnSpPr>
        <p:spPr>
          <a:xfrm flipH="1">
            <a:off x="7446804" y="2520906"/>
            <a:ext cx="919717" cy="292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5641169" y="2381677"/>
            <a:ext cx="2589205" cy="523220"/>
          </a:xfrm>
          <a:prstGeom prst="rect">
            <a:avLst/>
          </a:prstGeom>
          <a:noFill/>
        </p:spPr>
        <p:txBody>
          <a:bodyPr wrap="square" rtlCol="0">
            <a:spAutoFit/>
          </a:bodyPr>
          <a:lstStyle/>
          <a:p>
            <a:r>
              <a:rPr lang="en-US" altLang="zh-CN" sz="1400" dirty="0"/>
              <a:t>②</a:t>
            </a:r>
            <a:r>
              <a:rPr lang="zh-CN" altLang="en-US" sz="1400" dirty="0"/>
              <a:t>根据</a:t>
            </a:r>
            <a:r>
              <a:rPr lang="en-US" altLang="zh-CN" sz="1400" dirty="0"/>
              <a:t>AGV</a:t>
            </a:r>
            <a:r>
              <a:rPr lang="zh-CN" altLang="en-US" sz="1400" dirty="0"/>
              <a:t>的状态</a:t>
            </a:r>
            <a:r>
              <a:rPr lang="en-US" altLang="zh-CN" sz="1400" dirty="0"/>
              <a:t>/</a:t>
            </a:r>
            <a:r>
              <a:rPr lang="zh-CN" altLang="en-US" sz="1400" dirty="0"/>
              <a:t>位置向</a:t>
            </a:r>
            <a:r>
              <a:rPr lang="en-US" altLang="zh-CN" sz="1400" dirty="0"/>
              <a:t>AGV</a:t>
            </a:r>
            <a:r>
              <a:rPr lang="zh-CN" altLang="en-US" sz="1400" dirty="0"/>
              <a:t>分配任务</a:t>
            </a:r>
          </a:p>
        </p:txBody>
      </p:sp>
      <p:sp>
        <p:nvSpPr>
          <p:cNvPr id="102" name="文本框 101"/>
          <p:cNvSpPr txBox="1"/>
          <p:nvPr/>
        </p:nvSpPr>
        <p:spPr>
          <a:xfrm>
            <a:off x="8250068" y="2656859"/>
            <a:ext cx="3181448" cy="523220"/>
          </a:xfrm>
          <a:prstGeom prst="rect">
            <a:avLst/>
          </a:prstGeom>
          <a:noFill/>
        </p:spPr>
        <p:txBody>
          <a:bodyPr wrap="square" rtlCol="0">
            <a:spAutoFit/>
          </a:bodyPr>
          <a:lstStyle/>
          <a:p>
            <a:r>
              <a:rPr lang="en-US" altLang="zh-CN" sz="1400" dirty="0"/>
              <a:t>③</a:t>
            </a:r>
            <a:r>
              <a:rPr lang="zh-CN" altLang="en-US" sz="1400" dirty="0"/>
              <a:t>根据</a:t>
            </a:r>
            <a:r>
              <a:rPr lang="en-US" altLang="zh-CN" sz="1400" dirty="0"/>
              <a:t>Robot Arm</a:t>
            </a:r>
            <a:r>
              <a:rPr lang="zh-CN" altLang="en-US" sz="1400" dirty="0"/>
              <a:t>的状态</a:t>
            </a:r>
            <a:r>
              <a:rPr lang="en-US" altLang="zh-CN" sz="1400" dirty="0"/>
              <a:t>/</a:t>
            </a:r>
            <a:r>
              <a:rPr lang="zh-CN" altLang="en-US" sz="1400" dirty="0"/>
              <a:t>下一可用时间向</a:t>
            </a:r>
            <a:r>
              <a:rPr lang="en-US" altLang="zh-CN" sz="1400" dirty="0"/>
              <a:t>Robot Arm</a:t>
            </a:r>
            <a:r>
              <a:rPr lang="zh-CN" altLang="en-US" sz="1400" dirty="0"/>
              <a:t>分配任务</a:t>
            </a:r>
          </a:p>
        </p:txBody>
      </p:sp>
      <p:sp>
        <p:nvSpPr>
          <p:cNvPr id="104" name="文本框 103"/>
          <p:cNvSpPr txBox="1"/>
          <p:nvPr/>
        </p:nvSpPr>
        <p:spPr>
          <a:xfrm>
            <a:off x="539542" y="4561219"/>
            <a:ext cx="4957317" cy="646331"/>
          </a:xfrm>
          <a:prstGeom prst="rect">
            <a:avLst/>
          </a:prstGeom>
          <a:noFill/>
        </p:spPr>
        <p:txBody>
          <a:bodyPr wrap="square" rtlCol="0">
            <a:spAutoFit/>
          </a:bodyPr>
          <a:lstStyle/>
          <a:p>
            <a:r>
              <a:rPr lang="zh-CN" altLang="en-US" dirty="0"/>
              <a:t>传统方法：</a:t>
            </a:r>
            <a:r>
              <a:rPr lang="en-US" altLang="zh-CN" dirty="0"/>
              <a:t>Robot Arm</a:t>
            </a:r>
            <a:r>
              <a:rPr lang="zh-CN" altLang="en-US" dirty="0"/>
              <a:t>从调度系统获取任务，调度系统按顺序处理任务。</a:t>
            </a:r>
          </a:p>
        </p:txBody>
      </p:sp>
      <p:sp>
        <p:nvSpPr>
          <p:cNvPr id="105" name="文本框 104"/>
          <p:cNvSpPr txBox="1"/>
          <p:nvPr/>
        </p:nvSpPr>
        <p:spPr>
          <a:xfrm>
            <a:off x="6629995" y="4561219"/>
            <a:ext cx="4957317" cy="923330"/>
          </a:xfrm>
          <a:prstGeom prst="rect">
            <a:avLst/>
          </a:prstGeom>
          <a:noFill/>
        </p:spPr>
        <p:txBody>
          <a:bodyPr wrap="square" rtlCol="0">
            <a:spAutoFit/>
          </a:bodyPr>
          <a:lstStyle/>
          <a:p>
            <a:r>
              <a:rPr lang="zh-CN" altLang="en-US" dirty="0"/>
              <a:t>新方法：调度系统将</a:t>
            </a:r>
            <a:r>
              <a:rPr lang="en-US" altLang="zh-CN" dirty="0"/>
              <a:t>AGV</a:t>
            </a:r>
            <a:r>
              <a:rPr lang="zh-CN" altLang="en-US" dirty="0"/>
              <a:t>和</a:t>
            </a:r>
            <a:r>
              <a:rPr lang="en-US" altLang="zh-CN" dirty="0"/>
              <a:t>Robot Arm</a:t>
            </a:r>
            <a:r>
              <a:rPr lang="zh-CN" altLang="en-US" dirty="0"/>
              <a:t>视为异构智能体，并对所有任务进行整体优化，可能会调整任务顺序。</a:t>
            </a:r>
            <a:endParaRPr lang="en-US" altLang="zh-CN" dirty="0"/>
          </a:p>
        </p:txBody>
      </p:sp>
    </p:spTree>
    <p:extLst>
      <p:ext uri="{BB962C8B-B14F-4D97-AF65-F5344CB8AC3E}">
        <p14:creationId xmlns:p14="http://schemas.microsoft.com/office/powerpoint/2010/main" val="592542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082116" y="1677953"/>
            <a:ext cx="587429" cy="714376"/>
            <a:chOff x="1323750" y="1400532"/>
            <a:chExt cx="1007244" cy="1354959"/>
          </a:xfrm>
        </p:grpSpPr>
        <p:sp>
          <p:nvSpPr>
            <p:cNvPr id="5" name="矩形 4"/>
            <p:cNvSpPr/>
            <p:nvPr/>
          </p:nvSpPr>
          <p:spPr>
            <a:xfrm>
              <a:off x="1323750" y="1400532"/>
              <a:ext cx="866274" cy="231007"/>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323750" y="1681520"/>
              <a:ext cx="927869" cy="231007"/>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23751" y="1962508"/>
              <a:ext cx="638944" cy="231007"/>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323751" y="2243496"/>
              <a:ext cx="461144" cy="231007"/>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323750" y="2524484"/>
              <a:ext cx="1007244" cy="23100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4698452" y="1376976"/>
            <a:ext cx="2057060" cy="369332"/>
          </a:xfrm>
          <a:prstGeom prst="rect">
            <a:avLst/>
          </a:prstGeom>
          <a:noFill/>
        </p:spPr>
        <p:txBody>
          <a:bodyPr wrap="square" rtlCol="0">
            <a:spAutoFit/>
          </a:bodyPr>
          <a:lstStyle/>
          <a:p>
            <a:r>
              <a:rPr lang="zh-CN" altLang="en-US" dirty="0"/>
              <a:t>调度系统</a:t>
            </a:r>
          </a:p>
        </p:txBody>
      </p:sp>
      <p:sp>
        <p:nvSpPr>
          <p:cNvPr id="11" name="右箭头 10"/>
          <p:cNvSpPr/>
          <p:nvPr/>
        </p:nvSpPr>
        <p:spPr>
          <a:xfrm>
            <a:off x="3962732" y="1925019"/>
            <a:ext cx="566526" cy="464438"/>
          </a:xfrm>
          <a:prstGeom prst="rightArrow">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873794" y="1327563"/>
            <a:ext cx="1409700" cy="369332"/>
          </a:xfrm>
          <a:prstGeom prst="rect">
            <a:avLst/>
          </a:prstGeom>
          <a:noFill/>
        </p:spPr>
        <p:txBody>
          <a:bodyPr wrap="square" rtlCol="0">
            <a:spAutoFit/>
          </a:bodyPr>
          <a:lstStyle/>
          <a:p>
            <a:r>
              <a:rPr lang="zh-CN" altLang="en-US" dirty="0"/>
              <a:t>任务列表</a:t>
            </a:r>
          </a:p>
        </p:txBody>
      </p:sp>
      <p:sp>
        <p:nvSpPr>
          <p:cNvPr id="13" name="server_159296">
            <a:extLst>
              <a:ext uri="{FF2B5EF4-FFF2-40B4-BE49-F238E27FC236}">
                <a16:creationId xmlns="" xmlns:a16="http://schemas.microsoft.com/office/drawing/2014/main" id="{54405246-CCE2-4201-BBB1-D3F3EB6E740D}"/>
              </a:ext>
            </a:extLst>
          </p:cNvPr>
          <p:cNvSpPr/>
          <p:nvPr/>
        </p:nvSpPr>
        <p:spPr>
          <a:xfrm>
            <a:off x="4816966" y="1822699"/>
            <a:ext cx="669317" cy="69820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 name="connsiteX65" fmla="*/ 325000 h 606722"/>
              <a:gd name="connsiteY65" fmla="*/ 325000 h 606722"/>
              <a:gd name="connsiteX66" fmla="*/ 325000 h 606722"/>
              <a:gd name="connsiteY66" fmla="*/ 325000 h 606722"/>
              <a:gd name="connsiteX67" fmla="*/ 325000 h 606722"/>
              <a:gd name="connsiteY67" fmla="*/ 325000 h 606722"/>
              <a:gd name="connsiteX68" fmla="*/ 325000 h 606722"/>
              <a:gd name="connsiteY68" fmla="*/ 325000 h 606722"/>
              <a:gd name="connsiteX69" fmla="*/ 325000 h 606722"/>
              <a:gd name="connsiteY69" fmla="*/ 325000 h 606722"/>
              <a:gd name="connsiteX70" fmla="*/ 325000 h 606722"/>
              <a:gd name="connsiteY70" fmla="*/ 325000 h 606722"/>
              <a:gd name="connsiteX71" fmla="*/ 325000 h 606722"/>
              <a:gd name="connsiteY71" fmla="*/ 325000 h 606722"/>
              <a:gd name="connsiteX72" fmla="*/ 325000 h 606722"/>
              <a:gd name="connsiteY72" fmla="*/ 325000 h 606722"/>
              <a:gd name="connsiteX73" fmla="*/ 325000 h 606722"/>
              <a:gd name="connsiteY73" fmla="*/ 325000 h 606722"/>
              <a:gd name="connsiteX74" fmla="*/ 325000 h 606722"/>
              <a:gd name="connsiteY74" fmla="*/ 325000 h 606722"/>
              <a:gd name="connsiteX75" fmla="*/ 325000 h 606722"/>
              <a:gd name="connsiteY75" fmla="*/ 325000 h 606722"/>
              <a:gd name="connsiteX76" fmla="*/ 325000 h 606722"/>
              <a:gd name="connsiteY76" fmla="*/ 325000 h 606722"/>
              <a:gd name="connsiteX77" fmla="*/ 325000 h 606722"/>
              <a:gd name="connsiteY77" fmla="*/ 325000 h 606722"/>
              <a:gd name="connsiteX78" fmla="*/ 325000 h 606722"/>
              <a:gd name="connsiteY78" fmla="*/ 325000 h 606722"/>
              <a:gd name="connsiteX79" fmla="*/ 325000 h 606722"/>
              <a:gd name="connsiteY79" fmla="*/ 325000 h 606722"/>
              <a:gd name="connsiteX80" fmla="*/ 325000 h 606722"/>
              <a:gd name="connsiteY80" fmla="*/ 325000 h 606722"/>
              <a:gd name="connsiteX81" fmla="*/ 325000 h 606722"/>
              <a:gd name="connsiteY81" fmla="*/ 325000 h 606722"/>
              <a:gd name="connsiteX82" fmla="*/ 325000 h 606722"/>
              <a:gd name="connsiteY82" fmla="*/ 325000 h 606722"/>
              <a:gd name="connsiteX83" fmla="*/ 325000 h 606722"/>
              <a:gd name="connsiteY83" fmla="*/ 325000 h 606722"/>
              <a:gd name="connsiteX84" fmla="*/ 325000 h 606722"/>
              <a:gd name="connsiteY84" fmla="*/ 325000 h 606722"/>
              <a:gd name="connsiteX85" fmla="*/ 325000 h 606722"/>
              <a:gd name="connsiteY85" fmla="*/ 325000 h 606722"/>
              <a:gd name="connsiteX86" fmla="*/ 325000 h 606722"/>
              <a:gd name="connsiteY86" fmla="*/ 325000 h 606722"/>
              <a:gd name="connsiteX87" fmla="*/ 325000 h 606722"/>
              <a:gd name="connsiteY87" fmla="*/ 325000 h 606722"/>
              <a:gd name="connsiteX88" fmla="*/ 325000 h 606722"/>
              <a:gd name="connsiteY88" fmla="*/ 325000 h 606722"/>
              <a:gd name="connsiteX89" fmla="*/ 325000 h 606722"/>
              <a:gd name="connsiteY89" fmla="*/ 325000 h 606722"/>
              <a:gd name="connsiteX90" fmla="*/ 325000 h 606722"/>
              <a:gd name="connsiteY90" fmla="*/ 325000 h 606722"/>
              <a:gd name="connsiteX91" fmla="*/ 325000 h 606722"/>
              <a:gd name="connsiteY91" fmla="*/ 325000 h 606722"/>
              <a:gd name="connsiteX92" fmla="*/ 325000 h 606722"/>
              <a:gd name="connsiteY92" fmla="*/ 325000 h 606722"/>
              <a:gd name="connsiteX93" fmla="*/ 325000 h 606722"/>
              <a:gd name="connsiteY93" fmla="*/ 325000 h 606722"/>
              <a:gd name="connsiteX94" fmla="*/ 325000 h 606722"/>
              <a:gd name="connsiteY94" fmla="*/ 325000 h 606722"/>
              <a:gd name="connsiteX95" fmla="*/ 325000 h 606722"/>
              <a:gd name="connsiteY95" fmla="*/ 325000 h 606722"/>
              <a:gd name="connsiteX96" fmla="*/ 325000 h 606722"/>
              <a:gd name="connsiteY96" fmla="*/ 325000 h 606722"/>
              <a:gd name="connsiteX97" fmla="*/ 325000 h 606722"/>
              <a:gd name="connsiteY97" fmla="*/ 325000 h 606722"/>
              <a:gd name="connsiteX98" fmla="*/ 325000 h 606722"/>
              <a:gd name="connsiteY98" fmla="*/ 325000 h 606722"/>
              <a:gd name="connsiteX99" fmla="*/ 325000 h 606722"/>
              <a:gd name="connsiteY99" fmla="*/ 325000 h 606722"/>
              <a:gd name="connsiteX100" fmla="*/ 325000 h 606722"/>
              <a:gd name="connsiteY100" fmla="*/ 325000 h 606722"/>
              <a:gd name="connsiteX101" fmla="*/ 325000 h 606722"/>
              <a:gd name="connsiteY101" fmla="*/ 325000 h 606722"/>
              <a:gd name="connsiteX102" fmla="*/ 325000 h 606722"/>
              <a:gd name="connsiteY102" fmla="*/ 325000 h 606722"/>
              <a:gd name="connsiteX103" fmla="*/ 325000 h 606722"/>
              <a:gd name="connsiteY103" fmla="*/ 325000 h 606722"/>
              <a:gd name="connsiteX104" fmla="*/ 325000 h 606722"/>
              <a:gd name="connsiteY104" fmla="*/ 325000 h 606722"/>
              <a:gd name="connsiteX105" fmla="*/ 325000 h 606722"/>
              <a:gd name="connsiteY105" fmla="*/ 325000 h 606722"/>
              <a:gd name="connsiteX106" fmla="*/ 325000 h 606722"/>
              <a:gd name="connsiteY106" fmla="*/ 325000 h 606722"/>
              <a:gd name="connsiteX107" fmla="*/ 325000 h 606722"/>
              <a:gd name="connsiteY107" fmla="*/ 325000 h 606722"/>
              <a:gd name="connsiteX108" fmla="*/ 325000 h 606722"/>
              <a:gd name="connsiteY108" fmla="*/ 325000 h 606722"/>
              <a:gd name="connsiteX109" fmla="*/ 325000 h 606722"/>
              <a:gd name="connsiteY109" fmla="*/ 325000 h 606722"/>
              <a:gd name="connsiteX110" fmla="*/ 325000 h 606722"/>
              <a:gd name="connsiteY110" fmla="*/ 325000 h 606722"/>
              <a:gd name="connsiteX111" fmla="*/ 325000 h 606722"/>
              <a:gd name="connsiteY111" fmla="*/ 325000 h 606722"/>
              <a:gd name="connsiteX112" fmla="*/ 325000 h 606722"/>
              <a:gd name="connsiteY112" fmla="*/ 325000 h 606722"/>
              <a:gd name="connsiteX113" fmla="*/ 325000 h 606722"/>
              <a:gd name="connsiteY113" fmla="*/ 325000 h 606722"/>
              <a:gd name="connsiteX114" fmla="*/ 325000 h 606722"/>
              <a:gd name="connsiteY114" fmla="*/ 325000 h 606722"/>
              <a:gd name="connsiteX115" fmla="*/ 325000 h 606722"/>
              <a:gd name="connsiteY115" fmla="*/ 325000 h 606722"/>
              <a:gd name="connsiteX116" fmla="*/ 325000 h 606722"/>
              <a:gd name="connsiteY116" fmla="*/ 325000 h 606722"/>
              <a:gd name="connsiteX117" fmla="*/ 325000 h 606722"/>
              <a:gd name="connsiteY117" fmla="*/ 325000 h 606722"/>
              <a:gd name="connsiteX118" fmla="*/ 325000 h 606722"/>
              <a:gd name="connsiteY118" fmla="*/ 325000 h 606722"/>
              <a:gd name="connsiteX119" fmla="*/ 325000 h 606722"/>
              <a:gd name="connsiteY119" fmla="*/ 325000 h 606722"/>
              <a:gd name="connsiteX120" fmla="*/ 325000 h 606722"/>
              <a:gd name="connsiteY120" fmla="*/ 325000 h 606722"/>
              <a:gd name="connsiteX121" fmla="*/ 325000 h 606722"/>
              <a:gd name="connsiteY121"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57255" h="581307">
                <a:moveTo>
                  <a:pt x="274562" y="391063"/>
                </a:moveTo>
                <a:lnTo>
                  <a:pt x="390729" y="391063"/>
                </a:lnTo>
                <a:cubicBezTo>
                  <a:pt x="398830" y="391063"/>
                  <a:pt x="405328" y="397549"/>
                  <a:pt x="405328" y="405635"/>
                </a:cubicBezTo>
                <a:cubicBezTo>
                  <a:pt x="405328" y="413632"/>
                  <a:pt x="398830" y="420207"/>
                  <a:pt x="390729" y="420207"/>
                </a:cubicBezTo>
                <a:lnTo>
                  <a:pt x="274562" y="420207"/>
                </a:lnTo>
                <a:cubicBezTo>
                  <a:pt x="266461" y="420207"/>
                  <a:pt x="259963" y="413632"/>
                  <a:pt x="259963" y="405635"/>
                </a:cubicBezTo>
                <a:cubicBezTo>
                  <a:pt x="259963" y="397549"/>
                  <a:pt x="266461" y="391063"/>
                  <a:pt x="274562" y="391063"/>
                </a:cubicBezTo>
                <a:close/>
                <a:moveTo>
                  <a:pt x="179659" y="389369"/>
                </a:moveTo>
                <a:cubicBezTo>
                  <a:pt x="188623" y="389369"/>
                  <a:pt x="195889" y="396620"/>
                  <a:pt x="195889" y="405564"/>
                </a:cubicBezTo>
                <a:cubicBezTo>
                  <a:pt x="195889" y="414508"/>
                  <a:pt x="188623" y="421759"/>
                  <a:pt x="179659" y="421759"/>
                </a:cubicBezTo>
                <a:cubicBezTo>
                  <a:pt x="170695" y="421759"/>
                  <a:pt x="163429" y="414508"/>
                  <a:pt x="163429" y="405564"/>
                </a:cubicBezTo>
                <a:cubicBezTo>
                  <a:pt x="163429" y="396620"/>
                  <a:pt x="170695" y="389369"/>
                  <a:pt x="179659" y="389369"/>
                </a:cubicBezTo>
                <a:close/>
                <a:moveTo>
                  <a:pt x="138574" y="362680"/>
                </a:moveTo>
                <a:cubicBezTo>
                  <a:pt x="116767" y="362680"/>
                  <a:pt x="98966" y="380455"/>
                  <a:pt x="98966" y="402229"/>
                </a:cubicBezTo>
                <a:lnTo>
                  <a:pt x="98966" y="408895"/>
                </a:lnTo>
                <a:cubicBezTo>
                  <a:pt x="98966" y="430669"/>
                  <a:pt x="116767" y="448443"/>
                  <a:pt x="138574" y="448443"/>
                </a:cubicBezTo>
                <a:lnTo>
                  <a:pt x="418681" y="448443"/>
                </a:lnTo>
                <a:cubicBezTo>
                  <a:pt x="440488" y="448443"/>
                  <a:pt x="458290" y="430669"/>
                  <a:pt x="458290" y="408895"/>
                </a:cubicBezTo>
                <a:lnTo>
                  <a:pt x="458290" y="402229"/>
                </a:lnTo>
                <a:cubicBezTo>
                  <a:pt x="458290" y="380455"/>
                  <a:pt x="440488" y="362680"/>
                  <a:pt x="418681" y="362680"/>
                </a:cubicBezTo>
                <a:close/>
                <a:moveTo>
                  <a:pt x="274562" y="276182"/>
                </a:moveTo>
                <a:lnTo>
                  <a:pt x="390729" y="276182"/>
                </a:lnTo>
                <a:cubicBezTo>
                  <a:pt x="398830" y="276182"/>
                  <a:pt x="405328" y="282587"/>
                  <a:pt x="405328" y="290594"/>
                </a:cubicBezTo>
                <a:cubicBezTo>
                  <a:pt x="405328" y="298690"/>
                  <a:pt x="398830" y="305184"/>
                  <a:pt x="390729" y="305184"/>
                </a:cubicBezTo>
                <a:lnTo>
                  <a:pt x="274562" y="305184"/>
                </a:lnTo>
                <a:cubicBezTo>
                  <a:pt x="266461" y="305184"/>
                  <a:pt x="259963" y="298690"/>
                  <a:pt x="259963" y="290594"/>
                </a:cubicBezTo>
                <a:cubicBezTo>
                  <a:pt x="259963" y="282676"/>
                  <a:pt x="266461" y="276182"/>
                  <a:pt x="274562" y="276182"/>
                </a:cubicBezTo>
                <a:close/>
                <a:moveTo>
                  <a:pt x="179659" y="274418"/>
                </a:moveTo>
                <a:cubicBezTo>
                  <a:pt x="188623" y="274418"/>
                  <a:pt x="195889" y="281684"/>
                  <a:pt x="195889" y="290648"/>
                </a:cubicBezTo>
                <a:cubicBezTo>
                  <a:pt x="195889" y="299612"/>
                  <a:pt x="188623" y="306878"/>
                  <a:pt x="179659" y="306878"/>
                </a:cubicBezTo>
                <a:cubicBezTo>
                  <a:pt x="170695" y="306878"/>
                  <a:pt x="163429" y="299612"/>
                  <a:pt x="163429" y="290648"/>
                </a:cubicBezTo>
                <a:cubicBezTo>
                  <a:pt x="163429" y="281684"/>
                  <a:pt x="170695" y="274418"/>
                  <a:pt x="179659" y="274418"/>
                </a:cubicBezTo>
                <a:close/>
                <a:moveTo>
                  <a:pt x="138574" y="247767"/>
                </a:moveTo>
                <a:cubicBezTo>
                  <a:pt x="116767" y="247767"/>
                  <a:pt x="98966" y="265541"/>
                  <a:pt x="98966" y="287315"/>
                </a:cubicBezTo>
                <a:lnTo>
                  <a:pt x="98966" y="293981"/>
                </a:lnTo>
                <a:cubicBezTo>
                  <a:pt x="98966" y="315755"/>
                  <a:pt x="116767" y="333530"/>
                  <a:pt x="138574" y="333530"/>
                </a:cubicBezTo>
                <a:lnTo>
                  <a:pt x="418681" y="333530"/>
                </a:lnTo>
                <a:cubicBezTo>
                  <a:pt x="440488" y="333530"/>
                  <a:pt x="458290" y="315755"/>
                  <a:pt x="458290" y="293981"/>
                </a:cubicBezTo>
                <a:lnTo>
                  <a:pt x="458290" y="287315"/>
                </a:lnTo>
                <a:cubicBezTo>
                  <a:pt x="458290" y="265541"/>
                  <a:pt x="440488" y="247767"/>
                  <a:pt x="418681" y="247767"/>
                </a:cubicBezTo>
                <a:close/>
                <a:moveTo>
                  <a:pt x="274562" y="161090"/>
                </a:moveTo>
                <a:lnTo>
                  <a:pt x="390729" y="161090"/>
                </a:lnTo>
                <a:cubicBezTo>
                  <a:pt x="398830" y="161090"/>
                  <a:pt x="405328" y="167592"/>
                  <a:pt x="405328" y="175697"/>
                </a:cubicBezTo>
                <a:cubicBezTo>
                  <a:pt x="405328" y="183802"/>
                  <a:pt x="398830" y="190304"/>
                  <a:pt x="390729" y="190304"/>
                </a:cubicBezTo>
                <a:lnTo>
                  <a:pt x="274562" y="190304"/>
                </a:lnTo>
                <a:cubicBezTo>
                  <a:pt x="266461" y="190304"/>
                  <a:pt x="259963" y="183802"/>
                  <a:pt x="259963" y="175697"/>
                </a:cubicBezTo>
                <a:cubicBezTo>
                  <a:pt x="259963" y="167592"/>
                  <a:pt x="266461" y="161090"/>
                  <a:pt x="274562" y="161090"/>
                </a:cubicBezTo>
                <a:close/>
                <a:moveTo>
                  <a:pt x="179659" y="159467"/>
                </a:moveTo>
                <a:cubicBezTo>
                  <a:pt x="188623" y="159467"/>
                  <a:pt x="195889" y="166733"/>
                  <a:pt x="195889" y="175697"/>
                </a:cubicBezTo>
                <a:cubicBezTo>
                  <a:pt x="195889" y="184661"/>
                  <a:pt x="188623" y="191927"/>
                  <a:pt x="179659" y="191927"/>
                </a:cubicBezTo>
                <a:cubicBezTo>
                  <a:pt x="170695" y="191927"/>
                  <a:pt x="163429" y="184661"/>
                  <a:pt x="163429" y="175697"/>
                </a:cubicBezTo>
                <a:cubicBezTo>
                  <a:pt x="163429" y="166733"/>
                  <a:pt x="170695" y="159467"/>
                  <a:pt x="179659" y="159467"/>
                </a:cubicBezTo>
                <a:close/>
                <a:moveTo>
                  <a:pt x="138574" y="132942"/>
                </a:moveTo>
                <a:cubicBezTo>
                  <a:pt x="116767" y="132942"/>
                  <a:pt x="98966" y="150716"/>
                  <a:pt x="98966" y="172491"/>
                </a:cubicBezTo>
                <a:lnTo>
                  <a:pt x="98966" y="179156"/>
                </a:lnTo>
                <a:cubicBezTo>
                  <a:pt x="98966" y="200930"/>
                  <a:pt x="116767" y="218705"/>
                  <a:pt x="138574" y="218705"/>
                </a:cubicBezTo>
                <a:lnTo>
                  <a:pt x="418681" y="218705"/>
                </a:lnTo>
                <a:cubicBezTo>
                  <a:pt x="440488" y="218705"/>
                  <a:pt x="458290" y="200930"/>
                  <a:pt x="458290" y="179156"/>
                </a:cubicBezTo>
                <a:lnTo>
                  <a:pt x="458290" y="172491"/>
                </a:lnTo>
                <a:cubicBezTo>
                  <a:pt x="458290" y="150716"/>
                  <a:pt x="440488" y="132942"/>
                  <a:pt x="418681" y="132942"/>
                </a:cubicBezTo>
                <a:close/>
                <a:moveTo>
                  <a:pt x="542660" y="120303"/>
                </a:moveTo>
                <a:cubicBezTo>
                  <a:pt x="550758" y="120303"/>
                  <a:pt x="557255" y="126880"/>
                  <a:pt x="557255" y="134879"/>
                </a:cubicBezTo>
                <a:lnTo>
                  <a:pt x="557255" y="421951"/>
                </a:lnTo>
                <a:cubicBezTo>
                  <a:pt x="557255" y="494297"/>
                  <a:pt x="498251" y="553311"/>
                  <a:pt x="425631" y="553311"/>
                </a:cubicBezTo>
                <a:lnTo>
                  <a:pt x="328270" y="553311"/>
                </a:lnTo>
                <a:lnTo>
                  <a:pt x="331296" y="556511"/>
                </a:lnTo>
                <a:cubicBezTo>
                  <a:pt x="336992" y="562199"/>
                  <a:pt x="336992" y="571353"/>
                  <a:pt x="331296" y="577041"/>
                </a:cubicBezTo>
                <a:cubicBezTo>
                  <a:pt x="328448" y="579885"/>
                  <a:pt x="324800" y="581307"/>
                  <a:pt x="320973" y="581307"/>
                </a:cubicBezTo>
                <a:cubicBezTo>
                  <a:pt x="317235" y="581307"/>
                  <a:pt x="313497" y="579885"/>
                  <a:pt x="310649" y="577041"/>
                </a:cubicBezTo>
                <a:lnTo>
                  <a:pt x="282794" y="549223"/>
                </a:lnTo>
                <a:cubicBezTo>
                  <a:pt x="280035" y="546467"/>
                  <a:pt x="278522" y="542823"/>
                  <a:pt x="278522" y="538913"/>
                </a:cubicBezTo>
                <a:cubicBezTo>
                  <a:pt x="278522" y="535002"/>
                  <a:pt x="280035" y="531269"/>
                  <a:pt x="282794" y="528603"/>
                </a:cubicBezTo>
                <a:lnTo>
                  <a:pt x="310649" y="500696"/>
                </a:lnTo>
                <a:cubicBezTo>
                  <a:pt x="316345" y="495008"/>
                  <a:pt x="325511" y="495008"/>
                  <a:pt x="331207" y="500696"/>
                </a:cubicBezTo>
                <a:cubicBezTo>
                  <a:pt x="336903" y="506384"/>
                  <a:pt x="336903" y="515538"/>
                  <a:pt x="331207" y="521226"/>
                </a:cubicBezTo>
                <a:lnTo>
                  <a:pt x="328092" y="524337"/>
                </a:lnTo>
                <a:lnTo>
                  <a:pt x="425542" y="524337"/>
                </a:lnTo>
                <a:cubicBezTo>
                  <a:pt x="482054" y="524337"/>
                  <a:pt x="528065" y="478477"/>
                  <a:pt x="528065" y="421951"/>
                </a:cubicBezTo>
                <a:lnTo>
                  <a:pt x="528065" y="134879"/>
                </a:lnTo>
                <a:cubicBezTo>
                  <a:pt x="528065" y="126880"/>
                  <a:pt x="534561" y="120303"/>
                  <a:pt x="542660" y="120303"/>
                </a:cubicBezTo>
                <a:close/>
                <a:moveTo>
                  <a:pt x="138574" y="103791"/>
                </a:moveTo>
                <a:lnTo>
                  <a:pt x="418681" y="103791"/>
                </a:lnTo>
                <a:cubicBezTo>
                  <a:pt x="456509" y="103791"/>
                  <a:pt x="487395" y="134453"/>
                  <a:pt x="487395" y="172402"/>
                </a:cubicBezTo>
                <a:lnTo>
                  <a:pt x="487395" y="178978"/>
                </a:lnTo>
                <a:cubicBezTo>
                  <a:pt x="487395" y="201019"/>
                  <a:pt x="476892" y="220571"/>
                  <a:pt x="460782" y="233191"/>
                </a:cubicBezTo>
                <a:cubicBezTo>
                  <a:pt x="476892" y="245722"/>
                  <a:pt x="487395" y="265275"/>
                  <a:pt x="487395" y="287315"/>
                </a:cubicBezTo>
                <a:lnTo>
                  <a:pt x="487395" y="293981"/>
                </a:lnTo>
                <a:cubicBezTo>
                  <a:pt x="487395" y="316022"/>
                  <a:pt x="476892" y="335574"/>
                  <a:pt x="460782" y="348105"/>
                </a:cubicBezTo>
                <a:cubicBezTo>
                  <a:pt x="476892" y="360636"/>
                  <a:pt x="487395" y="380188"/>
                  <a:pt x="487395" y="402229"/>
                </a:cubicBezTo>
                <a:lnTo>
                  <a:pt x="487395" y="408895"/>
                </a:lnTo>
                <a:cubicBezTo>
                  <a:pt x="487395" y="446666"/>
                  <a:pt x="456598" y="477505"/>
                  <a:pt x="418681" y="477505"/>
                </a:cubicBezTo>
                <a:lnTo>
                  <a:pt x="138574" y="477505"/>
                </a:lnTo>
                <a:cubicBezTo>
                  <a:pt x="100746" y="477505"/>
                  <a:pt x="69860" y="446844"/>
                  <a:pt x="69860" y="408895"/>
                </a:cubicBezTo>
                <a:lnTo>
                  <a:pt x="69860" y="402229"/>
                </a:lnTo>
                <a:cubicBezTo>
                  <a:pt x="69860" y="380188"/>
                  <a:pt x="80274" y="360636"/>
                  <a:pt x="96473" y="348105"/>
                </a:cubicBezTo>
                <a:cubicBezTo>
                  <a:pt x="80274" y="335574"/>
                  <a:pt x="69860" y="316022"/>
                  <a:pt x="69860" y="293981"/>
                </a:cubicBezTo>
                <a:lnTo>
                  <a:pt x="69860" y="287315"/>
                </a:lnTo>
                <a:cubicBezTo>
                  <a:pt x="69860" y="265275"/>
                  <a:pt x="80274" y="245722"/>
                  <a:pt x="96473" y="233191"/>
                </a:cubicBezTo>
                <a:cubicBezTo>
                  <a:pt x="80274" y="220571"/>
                  <a:pt x="69860" y="201019"/>
                  <a:pt x="69860" y="178978"/>
                </a:cubicBezTo>
                <a:lnTo>
                  <a:pt x="69860" y="172402"/>
                </a:lnTo>
                <a:cubicBezTo>
                  <a:pt x="69860" y="134541"/>
                  <a:pt x="100568" y="103791"/>
                  <a:pt x="138574" y="103791"/>
                </a:cubicBezTo>
                <a:close/>
                <a:moveTo>
                  <a:pt x="235694" y="0"/>
                </a:moveTo>
                <a:cubicBezTo>
                  <a:pt x="239409" y="0"/>
                  <a:pt x="243125" y="1422"/>
                  <a:pt x="245972" y="4266"/>
                </a:cubicBezTo>
                <a:lnTo>
                  <a:pt x="273826" y="32085"/>
                </a:lnTo>
                <a:cubicBezTo>
                  <a:pt x="276585" y="34840"/>
                  <a:pt x="278098" y="38573"/>
                  <a:pt x="278098" y="42395"/>
                </a:cubicBezTo>
                <a:cubicBezTo>
                  <a:pt x="278098" y="46305"/>
                  <a:pt x="276585" y="49949"/>
                  <a:pt x="273826" y="52705"/>
                </a:cubicBezTo>
                <a:lnTo>
                  <a:pt x="245972" y="80524"/>
                </a:lnTo>
                <a:cubicBezTo>
                  <a:pt x="243124" y="83368"/>
                  <a:pt x="239387" y="84790"/>
                  <a:pt x="235649" y="84790"/>
                </a:cubicBezTo>
                <a:cubicBezTo>
                  <a:pt x="231822" y="84790"/>
                  <a:pt x="228174" y="83368"/>
                  <a:pt x="225326" y="80524"/>
                </a:cubicBezTo>
                <a:cubicBezTo>
                  <a:pt x="219631" y="74835"/>
                  <a:pt x="219631" y="65770"/>
                  <a:pt x="225326" y="60082"/>
                </a:cubicBezTo>
                <a:lnTo>
                  <a:pt x="228352" y="56971"/>
                </a:lnTo>
                <a:lnTo>
                  <a:pt x="131529" y="56971"/>
                </a:lnTo>
                <a:cubicBezTo>
                  <a:pt x="75109" y="56971"/>
                  <a:pt x="29011" y="102832"/>
                  <a:pt x="29011" y="159359"/>
                </a:cubicBezTo>
                <a:lnTo>
                  <a:pt x="29011" y="446346"/>
                </a:lnTo>
                <a:cubicBezTo>
                  <a:pt x="29011" y="454434"/>
                  <a:pt x="22426" y="460922"/>
                  <a:pt x="14417" y="460922"/>
                </a:cubicBezTo>
                <a:cubicBezTo>
                  <a:pt x="6496" y="460922"/>
                  <a:pt x="0" y="454434"/>
                  <a:pt x="0" y="446346"/>
                </a:cubicBezTo>
                <a:lnTo>
                  <a:pt x="0" y="159359"/>
                </a:lnTo>
                <a:cubicBezTo>
                  <a:pt x="0" y="86923"/>
                  <a:pt x="59090" y="27908"/>
                  <a:pt x="131707" y="27819"/>
                </a:cubicBezTo>
                <a:lnTo>
                  <a:pt x="228530" y="27819"/>
                </a:lnTo>
                <a:lnTo>
                  <a:pt x="225415" y="24708"/>
                </a:lnTo>
                <a:cubicBezTo>
                  <a:pt x="219720" y="19020"/>
                  <a:pt x="219720" y="9954"/>
                  <a:pt x="225415" y="4266"/>
                </a:cubicBezTo>
                <a:cubicBezTo>
                  <a:pt x="228263" y="1422"/>
                  <a:pt x="231979" y="0"/>
                  <a:pt x="23569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p:cNvSpPr/>
          <p:nvPr/>
        </p:nvSpPr>
        <p:spPr>
          <a:xfrm>
            <a:off x="473018" y="3277810"/>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536094" y="3277810"/>
            <a:ext cx="541137" cy="121794"/>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60447" y="3277810"/>
            <a:ext cx="372635" cy="12179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181542" y="3277810"/>
            <a:ext cx="268941" cy="121794"/>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513597" y="3277810"/>
            <a:ext cx="587429" cy="12179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371419" y="3021069"/>
            <a:ext cx="630335" cy="307777"/>
          </a:xfrm>
          <a:prstGeom prst="rect">
            <a:avLst/>
          </a:prstGeom>
          <a:noFill/>
        </p:spPr>
        <p:txBody>
          <a:bodyPr wrap="square" rtlCol="0">
            <a:spAutoFit/>
          </a:bodyPr>
          <a:lstStyle/>
          <a:p>
            <a:r>
              <a:rPr lang="en-US" altLang="zh-CN" sz="1400" dirty="0"/>
              <a:t>Task 1</a:t>
            </a:r>
            <a:endParaRPr lang="zh-CN" altLang="en-US" sz="1400" dirty="0"/>
          </a:p>
        </p:txBody>
      </p:sp>
      <p:sp>
        <p:nvSpPr>
          <p:cNvPr id="22" name="文本框 21"/>
          <p:cNvSpPr txBox="1"/>
          <p:nvPr/>
        </p:nvSpPr>
        <p:spPr>
          <a:xfrm>
            <a:off x="2528292" y="3021069"/>
            <a:ext cx="630335" cy="307777"/>
          </a:xfrm>
          <a:prstGeom prst="rect">
            <a:avLst/>
          </a:prstGeom>
          <a:noFill/>
        </p:spPr>
        <p:txBody>
          <a:bodyPr wrap="square" rtlCol="0">
            <a:spAutoFit/>
          </a:bodyPr>
          <a:lstStyle/>
          <a:p>
            <a:r>
              <a:rPr lang="en-US" altLang="zh-CN" sz="1400" dirty="0"/>
              <a:t>Task 2</a:t>
            </a:r>
            <a:endParaRPr lang="zh-CN" altLang="en-US" sz="1400" dirty="0"/>
          </a:p>
        </p:txBody>
      </p:sp>
      <p:sp>
        <p:nvSpPr>
          <p:cNvPr id="23" name="文本框 22"/>
          <p:cNvSpPr txBox="1"/>
          <p:nvPr/>
        </p:nvSpPr>
        <p:spPr>
          <a:xfrm>
            <a:off x="940557" y="3021069"/>
            <a:ext cx="630335" cy="307777"/>
          </a:xfrm>
          <a:prstGeom prst="rect">
            <a:avLst/>
          </a:prstGeom>
          <a:noFill/>
        </p:spPr>
        <p:txBody>
          <a:bodyPr wrap="square" rtlCol="0">
            <a:spAutoFit/>
          </a:bodyPr>
          <a:lstStyle/>
          <a:p>
            <a:r>
              <a:rPr lang="en-US" altLang="zh-CN" sz="1400" dirty="0"/>
              <a:t>Task 3</a:t>
            </a:r>
            <a:endParaRPr lang="zh-CN" altLang="en-US" sz="1400" dirty="0"/>
          </a:p>
        </p:txBody>
      </p:sp>
      <p:sp>
        <p:nvSpPr>
          <p:cNvPr id="24" name="文本框 23"/>
          <p:cNvSpPr txBox="1"/>
          <p:nvPr/>
        </p:nvSpPr>
        <p:spPr>
          <a:xfrm>
            <a:off x="1473398" y="3021069"/>
            <a:ext cx="630335" cy="307777"/>
          </a:xfrm>
          <a:prstGeom prst="rect">
            <a:avLst/>
          </a:prstGeom>
          <a:noFill/>
        </p:spPr>
        <p:txBody>
          <a:bodyPr wrap="square" rtlCol="0">
            <a:spAutoFit/>
          </a:bodyPr>
          <a:lstStyle/>
          <a:p>
            <a:r>
              <a:rPr lang="en-US" altLang="zh-CN" sz="1400" dirty="0"/>
              <a:t>Task 5</a:t>
            </a:r>
            <a:endParaRPr lang="zh-CN" altLang="en-US" sz="1400" dirty="0"/>
          </a:p>
        </p:txBody>
      </p:sp>
      <p:sp>
        <p:nvSpPr>
          <p:cNvPr id="25" name="文本框 24"/>
          <p:cNvSpPr txBox="1"/>
          <p:nvPr/>
        </p:nvSpPr>
        <p:spPr>
          <a:xfrm>
            <a:off x="1985216" y="3021069"/>
            <a:ext cx="630335" cy="307777"/>
          </a:xfrm>
          <a:prstGeom prst="rect">
            <a:avLst/>
          </a:prstGeom>
          <a:noFill/>
        </p:spPr>
        <p:txBody>
          <a:bodyPr wrap="square" rtlCol="0">
            <a:spAutoFit/>
          </a:bodyPr>
          <a:lstStyle/>
          <a:p>
            <a:r>
              <a:rPr lang="en-US" altLang="zh-CN" sz="1400" dirty="0"/>
              <a:t>Task 4</a:t>
            </a:r>
            <a:endParaRPr lang="zh-CN" altLang="en-US" sz="1400" dirty="0"/>
          </a:p>
        </p:txBody>
      </p:sp>
      <p:sp>
        <p:nvSpPr>
          <p:cNvPr id="26" name="矩形 25"/>
          <p:cNvSpPr/>
          <p:nvPr/>
        </p:nvSpPr>
        <p:spPr>
          <a:xfrm>
            <a:off x="6880896" y="3277810"/>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8943972" y="3277810"/>
            <a:ext cx="541137" cy="121794"/>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7468325" y="3277810"/>
            <a:ext cx="372635" cy="12179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8589420" y="3277810"/>
            <a:ext cx="268941" cy="121794"/>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921475" y="3277810"/>
            <a:ext cx="587429" cy="12179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6779297" y="3021069"/>
            <a:ext cx="630335" cy="307777"/>
          </a:xfrm>
          <a:prstGeom prst="rect">
            <a:avLst/>
          </a:prstGeom>
          <a:noFill/>
        </p:spPr>
        <p:txBody>
          <a:bodyPr wrap="square" rtlCol="0">
            <a:spAutoFit/>
          </a:bodyPr>
          <a:lstStyle/>
          <a:p>
            <a:r>
              <a:rPr lang="en-US" altLang="zh-CN" sz="1400" dirty="0"/>
              <a:t>Task 1</a:t>
            </a:r>
            <a:endParaRPr lang="zh-CN" altLang="en-US" sz="1400" dirty="0"/>
          </a:p>
        </p:txBody>
      </p:sp>
      <p:sp>
        <p:nvSpPr>
          <p:cNvPr id="32" name="文本框 31"/>
          <p:cNvSpPr txBox="1"/>
          <p:nvPr/>
        </p:nvSpPr>
        <p:spPr>
          <a:xfrm>
            <a:off x="8936170" y="3021069"/>
            <a:ext cx="630335" cy="307777"/>
          </a:xfrm>
          <a:prstGeom prst="rect">
            <a:avLst/>
          </a:prstGeom>
          <a:noFill/>
        </p:spPr>
        <p:txBody>
          <a:bodyPr wrap="square" rtlCol="0">
            <a:spAutoFit/>
          </a:bodyPr>
          <a:lstStyle/>
          <a:p>
            <a:r>
              <a:rPr lang="en-US" altLang="zh-CN" sz="1400" dirty="0"/>
              <a:t>Task 2</a:t>
            </a:r>
            <a:endParaRPr lang="zh-CN" altLang="en-US" sz="1400" dirty="0"/>
          </a:p>
        </p:txBody>
      </p:sp>
      <p:sp>
        <p:nvSpPr>
          <p:cNvPr id="33" name="文本框 32"/>
          <p:cNvSpPr txBox="1"/>
          <p:nvPr/>
        </p:nvSpPr>
        <p:spPr>
          <a:xfrm>
            <a:off x="7381676" y="3021069"/>
            <a:ext cx="630335" cy="307777"/>
          </a:xfrm>
          <a:prstGeom prst="rect">
            <a:avLst/>
          </a:prstGeom>
          <a:noFill/>
        </p:spPr>
        <p:txBody>
          <a:bodyPr wrap="square" rtlCol="0">
            <a:spAutoFit/>
          </a:bodyPr>
          <a:lstStyle/>
          <a:p>
            <a:r>
              <a:rPr lang="en-US" altLang="zh-CN" sz="1400" dirty="0"/>
              <a:t>Task 3</a:t>
            </a:r>
            <a:endParaRPr lang="zh-CN" altLang="en-US" sz="1400" dirty="0"/>
          </a:p>
        </p:txBody>
      </p:sp>
      <p:sp>
        <p:nvSpPr>
          <p:cNvPr id="34" name="文本框 33"/>
          <p:cNvSpPr txBox="1"/>
          <p:nvPr/>
        </p:nvSpPr>
        <p:spPr>
          <a:xfrm>
            <a:off x="7881276" y="3021069"/>
            <a:ext cx="630335" cy="307777"/>
          </a:xfrm>
          <a:prstGeom prst="rect">
            <a:avLst/>
          </a:prstGeom>
          <a:noFill/>
        </p:spPr>
        <p:txBody>
          <a:bodyPr wrap="square" rtlCol="0">
            <a:spAutoFit/>
          </a:bodyPr>
          <a:lstStyle/>
          <a:p>
            <a:r>
              <a:rPr lang="en-US" altLang="zh-CN" sz="1400" dirty="0"/>
              <a:t>Task 5</a:t>
            </a:r>
            <a:endParaRPr lang="zh-CN" altLang="en-US" sz="1400" dirty="0"/>
          </a:p>
        </p:txBody>
      </p:sp>
      <p:sp>
        <p:nvSpPr>
          <p:cNvPr id="35" name="文本框 34"/>
          <p:cNvSpPr txBox="1"/>
          <p:nvPr/>
        </p:nvSpPr>
        <p:spPr>
          <a:xfrm>
            <a:off x="8393094" y="3021069"/>
            <a:ext cx="630335" cy="307777"/>
          </a:xfrm>
          <a:prstGeom prst="rect">
            <a:avLst/>
          </a:prstGeom>
          <a:noFill/>
        </p:spPr>
        <p:txBody>
          <a:bodyPr wrap="square" rtlCol="0">
            <a:spAutoFit/>
          </a:bodyPr>
          <a:lstStyle/>
          <a:p>
            <a:r>
              <a:rPr lang="en-US" altLang="zh-CN" sz="1400" dirty="0"/>
              <a:t>Task 4</a:t>
            </a:r>
            <a:endParaRPr lang="zh-CN" altLang="en-US" sz="1400" dirty="0"/>
          </a:p>
        </p:txBody>
      </p:sp>
      <p:cxnSp>
        <p:nvCxnSpPr>
          <p:cNvPr id="37" name="直接箭头连接符 36"/>
          <p:cNvCxnSpPr/>
          <p:nvPr/>
        </p:nvCxnSpPr>
        <p:spPr>
          <a:xfrm>
            <a:off x="7431051" y="2938935"/>
            <a:ext cx="0" cy="378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016645" y="2713292"/>
            <a:ext cx="2197895" cy="307777"/>
          </a:xfrm>
          <a:prstGeom prst="rect">
            <a:avLst/>
          </a:prstGeom>
          <a:noFill/>
        </p:spPr>
        <p:txBody>
          <a:bodyPr wrap="square" rtlCol="0">
            <a:spAutoFit/>
          </a:bodyPr>
          <a:lstStyle/>
          <a:p>
            <a:r>
              <a:rPr lang="en-US" altLang="zh-CN" sz="1400" dirty="0">
                <a:solidFill>
                  <a:srgbClr val="FF0000"/>
                </a:solidFill>
              </a:rPr>
              <a:t>AGV </a:t>
            </a:r>
            <a:r>
              <a:rPr lang="zh-CN" altLang="en-US" sz="1400" dirty="0">
                <a:solidFill>
                  <a:srgbClr val="FF0000"/>
                </a:solidFill>
              </a:rPr>
              <a:t>退出</a:t>
            </a:r>
            <a:r>
              <a:rPr lang="en-US" altLang="zh-CN" sz="1400" dirty="0">
                <a:solidFill>
                  <a:srgbClr val="FF0000"/>
                </a:solidFill>
              </a:rPr>
              <a:t>‘</a:t>
            </a:r>
            <a:r>
              <a:rPr lang="zh-CN" altLang="en-US" sz="1400" dirty="0">
                <a:solidFill>
                  <a:srgbClr val="FF0000"/>
                </a:solidFill>
              </a:rPr>
              <a:t>扰动</a:t>
            </a:r>
            <a:r>
              <a:rPr lang="en-US" altLang="zh-CN" sz="1400" dirty="0">
                <a:solidFill>
                  <a:srgbClr val="FF0000"/>
                </a:solidFill>
              </a:rPr>
              <a:t>’</a:t>
            </a:r>
            <a:endParaRPr lang="zh-CN" altLang="en-US" sz="1400" dirty="0"/>
          </a:p>
        </p:txBody>
      </p:sp>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326" y="3851432"/>
            <a:ext cx="834390" cy="834390"/>
          </a:xfrm>
          <a:prstGeom prst="rect">
            <a:avLst/>
          </a:prstGeom>
        </p:spPr>
      </p:pic>
      <p:pic>
        <p:nvPicPr>
          <p:cNvPr id="41" name="图片 4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30934" y="3845080"/>
            <a:ext cx="834390" cy="834390"/>
          </a:xfrm>
          <a:prstGeom prst="rect">
            <a:avLst/>
          </a:prstGeom>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542" y="3851432"/>
            <a:ext cx="834390" cy="834390"/>
          </a:xfrm>
          <a:prstGeom prst="rect">
            <a:avLst/>
          </a:prstGeom>
        </p:spPr>
      </p:pic>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281" y="4228576"/>
            <a:ext cx="456806" cy="306230"/>
          </a:xfrm>
          <a:prstGeom prst="rect">
            <a:avLst/>
          </a:prstGeom>
        </p:spPr>
      </p:pic>
      <p:pic>
        <p:nvPicPr>
          <p:cNvPr id="44" name="图片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620" y="4228576"/>
            <a:ext cx="456806" cy="306230"/>
          </a:xfrm>
          <a:prstGeom prst="rect">
            <a:avLst/>
          </a:prstGeom>
        </p:spPr>
      </p:pic>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4578" y="4228576"/>
            <a:ext cx="456806" cy="306230"/>
          </a:xfrm>
          <a:prstGeom prst="rect">
            <a:avLst/>
          </a:prstGeom>
        </p:spPr>
      </p:pic>
      <p:cxnSp>
        <p:nvCxnSpPr>
          <p:cNvPr id="49" name="直接箭头连接符 48"/>
          <p:cNvCxnSpPr>
            <a:stCxn id="16" idx="2"/>
            <a:endCxn id="43" idx="0"/>
          </p:cNvCxnSpPr>
          <p:nvPr/>
        </p:nvCxnSpPr>
        <p:spPr>
          <a:xfrm flipH="1">
            <a:off x="526684" y="3399604"/>
            <a:ext cx="198942" cy="828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6" idx="2"/>
          </p:cNvCxnSpPr>
          <p:nvPr/>
        </p:nvCxnSpPr>
        <p:spPr>
          <a:xfrm>
            <a:off x="725626" y="3399604"/>
            <a:ext cx="1227499" cy="758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18" idx="2"/>
            <a:endCxn id="44" idx="0"/>
          </p:cNvCxnSpPr>
          <p:nvPr/>
        </p:nvCxnSpPr>
        <p:spPr>
          <a:xfrm flipH="1">
            <a:off x="961023" y="3399604"/>
            <a:ext cx="285742" cy="828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18" idx="2"/>
          </p:cNvCxnSpPr>
          <p:nvPr/>
        </p:nvCxnSpPr>
        <p:spPr>
          <a:xfrm>
            <a:off x="1246765" y="3399604"/>
            <a:ext cx="1273752" cy="706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20" idx="2"/>
          </p:cNvCxnSpPr>
          <p:nvPr/>
        </p:nvCxnSpPr>
        <p:spPr>
          <a:xfrm>
            <a:off x="1807312" y="3399604"/>
            <a:ext cx="1141716" cy="67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20" idx="2"/>
            <a:endCxn id="45" idx="0"/>
          </p:cNvCxnSpPr>
          <p:nvPr/>
        </p:nvCxnSpPr>
        <p:spPr>
          <a:xfrm flipH="1">
            <a:off x="1402981" y="3399604"/>
            <a:ext cx="404331" cy="828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19" idx="2"/>
          </p:cNvCxnSpPr>
          <p:nvPr/>
        </p:nvCxnSpPr>
        <p:spPr>
          <a:xfrm flipH="1">
            <a:off x="668287" y="3399604"/>
            <a:ext cx="1647726" cy="82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19" idx="2"/>
          </p:cNvCxnSpPr>
          <p:nvPr/>
        </p:nvCxnSpPr>
        <p:spPr>
          <a:xfrm>
            <a:off x="2316013" y="3399604"/>
            <a:ext cx="236069" cy="67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17" idx="2"/>
          </p:cNvCxnSpPr>
          <p:nvPr/>
        </p:nvCxnSpPr>
        <p:spPr>
          <a:xfrm flipH="1">
            <a:off x="1103388" y="3399604"/>
            <a:ext cx="1703275" cy="82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17" idx="2"/>
          </p:cNvCxnSpPr>
          <p:nvPr/>
        </p:nvCxnSpPr>
        <p:spPr>
          <a:xfrm flipH="1">
            <a:off x="2629877" y="3399604"/>
            <a:ext cx="176786" cy="67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左大括号 80"/>
          <p:cNvSpPr/>
          <p:nvPr/>
        </p:nvSpPr>
        <p:spPr>
          <a:xfrm rot="5400000">
            <a:off x="4908205" y="-2013630"/>
            <a:ext cx="251460" cy="9325031"/>
          </a:xfrm>
          <a:prstGeom prst="leftBrace">
            <a:avLst>
              <a:gd name="adj1" fmla="val 41161"/>
              <a:gd name="adj2" fmla="val 50000"/>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矩形 98"/>
          <p:cNvSpPr/>
          <p:nvPr/>
        </p:nvSpPr>
        <p:spPr>
          <a:xfrm>
            <a:off x="3557141" y="3277810"/>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矩形 99"/>
          <p:cNvSpPr/>
          <p:nvPr/>
        </p:nvSpPr>
        <p:spPr>
          <a:xfrm>
            <a:off x="5620217" y="3980359"/>
            <a:ext cx="541137" cy="121794"/>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p:cNvSpPr/>
          <p:nvPr/>
        </p:nvSpPr>
        <p:spPr>
          <a:xfrm>
            <a:off x="4144570" y="3277810"/>
            <a:ext cx="372635" cy="12179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p:cNvSpPr/>
          <p:nvPr/>
        </p:nvSpPr>
        <p:spPr>
          <a:xfrm>
            <a:off x="5265665" y="3980359"/>
            <a:ext cx="268941" cy="121794"/>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p:cNvSpPr/>
          <p:nvPr/>
        </p:nvSpPr>
        <p:spPr>
          <a:xfrm>
            <a:off x="4597720" y="3277810"/>
            <a:ext cx="587429" cy="12179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p:cNvSpPr txBox="1"/>
          <p:nvPr/>
        </p:nvSpPr>
        <p:spPr>
          <a:xfrm>
            <a:off x="3455542" y="3021069"/>
            <a:ext cx="630335" cy="307777"/>
          </a:xfrm>
          <a:prstGeom prst="rect">
            <a:avLst/>
          </a:prstGeom>
          <a:noFill/>
        </p:spPr>
        <p:txBody>
          <a:bodyPr wrap="square" rtlCol="0">
            <a:spAutoFit/>
          </a:bodyPr>
          <a:lstStyle/>
          <a:p>
            <a:r>
              <a:rPr lang="en-US" altLang="zh-CN" sz="1400" dirty="0"/>
              <a:t>Task 1</a:t>
            </a:r>
            <a:endParaRPr lang="zh-CN" altLang="en-US" sz="1400" dirty="0"/>
          </a:p>
        </p:txBody>
      </p:sp>
      <p:sp>
        <p:nvSpPr>
          <p:cNvPr id="105" name="文本框 104"/>
          <p:cNvSpPr txBox="1"/>
          <p:nvPr/>
        </p:nvSpPr>
        <p:spPr>
          <a:xfrm>
            <a:off x="5612415" y="3723618"/>
            <a:ext cx="630335" cy="307777"/>
          </a:xfrm>
          <a:prstGeom prst="rect">
            <a:avLst/>
          </a:prstGeom>
          <a:noFill/>
        </p:spPr>
        <p:txBody>
          <a:bodyPr wrap="square" rtlCol="0">
            <a:spAutoFit/>
          </a:bodyPr>
          <a:lstStyle/>
          <a:p>
            <a:r>
              <a:rPr lang="en-US" altLang="zh-CN" sz="1400" dirty="0"/>
              <a:t>Task 2</a:t>
            </a:r>
            <a:endParaRPr lang="zh-CN" altLang="en-US" sz="1400" dirty="0"/>
          </a:p>
        </p:txBody>
      </p:sp>
      <p:sp>
        <p:nvSpPr>
          <p:cNvPr id="106" name="文本框 105"/>
          <p:cNvSpPr txBox="1"/>
          <p:nvPr/>
        </p:nvSpPr>
        <p:spPr>
          <a:xfrm>
            <a:off x="4024680" y="3021069"/>
            <a:ext cx="630335" cy="307777"/>
          </a:xfrm>
          <a:prstGeom prst="rect">
            <a:avLst/>
          </a:prstGeom>
          <a:noFill/>
        </p:spPr>
        <p:txBody>
          <a:bodyPr wrap="square" rtlCol="0">
            <a:spAutoFit/>
          </a:bodyPr>
          <a:lstStyle/>
          <a:p>
            <a:r>
              <a:rPr lang="en-US" altLang="zh-CN" sz="1400" dirty="0"/>
              <a:t>Task 3</a:t>
            </a:r>
            <a:endParaRPr lang="zh-CN" altLang="en-US" sz="1400" dirty="0"/>
          </a:p>
        </p:txBody>
      </p:sp>
      <p:sp>
        <p:nvSpPr>
          <p:cNvPr id="107" name="文本框 106"/>
          <p:cNvSpPr txBox="1"/>
          <p:nvPr/>
        </p:nvSpPr>
        <p:spPr>
          <a:xfrm>
            <a:off x="4557521" y="3021069"/>
            <a:ext cx="630335" cy="307777"/>
          </a:xfrm>
          <a:prstGeom prst="rect">
            <a:avLst/>
          </a:prstGeom>
          <a:noFill/>
        </p:spPr>
        <p:txBody>
          <a:bodyPr wrap="square" rtlCol="0">
            <a:spAutoFit/>
          </a:bodyPr>
          <a:lstStyle/>
          <a:p>
            <a:r>
              <a:rPr lang="en-US" altLang="zh-CN" sz="1400" dirty="0"/>
              <a:t>Task 5</a:t>
            </a:r>
            <a:endParaRPr lang="zh-CN" altLang="en-US" sz="1400" dirty="0"/>
          </a:p>
        </p:txBody>
      </p:sp>
      <p:sp>
        <p:nvSpPr>
          <p:cNvPr id="108" name="文本框 107"/>
          <p:cNvSpPr txBox="1"/>
          <p:nvPr/>
        </p:nvSpPr>
        <p:spPr>
          <a:xfrm>
            <a:off x="5069339" y="3723618"/>
            <a:ext cx="630335" cy="307777"/>
          </a:xfrm>
          <a:prstGeom prst="rect">
            <a:avLst/>
          </a:prstGeom>
          <a:noFill/>
        </p:spPr>
        <p:txBody>
          <a:bodyPr wrap="square" rtlCol="0">
            <a:spAutoFit/>
          </a:bodyPr>
          <a:lstStyle/>
          <a:p>
            <a:r>
              <a:rPr lang="en-US" altLang="zh-CN" sz="1400" dirty="0"/>
              <a:t>Task 4</a:t>
            </a:r>
            <a:endParaRPr lang="zh-CN" altLang="en-US" sz="1400" dirty="0"/>
          </a:p>
        </p:txBody>
      </p:sp>
      <p:sp>
        <p:nvSpPr>
          <p:cNvPr id="109" name="圆角矩形 108"/>
          <p:cNvSpPr/>
          <p:nvPr/>
        </p:nvSpPr>
        <p:spPr>
          <a:xfrm>
            <a:off x="3455542" y="3024118"/>
            <a:ext cx="1810123" cy="473906"/>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p:cNvSpPr txBox="1"/>
          <p:nvPr/>
        </p:nvSpPr>
        <p:spPr>
          <a:xfrm>
            <a:off x="3386205" y="2729183"/>
            <a:ext cx="2726825" cy="307777"/>
          </a:xfrm>
          <a:prstGeom prst="rect">
            <a:avLst/>
          </a:prstGeom>
          <a:noFill/>
        </p:spPr>
        <p:txBody>
          <a:bodyPr wrap="square" rtlCol="0">
            <a:spAutoFit/>
          </a:bodyPr>
          <a:lstStyle/>
          <a:p>
            <a:r>
              <a:rPr lang="zh-CN" altLang="en-US" sz="1400" dirty="0"/>
              <a:t>第一批任务分配</a:t>
            </a:r>
          </a:p>
        </p:txBody>
      </p:sp>
      <p:sp>
        <p:nvSpPr>
          <p:cNvPr id="111" name="圆角矩形 110"/>
          <p:cNvSpPr/>
          <p:nvPr/>
        </p:nvSpPr>
        <p:spPr>
          <a:xfrm>
            <a:off x="5125352" y="3752894"/>
            <a:ext cx="1364788" cy="475682"/>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p:cNvSpPr txBox="1"/>
          <p:nvPr/>
        </p:nvSpPr>
        <p:spPr>
          <a:xfrm>
            <a:off x="5069339" y="3478704"/>
            <a:ext cx="2019407" cy="307777"/>
          </a:xfrm>
          <a:prstGeom prst="rect">
            <a:avLst/>
          </a:prstGeom>
          <a:noFill/>
        </p:spPr>
        <p:txBody>
          <a:bodyPr wrap="square" rtlCol="0">
            <a:spAutoFit/>
          </a:bodyPr>
          <a:lstStyle/>
          <a:p>
            <a:r>
              <a:rPr lang="zh-CN" altLang="en-US" sz="1400" dirty="0"/>
              <a:t>第二批任务分配</a:t>
            </a:r>
          </a:p>
        </p:txBody>
      </p:sp>
      <p:sp>
        <p:nvSpPr>
          <p:cNvPr id="113" name="矩形 112"/>
          <p:cNvSpPr/>
          <p:nvPr/>
        </p:nvSpPr>
        <p:spPr>
          <a:xfrm>
            <a:off x="8597221" y="3990791"/>
            <a:ext cx="541137" cy="121794"/>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7468325" y="3990791"/>
            <a:ext cx="372635" cy="12179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9401083" y="3981898"/>
            <a:ext cx="268941" cy="121794"/>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p:cNvSpPr/>
          <p:nvPr/>
        </p:nvSpPr>
        <p:spPr>
          <a:xfrm>
            <a:off x="7921475" y="3990791"/>
            <a:ext cx="587429" cy="12179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116"/>
          <p:cNvSpPr txBox="1"/>
          <p:nvPr/>
        </p:nvSpPr>
        <p:spPr>
          <a:xfrm>
            <a:off x="8589419" y="3734050"/>
            <a:ext cx="630335" cy="307777"/>
          </a:xfrm>
          <a:prstGeom prst="rect">
            <a:avLst/>
          </a:prstGeom>
          <a:noFill/>
        </p:spPr>
        <p:txBody>
          <a:bodyPr wrap="square" rtlCol="0">
            <a:spAutoFit/>
          </a:bodyPr>
          <a:lstStyle/>
          <a:p>
            <a:r>
              <a:rPr lang="en-US" altLang="zh-CN" sz="1400" dirty="0"/>
              <a:t>Task 2</a:t>
            </a:r>
            <a:endParaRPr lang="zh-CN" altLang="en-US" sz="1400" dirty="0"/>
          </a:p>
        </p:txBody>
      </p:sp>
      <p:sp>
        <p:nvSpPr>
          <p:cNvPr id="118" name="文本框 117"/>
          <p:cNvSpPr txBox="1"/>
          <p:nvPr/>
        </p:nvSpPr>
        <p:spPr>
          <a:xfrm>
            <a:off x="7381676" y="3734050"/>
            <a:ext cx="630335" cy="307777"/>
          </a:xfrm>
          <a:prstGeom prst="rect">
            <a:avLst/>
          </a:prstGeom>
          <a:noFill/>
        </p:spPr>
        <p:txBody>
          <a:bodyPr wrap="square" rtlCol="0">
            <a:spAutoFit/>
          </a:bodyPr>
          <a:lstStyle/>
          <a:p>
            <a:r>
              <a:rPr lang="en-US" altLang="zh-CN" sz="1400" dirty="0"/>
              <a:t>Task 3</a:t>
            </a:r>
            <a:endParaRPr lang="zh-CN" altLang="en-US" sz="1400" dirty="0"/>
          </a:p>
        </p:txBody>
      </p:sp>
      <p:sp>
        <p:nvSpPr>
          <p:cNvPr id="119" name="文本框 118"/>
          <p:cNvSpPr txBox="1"/>
          <p:nvPr/>
        </p:nvSpPr>
        <p:spPr>
          <a:xfrm>
            <a:off x="7881276" y="3734050"/>
            <a:ext cx="630335" cy="307777"/>
          </a:xfrm>
          <a:prstGeom prst="rect">
            <a:avLst/>
          </a:prstGeom>
          <a:noFill/>
        </p:spPr>
        <p:txBody>
          <a:bodyPr wrap="square" rtlCol="0">
            <a:spAutoFit/>
          </a:bodyPr>
          <a:lstStyle/>
          <a:p>
            <a:r>
              <a:rPr lang="en-US" altLang="zh-CN" sz="1400" dirty="0"/>
              <a:t>Task 5</a:t>
            </a:r>
            <a:endParaRPr lang="zh-CN" altLang="en-US" sz="1400" dirty="0"/>
          </a:p>
        </p:txBody>
      </p:sp>
      <p:sp>
        <p:nvSpPr>
          <p:cNvPr id="120" name="文本框 119"/>
          <p:cNvSpPr txBox="1"/>
          <p:nvPr/>
        </p:nvSpPr>
        <p:spPr>
          <a:xfrm>
            <a:off x="9204757" y="3725157"/>
            <a:ext cx="630335" cy="307777"/>
          </a:xfrm>
          <a:prstGeom prst="rect">
            <a:avLst/>
          </a:prstGeom>
          <a:noFill/>
        </p:spPr>
        <p:txBody>
          <a:bodyPr wrap="square" rtlCol="0">
            <a:spAutoFit/>
          </a:bodyPr>
          <a:lstStyle/>
          <a:p>
            <a:r>
              <a:rPr lang="en-US" altLang="zh-CN" sz="1400" dirty="0"/>
              <a:t>Task 4</a:t>
            </a:r>
            <a:endParaRPr lang="zh-CN" altLang="en-US" sz="1400" dirty="0"/>
          </a:p>
        </p:txBody>
      </p:sp>
      <p:sp>
        <p:nvSpPr>
          <p:cNvPr id="121" name="圆角矩形 120"/>
          <p:cNvSpPr/>
          <p:nvPr/>
        </p:nvSpPr>
        <p:spPr>
          <a:xfrm>
            <a:off x="7381676" y="3729130"/>
            <a:ext cx="2453416" cy="473906"/>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文本框 121"/>
          <p:cNvSpPr txBox="1"/>
          <p:nvPr/>
        </p:nvSpPr>
        <p:spPr>
          <a:xfrm>
            <a:off x="7344848" y="3478704"/>
            <a:ext cx="2726825" cy="307777"/>
          </a:xfrm>
          <a:prstGeom prst="rect">
            <a:avLst/>
          </a:prstGeom>
          <a:noFill/>
        </p:spPr>
        <p:txBody>
          <a:bodyPr wrap="square" rtlCol="0">
            <a:spAutoFit/>
          </a:bodyPr>
          <a:lstStyle/>
          <a:p>
            <a:r>
              <a:rPr lang="zh-CN" altLang="en-US" sz="1400" dirty="0"/>
              <a:t>局部最优重调度</a:t>
            </a:r>
          </a:p>
        </p:txBody>
      </p:sp>
      <p:sp>
        <p:nvSpPr>
          <p:cNvPr id="125" name="文本框 124"/>
          <p:cNvSpPr txBox="1"/>
          <p:nvPr/>
        </p:nvSpPr>
        <p:spPr>
          <a:xfrm>
            <a:off x="6132513" y="3853587"/>
            <a:ext cx="527516" cy="307777"/>
          </a:xfrm>
          <a:prstGeom prst="rect">
            <a:avLst/>
          </a:prstGeom>
          <a:noFill/>
        </p:spPr>
        <p:txBody>
          <a:bodyPr wrap="square" rtlCol="0">
            <a:spAutoFit/>
          </a:bodyPr>
          <a:lstStyle/>
          <a:p>
            <a:r>
              <a:rPr lang="en-US" altLang="zh-CN" sz="1400" dirty="0"/>
              <a:t>……</a:t>
            </a:r>
            <a:endParaRPr lang="zh-CN" altLang="en-US" sz="1400" dirty="0"/>
          </a:p>
        </p:txBody>
      </p:sp>
      <p:pic>
        <p:nvPicPr>
          <p:cNvPr id="127" name="图片 1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85358" y="4262275"/>
            <a:ext cx="834390" cy="834390"/>
          </a:xfrm>
          <a:prstGeom prst="rect">
            <a:avLst/>
          </a:prstGeom>
        </p:spPr>
      </p:pic>
      <p:pic>
        <p:nvPicPr>
          <p:cNvPr id="128" name="图片 1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68966" y="4255923"/>
            <a:ext cx="834390" cy="834390"/>
          </a:xfrm>
          <a:prstGeom prst="rect">
            <a:avLst/>
          </a:prstGeom>
        </p:spPr>
      </p:pic>
      <p:pic>
        <p:nvPicPr>
          <p:cNvPr id="129" name="图片 1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2574" y="4262275"/>
            <a:ext cx="834390" cy="834390"/>
          </a:xfrm>
          <a:prstGeom prst="rect">
            <a:avLst/>
          </a:prstGeom>
        </p:spPr>
      </p:pic>
      <p:pic>
        <p:nvPicPr>
          <p:cNvPr id="130" name="图片 1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36313" y="4639419"/>
            <a:ext cx="456806" cy="306230"/>
          </a:xfrm>
          <a:prstGeom prst="rect">
            <a:avLst/>
          </a:prstGeom>
        </p:spPr>
      </p:pic>
      <p:pic>
        <p:nvPicPr>
          <p:cNvPr id="131" name="图片 1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0652" y="4639419"/>
            <a:ext cx="456806" cy="306230"/>
          </a:xfrm>
          <a:prstGeom prst="rect">
            <a:avLst/>
          </a:prstGeom>
        </p:spPr>
      </p:pic>
      <p:pic>
        <p:nvPicPr>
          <p:cNvPr id="132" name="图片 1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12610" y="4639419"/>
            <a:ext cx="456806" cy="306230"/>
          </a:xfrm>
          <a:prstGeom prst="rect">
            <a:avLst/>
          </a:prstGeom>
        </p:spPr>
      </p:pic>
      <p:cxnSp>
        <p:nvCxnSpPr>
          <p:cNvPr id="139" name="直接箭头连接符 138"/>
          <p:cNvCxnSpPr>
            <a:stCxn id="115" idx="2"/>
          </p:cNvCxnSpPr>
          <p:nvPr/>
        </p:nvCxnSpPr>
        <p:spPr>
          <a:xfrm flipH="1">
            <a:off x="7927609" y="4103692"/>
            <a:ext cx="1607945" cy="49648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a:stCxn id="115" idx="2"/>
          </p:cNvCxnSpPr>
          <p:nvPr/>
        </p:nvCxnSpPr>
        <p:spPr>
          <a:xfrm>
            <a:off x="9535554" y="4103692"/>
            <a:ext cx="150607" cy="45616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a:endCxn id="132" idx="0"/>
          </p:cNvCxnSpPr>
          <p:nvPr/>
        </p:nvCxnSpPr>
        <p:spPr>
          <a:xfrm flipH="1">
            <a:off x="8641013" y="4112585"/>
            <a:ext cx="938650" cy="526834"/>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p:nvPr/>
        </p:nvCxnSpPr>
        <p:spPr>
          <a:xfrm flipH="1">
            <a:off x="9175186" y="4103219"/>
            <a:ext cx="417091" cy="441545"/>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50" name="乘号 149"/>
          <p:cNvSpPr/>
          <p:nvPr/>
        </p:nvSpPr>
        <p:spPr>
          <a:xfrm>
            <a:off x="9494803" y="4234091"/>
            <a:ext cx="232108" cy="232108"/>
          </a:xfrm>
          <a:prstGeom prst="mathMultiply">
            <a:avLst>
              <a:gd name="adj1" fmla="val 1425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乘号 157"/>
          <p:cNvSpPr/>
          <p:nvPr/>
        </p:nvSpPr>
        <p:spPr>
          <a:xfrm>
            <a:off x="8618122" y="4234091"/>
            <a:ext cx="232108" cy="232108"/>
          </a:xfrm>
          <a:prstGeom prst="mathMultiply">
            <a:avLst>
              <a:gd name="adj1" fmla="val 1425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文本框 159"/>
          <p:cNvSpPr txBox="1"/>
          <p:nvPr/>
        </p:nvSpPr>
        <p:spPr>
          <a:xfrm>
            <a:off x="6877190" y="4251415"/>
            <a:ext cx="1793510" cy="307777"/>
          </a:xfrm>
          <a:prstGeom prst="rect">
            <a:avLst/>
          </a:prstGeom>
          <a:noFill/>
        </p:spPr>
        <p:txBody>
          <a:bodyPr wrap="square" rtlCol="0">
            <a:spAutoFit/>
          </a:bodyPr>
          <a:lstStyle/>
          <a:p>
            <a:r>
              <a:rPr lang="zh-CN" altLang="en-US" sz="1400" dirty="0"/>
              <a:t>资源重新分配</a:t>
            </a:r>
          </a:p>
        </p:txBody>
      </p:sp>
      <p:sp>
        <p:nvSpPr>
          <p:cNvPr id="161" name="文本框 160"/>
          <p:cNvSpPr txBox="1"/>
          <p:nvPr/>
        </p:nvSpPr>
        <p:spPr>
          <a:xfrm>
            <a:off x="6056456" y="5063987"/>
            <a:ext cx="1284287" cy="307777"/>
          </a:xfrm>
          <a:prstGeom prst="rect">
            <a:avLst/>
          </a:prstGeom>
          <a:noFill/>
        </p:spPr>
        <p:txBody>
          <a:bodyPr wrap="square" rtlCol="0">
            <a:spAutoFit/>
          </a:bodyPr>
          <a:lstStyle/>
          <a:p>
            <a:r>
              <a:rPr lang="zh-CN" altLang="en-US" sz="1400" dirty="0"/>
              <a:t>新的任务顺序：</a:t>
            </a:r>
          </a:p>
        </p:txBody>
      </p:sp>
      <p:sp>
        <p:nvSpPr>
          <p:cNvPr id="162" name="矩形 161"/>
          <p:cNvSpPr/>
          <p:nvPr/>
        </p:nvSpPr>
        <p:spPr>
          <a:xfrm>
            <a:off x="9097384" y="5239706"/>
            <a:ext cx="541137" cy="121794"/>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7968488" y="5239706"/>
            <a:ext cx="372635" cy="121794"/>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矩形 163"/>
          <p:cNvSpPr/>
          <p:nvPr/>
        </p:nvSpPr>
        <p:spPr>
          <a:xfrm>
            <a:off x="9901246" y="5230813"/>
            <a:ext cx="268941" cy="121794"/>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a:off x="8421638" y="5239706"/>
            <a:ext cx="587429" cy="12179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p:cNvSpPr txBox="1"/>
          <p:nvPr/>
        </p:nvSpPr>
        <p:spPr>
          <a:xfrm>
            <a:off x="9089582" y="4982965"/>
            <a:ext cx="630335" cy="307777"/>
          </a:xfrm>
          <a:prstGeom prst="rect">
            <a:avLst/>
          </a:prstGeom>
          <a:noFill/>
        </p:spPr>
        <p:txBody>
          <a:bodyPr wrap="square" rtlCol="0">
            <a:spAutoFit/>
          </a:bodyPr>
          <a:lstStyle/>
          <a:p>
            <a:r>
              <a:rPr lang="en-US" altLang="zh-CN" sz="1400" dirty="0"/>
              <a:t>Task 2</a:t>
            </a:r>
            <a:endParaRPr lang="zh-CN" altLang="en-US" sz="1400" dirty="0"/>
          </a:p>
        </p:txBody>
      </p:sp>
      <p:sp>
        <p:nvSpPr>
          <p:cNvPr id="167" name="文本框 166"/>
          <p:cNvSpPr txBox="1"/>
          <p:nvPr/>
        </p:nvSpPr>
        <p:spPr>
          <a:xfrm>
            <a:off x="7881839" y="4982965"/>
            <a:ext cx="630335" cy="307777"/>
          </a:xfrm>
          <a:prstGeom prst="rect">
            <a:avLst/>
          </a:prstGeom>
          <a:noFill/>
        </p:spPr>
        <p:txBody>
          <a:bodyPr wrap="square" rtlCol="0">
            <a:spAutoFit/>
          </a:bodyPr>
          <a:lstStyle/>
          <a:p>
            <a:r>
              <a:rPr lang="en-US" altLang="zh-CN" sz="1400" dirty="0"/>
              <a:t>Task 3</a:t>
            </a:r>
            <a:endParaRPr lang="zh-CN" altLang="en-US" sz="1400" dirty="0"/>
          </a:p>
        </p:txBody>
      </p:sp>
      <p:sp>
        <p:nvSpPr>
          <p:cNvPr id="168" name="文本框 167"/>
          <p:cNvSpPr txBox="1"/>
          <p:nvPr/>
        </p:nvSpPr>
        <p:spPr>
          <a:xfrm>
            <a:off x="8381439" y="4982965"/>
            <a:ext cx="630335" cy="307777"/>
          </a:xfrm>
          <a:prstGeom prst="rect">
            <a:avLst/>
          </a:prstGeom>
          <a:noFill/>
        </p:spPr>
        <p:txBody>
          <a:bodyPr wrap="square" rtlCol="0">
            <a:spAutoFit/>
          </a:bodyPr>
          <a:lstStyle/>
          <a:p>
            <a:r>
              <a:rPr lang="en-US" altLang="zh-CN" sz="1400" dirty="0"/>
              <a:t>Task 5</a:t>
            </a:r>
            <a:endParaRPr lang="zh-CN" altLang="en-US" sz="1400" dirty="0"/>
          </a:p>
        </p:txBody>
      </p:sp>
      <p:sp>
        <p:nvSpPr>
          <p:cNvPr id="169" name="文本框 168"/>
          <p:cNvSpPr txBox="1"/>
          <p:nvPr/>
        </p:nvSpPr>
        <p:spPr>
          <a:xfrm>
            <a:off x="9704920" y="4974072"/>
            <a:ext cx="630335" cy="307777"/>
          </a:xfrm>
          <a:prstGeom prst="rect">
            <a:avLst/>
          </a:prstGeom>
          <a:noFill/>
        </p:spPr>
        <p:txBody>
          <a:bodyPr wrap="square" rtlCol="0">
            <a:spAutoFit/>
          </a:bodyPr>
          <a:lstStyle/>
          <a:p>
            <a:r>
              <a:rPr lang="en-US" altLang="zh-CN" sz="1400" dirty="0"/>
              <a:t>Task 4</a:t>
            </a:r>
            <a:endParaRPr lang="zh-CN" altLang="en-US" sz="1400" dirty="0"/>
          </a:p>
        </p:txBody>
      </p:sp>
      <p:sp>
        <p:nvSpPr>
          <p:cNvPr id="170" name="矩形 169"/>
          <p:cNvSpPr/>
          <p:nvPr/>
        </p:nvSpPr>
        <p:spPr>
          <a:xfrm>
            <a:off x="7381059" y="5240338"/>
            <a:ext cx="505215" cy="12179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文本框 170"/>
          <p:cNvSpPr txBox="1"/>
          <p:nvPr/>
        </p:nvSpPr>
        <p:spPr>
          <a:xfrm>
            <a:off x="7279460" y="4983597"/>
            <a:ext cx="630335" cy="307777"/>
          </a:xfrm>
          <a:prstGeom prst="rect">
            <a:avLst/>
          </a:prstGeom>
          <a:noFill/>
        </p:spPr>
        <p:txBody>
          <a:bodyPr wrap="square" rtlCol="0">
            <a:spAutoFit/>
          </a:bodyPr>
          <a:lstStyle/>
          <a:p>
            <a:r>
              <a:rPr lang="en-US" altLang="zh-CN" sz="1400" dirty="0"/>
              <a:t>Task 1</a:t>
            </a:r>
            <a:endParaRPr lang="zh-CN" altLang="en-US" sz="1400" dirty="0"/>
          </a:p>
        </p:txBody>
      </p:sp>
      <p:sp>
        <p:nvSpPr>
          <p:cNvPr id="172" name="文本框 171"/>
          <p:cNvSpPr txBox="1"/>
          <p:nvPr/>
        </p:nvSpPr>
        <p:spPr>
          <a:xfrm>
            <a:off x="175524" y="5432750"/>
            <a:ext cx="3683418" cy="369332"/>
          </a:xfrm>
          <a:prstGeom prst="rect">
            <a:avLst/>
          </a:prstGeom>
          <a:noFill/>
        </p:spPr>
        <p:txBody>
          <a:bodyPr wrap="square" rtlCol="0">
            <a:spAutoFit/>
          </a:bodyPr>
          <a:lstStyle/>
          <a:p>
            <a:r>
              <a:rPr lang="en-US" altLang="zh-CN" b="1" dirty="0"/>
              <a:t>①</a:t>
            </a:r>
            <a:r>
              <a:rPr lang="zh-CN" altLang="en-US" b="1" dirty="0"/>
              <a:t>首次全局计算</a:t>
            </a:r>
          </a:p>
        </p:txBody>
      </p:sp>
      <p:sp>
        <p:nvSpPr>
          <p:cNvPr id="173" name="文本框 172"/>
          <p:cNvSpPr txBox="1"/>
          <p:nvPr/>
        </p:nvSpPr>
        <p:spPr>
          <a:xfrm>
            <a:off x="3623253" y="5432750"/>
            <a:ext cx="3683418" cy="369332"/>
          </a:xfrm>
          <a:prstGeom prst="rect">
            <a:avLst/>
          </a:prstGeom>
          <a:noFill/>
        </p:spPr>
        <p:txBody>
          <a:bodyPr wrap="square" rtlCol="0">
            <a:spAutoFit/>
          </a:bodyPr>
          <a:lstStyle/>
          <a:p>
            <a:r>
              <a:rPr lang="en-US" altLang="zh-CN" b="1" dirty="0"/>
              <a:t>②</a:t>
            </a:r>
            <a:r>
              <a:rPr lang="zh-CN" altLang="en-US" b="1" dirty="0"/>
              <a:t>任务分配分段进行</a:t>
            </a:r>
          </a:p>
        </p:txBody>
      </p:sp>
      <p:sp>
        <p:nvSpPr>
          <p:cNvPr id="174" name="文本框 173"/>
          <p:cNvSpPr txBox="1"/>
          <p:nvPr/>
        </p:nvSpPr>
        <p:spPr>
          <a:xfrm>
            <a:off x="6755512" y="5432750"/>
            <a:ext cx="3683418" cy="369332"/>
          </a:xfrm>
          <a:prstGeom prst="rect">
            <a:avLst/>
          </a:prstGeom>
          <a:noFill/>
        </p:spPr>
        <p:txBody>
          <a:bodyPr wrap="square" rtlCol="0">
            <a:spAutoFit/>
          </a:bodyPr>
          <a:lstStyle/>
          <a:p>
            <a:r>
              <a:rPr lang="en-US" altLang="zh-CN" b="1" dirty="0"/>
              <a:t>③</a:t>
            </a:r>
            <a:r>
              <a:rPr lang="zh-CN" altLang="en-US" b="1" dirty="0"/>
              <a:t>发生扰动时执行局部最优计算</a:t>
            </a:r>
          </a:p>
        </p:txBody>
      </p:sp>
    </p:spTree>
    <p:extLst>
      <p:ext uri="{BB962C8B-B14F-4D97-AF65-F5344CB8AC3E}">
        <p14:creationId xmlns:p14="http://schemas.microsoft.com/office/powerpoint/2010/main" val="84707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71434" y="970665"/>
            <a:ext cx="759326" cy="75890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371434" y="2484805"/>
            <a:ext cx="759326" cy="75890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695880" y="2484805"/>
            <a:ext cx="759326" cy="75890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032000" y="2484805"/>
            <a:ext cx="759326" cy="75890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7"/>
          <p:cNvGraphicFramePr>
            <a:graphicFrameLocks noGrp="1"/>
          </p:cNvGraphicFramePr>
          <p:nvPr/>
        </p:nvGraphicFramePr>
        <p:xfrm>
          <a:off x="2032000" y="211756"/>
          <a:ext cx="5438195" cy="3788415"/>
        </p:xfrm>
        <a:graphic>
          <a:graphicData uri="http://schemas.openxmlformats.org/drawingml/2006/table">
            <a:tbl>
              <a:tblPr firstRow="1" bandRow="1">
                <a:tableStyleId>{D7AC3CCA-C797-4891-BE02-D94E43425B78}</a:tableStyleId>
              </a:tblPr>
              <a:tblGrid>
                <a:gridCol w="776885">
                  <a:extLst>
                    <a:ext uri="{9D8B030D-6E8A-4147-A177-3AD203B41FA5}">
                      <a16:colId xmlns="" xmlns:a16="http://schemas.microsoft.com/office/drawing/2014/main" val="20000"/>
                    </a:ext>
                  </a:extLst>
                </a:gridCol>
                <a:gridCol w="776885">
                  <a:extLst>
                    <a:ext uri="{9D8B030D-6E8A-4147-A177-3AD203B41FA5}">
                      <a16:colId xmlns="" xmlns:a16="http://schemas.microsoft.com/office/drawing/2014/main" val="20001"/>
                    </a:ext>
                  </a:extLst>
                </a:gridCol>
                <a:gridCol w="776885">
                  <a:extLst>
                    <a:ext uri="{9D8B030D-6E8A-4147-A177-3AD203B41FA5}">
                      <a16:colId xmlns="" xmlns:a16="http://schemas.microsoft.com/office/drawing/2014/main" val="20002"/>
                    </a:ext>
                  </a:extLst>
                </a:gridCol>
                <a:gridCol w="776885">
                  <a:extLst>
                    <a:ext uri="{9D8B030D-6E8A-4147-A177-3AD203B41FA5}">
                      <a16:colId xmlns="" xmlns:a16="http://schemas.microsoft.com/office/drawing/2014/main" val="20003"/>
                    </a:ext>
                  </a:extLst>
                </a:gridCol>
                <a:gridCol w="776885">
                  <a:extLst>
                    <a:ext uri="{9D8B030D-6E8A-4147-A177-3AD203B41FA5}">
                      <a16:colId xmlns="" xmlns:a16="http://schemas.microsoft.com/office/drawing/2014/main" val="20004"/>
                    </a:ext>
                  </a:extLst>
                </a:gridCol>
                <a:gridCol w="776885">
                  <a:extLst>
                    <a:ext uri="{9D8B030D-6E8A-4147-A177-3AD203B41FA5}">
                      <a16:colId xmlns="" xmlns:a16="http://schemas.microsoft.com/office/drawing/2014/main" val="20005"/>
                    </a:ext>
                  </a:extLst>
                </a:gridCol>
                <a:gridCol w="776885">
                  <a:extLst>
                    <a:ext uri="{9D8B030D-6E8A-4147-A177-3AD203B41FA5}">
                      <a16:colId xmlns="" xmlns:a16="http://schemas.microsoft.com/office/drawing/2014/main" val="20006"/>
                    </a:ext>
                  </a:extLst>
                </a:gridCol>
              </a:tblGrid>
              <a:tr h="757683">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lnB w="12700" cap="flat" cmpd="sng" algn="ctr">
                      <a:solidFill>
                        <a:schemeClr val="tx1"/>
                      </a:solidFill>
                      <a:prstDash val="solid"/>
                      <a:round/>
                      <a:headEnd type="none" w="med" len="med"/>
                      <a:tailEnd type="none" w="med" len="med"/>
                    </a:lnB>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extLst>
                  <a:ext uri="{0D108BD9-81ED-4DB2-BD59-A6C34878D82A}">
                    <a16:rowId xmlns="" xmlns:a16="http://schemas.microsoft.com/office/drawing/2014/main" val="10000"/>
                  </a:ext>
                </a:extLst>
              </a:tr>
              <a:tr h="757683">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lnR w="12700" cap="flat" cmpd="sng" algn="ctr">
                      <a:solidFill>
                        <a:schemeClr val="tx1"/>
                      </a:solidFill>
                      <a:prstDash val="solid"/>
                      <a:round/>
                      <a:headEnd type="none" w="med" len="med"/>
                      <a:tailEnd type="none" w="med" len="med"/>
                    </a:lnR>
                    <a:solidFill>
                      <a:schemeClr val="bg1">
                        <a:lumMod val="85000"/>
                        <a:alpha val="50000"/>
                      </a:schemeClr>
                    </a:solidFill>
                  </a:tcPr>
                </a:tc>
                <a:tc>
                  <a:txBody>
                    <a:bodyPr/>
                    <a:lstStyle/>
                    <a:p>
                      <a:endParaRPr lang="zh-CN" altLang="en-US" sz="2000" dirty="0"/>
                    </a:p>
                  </a:txBody>
                  <a:tcPr marL="102941" marR="102941" marT="51471" marB="51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50000"/>
                      </a:schemeClr>
                    </a:solidFill>
                  </a:tcPr>
                </a:tc>
                <a:tc>
                  <a:txBody>
                    <a:bodyPr/>
                    <a:lstStyle/>
                    <a:p>
                      <a:endParaRPr lang="zh-CN" altLang="en-US" sz="2000"/>
                    </a:p>
                  </a:txBody>
                  <a:tcPr marL="102941" marR="102941" marT="51471" marB="51471">
                    <a:lnL w="12700" cap="flat" cmpd="sng" algn="ctr">
                      <a:solidFill>
                        <a:schemeClr val="tx1"/>
                      </a:solidFill>
                      <a:prstDash val="solid"/>
                      <a:round/>
                      <a:headEnd type="none" w="med" len="med"/>
                      <a:tailEnd type="none" w="med" len="med"/>
                    </a:lnL>
                    <a:solidFill>
                      <a:schemeClr val="bg1">
                        <a:lumMod val="85000"/>
                        <a:alpha val="50000"/>
                      </a:schemeClr>
                    </a:solidFill>
                  </a:tcPr>
                </a:tc>
                <a:extLst>
                  <a:ext uri="{0D108BD9-81ED-4DB2-BD59-A6C34878D82A}">
                    <a16:rowId xmlns="" xmlns:a16="http://schemas.microsoft.com/office/drawing/2014/main" val="10001"/>
                  </a:ext>
                </a:extLst>
              </a:tr>
              <a:tr h="757683">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lnT w="12700" cap="flat" cmpd="sng" algn="ctr">
                      <a:solidFill>
                        <a:schemeClr val="tx1"/>
                      </a:solidFill>
                      <a:prstDash val="solid"/>
                      <a:round/>
                      <a:headEnd type="none" w="med" len="med"/>
                      <a:tailEnd type="none" w="med" len="med"/>
                    </a:lnT>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extLst>
                  <a:ext uri="{0D108BD9-81ED-4DB2-BD59-A6C34878D82A}">
                    <a16:rowId xmlns="" xmlns:a16="http://schemas.microsoft.com/office/drawing/2014/main" val="10002"/>
                  </a:ext>
                </a:extLst>
              </a:tr>
              <a:tr h="757683">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extLst>
                  <a:ext uri="{0D108BD9-81ED-4DB2-BD59-A6C34878D82A}">
                    <a16:rowId xmlns="" xmlns:a16="http://schemas.microsoft.com/office/drawing/2014/main" val="10003"/>
                  </a:ext>
                </a:extLst>
              </a:tr>
              <a:tr h="757683">
                <a:tc>
                  <a:txBody>
                    <a:bodyPr/>
                    <a:lstStyle/>
                    <a:p>
                      <a:endParaRPr lang="zh-CN" altLang="en-US" sz="2000" dirty="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a:p>
                  </a:txBody>
                  <a:tcPr marL="102941" marR="102941" marT="51471" marB="51471">
                    <a:solidFill>
                      <a:schemeClr val="bg1">
                        <a:lumMod val="85000"/>
                        <a:alpha val="50000"/>
                      </a:schemeClr>
                    </a:solidFill>
                  </a:tcPr>
                </a:tc>
                <a:tc>
                  <a:txBody>
                    <a:bodyPr/>
                    <a:lstStyle/>
                    <a:p>
                      <a:endParaRPr lang="zh-CN" altLang="en-US" sz="2000" dirty="0"/>
                    </a:p>
                  </a:txBody>
                  <a:tcPr marL="102941" marR="102941" marT="51471" marB="51471">
                    <a:solidFill>
                      <a:schemeClr val="bg1">
                        <a:lumMod val="85000"/>
                        <a:alpha val="50000"/>
                      </a:schemeClr>
                    </a:solidFill>
                  </a:tcPr>
                </a:tc>
                <a:extLst>
                  <a:ext uri="{0D108BD9-81ED-4DB2-BD59-A6C34878D82A}">
                    <a16:rowId xmlns="" xmlns:a16="http://schemas.microsoft.com/office/drawing/2014/main" val="10004"/>
                  </a:ext>
                </a:extLst>
              </a:tr>
            </a:tbl>
          </a:graphicData>
        </a:graphic>
      </p:graphicFrame>
      <p:sp>
        <p:nvSpPr>
          <p:cNvPr id="9" name="文本框 8"/>
          <p:cNvSpPr txBox="1"/>
          <p:nvPr/>
        </p:nvSpPr>
        <p:spPr>
          <a:xfrm>
            <a:off x="4303868" y="949313"/>
            <a:ext cx="1170279" cy="830997"/>
          </a:xfrm>
          <a:prstGeom prst="rect">
            <a:avLst/>
          </a:prstGeom>
          <a:noFill/>
        </p:spPr>
        <p:txBody>
          <a:bodyPr wrap="square" rtlCol="0">
            <a:spAutoFit/>
          </a:bodyPr>
          <a:lstStyle/>
          <a:p>
            <a:r>
              <a:rPr lang="en-US" altLang="zh-CN" sz="1600" dirty="0"/>
              <a:t>AGV 1~3</a:t>
            </a:r>
          </a:p>
          <a:p>
            <a:r>
              <a:rPr lang="en-US" altLang="zh-CN" sz="1600" dirty="0"/>
              <a:t>Original</a:t>
            </a:r>
          </a:p>
          <a:p>
            <a:r>
              <a:rPr lang="en-US" altLang="zh-CN" sz="1600" dirty="0"/>
              <a:t>Position</a:t>
            </a:r>
          </a:p>
        </p:txBody>
      </p:sp>
      <p:sp>
        <p:nvSpPr>
          <p:cNvPr id="10" name="文本框 9"/>
          <p:cNvSpPr txBox="1"/>
          <p:nvPr/>
        </p:nvSpPr>
        <p:spPr>
          <a:xfrm>
            <a:off x="2032000" y="2503069"/>
            <a:ext cx="1170277" cy="584775"/>
          </a:xfrm>
          <a:prstGeom prst="rect">
            <a:avLst/>
          </a:prstGeom>
          <a:noFill/>
        </p:spPr>
        <p:txBody>
          <a:bodyPr wrap="square" rtlCol="0">
            <a:spAutoFit/>
          </a:bodyPr>
          <a:lstStyle/>
          <a:p>
            <a:r>
              <a:rPr lang="en-US" altLang="zh-CN" sz="1600" dirty="0"/>
              <a:t>Robot</a:t>
            </a:r>
          </a:p>
          <a:p>
            <a:r>
              <a:rPr lang="en-US" altLang="zh-CN" sz="1600" dirty="0"/>
              <a:t>Arm 1</a:t>
            </a:r>
            <a:endParaRPr lang="zh-CN" altLang="en-US" sz="1600" dirty="0"/>
          </a:p>
        </p:txBody>
      </p:sp>
      <p:sp>
        <p:nvSpPr>
          <p:cNvPr id="11" name="文本框 10"/>
          <p:cNvSpPr txBox="1"/>
          <p:nvPr/>
        </p:nvSpPr>
        <p:spPr>
          <a:xfrm>
            <a:off x="4349590" y="2503068"/>
            <a:ext cx="1170277" cy="584775"/>
          </a:xfrm>
          <a:prstGeom prst="rect">
            <a:avLst/>
          </a:prstGeom>
          <a:noFill/>
        </p:spPr>
        <p:txBody>
          <a:bodyPr wrap="square" rtlCol="0">
            <a:spAutoFit/>
          </a:bodyPr>
          <a:lstStyle/>
          <a:p>
            <a:r>
              <a:rPr lang="en-US" altLang="zh-CN" sz="1600" dirty="0"/>
              <a:t>Robot</a:t>
            </a:r>
          </a:p>
          <a:p>
            <a:r>
              <a:rPr lang="en-US" altLang="zh-CN" sz="1600" dirty="0"/>
              <a:t>Arm 2</a:t>
            </a:r>
            <a:endParaRPr lang="zh-CN" altLang="en-US" sz="1600" dirty="0"/>
          </a:p>
        </p:txBody>
      </p:sp>
      <p:sp>
        <p:nvSpPr>
          <p:cNvPr id="12" name="文本框 11"/>
          <p:cNvSpPr txBox="1"/>
          <p:nvPr/>
        </p:nvSpPr>
        <p:spPr>
          <a:xfrm>
            <a:off x="6765533" y="2578583"/>
            <a:ext cx="689673" cy="584775"/>
          </a:xfrm>
          <a:prstGeom prst="rect">
            <a:avLst/>
          </a:prstGeom>
          <a:noFill/>
        </p:spPr>
        <p:txBody>
          <a:bodyPr wrap="square" rtlCol="0">
            <a:spAutoFit/>
          </a:bodyPr>
          <a:lstStyle/>
          <a:p>
            <a:r>
              <a:rPr lang="en-US" altLang="zh-CN" sz="1600" dirty="0"/>
              <a:t>Robot</a:t>
            </a:r>
          </a:p>
          <a:p>
            <a:r>
              <a:rPr lang="en-US" altLang="zh-CN" sz="1600" dirty="0"/>
              <a:t>Arm 3</a:t>
            </a:r>
            <a:endParaRPr lang="zh-CN" altLang="en-US" sz="1600" dirty="0"/>
          </a:p>
        </p:txBody>
      </p:sp>
    </p:spTree>
    <p:extLst>
      <p:ext uri="{BB962C8B-B14F-4D97-AF65-F5344CB8AC3E}">
        <p14:creationId xmlns:p14="http://schemas.microsoft.com/office/powerpoint/2010/main" val="15803197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58Ek_jwhdUurjP7_e4ELk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Cg9_48EtkCd3UxCbqrc8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QpYxrtaUGE2W9c9Byahj2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7wldAOFUc0O5Omnpfzu6h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7wldAOFUc0O5Omnpfzu6h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58Ek_jwhdUurjP7_e4ELk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58Ek_jwhdUurjP7_e4ELk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GCg9_48EtkCd3UxCbqrc8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QpYxrtaUGE2W9c9Byahj2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7wldAOFUc0O5Omnpfzu6h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7wldAOFUc0O5Omnpfzu6h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E5qHqm17NEOfAoiy1JrWE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AcF0p7wE6U6.axJxnWWUl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58Ek_jwhdUurjP7_e4ELk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OBCi2bGxY0Ci1RYJZ457_Q"/>
</p:tagLst>
</file>

<file path=ppt/tags/tag93.xml><?xml version="1.0" encoding="utf-8"?>
<p:tagLst xmlns:a="http://schemas.openxmlformats.org/drawingml/2006/main" xmlns:r="http://schemas.openxmlformats.org/officeDocument/2006/relationships" xmlns:p="http://schemas.openxmlformats.org/presentationml/2006/main">
  <p:tag name="ISLIDE.ICON" val="#137835;#177770;#400202;"/>
</p:tagLst>
</file>

<file path=ppt/tags/tag94.xml><?xml version="1.0" encoding="utf-8"?>
<p:tagLst xmlns:a="http://schemas.openxmlformats.org/drawingml/2006/main" xmlns:r="http://schemas.openxmlformats.org/officeDocument/2006/relationships" xmlns:p="http://schemas.openxmlformats.org/presentationml/2006/main">
  <p:tag name="ISLIDE.ICON" val="#82184;#371667;#44844;#170259;"/>
</p:tagLst>
</file>

<file path=ppt/tags/tag95.xml><?xml version="1.0" encoding="utf-8"?>
<p:tagLst xmlns:a="http://schemas.openxmlformats.org/drawingml/2006/main" xmlns:r="http://schemas.openxmlformats.org/officeDocument/2006/relationships" xmlns:p="http://schemas.openxmlformats.org/presentationml/2006/main">
  <p:tag name="ISLIDE.ICON" val="#82184;#371667;#44844;"/>
</p:tagLst>
</file>

<file path=ppt/tags/tag96.xml><?xml version="1.0" encoding="utf-8"?>
<p:tagLst xmlns:a="http://schemas.openxmlformats.org/drawingml/2006/main" xmlns:r="http://schemas.openxmlformats.org/officeDocument/2006/relationships" xmlns:p="http://schemas.openxmlformats.org/presentationml/2006/main">
  <p:tag name="ISLIDE.ICON" val="#82184;#371667;#448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6</TotalTime>
  <Words>2999</Words>
  <Application>Microsoft Office PowerPoint</Application>
  <PresentationFormat>宽屏</PresentationFormat>
  <Paragraphs>500</Paragraphs>
  <Slides>26</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Aptos</vt:lpstr>
      <vt:lpstr>Siemens Sans Global</vt:lpstr>
      <vt:lpstr>等线</vt:lpstr>
      <vt:lpstr>宋体</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Windows User</cp:lastModifiedBy>
  <cp:revision>37</cp:revision>
  <dcterms:created xsi:type="dcterms:W3CDTF">2024-12-17T09:05:50Z</dcterms:created>
  <dcterms:modified xsi:type="dcterms:W3CDTF">2026-10-10T09:18:13Z</dcterms:modified>
</cp:coreProperties>
</file>